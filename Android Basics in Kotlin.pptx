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3"/>
  </p:notesMasterIdLst>
  <p:sldIdLst>
    <p:sldId id="256" r:id="rId2"/>
    <p:sldId id="275" r:id="rId3"/>
    <p:sldId id="276" r:id="rId4"/>
    <p:sldId id="262" r:id="rId5"/>
    <p:sldId id="263" r:id="rId6"/>
    <p:sldId id="272" r:id="rId7"/>
    <p:sldId id="273" r:id="rId8"/>
    <p:sldId id="274" r:id="rId9"/>
    <p:sldId id="281" r:id="rId10"/>
    <p:sldId id="278" r:id="rId11"/>
    <p:sldId id="284" r:id="rId12"/>
    <p:sldId id="264" r:id="rId13"/>
    <p:sldId id="271" r:id="rId14"/>
    <p:sldId id="265" r:id="rId15"/>
    <p:sldId id="283" r:id="rId16"/>
    <p:sldId id="282" r:id="rId17"/>
    <p:sldId id="285" r:id="rId18"/>
    <p:sldId id="286" r:id="rId19"/>
    <p:sldId id="277" r:id="rId20"/>
    <p:sldId id="280" r:id="rId21"/>
    <p:sldId id="257" r:id="rId22"/>
    <p:sldId id="258" r:id="rId23"/>
    <p:sldId id="260" r:id="rId24"/>
    <p:sldId id="259" r:id="rId25"/>
    <p:sldId id="279" r:id="rId26"/>
    <p:sldId id="267" r:id="rId27"/>
    <p:sldId id="268" r:id="rId28"/>
    <p:sldId id="269" r:id="rId29"/>
    <p:sldId id="270" r:id="rId30"/>
    <p:sldId id="266" r:id="rId31"/>
    <p:sldId id="261"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EB77BB-446C-4B58-A750-248E53529936}">
          <p14:sldIdLst>
            <p14:sldId id="256"/>
            <p14:sldId id="275"/>
            <p14:sldId id="276"/>
            <p14:sldId id="262"/>
            <p14:sldId id="263"/>
            <p14:sldId id="272"/>
            <p14:sldId id="273"/>
            <p14:sldId id="274"/>
            <p14:sldId id="281"/>
            <p14:sldId id="278"/>
          </p14:sldIdLst>
        </p14:section>
        <p14:section name="All About Testing and Debugging" id="{1760EBF3-D43D-40CE-8F81-D3B0E7B48B84}">
          <p14:sldIdLst>
            <p14:sldId id="284"/>
            <p14:sldId id="264"/>
            <p14:sldId id="271"/>
            <p14:sldId id="265"/>
            <p14:sldId id="283"/>
            <p14:sldId id="282"/>
            <p14:sldId id="285"/>
            <p14:sldId id="286"/>
          </p14:sldIdLst>
        </p14:section>
        <p14:section name="Resources &gt; Layout &gt; Activity" id="{075AA403-EAF5-4876-A8D8-FA1693109801}">
          <p14:sldIdLst>
            <p14:sldId id="277"/>
            <p14:sldId id="280"/>
          </p14:sldIdLst>
        </p14:section>
        <p14:section name="Adapter &gt; ViewHolder &gt; RecyclerView" id="{ED2873D2-7274-4F37-9EA1-29B6BCF376E0}">
          <p14:sldIdLst>
            <p14:sldId id="257"/>
            <p14:sldId id="258"/>
            <p14:sldId id="260"/>
            <p14:sldId id="259"/>
          </p14:sldIdLst>
        </p14:section>
        <p14:section name="Gradle" id="{8862B42C-AB28-4740-92D7-08BBDECDF7E4}">
          <p14:sldIdLst>
            <p14:sldId id="279"/>
          </p14:sldIdLst>
        </p14:section>
        <p14:section name="CI/CD" id="{E6169A93-43D0-47AB-A84E-FB0E09D06245}">
          <p14:sldIdLst>
            <p14:sldId id="267"/>
            <p14:sldId id="268"/>
            <p14:sldId id="269"/>
            <p14:sldId id="270"/>
            <p14:sldId id="266"/>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920" autoAdjust="0"/>
    <p:restoredTop sz="92415" autoAdjust="0"/>
  </p:normalViewPr>
  <p:slideViewPr>
    <p:cSldViewPr snapToGrid="0">
      <p:cViewPr varScale="1">
        <p:scale>
          <a:sx n="79" d="100"/>
          <a:sy n="79" d="100"/>
        </p:scale>
        <p:origin x="1037"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0B40D95-F8C5-4C4C-B8B1-7273D807A246}" type="datetimeFigureOut">
              <a:rPr lang="en-SG" smtClean="0"/>
              <a:t>11/6/2022</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292F0F-6BB4-4714-BDBB-674EE16F5C0C}" type="slidenum">
              <a:rPr lang="en-SG" smtClean="0"/>
              <a:t>‹#›</a:t>
            </a:fld>
            <a:endParaRPr lang="en-SG"/>
          </a:p>
        </p:txBody>
      </p:sp>
    </p:spTree>
    <p:extLst>
      <p:ext uri="{BB962C8B-B14F-4D97-AF65-F5344CB8AC3E}">
        <p14:creationId xmlns:p14="http://schemas.microsoft.com/office/powerpoint/2010/main" val="10689063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D292F0F-6BB4-4714-BDBB-674EE16F5C0C}" type="slidenum">
              <a:rPr lang="en-SG" smtClean="0"/>
              <a:t>22</a:t>
            </a:fld>
            <a:endParaRPr lang="en-SG"/>
          </a:p>
        </p:txBody>
      </p:sp>
    </p:spTree>
    <p:extLst>
      <p:ext uri="{BB962C8B-B14F-4D97-AF65-F5344CB8AC3E}">
        <p14:creationId xmlns:p14="http://schemas.microsoft.com/office/powerpoint/2010/main" val="15185387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https://www.youtube.com/watch?v=BDIOx1QySQs</a:t>
            </a:r>
          </a:p>
        </p:txBody>
      </p:sp>
      <p:sp>
        <p:nvSpPr>
          <p:cNvPr id="4" name="Slide Number Placeholder 3"/>
          <p:cNvSpPr>
            <a:spLocks noGrp="1"/>
          </p:cNvSpPr>
          <p:nvPr>
            <p:ph type="sldNum" sz="quarter" idx="5"/>
          </p:nvPr>
        </p:nvSpPr>
        <p:spPr/>
        <p:txBody>
          <a:bodyPr/>
          <a:lstStyle/>
          <a:p>
            <a:fld id="{0D292F0F-6BB4-4714-BDBB-674EE16F5C0C}" type="slidenum">
              <a:rPr lang="en-SG" smtClean="0"/>
              <a:t>29</a:t>
            </a:fld>
            <a:endParaRPr lang="en-SG"/>
          </a:p>
        </p:txBody>
      </p:sp>
    </p:spTree>
    <p:extLst>
      <p:ext uri="{BB962C8B-B14F-4D97-AF65-F5344CB8AC3E}">
        <p14:creationId xmlns:p14="http://schemas.microsoft.com/office/powerpoint/2010/main" val="20744081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11/6/2022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005189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11/6/2022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69891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D0255EFB-A077-440B-BB8F-918E450D588D}" type="datetimeFigureOut">
              <a:rPr lang="en-SG" smtClean="0"/>
              <a:t>11/6/2022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3501631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p:cNvSpPr>
            <a:spLocks noGrp="1"/>
          </p:cNvSpPr>
          <p:nvPr>
            <p:ph type="dt" sz="half" idx="10"/>
          </p:nvPr>
        </p:nvSpPr>
        <p:spPr/>
        <p:txBody>
          <a:bodyPr/>
          <a:lstStyle/>
          <a:p>
            <a:fld id="{D0255EFB-A077-440B-BB8F-918E450D588D}" type="datetimeFigureOut">
              <a:rPr lang="en-SG" smtClean="0"/>
              <a:t>11/6/2022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7367560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p:cNvSpPr>
            <a:spLocks noGrp="1"/>
          </p:cNvSpPr>
          <p:nvPr>
            <p:ph type="dt" sz="half" idx="10"/>
          </p:nvPr>
        </p:nvSpPr>
        <p:spPr/>
        <p:txBody>
          <a:bodyPr/>
          <a:lstStyle/>
          <a:p>
            <a:fld id="{D0255EFB-A077-440B-BB8F-918E450D588D}" type="datetimeFigureOut">
              <a:rPr lang="en-SG" smtClean="0"/>
              <a:t>11/6/2022</a:t>
            </a:fld>
            <a:endParaRPr lang="en-SG"/>
          </a:p>
        </p:txBody>
      </p:sp>
      <p:sp>
        <p:nvSpPr>
          <p:cNvPr id="8" name="Footer Placeholder 7"/>
          <p:cNvSpPr>
            <a:spLocks noGrp="1"/>
          </p:cNvSpPr>
          <p:nvPr>
            <p:ph type="ftr" sz="quarter" idx="11"/>
          </p:nvPr>
        </p:nvSpPr>
        <p:spPr/>
        <p:txBody>
          <a:bodyPr/>
          <a:lstStyle/>
          <a:p>
            <a:endParaRPr lang="en-SG"/>
          </a:p>
        </p:txBody>
      </p:sp>
      <p:sp>
        <p:nvSpPr>
          <p:cNvPr id="9" name="Slide Number Placeholder 8"/>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0743510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Date Placeholder 2"/>
          <p:cNvSpPr>
            <a:spLocks noGrp="1"/>
          </p:cNvSpPr>
          <p:nvPr>
            <p:ph type="dt" sz="half" idx="10"/>
          </p:nvPr>
        </p:nvSpPr>
        <p:spPr/>
        <p:txBody>
          <a:bodyPr/>
          <a:lstStyle/>
          <a:p>
            <a:fld id="{D0255EFB-A077-440B-BB8F-918E450D588D}" type="datetimeFigureOut">
              <a:rPr lang="en-SG" smtClean="0"/>
              <a:t>11/6/2022</a:t>
            </a:fld>
            <a:endParaRPr lang="en-SG"/>
          </a:p>
        </p:txBody>
      </p:sp>
      <p:sp>
        <p:nvSpPr>
          <p:cNvPr id="4" name="Footer Placeholder 3"/>
          <p:cNvSpPr>
            <a:spLocks noGrp="1"/>
          </p:cNvSpPr>
          <p:nvPr>
            <p:ph type="ftr" sz="quarter" idx="11"/>
          </p:nvPr>
        </p:nvSpPr>
        <p:spPr/>
        <p:txBody>
          <a:bodyPr/>
          <a:lstStyle/>
          <a:p>
            <a:endParaRPr lang="en-SG"/>
          </a:p>
        </p:txBody>
      </p:sp>
      <p:sp>
        <p:nvSpPr>
          <p:cNvPr id="5" name="Slide Number Placeholder 4"/>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4214361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0255EFB-A077-440B-BB8F-918E450D588D}" type="datetimeFigureOut">
              <a:rPr lang="en-SG" smtClean="0"/>
              <a:t>11/6/2022</a:t>
            </a:fld>
            <a:endParaRPr lang="en-SG"/>
          </a:p>
        </p:txBody>
      </p:sp>
      <p:sp>
        <p:nvSpPr>
          <p:cNvPr id="3" name="Footer Placeholder 2"/>
          <p:cNvSpPr>
            <a:spLocks noGrp="1"/>
          </p:cNvSpPr>
          <p:nvPr>
            <p:ph type="ftr" sz="quarter" idx="11"/>
          </p:nvPr>
        </p:nvSpPr>
        <p:spPr/>
        <p:txBody>
          <a:bodyPr/>
          <a:lstStyle/>
          <a:p>
            <a:endParaRPr lang="en-SG"/>
          </a:p>
        </p:txBody>
      </p:sp>
      <p:sp>
        <p:nvSpPr>
          <p:cNvPr id="4" name="Slide Number Placeholder 3"/>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5510834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0255EFB-A077-440B-BB8F-918E450D588D}" type="datetimeFigureOut">
              <a:rPr lang="en-SG" smtClean="0"/>
              <a:t>11/6/2022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1585494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0255EFB-A077-440B-BB8F-918E450D588D}" type="datetimeFigureOut">
              <a:rPr lang="en-SG" smtClean="0"/>
              <a:t>11/6/2022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027604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11/6/2022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3602378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11/6/2022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696253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0255EFB-A077-440B-BB8F-918E450D588D}" type="datetimeFigureOut">
              <a:rPr lang="en-SG" smtClean="0"/>
              <a:t>11/6/2022</a:t>
            </a:fld>
            <a:endParaRPr lang="en-SG"/>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SG"/>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8D9B65-B1CB-469D-93E1-4AFB41AAF60C}" type="slidenum">
              <a:rPr lang="en-SG" smtClean="0"/>
              <a:t>‹#›</a:t>
            </a:fld>
            <a:endParaRPr lang="en-SG"/>
          </a:p>
        </p:txBody>
      </p:sp>
    </p:spTree>
    <p:extLst>
      <p:ext uri="{BB962C8B-B14F-4D97-AF65-F5344CB8AC3E}">
        <p14:creationId xmlns:p14="http://schemas.microsoft.com/office/powerpoint/2010/main" val="30568352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hyperlink" Target="https://developer.android.com/topic/architecture#recommended-app-arch"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Android Basics in </a:t>
            </a:r>
            <a:r>
              <a:rPr lang="en-US" dirty="0" err="1"/>
              <a:t>Kotlin</a:t>
            </a:r>
            <a:endParaRPr lang="en-SG" dirty="0"/>
          </a:p>
        </p:txBody>
      </p:sp>
      <p:sp>
        <p:nvSpPr>
          <p:cNvPr id="3" name="Subtitle 2"/>
          <p:cNvSpPr>
            <a:spLocks noGrp="1"/>
          </p:cNvSpPr>
          <p:nvPr>
            <p:ph type="subTitle" idx="1"/>
          </p:nvPr>
        </p:nvSpPr>
        <p:spPr/>
        <p:txBody>
          <a:bodyPr/>
          <a:lstStyle/>
          <a:p>
            <a:r>
              <a:rPr lang="en-US" dirty="0"/>
              <a:t>Concepts and stuff???</a:t>
            </a:r>
            <a:endParaRPr lang="en-SG" dirty="0"/>
          </a:p>
        </p:txBody>
      </p:sp>
    </p:spTree>
    <p:extLst>
      <p:ext uri="{BB962C8B-B14F-4D97-AF65-F5344CB8AC3E}">
        <p14:creationId xmlns:p14="http://schemas.microsoft.com/office/powerpoint/2010/main" val="33057996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p:txBody>
          <a:bodyPr>
            <a:normAutofit fontScale="92500" lnSpcReduction="20000"/>
          </a:bodyPr>
          <a:lstStyle/>
          <a:p>
            <a:r>
              <a:rPr lang="en-US" sz="2400" dirty="0"/>
              <a:t>Kotlin </a:t>
            </a:r>
            <a:r>
              <a:rPr lang="en-US" sz="2400" dirty="0">
                <a:highlight>
                  <a:srgbClr val="FFFF00"/>
                </a:highlight>
              </a:rPr>
              <a:t>classes</a:t>
            </a:r>
            <a:r>
              <a:rPr lang="en-US" sz="2400" dirty="0"/>
              <a:t> are </a:t>
            </a:r>
            <a:r>
              <a:rPr lang="en-US" sz="2400" dirty="0">
                <a:highlight>
                  <a:srgbClr val="FFFF00"/>
                </a:highlight>
              </a:rPr>
              <a:t>final by default</a:t>
            </a:r>
            <a:r>
              <a:rPr lang="en-US" sz="2400" dirty="0"/>
              <a:t>. If you want to allow the class inheritance, mark the class with the </a:t>
            </a:r>
            <a:r>
              <a:rPr lang="en-US" sz="2400" dirty="0">
                <a:highlight>
                  <a:srgbClr val="FFFF00"/>
                </a:highlight>
                <a:latin typeface="Lucida Console" panose="020B0609040504020204" pitchFamily="49" charset="0"/>
              </a:rPr>
              <a:t>open</a:t>
            </a:r>
            <a:r>
              <a:rPr lang="en-US" sz="2400" dirty="0"/>
              <a:t> modifier.</a:t>
            </a:r>
          </a:p>
          <a:p>
            <a:r>
              <a:rPr lang="en-US" sz="2400" dirty="0"/>
              <a:t>Kotlin </a:t>
            </a:r>
            <a:r>
              <a:rPr lang="en-US" sz="2400" dirty="0">
                <a:highlight>
                  <a:srgbClr val="FFFF00"/>
                </a:highlight>
              </a:rPr>
              <a:t>methods</a:t>
            </a:r>
            <a:r>
              <a:rPr lang="en-US" sz="2400" dirty="0"/>
              <a:t> are also </a:t>
            </a:r>
            <a:r>
              <a:rPr lang="en-US" sz="2400" dirty="0">
                <a:highlight>
                  <a:srgbClr val="FFFF00"/>
                </a:highlight>
              </a:rPr>
              <a:t>final by default</a:t>
            </a:r>
            <a:r>
              <a:rPr lang="en-US" sz="2400" dirty="0"/>
              <a:t>. As with the classes, the </a:t>
            </a:r>
            <a:r>
              <a:rPr lang="en-US" sz="2400" dirty="0">
                <a:highlight>
                  <a:srgbClr val="FFFF00"/>
                </a:highlight>
                <a:latin typeface="Lucida Console" panose="020B0609040504020204" pitchFamily="49" charset="0"/>
              </a:rPr>
              <a:t>open</a:t>
            </a:r>
            <a:r>
              <a:rPr lang="en-US" sz="2400" dirty="0"/>
              <a:t> modifier allows overriding them.</a:t>
            </a:r>
          </a:p>
          <a:p>
            <a:endParaRPr lang="en-US" sz="2400" dirty="0"/>
          </a:p>
          <a:p>
            <a:pPr marL="0" indent="0">
              <a:buNone/>
            </a:pP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class Tiger(</a:t>
            </a:r>
            <a:r>
              <a:rPr lang="en-US" sz="1200" dirty="0" err="1">
                <a:latin typeface="Lucida Console" panose="020B0609040504020204" pitchFamily="49" charset="0"/>
              </a:rPr>
              <a:t>val</a:t>
            </a:r>
            <a:r>
              <a:rPr lang="en-US" sz="1200" dirty="0">
                <a:latin typeface="Lucida Console" panose="020B0609040504020204" pitchFamily="49" charset="0"/>
              </a:rPr>
              <a:t> origin: String) {</a:t>
            </a:r>
          </a:p>
          <a:p>
            <a:pPr marL="0" indent="0">
              <a:buNone/>
            </a:pPr>
            <a:r>
              <a:rPr lang="en-US" sz="1200" dirty="0">
                <a:latin typeface="Lucida Console" panose="020B0609040504020204" pitchFamily="49" charset="0"/>
              </a:rPr>
              <a:t>	</a:t>
            </a: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(“A tiger from $origin says: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class </a:t>
            </a:r>
            <a:r>
              <a:rPr lang="en-US" sz="1200" dirty="0" err="1">
                <a:latin typeface="Lucida Console" panose="020B0609040504020204" pitchFamily="49" charset="0"/>
              </a:rPr>
              <a:t>SiberianTiger</a:t>
            </a:r>
            <a:r>
              <a:rPr lang="en-US" sz="1200" dirty="0">
                <a:latin typeface="Lucida Console" panose="020B0609040504020204" pitchFamily="49" charset="0"/>
              </a:rPr>
              <a:t> : Tiger(“Siberia”)</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fun main() {</a:t>
            </a:r>
            <a:br>
              <a:rPr lang="en-US" sz="1200" dirty="0">
                <a:latin typeface="Lucida Console" panose="020B0609040504020204" pitchFamily="49" charset="0"/>
              </a:rPr>
            </a:b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tiger</a:t>
            </a:r>
            <a:r>
              <a:rPr lang="en-US" sz="1200" dirty="0">
                <a:solidFill>
                  <a:schemeClr val="bg2">
                    <a:lumMod val="75000"/>
                  </a:schemeClr>
                </a:solidFill>
                <a:latin typeface="Lucida Console" panose="020B0609040504020204" pitchFamily="49" charset="0"/>
              </a:rPr>
              <a:t>: Tiger</a:t>
            </a:r>
            <a:r>
              <a:rPr lang="en-US" sz="1200" dirty="0">
                <a:latin typeface="Lucida Console" panose="020B0609040504020204" pitchFamily="49" charset="0"/>
              </a:rPr>
              <a:t> = </a:t>
            </a:r>
            <a:r>
              <a:rPr lang="en-US" sz="1200" dirty="0" err="1">
                <a:latin typeface="Lucida Console" panose="020B0609040504020204" pitchFamily="49" charset="0"/>
              </a:rPr>
              <a:t>SiberianTiger</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tiger.sayHello</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a:t>
            </a:r>
            <a:endParaRPr lang="en-SG" sz="1200" dirty="0">
              <a:latin typeface="Lucida Console" panose="020B0609040504020204" pitchFamily="49" charset="0"/>
            </a:endParaRPr>
          </a:p>
        </p:txBody>
      </p:sp>
    </p:spTree>
    <p:extLst>
      <p:ext uri="{BB962C8B-B14F-4D97-AF65-F5344CB8AC3E}">
        <p14:creationId xmlns:p14="http://schemas.microsoft.com/office/powerpoint/2010/main" val="35794723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a:xfrm>
            <a:off x="838200" y="1825625"/>
            <a:ext cx="6155987" cy="4351338"/>
          </a:xfrm>
        </p:spPr>
        <p:txBody>
          <a:bodyPr>
            <a:normAutofit lnSpcReduction="10000"/>
          </a:bodyPr>
          <a:lstStyle/>
          <a:p>
            <a:pPr marL="0" indent="0">
              <a:buNone/>
            </a:pP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class Tiger(</a:t>
            </a:r>
            <a:r>
              <a:rPr lang="en-US" sz="1200" dirty="0" err="1">
                <a:latin typeface="Lucida Console" panose="020B0609040504020204" pitchFamily="49" charset="0"/>
              </a:rPr>
              <a:t>val</a:t>
            </a:r>
            <a:r>
              <a:rPr lang="en-US" sz="1200" dirty="0">
                <a:latin typeface="Lucida Console" panose="020B0609040504020204" pitchFamily="49" charset="0"/>
              </a:rPr>
              <a:t> origin: String)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open</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(“A tiger from $origin says: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highlight>
                  <a:srgbClr val="FFFF00"/>
                </a:highlight>
                <a:latin typeface="Lucida Console" panose="020B0609040504020204" pitchFamily="49" charset="0"/>
              </a:rPr>
              <a:t>class</a:t>
            </a:r>
            <a:r>
              <a:rPr lang="en-US" sz="1200" dirty="0">
                <a:latin typeface="Lucida Console" panose="020B0609040504020204" pitchFamily="49" charset="0"/>
              </a:rPr>
              <a:t> </a:t>
            </a:r>
            <a:r>
              <a:rPr lang="en-US" sz="1200" dirty="0" err="1">
                <a:latin typeface="Lucida Console" panose="020B0609040504020204" pitchFamily="49" charset="0"/>
              </a:rPr>
              <a:t>SiberianTiger</a:t>
            </a:r>
            <a:r>
              <a:rPr lang="en-US" sz="1200" dirty="0">
                <a:latin typeface="Lucida Console" panose="020B0609040504020204" pitchFamily="49" charset="0"/>
              </a:rPr>
              <a:t> : </a:t>
            </a:r>
            <a:r>
              <a:rPr lang="en-US" sz="1200" dirty="0">
                <a:highlight>
                  <a:srgbClr val="00FF00"/>
                </a:highlight>
                <a:latin typeface="Lucida Console" panose="020B0609040504020204" pitchFamily="49" charset="0"/>
              </a:rPr>
              <a:t>Tiger(“Siberia”)</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override</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("Hi I'm from Siberia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fun main() {</a:t>
            </a:r>
            <a:br>
              <a:rPr lang="en-US" sz="1200" dirty="0">
                <a:latin typeface="Lucida Console" panose="020B0609040504020204" pitchFamily="49" charset="0"/>
              </a:rPr>
            </a:b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tiger</a:t>
            </a:r>
            <a:r>
              <a:rPr lang="en-US" sz="1200" dirty="0">
                <a:solidFill>
                  <a:schemeClr val="bg2">
                    <a:lumMod val="75000"/>
                  </a:schemeClr>
                </a:solidFill>
                <a:latin typeface="Lucida Console" panose="020B0609040504020204" pitchFamily="49" charset="0"/>
              </a:rPr>
              <a:t>: Tiger</a:t>
            </a:r>
            <a:r>
              <a:rPr lang="en-US" sz="1200" dirty="0">
                <a:latin typeface="Lucida Console" panose="020B0609040504020204" pitchFamily="49" charset="0"/>
              </a:rPr>
              <a:t> = </a:t>
            </a:r>
            <a:r>
              <a:rPr lang="en-US" sz="1200" dirty="0" err="1">
                <a:latin typeface="Lucida Console" panose="020B0609040504020204" pitchFamily="49" charset="0"/>
              </a:rPr>
              <a:t>SiberianTiger</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tiger.sayHello</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a:t>
            </a:r>
            <a:endParaRPr lang="en-SG" sz="1200" dirty="0">
              <a:latin typeface="Lucida Console" panose="020B0609040504020204" pitchFamily="49" charset="0"/>
            </a:endParaRPr>
          </a:p>
        </p:txBody>
      </p:sp>
      <p:cxnSp>
        <p:nvCxnSpPr>
          <p:cNvPr id="5" name="Straight Arrow Connector 4">
            <a:extLst>
              <a:ext uri="{FF2B5EF4-FFF2-40B4-BE49-F238E27FC236}">
                <a16:creationId xmlns:a16="http://schemas.microsoft.com/office/drawing/2014/main" id="{0FE3704D-EE3F-48B3-8A03-A4608BF16D3E}"/>
              </a:ext>
            </a:extLst>
          </p:cNvPr>
          <p:cNvCxnSpPr/>
          <p:nvPr/>
        </p:nvCxnSpPr>
        <p:spPr>
          <a:xfrm>
            <a:off x="1138136" y="2052536"/>
            <a:ext cx="0" cy="1376464"/>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cxnSp>
        <p:nvCxnSpPr>
          <p:cNvPr id="6" name="Straight Arrow Connector 5">
            <a:extLst>
              <a:ext uri="{FF2B5EF4-FFF2-40B4-BE49-F238E27FC236}">
                <a16:creationId xmlns:a16="http://schemas.microsoft.com/office/drawing/2014/main" id="{C0785C4B-E6C1-489C-88C5-33EE7ED757FE}"/>
              </a:ext>
            </a:extLst>
          </p:cNvPr>
          <p:cNvCxnSpPr/>
          <p:nvPr/>
        </p:nvCxnSpPr>
        <p:spPr>
          <a:xfrm>
            <a:off x="2059021" y="2321668"/>
            <a:ext cx="0" cy="1376464"/>
          </a:xfrm>
          <a:prstGeom prst="straightConnector1">
            <a:avLst/>
          </a:prstGeom>
          <a:ln>
            <a:solidFill>
              <a:srgbClr val="00B0F0"/>
            </a:solidFill>
            <a:tailEnd type="triangle"/>
          </a:ln>
        </p:spPr>
        <p:style>
          <a:lnRef idx="1">
            <a:schemeClr val="accent4"/>
          </a:lnRef>
          <a:fillRef idx="0">
            <a:schemeClr val="accent4"/>
          </a:fillRef>
          <a:effectRef idx="0">
            <a:schemeClr val="accent4"/>
          </a:effectRef>
          <a:fontRef idx="minor">
            <a:schemeClr val="tx1"/>
          </a:fontRef>
        </p:style>
      </p:cxnSp>
      <p:sp>
        <p:nvSpPr>
          <p:cNvPr id="7" name="TextBox 6">
            <a:extLst>
              <a:ext uri="{FF2B5EF4-FFF2-40B4-BE49-F238E27FC236}">
                <a16:creationId xmlns:a16="http://schemas.microsoft.com/office/drawing/2014/main" id="{BE67928A-57EA-4386-A190-E6E8EDCA1239}"/>
              </a:ext>
            </a:extLst>
          </p:cNvPr>
          <p:cNvSpPr txBox="1"/>
          <p:nvPr/>
        </p:nvSpPr>
        <p:spPr>
          <a:xfrm>
            <a:off x="6740457" y="2990344"/>
            <a:ext cx="5076218" cy="3293209"/>
          </a:xfrm>
          <a:prstGeom prst="rect">
            <a:avLst/>
          </a:prstGeom>
          <a:noFill/>
        </p:spPr>
        <p:txBody>
          <a:bodyPr wrap="square" rtlCol="0">
            <a:spAutoFit/>
          </a:bodyPr>
          <a:lstStyle/>
          <a:p>
            <a:pPr marL="342900" indent="-342900">
              <a:buAutoNum type="arabicPeriod"/>
            </a:pPr>
            <a:r>
              <a:rPr lang="en-SG" sz="1600" dirty="0"/>
              <a:t>To </a:t>
            </a:r>
            <a:r>
              <a:rPr lang="en-SG" sz="1600" dirty="0">
                <a:highlight>
                  <a:srgbClr val="FFFF00"/>
                </a:highlight>
              </a:rPr>
              <a:t>inherit</a:t>
            </a:r>
            <a:r>
              <a:rPr lang="en-SG" sz="1600" dirty="0"/>
              <a:t> a superclass, the superclass itself must be marked with the </a:t>
            </a:r>
            <a:r>
              <a:rPr lang="en-SG" sz="1600" dirty="0">
                <a:highlight>
                  <a:srgbClr val="FFFF00"/>
                </a:highlight>
                <a:latin typeface="Lucida Console" panose="020B0609040504020204" pitchFamily="49" charset="0"/>
              </a:rPr>
              <a:t>open</a:t>
            </a:r>
            <a:r>
              <a:rPr lang="en-SG" sz="1600" dirty="0"/>
              <a:t> modifier</a:t>
            </a:r>
          </a:p>
          <a:p>
            <a:pPr marL="342900" indent="-342900">
              <a:buAutoNum type="arabicPeriod"/>
            </a:pPr>
            <a:endParaRPr lang="en-SG" sz="1600" dirty="0"/>
          </a:p>
          <a:p>
            <a:pPr marL="342900" indent="-342900">
              <a:buAutoNum type="arabicPeriod"/>
            </a:pPr>
            <a:r>
              <a:rPr lang="en-SG" sz="1600" dirty="0"/>
              <a:t>To override a superclass’ method or attribute, the superclass method or attribute must be marked with the </a:t>
            </a:r>
            <a:r>
              <a:rPr lang="en-SG" sz="1600" dirty="0">
                <a:highlight>
                  <a:srgbClr val="00FFFF"/>
                </a:highlight>
                <a:latin typeface="Lucida Console" panose="020B0609040504020204" pitchFamily="49" charset="0"/>
              </a:rPr>
              <a:t>open</a:t>
            </a:r>
            <a:r>
              <a:rPr lang="en-SG" sz="1600" dirty="0"/>
              <a:t> modifier, and the overriding method or attribute must be marked with the </a:t>
            </a:r>
            <a:r>
              <a:rPr lang="en-SG" sz="1600" dirty="0">
                <a:highlight>
                  <a:srgbClr val="00FFFF"/>
                </a:highlight>
                <a:latin typeface="Lucida Console" panose="020B0609040504020204" pitchFamily="49" charset="0"/>
              </a:rPr>
              <a:t>override</a:t>
            </a:r>
            <a:r>
              <a:rPr lang="en-SG" sz="1600" dirty="0"/>
              <a:t> modifier</a:t>
            </a:r>
          </a:p>
          <a:p>
            <a:pPr marL="342900" indent="-342900">
              <a:buAutoNum type="arabicPeriod"/>
            </a:pPr>
            <a:endParaRPr lang="en-SG" sz="1600" dirty="0"/>
          </a:p>
          <a:p>
            <a:pPr marL="342900" indent="-342900">
              <a:buAutoNum type="arabicPeriod"/>
            </a:pPr>
            <a:r>
              <a:rPr lang="en-SG" sz="1600" dirty="0"/>
              <a:t>If only specify </a:t>
            </a:r>
            <a:r>
              <a:rPr lang="en-SG" sz="1600" dirty="0">
                <a:highlight>
                  <a:srgbClr val="00FF00"/>
                </a:highlight>
                <a:latin typeface="Lucida Console" panose="020B0609040504020204" pitchFamily="49" charset="0"/>
              </a:rPr>
              <a:t>Tiger</a:t>
            </a:r>
            <a:r>
              <a:rPr lang="en-SG" sz="1600" dirty="0"/>
              <a:t>: </a:t>
            </a:r>
            <a:r>
              <a:rPr lang="en-US" sz="1600" dirty="0"/>
              <a:t> Error – This type has a constructor, and thus must be initialized here</a:t>
            </a:r>
          </a:p>
          <a:p>
            <a:pPr marL="342900" indent="-342900">
              <a:buAutoNum type="arabicPeriod"/>
            </a:pPr>
            <a:r>
              <a:rPr lang="en-US" sz="1600" dirty="0"/>
              <a:t>If only specify </a:t>
            </a:r>
            <a:r>
              <a:rPr lang="en-US" sz="1600" dirty="0">
                <a:highlight>
                  <a:srgbClr val="00FF00"/>
                </a:highlight>
                <a:latin typeface="Lucida Console" panose="020B0609040504020204" pitchFamily="49" charset="0"/>
              </a:rPr>
              <a:t>Tiger()</a:t>
            </a:r>
            <a:r>
              <a:rPr lang="en-US" sz="1600" dirty="0"/>
              <a:t>: Error – No value passed for parameter 'origin'</a:t>
            </a:r>
            <a:endParaRPr lang="en-SG" sz="1600" dirty="0"/>
          </a:p>
        </p:txBody>
      </p:sp>
      <p:cxnSp>
        <p:nvCxnSpPr>
          <p:cNvPr id="9" name="Straight Arrow Connector 8">
            <a:extLst>
              <a:ext uri="{FF2B5EF4-FFF2-40B4-BE49-F238E27FC236}">
                <a16:creationId xmlns:a16="http://schemas.microsoft.com/office/drawing/2014/main" id="{4D50E0C4-FD86-4683-9E24-06A3F45B04A7}"/>
              </a:ext>
            </a:extLst>
          </p:cNvPr>
          <p:cNvCxnSpPr>
            <a:cxnSpLocks/>
            <a:endCxn id="10" idx="2"/>
          </p:cNvCxnSpPr>
          <p:nvPr/>
        </p:nvCxnSpPr>
        <p:spPr>
          <a:xfrm flipV="1">
            <a:off x="3122579" y="4913094"/>
            <a:ext cx="711742" cy="339842"/>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sp>
        <p:nvSpPr>
          <p:cNvPr id="10" name="Rectangle 9">
            <a:extLst>
              <a:ext uri="{FF2B5EF4-FFF2-40B4-BE49-F238E27FC236}">
                <a16:creationId xmlns:a16="http://schemas.microsoft.com/office/drawing/2014/main" id="{EFAA7395-974C-4CA8-B129-6BD99AA5AE88}"/>
              </a:ext>
            </a:extLst>
          </p:cNvPr>
          <p:cNvSpPr/>
          <p:nvPr/>
        </p:nvSpPr>
        <p:spPr>
          <a:xfrm>
            <a:off x="3377121" y="4522694"/>
            <a:ext cx="914400" cy="390400"/>
          </a:xfrm>
          <a:prstGeom prst="rect">
            <a:avLst/>
          </a:prstGeom>
          <a:no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SG" sz="1200" dirty="0">
                <a:solidFill>
                  <a:schemeClr val="bg2">
                    <a:lumMod val="75000"/>
                  </a:schemeClr>
                </a:solidFill>
              </a:rPr>
              <a:t>Optional to indicate?</a:t>
            </a:r>
          </a:p>
        </p:txBody>
      </p:sp>
    </p:spTree>
    <p:extLst>
      <p:ext uri="{BB962C8B-B14F-4D97-AF65-F5344CB8AC3E}">
        <p14:creationId xmlns:p14="http://schemas.microsoft.com/office/powerpoint/2010/main" val="8643577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41D825-D53C-411A-AE73-A9F12A59923E}"/>
              </a:ext>
            </a:extLst>
          </p:cNvPr>
          <p:cNvSpPr>
            <a:spLocks noGrp="1"/>
          </p:cNvSpPr>
          <p:nvPr>
            <p:ph type="title"/>
          </p:nvPr>
        </p:nvSpPr>
        <p:spPr/>
        <p:txBody>
          <a:bodyPr/>
          <a:lstStyle/>
          <a:p>
            <a:r>
              <a:rPr lang="en-SG" dirty="0"/>
              <a:t>Vocabulary</a:t>
            </a:r>
          </a:p>
        </p:txBody>
      </p:sp>
      <p:sp>
        <p:nvSpPr>
          <p:cNvPr id="3" name="Content Placeholder 2">
            <a:extLst>
              <a:ext uri="{FF2B5EF4-FFF2-40B4-BE49-F238E27FC236}">
                <a16:creationId xmlns:a16="http://schemas.microsoft.com/office/drawing/2014/main" id="{63340896-CE62-499B-BB9B-B63DEE061533}"/>
              </a:ext>
            </a:extLst>
          </p:cNvPr>
          <p:cNvSpPr>
            <a:spLocks noGrp="1"/>
          </p:cNvSpPr>
          <p:nvPr>
            <p:ph idx="1"/>
          </p:nvPr>
        </p:nvSpPr>
        <p:spPr/>
        <p:txBody>
          <a:bodyPr>
            <a:normAutofit/>
          </a:bodyPr>
          <a:lstStyle/>
          <a:p>
            <a:r>
              <a:rPr lang="en-US" sz="1800" dirty="0">
                <a:highlight>
                  <a:srgbClr val="FFFF00"/>
                </a:highlight>
                <a:latin typeface="Consolas" panose="020B0609020204030204" pitchFamily="49" charset="0"/>
              </a:rPr>
              <a:t>fun</a:t>
            </a:r>
            <a:r>
              <a:rPr lang="en-US" sz="1800" dirty="0"/>
              <a:t> is a word in the Kotlin programming language. </a:t>
            </a:r>
            <a:r>
              <a:rPr lang="en-US" sz="1800" dirty="0">
                <a:highlight>
                  <a:srgbClr val="FFFF00"/>
                </a:highlight>
                <a:latin typeface="Consolas" panose="020B0609020204030204" pitchFamily="49" charset="0"/>
              </a:rPr>
              <a:t>fun</a:t>
            </a:r>
            <a:r>
              <a:rPr lang="en-US" sz="1800" dirty="0"/>
              <a:t> stands for function. A function is a section of a program that performs a specific task.</a:t>
            </a:r>
          </a:p>
          <a:p>
            <a:r>
              <a:rPr lang="en-US" sz="1800" dirty="0"/>
              <a:t>Every Kotlin program needs a function named </a:t>
            </a:r>
            <a:r>
              <a:rPr lang="en-US" sz="1800" dirty="0">
                <a:highlight>
                  <a:srgbClr val="FFFF00"/>
                </a:highlight>
                <a:latin typeface="Consolas" panose="020B0609020204030204" pitchFamily="49" charset="0"/>
              </a:rPr>
              <a:t>main</a:t>
            </a:r>
            <a:r>
              <a:rPr lang="en-US" sz="1800" dirty="0"/>
              <a:t>. It is the first, or main, function that is called when you run a program.</a:t>
            </a:r>
          </a:p>
          <a:p>
            <a:r>
              <a:rPr lang="en-US" sz="1800" dirty="0" err="1">
                <a:highlight>
                  <a:srgbClr val="FFFF00"/>
                </a:highlight>
                <a:latin typeface="Consolas" panose="020B0609020204030204" pitchFamily="49" charset="0"/>
              </a:rPr>
              <a:t>println</a:t>
            </a:r>
            <a:r>
              <a:rPr lang="en-US" sz="1800" dirty="0"/>
              <a:t> tells the system to print a line of text.</a:t>
            </a:r>
          </a:p>
          <a:p>
            <a:r>
              <a:rPr lang="en-US" sz="1800" dirty="0">
                <a:highlight>
                  <a:srgbClr val="FFFF00"/>
                </a:highlight>
              </a:rPr>
              <a:t>Camel case</a:t>
            </a:r>
            <a:r>
              <a:rPr lang="en-US" sz="1800" dirty="0"/>
              <a:t> means to capitalize the beginning of each word and remove all spaces in between. This is a convention for naming functions, variables, and classes in Kotlin, such as </a:t>
            </a:r>
            <a:r>
              <a:rPr lang="en-US" sz="1800" dirty="0" err="1">
                <a:latin typeface="Consolas" panose="020B0609020204030204" pitchFamily="49" charset="0"/>
              </a:rPr>
              <a:t>LinearLayout</a:t>
            </a:r>
            <a:r>
              <a:rPr lang="en-US" sz="1800" dirty="0"/>
              <a:t>, </a:t>
            </a:r>
            <a:r>
              <a:rPr lang="en-US" sz="1800" dirty="0" err="1">
                <a:latin typeface="Consolas" panose="020B0609020204030204" pitchFamily="49" charset="0"/>
              </a:rPr>
              <a:t>MainActivity</a:t>
            </a:r>
            <a:r>
              <a:rPr lang="en-US" sz="1800" dirty="0"/>
              <a:t>, or </a:t>
            </a:r>
            <a:r>
              <a:rPr lang="en-US" sz="1800" dirty="0" err="1">
                <a:latin typeface="Consolas" panose="020B0609020204030204" pitchFamily="49" charset="0"/>
              </a:rPr>
              <a:t>setOnClickListener</a:t>
            </a:r>
            <a:r>
              <a:rPr lang="en-US" sz="1800" dirty="0"/>
              <a:t>.</a:t>
            </a:r>
          </a:p>
          <a:p>
            <a:r>
              <a:rPr lang="en-US" sz="1800" dirty="0"/>
              <a:t>A </a:t>
            </a:r>
            <a:r>
              <a:rPr lang="en-US" sz="1800" dirty="0">
                <a:highlight>
                  <a:srgbClr val="FFFF00"/>
                </a:highlight>
              </a:rPr>
              <a:t>click listener</a:t>
            </a:r>
            <a:r>
              <a:rPr lang="en-US" sz="1800" dirty="0"/>
              <a:t> is a small piece of code that can be attached to a View. The click listener waits for the view to be tapped, and when the view is tapped, it executes a click handler.</a:t>
            </a:r>
          </a:p>
          <a:p>
            <a:r>
              <a:rPr lang="en-US" sz="1800" dirty="0"/>
              <a:t>A </a:t>
            </a:r>
            <a:r>
              <a:rPr lang="en-US" sz="1800" dirty="0">
                <a:highlight>
                  <a:srgbClr val="FFFF00"/>
                </a:highlight>
              </a:rPr>
              <a:t>click handler</a:t>
            </a:r>
            <a:r>
              <a:rPr lang="en-US" sz="1800" dirty="0"/>
              <a:t> is a piece of code that is invoked by a click listener when the View is tapped.</a:t>
            </a:r>
          </a:p>
          <a:p>
            <a:r>
              <a:rPr lang="en-US" sz="1800" dirty="0">
                <a:highlight>
                  <a:srgbClr val="FFFF00"/>
                </a:highlight>
              </a:rPr>
              <a:t>Gradle</a:t>
            </a:r>
            <a:r>
              <a:rPr lang="en-US" sz="1800" dirty="0"/>
              <a:t> is a tool used by Android Studio to automate and manage the build process for your app. It takes the source code you write for an app, along with platform code, libraries, and resources, and assembles all these parts into an APK that can be installed and run on an Android device.</a:t>
            </a:r>
            <a:endParaRPr lang="en-SG" sz="1800" dirty="0"/>
          </a:p>
        </p:txBody>
      </p:sp>
    </p:spTree>
    <p:extLst>
      <p:ext uri="{BB962C8B-B14F-4D97-AF65-F5344CB8AC3E}">
        <p14:creationId xmlns:p14="http://schemas.microsoft.com/office/powerpoint/2010/main" val="24816584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E93ABD-AD03-4CA6-893B-E423C18A1FD8}"/>
              </a:ext>
            </a:extLst>
          </p:cNvPr>
          <p:cNvSpPr>
            <a:spLocks noGrp="1"/>
          </p:cNvSpPr>
          <p:nvPr>
            <p:ph type="title"/>
          </p:nvPr>
        </p:nvSpPr>
        <p:spPr/>
        <p:txBody>
          <a:bodyPr/>
          <a:lstStyle/>
          <a:p>
            <a:r>
              <a:rPr lang="en-SG" dirty="0"/>
              <a:t>Vocabulary</a:t>
            </a:r>
          </a:p>
        </p:txBody>
      </p:sp>
      <p:sp>
        <p:nvSpPr>
          <p:cNvPr id="3" name="Content Placeholder 2">
            <a:extLst>
              <a:ext uri="{FF2B5EF4-FFF2-40B4-BE49-F238E27FC236}">
                <a16:creationId xmlns:a16="http://schemas.microsoft.com/office/drawing/2014/main" id="{6667C15B-3A62-4A76-9665-566B0F49FD91}"/>
              </a:ext>
            </a:extLst>
          </p:cNvPr>
          <p:cNvSpPr>
            <a:spLocks noGrp="1"/>
          </p:cNvSpPr>
          <p:nvPr>
            <p:ph idx="1"/>
          </p:nvPr>
        </p:nvSpPr>
        <p:spPr>
          <a:xfrm>
            <a:off x="838200" y="1690688"/>
            <a:ext cx="10515600" cy="4750273"/>
          </a:xfrm>
        </p:spPr>
        <p:txBody>
          <a:bodyPr>
            <a:normAutofit/>
          </a:bodyPr>
          <a:lstStyle/>
          <a:p>
            <a:r>
              <a:rPr lang="en-US" sz="2000" dirty="0"/>
              <a:t>Normally non-null properties must be initialized in the constructor, but sometimes that isn't practical. In those cases, a property can be marked with </a:t>
            </a:r>
            <a:r>
              <a:rPr lang="en-US" sz="2000" dirty="0" err="1">
                <a:highlight>
                  <a:srgbClr val="FFFF00"/>
                </a:highlight>
                <a:latin typeface="Consolas" panose="020B0609020204030204" pitchFamily="49" charset="0"/>
              </a:rPr>
              <a:t>lateinit</a:t>
            </a:r>
            <a:r>
              <a:rPr lang="en-US" sz="2000" dirty="0"/>
              <a:t>, which is a promise that the variable will be initialized before it is used. Note that an exception will be thrown if that property is accessed before being initialized.</a:t>
            </a:r>
          </a:p>
          <a:p>
            <a:r>
              <a:rPr lang="en-US" sz="2000" dirty="0"/>
              <a:t>Null is a special value that means "no value". It's different from a default value, for example, a Double having a value of 0.0 or an empty String with zero characters, "". In Kotlin, it’s preferable to not allow null values and you have to use special operators to permit a </a:t>
            </a:r>
            <a:r>
              <a:rPr lang="en-US" sz="2000" dirty="0">
                <a:highlight>
                  <a:srgbClr val="FFFF00"/>
                </a:highlight>
                <a:latin typeface="Consolas" panose="020B0609020204030204" pitchFamily="49" charset="0"/>
              </a:rPr>
              <a:t>null</a:t>
            </a:r>
            <a:r>
              <a:rPr lang="en-US" sz="2000" dirty="0"/>
              <a:t> value. </a:t>
            </a:r>
            <a:r>
              <a:rPr lang="en-US" sz="2000" dirty="0">
                <a:latin typeface="Consolas" panose="020B0609020204030204" pitchFamily="49" charset="0"/>
              </a:rPr>
              <a:t>null</a:t>
            </a:r>
            <a:r>
              <a:rPr lang="en-US" sz="2000" dirty="0"/>
              <a:t> means there is no value. If a method expects a value, passing null will cause an error.</a:t>
            </a:r>
          </a:p>
          <a:p>
            <a:r>
              <a:rPr lang="en-US" sz="2000" dirty="0"/>
              <a:t>To organize Views, you put them in a container. A </a:t>
            </a:r>
            <a:r>
              <a:rPr lang="en-US" sz="2000" dirty="0" err="1">
                <a:highlight>
                  <a:srgbClr val="FFFF00"/>
                </a:highlight>
              </a:rPr>
              <a:t>ViewGroup</a:t>
            </a:r>
            <a:r>
              <a:rPr lang="en-US" sz="2000" dirty="0"/>
              <a:t> is a container that </a:t>
            </a:r>
            <a:r>
              <a:rPr lang="en-US" sz="2000" dirty="0">
                <a:highlight>
                  <a:srgbClr val="FFFF00"/>
                </a:highlight>
              </a:rPr>
              <a:t>View</a:t>
            </a:r>
            <a:r>
              <a:rPr lang="en-US" sz="2000" dirty="0"/>
              <a:t> objects can sit in, and is responsible for arranging the Views inside it. One kind of </a:t>
            </a:r>
            <a:r>
              <a:rPr lang="en-US" sz="2000" dirty="0" err="1"/>
              <a:t>ViewGroup</a:t>
            </a:r>
            <a:r>
              <a:rPr lang="en-US" sz="2000" dirty="0"/>
              <a:t> is a </a:t>
            </a:r>
            <a:r>
              <a:rPr lang="en-US" sz="2000" dirty="0" err="1">
                <a:highlight>
                  <a:srgbClr val="FFFF00"/>
                </a:highlight>
                <a:latin typeface="Consolas" panose="020B0609020204030204" pitchFamily="49" charset="0"/>
              </a:rPr>
              <a:t>ConstraintLayout</a:t>
            </a:r>
            <a:r>
              <a:rPr lang="en-US" sz="2000" dirty="0"/>
              <a:t>, which helps you arrange the Views inside it in a flexible way. </a:t>
            </a:r>
            <a:r>
              <a:rPr lang="en-US" sz="2000" dirty="0">
                <a:highlight>
                  <a:srgbClr val="FFFF00"/>
                </a:highlight>
              </a:rPr>
              <a:t>Views need to be constrained horizontally and vertically within a </a:t>
            </a:r>
            <a:r>
              <a:rPr lang="en-US" sz="2000" dirty="0" err="1">
                <a:highlight>
                  <a:srgbClr val="FFFF00"/>
                </a:highlight>
                <a:latin typeface="Consolas" panose="020B0609020204030204" pitchFamily="49" charset="0"/>
              </a:rPr>
              <a:t>ConstraintLayout</a:t>
            </a:r>
            <a:r>
              <a:rPr lang="en-US" sz="2000" dirty="0"/>
              <a:t>.</a:t>
            </a:r>
          </a:p>
          <a:p>
            <a:r>
              <a:rPr lang="en-US" sz="2000" dirty="0" err="1">
                <a:highlight>
                  <a:srgbClr val="FFFF00"/>
                </a:highlight>
              </a:rPr>
              <a:t>dp</a:t>
            </a:r>
            <a:r>
              <a:rPr lang="en-US" sz="2000" dirty="0"/>
              <a:t> is a unit of measure for distances on the screen, </a:t>
            </a:r>
            <a:r>
              <a:rPr lang="en-US" sz="2000" dirty="0" err="1">
                <a:highlight>
                  <a:srgbClr val="FFFF00"/>
                </a:highlight>
              </a:rPr>
              <a:t>sp</a:t>
            </a:r>
            <a:r>
              <a:rPr lang="en-US" sz="2000" dirty="0"/>
              <a:t> is a unit of measure for the font size.</a:t>
            </a:r>
          </a:p>
          <a:p>
            <a:r>
              <a:rPr lang="en-US" sz="2000" dirty="0"/>
              <a:t>In Android, a graphic that can be drawn to the screen is generally referred to as a </a:t>
            </a:r>
            <a:r>
              <a:rPr lang="en-US" sz="2000" dirty="0">
                <a:highlight>
                  <a:srgbClr val="FFFF00"/>
                </a:highlight>
              </a:rPr>
              <a:t>drawable</a:t>
            </a:r>
            <a:r>
              <a:rPr lang="en-US" sz="2000" dirty="0"/>
              <a:t>.</a:t>
            </a:r>
            <a:endParaRPr lang="en-SG" sz="2000" dirty="0"/>
          </a:p>
        </p:txBody>
      </p:sp>
    </p:spTree>
    <p:extLst>
      <p:ext uri="{BB962C8B-B14F-4D97-AF65-F5344CB8AC3E}">
        <p14:creationId xmlns:p14="http://schemas.microsoft.com/office/powerpoint/2010/main" val="33791379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115DB4-3CB0-4416-AFBD-0793A53A2301}"/>
              </a:ext>
            </a:extLst>
          </p:cNvPr>
          <p:cNvSpPr>
            <a:spLocks noGrp="1"/>
          </p:cNvSpPr>
          <p:nvPr>
            <p:ph type="title"/>
          </p:nvPr>
        </p:nvSpPr>
        <p:spPr/>
        <p:txBody>
          <a:bodyPr/>
          <a:lstStyle/>
          <a:p>
            <a:r>
              <a:rPr lang="en-SG" dirty="0"/>
              <a:t>Program entry point</a:t>
            </a:r>
          </a:p>
        </p:txBody>
      </p:sp>
      <p:sp>
        <p:nvSpPr>
          <p:cNvPr id="3" name="Content Placeholder 2">
            <a:extLst>
              <a:ext uri="{FF2B5EF4-FFF2-40B4-BE49-F238E27FC236}">
                <a16:creationId xmlns:a16="http://schemas.microsoft.com/office/drawing/2014/main" id="{784A447D-9F82-404C-9215-CD8084792402}"/>
              </a:ext>
            </a:extLst>
          </p:cNvPr>
          <p:cNvSpPr>
            <a:spLocks noGrp="1"/>
          </p:cNvSpPr>
          <p:nvPr>
            <p:ph idx="1"/>
          </p:nvPr>
        </p:nvSpPr>
        <p:spPr>
          <a:xfrm>
            <a:off x="838200" y="2178995"/>
            <a:ext cx="4589834" cy="2081719"/>
          </a:xfrm>
        </p:spPr>
        <p:txBody>
          <a:bodyPr/>
          <a:lstStyle/>
          <a:p>
            <a:pPr marL="514350" indent="-514350">
              <a:buAutoNum type="arabicPeriod"/>
            </a:pPr>
            <a:r>
              <a:rPr lang="en-SG" dirty="0"/>
              <a:t>Without arguments</a:t>
            </a:r>
          </a:p>
          <a:p>
            <a:pPr marL="0" indent="0">
              <a:buNone/>
            </a:pPr>
            <a:endParaRPr lang="en-SG" sz="1200" dirty="0"/>
          </a:p>
          <a:p>
            <a:pPr marL="0" indent="0">
              <a:buNone/>
            </a:pPr>
            <a:r>
              <a:rPr lang="en-SG" sz="1200" dirty="0">
                <a:latin typeface="Lucida Console" panose="020B0609040504020204" pitchFamily="49" charset="0"/>
              </a:rPr>
              <a:t>fun main() {</a:t>
            </a:r>
          </a:p>
          <a:p>
            <a:pPr marL="0" indent="0">
              <a:buNone/>
            </a:pPr>
            <a:r>
              <a:rPr lang="en-SG" sz="1200" dirty="0">
                <a:latin typeface="Lucida Console" panose="020B0609040504020204" pitchFamily="49" charset="0"/>
              </a:rPr>
              <a:t>	println(“Hello World!”)</a:t>
            </a:r>
          </a:p>
          <a:p>
            <a:pPr marL="0" indent="0">
              <a:buNone/>
            </a:pPr>
            <a:r>
              <a:rPr lang="en-SG" sz="1200" dirty="0">
                <a:latin typeface="Lucida Console" panose="020B0609040504020204" pitchFamily="49" charset="0"/>
              </a:rPr>
              <a:t>}</a:t>
            </a:r>
          </a:p>
          <a:p>
            <a:pPr marL="0" indent="0">
              <a:buNone/>
            </a:pPr>
            <a:endParaRPr lang="en-SG" dirty="0"/>
          </a:p>
          <a:p>
            <a:pPr marL="514350" indent="-514350">
              <a:buAutoNum type="arabicPeriod"/>
            </a:pPr>
            <a:endParaRPr lang="en-SG" dirty="0"/>
          </a:p>
          <a:p>
            <a:pPr marL="0" indent="0">
              <a:buNone/>
            </a:pPr>
            <a:endParaRPr lang="en-SG" dirty="0"/>
          </a:p>
        </p:txBody>
      </p:sp>
      <p:sp>
        <p:nvSpPr>
          <p:cNvPr id="4" name="Content Placeholder 2">
            <a:extLst>
              <a:ext uri="{FF2B5EF4-FFF2-40B4-BE49-F238E27FC236}">
                <a16:creationId xmlns:a16="http://schemas.microsoft.com/office/drawing/2014/main" id="{89CC78DD-90A6-4942-A439-FD22DDE2724A}"/>
              </a:ext>
            </a:extLst>
          </p:cNvPr>
          <p:cNvSpPr txBox="1">
            <a:spLocks/>
          </p:cNvSpPr>
          <p:nvPr/>
        </p:nvSpPr>
        <p:spPr>
          <a:xfrm>
            <a:off x="6418634" y="2178995"/>
            <a:ext cx="4589834" cy="399796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SG" dirty="0"/>
              <a:t>2. With arguments</a:t>
            </a:r>
          </a:p>
          <a:p>
            <a:pPr marL="0" indent="0">
              <a:buNone/>
            </a:pPr>
            <a:endParaRPr lang="en-SG" sz="1200" dirty="0"/>
          </a:p>
          <a:p>
            <a:pPr marL="0" indent="0">
              <a:buNone/>
            </a:pPr>
            <a:r>
              <a:rPr lang="en-SG" sz="1200" dirty="0">
                <a:latin typeface="Lucida Console" panose="020B0609040504020204" pitchFamily="49" charset="0"/>
              </a:rPr>
              <a:t>fun main(args: Array&lt;String&gt;) {</a:t>
            </a:r>
          </a:p>
          <a:p>
            <a:pPr marL="0" indent="0">
              <a:buNone/>
            </a:pPr>
            <a:r>
              <a:rPr lang="en-SG" sz="1200" dirty="0">
                <a:latin typeface="Lucida Console" panose="020B0609040504020204" pitchFamily="49" charset="0"/>
              </a:rPr>
              <a:t>	println(args.contentToString())</a:t>
            </a:r>
          </a:p>
          <a:p>
            <a:pPr marL="0" indent="0">
              <a:buNone/>
            </a:pPr>
            <a:r>
              <a:rPr lang="en-SG" sz="1200" dirty="0">
                <a:latin typeface="Lucida Console" panose="020B0609040504020204" pitchFamily="49" charset="0"/>
              </a:rPr>
              <a:t>}</a:t>
            </a:r>
          </a:p>
          <a:p>
            <a:pPr marL="0" indent="0">
              <a:buNone/>
            </a:pPr>
            <a:endParaRPr lang="en-SG" dirty="0"/>
          </a:p>
        </p:txBody>
      </p:sp>
      <p:sp>
        <p:nvSpPr>
          <p:cNvPr id="5" name="Content Placeholder 2">
            <a:extLst>
              <a:ext uri="{FF2B5EF4-FFF2-40B4-BE49-F238E27FC236}">
                <a16:creationId xmlns:a16="http://schemas.microsoft.com/office/drawing/2014/main" id="{2DFD1012-5193-4ED3-BA1D-F490F68B1576}"/>
              </a:ext>
            </a:extLst>
          </p:cNvPr>
          <p:cNvSpPr txBox="1">
            <a:spLocks/>
          </p:cNvSpPr>
          <p:nvPr/>
        </p:nvSpPr>
        <p:spPr>
          <a:xfrm>
            <a:off x="3020843" y="4411156"/>
            <a:ext cx="6150313" cy="208171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SG" dirty="0"/>
              <a:t>3. Android’s </a:t>
            </a:r>
            <a:r>
              <a:rPr lang="en-SG" dirty="0">
                <a:latin typeface="Lucida Console" panose="020B0609040504020204" pitchFamily="49" charset="0"/>
              </a:rPr>
              <a:t>main()</a:t>
            </a:r>
          </a:p>
          <a:p>
            <a:pPr marL="0" indent="0">
              <a:buNone/>
            </a:pPr>
            <a:endParaRPr lang="en-SG" sz="1200" dirty="0"/>
          </a:p>
          <a:p>
            <a:pPr marL="0" indent="0">
              <a:buFont typeface="Arial" panose="020B0604020202020204" pitchFamily="34" charset="0"/>
              <a:buNone/>
            </a:pPr>
            <a:r>
              <a:rPr lang="en-SG" sz="1200" dirty="0">
                <a:latin typeface="Lucida Console" panose="020B0609040504020204" pitchFamily="49" charset="0"/>
              </a:rPr>
              <a:t>override fun onCreate(savedInstanceState: Bundle?) {</a:t>
            </a:r>
          </a:p>
          <a:p>
            <a:pPr marL="0" indent="0">
              <a:buFont typeface="Arial" panose="020B0604020202020204" pitchFamily="34" charset="0"/>
              <a:buNone/>
            </a:pPr>
            <a:r>
              <a:rPr lang="en-SG" sz="1200" dirty="0">
                <a:latin typeface="Lucida Console" panose="020B0609040504020204" pitchFamily="49" charset="0"/>
              </a:rPr>
              <a:t>       </a:t>
            </a:r>
            <a:r>
              <a:rPr lang="en-US" sz="1200" dirty="0">
                <a:latin typeface="Lucida Console" panose="020B0609040504020204" pitchFamily="49" charset="0"/>
              </a:rPr>
              <a:t>super.onCreate(savedInstanceState)</a:t>
            </a:r>
          </a:p>
          <a:p>
            <a:pPr marL="0" indent="0">
              <a:buFont typeface="Arial" panose="020B0604020202020204" pitchFamily="34" charset="0"/>
              <a:buNone/>
            </a:pPr>
            <a:r>
              <a:rPr lang="en-US" sz="1200" dirty="0">
                <a:latin typeface="Lucida Console" panose="020B0609040504020204" pitchFamily="49" charset="0"/>
              </a:rPr>
              <a:t>       setContentView(R.layout.activity_main)</a:t>
            </a:r>
            <a:endParaRPr lang="en-SG" sz="1200" dirty="0">
              <a:latin typeface="Lucida Console" panose="020B0609040504020204" pitchFamily="49" charset="0"/>
            </a:endParaRPr>
          </a:p>
          <a:p>
            <a:pPr marL="0" indent="0">
              <a:buFont typeface="Arial" panose="020B0604020202020204" pitchFamily="34" charset="0"/>
              <a:buNone/>
            </a:pPr>
            <a:r>
              <a:rPr lang="en-SG" sz="1200" dirty="0">
                <a:latin typeface="Lucida Console" panose="020B0609040504020204" pitchFamily="49" charset="0"/>
              </a:rPr>
              <a:t>}</a:t>
            </a:r>
          </a:p>
          <a:p>
            <a:pPr marL="0" indent="0">
              <a:buFont typeface="Arial" panose="020B0604020202020204" pitchFamily="34" charset="0"/>
              <a:buNone/>
            </a:pPr>
            <a:endParaRPr lang="en-SG" dirty="0"/>
          </a:p>
          <a:p>
            <a:pPr marL="514350" indent="-514350">
              <a:buFont typeface="Arial" panose="020B0604020202020204" pitchFamily="34" charset="0"/>
              <a:buAutoNum type="arabicPeriod"/>
            </a:pPr>
            <a:endParaRPr lang="en-SG" dirty="0"/>
          </a:p>
          <a:p>
            <a:pPr marL="0" indent="0">
              <a:buFont typeface="Arial" panose="020B0604020202020204" pitchFamily="34" charset="0"/>
              <a:buNone/>
            </a:pPr>
            <a:endParaRPr lang="en-SG" dirty="0"/>
          </a:p>
        </p:txBody>
      </p:sp>
    </p:spTree>
    <p:extLst>
      <p:ext uri="{BB962C8B-B14F-4D97-AF65-F5344CB8AC3E}">
        <p14:creationId xmlns:p14="http://schemas.microsoft.com/office/powerpoint/2010/main" val="37729589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43D4E4-589A-4470-9F99-06CBDDAE1385}"/>
              </a:ext>
            </a:extLst>
          </p:cNvPr>
          <p:cNvSpPr>
            <a:spLocks noGrp="1"/>
          </p:cNvSpPr>
          <p:nvPr>
            <p:ph type="title"/>
          </p:nvPr>
        </p:nvSpPr>
        <p:spPr/>
        <p:txBody>
          <a:bodyPr/>
          <a:lstStyle/>
          <a:p>
            <a:r>
              <a:rPr lang="en-SG" dirty="0"/>
              <a:t>Unit?</a:t>
            </a:r>
          </a:p>
        </p:txBody>
      </p:sp>
      <p:sp>
        <p:nvSpPr>
          <p:cNvPr id="3" name="Content Placeholder 2">
            <a:extLst>
              <a:ext uri="{FF2B5EF4-FFF2-40B4-BE49-F238E27FC236}">
                <a16:creationId xmlns:a16="http://schemas.microsoft.com/office/drawing/2014/main" id="{C4A86444-780C-48D3-B724-A0905CAB63AF}"/>
              </a:ext>
            </a:extLst>
          </p:cNvPr>
          <p:cNvSpPr>
            <a:spLocks noGrp="1"/>
          </p:cNvSpPr>
          <p:nvPr>
            <p:ph idx="1"/>
          </p:nvPr>
        </p:nvSpPr>
        <p:spPr/>
        <p:txBody>
          <a:bodyPr>
            <a:normAutofit/>
          </a:bodyPr>
          <a:lstStyle/>
          <a:p>
            <a:pPr marL="0" indent="0">
              <a:buNone/>
            </a:pPr>
            <a:r>
              <a:rPr lang="en-US" sz="1800" dirty="0">
                <a:latin typeface="Lucida Console" panose="020B0609040504020204" pitchFamily="49" charset="0"/>
              </a:rPr>
              <a:t>fun </a:t>
            </a:r>
            <a:r>
              <a:rPr lang="en-US" sz="1800" dirty="0" err="1">
                <a:latin typeface="Lucida Console" panose="020B0609040504020204" pitchFamily="49" charset="0"/>
              </a:rPr>
              <a:t>printSum</a:t>
            </a:r>
            <a:r>
              <a:rPr lang="en-US" sz="1800" dirty="0">
                <a:latin typeface="Lucida Console" panose="020B0609040504020204" pitchFamily="49" charset="0"/>
              </a:rPr>
              <a:t>(a: Int, b: Int) : </a:t>
            </a:r>
            <a:r>
              <a:rPr lang="en-US" sz="1800" dirty="0">
                <a:highlight>
                  <a:srgbClr val="FFFF00"/>
                </a:highlight>
                <a:latin typeface="Lucida Console" panose="020B0609040504020204" pitchFamily="49" charset="0"/>
              </a:rPr>
              <a:t>Unit</a:t>
            </a:r>
            <a:r>
              <a:rPr lang="en-US" sz="1800" dirty="0">
                <a:latin typeface="Lucida Console" panose="020B0609040504020204" pitchFamily="49" charset="0"/>
              </a:rPr>
              <a:t> {</a:t>
            </a:r>
          </a:p>
          <a:p>
            <a:pPr marL="0" indent="0">
              <a:buNone/>
            </a:pPr>
            <a:r>
              <a:rPr lang="en-US" sz="1800" dirty="0">
                <a:latin typeface="Lucida Console" panose="020B0609040504020204" pitchFamily="49" charset="0"/>
              </a:rPr>
              <a:t>    </a:t>
            </a:r>
            <a:r>
              <a:rPr lang="en-US" sz="1800" dirty="0" err="1">
                <a:latin typeface="Lucida Console" panose="020B0609040504020204" pitchFamily="49" charset="0"/>
              </a:rPr>
              <a:t>println</a:t>
            </a:r>
            <a:r>
              <a:rPr lang="en-US" sz="1800" dirty="0">
                <a:latin typeface="Lucida Console" panose="020B0609040504020204" pitchFamily="49" charset="0"/>
              </a:rPr>
              <a:t>("sum of a and b is ${a + b}")</a:t>
            </a:r>
          </a:p>
          <a:p>
            <a:pPr marL="0" indent="0">
              <a:buNone/>
            </a:pPr>
            <a:r>
              <a:rPr lang="en-US" sz="1800" dirty="0">
                <a:latin typeface="Lucida Console" panose="020B0609040504020204" pitchFamily="49" charset="0"/>
              </a:rPr>
              <a:t>}</a:t>
            </a:r>
          </a:p>
          <a:p>
            <a:pPr marL="0" indent="0">
              <a:buNone/>
            </a:pPr>
            <a:endParaRPr lang="en-US" sz="1800" dirty="0">
              <a:latin typeface="Lucida Console" panose="020B0609040504020204" pitchFamily="49" charset="0"/>
            </a:endParaRPr>
          </a:p>
          <a:p>
            <a:pPr marL="0" indent="0">
              <a:buNone/>
            </a:pPr>
            <a:r>
              <a:rPr lang="en-US" sz="2000" dirty="0">
                <a:highlight>
                  <a:srgbClr val="FFFF00"/>
                </a:highlight>
              </a:rPr>
              <a:t>Basically it corresponds to </a:t>
            </a:r>
            <a:r>
              <a:rPr lang="en-US" sz="2000" dirty="0">
                <a:highlight>
                  <a:srgbClr val="FFFF00"/>
                </a:highlight>
                <a:latin typeface="Lucida Console" panose="020B0609040504020204" pitchFamily="49" charset="0"/>
              </a:rPr>
              <a:t>void</a:t>
            </a:r>
            <a:r>
              <a:rPr lang="en-US" sz="2000" dirty="0">
                <a:highlight>
                  <a:srgbClr val="FFFF00"/>
                </a:highlight>
              </a:rPr>
              <a:t> in Java. </a:t>
            </a:r>
            <a:r>
              <a:rPr lang="en-US" sz="2000" dirty="0"/>
              <a:t>It is the return type of any function that does not return any meaningful value, and it is optional to mention </a:t>
            </a:r>
            <a:r>
              <a:rPr lang="en-US" sz="2000" dirty="0">
                <a:latin typeface="Lucida Console" panose="020B0609040504020204" pitchFamily="49" charset="0"/>
              </a:rPr>
              <a:t>Unit</a:t>
            </a:r>
            <a:r>
              <a:rPr lang="en-US" sz="2000" dirty="0"/>
              <a:t> as the return type. So it’s the same as:</a:t>
            </a:r>
          </a:p>
          <a:p>
            <a:pPr marL="0" indent="0">
              <a:buNone/>
            </a:pPr>
            <a:endParaRPr lang="en-US" sz="1800" dirty="0">
              <a:latin typeface="Lucida Console" panose="020B0609040504020204" pitchFamily="49" charset="0"/>
            </a:endParaRPr>
          </a:p>
          <a:p>
            <a:pPr marL="0" indent="0">
              <a:buNone/>
            </a:pPr>
            <a:r>
              <a:rPr lang="en-US" sz="1800" dirty="0">
                <a:latin typeface="Lucida Console" panose="020B0609040504020204" pitchFamily="49" charset="0"/>
              </a:rPr>
              <a:t>fun </a:t>
            </a:r>
            <a:r>
              <a:rPr lang="en-US" sz="1800" dirty="0" err="1">
                <a:latin typeface="Lucida Console" panose="020B0609040504020204" pitchFamily="49" charset="0"/>
              </a:rPr>
              <a:t>printSum</a:t>
            </a:r>
            <a:r>
              <a:rPr lang="en-US" sz="1800" dirty="0">
                <a:latin typeface="Lucida Console" panose="020B0609040504020204" pitchFamily="49" charset="0"/>
              </a:rPr>
              <a:t>(a: Int, b: Int) {</a:t>
            </a:r>
          </a:p>
          <a:p>
            <a:pPr marL="0" indent="0">
              <a:buNone/>
            </a:pPr>
            <a:r>
              <a:rPr lang="en-US" sz="1800" dirty="0">
                <a:latin typeface="Lucida Console" panose="020B0609040504020204" pitchFamily="49" charset="0"/>
              </a:rPr>
              <a:t>    </a:t>
            </a:r>
            <a:r>
              <a:rPr lang="en-US" sz="1800" dirty="0" err="1">
                <a:latin typeface="Lucida Console" panose="020B0609040504020204" pitchFamily="49" charset="0"/>
              </a:rPr>
              <a:t>println</a:t>
            </a:r>
            <a:r>
              <a:rPr lang="en-US" sz="1800" dirty="0">
                <a:latin typeface="Lucida Console" panose="020B0609040504020204" pitchFamily="49" charset="0"/>
              </a:rPr>
              <a:t>("sum of a and b is ${a + b}")</a:t>
            </a:r>
          </a:p>
          <a:p>
            <a:pPr marL="0" indent="0">
              <a:buNone/>
            </a:pPr>
            <a:r>
              <a:rPr lang="en-US" sz="1800" dirty="0">
                <a:latin typeface="Lucida Console" panose="020B0609040504020204" pitchFamily="49" charset="0"/>
              </a:rPr>
              <a:t>}</a:t>
            </a:r>
          </a:p>
          <a:p>
            <a:pPr marL="0" indent="0">
              <a:buNone/>
            </a:pPr>
            <a:endParaRPr lang="en-SG" sz="1800" dirty="0">
              <a:latin typeface="Lucida Console" panose="020B0609040504020204" pitchFamily="49" charset="0"/>
            </a:endParaRPr>
          </a:p>
        </p:txBody>
      </p:sp>
    </p:spTree>
    <p:extLst>
      <p:ext uri="{BB962C8B-B14F-4D97-AF65-F5344CB8AC3E}">
        <p14:creationId xmlns:p14="http://schemas.microsoft.com/office/powerpoint/2010/main" val="7887086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Generics???</a:t>
            </a:r>
          </a:p>
        </p:txBody>
      </p:sp>
      <p:sp>
        <p:nvSpPr>
          <p:cNvPr id="3" name="Content Placeholder 2">
            <a:extLst>
              <a:ext uri="{FF2B5EF4-FFF2-40B4-BE49-F238E27FC236}">
                <a16:creationId xmlns:a16="http://schemas.microsoft.com/office/drawing/2014/main" id="{5EF0258B-01EE-4594-AF88-BE2BEFDF6249}"/>
              </a:ext>
            </a:extLst>
          </p:cNvPr>
          <p:cNvSpPr>
            <a:spLocks noGrp="1"/>
          </p:cNvSpPr>
          <p:nvPr>
            <p:ph idx="1"/>
          </p:nvPr>
        </p:nvSpPr>
        <p:spPr/>
        <p:txBody>
          <a:bodyPr>
            <a:normAutofit/>
          </a:bodyPr>
          <a:lstStyle/>
          <a:p>
            <a:r>
              <a:rPr lang="en-US" sz="2400" dirty="0"/>
              <a:t>A genericity mechanism that's become standard in modern languages. Generic classes and functions increase code reusability by encapsulating common logic that is independent of a particular generic type, like the logic inside a </a:t>
            </a:r>
            <a:r>
              <a:rPr lang="en-US" sz="2400" dirty="0">
                <a:latin typeface="Lucida Console" panose="020B0609040504020204" pitchFamily="49" charset="0"/>
              </a:rPr>
              <a:t>List&lt;T&gt;</a:t>
            </a:r>
            <a:r>
              <a:rPr lang="en-US" sz="2400" dirty="0"/>
              <a:t> is independent of what </a:t>
            </a:r>
            <a:r>
              <a:rPr lang="en-US" sz="2400" dirty="0">
                <a:latin typeface="Lucida Console" panose="020B0609040504020204" pitchFamily="49" charset="0"/>
              </a:rPr>
              <a:t>T</a:t>
            </a:r>
            <a:r>
              <a:rPr lang="en-US" sz="2400" dirty="0"/>
              <a:t> is.</a:t>
            </a:r>
          </a:p>
          <a:p>
            <a:r>
              <a:rPr lang="en-US" sz="2400" dirty="0"/>
              <a:t>Can have generic classes and generic functions.</a:t>
            </a:r>
          </a:p>
          <a:p>
            <a:pPr marL="0" indent="0">
              <a:buNone/>
            </a:pPr>
            <a:endParaRPr lang="en-US" sz="2400" dirty="0"/>
          </a:p>
          <a:p>
            <a:pPr marL="0" indent="0">
              <a:buNone/>
            </a:pPr>
            <a:endParaRPr lang="en-SG" sz="2400" dirty="0"/>
          </a:p>
        </p:txBody>
      </p:sp>
    </p:spTree>
    <p:extLst>
      <p:ext uri="{BB962C8B-B14F-4D97-AF65-F5344CB8AC3E}">
        <p14:creationId xmlns:p14="http://schemas.microsoft.com/office/powerpoint/2010/main" val="23793296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if-else… or when?</a:t>
            </a:r>
          </a:p>
        </p:txBody>
      </p:sp>
      <p:sp>
        <p:nvSpPr>
          <p:cNvPr id="3" name="Content Placeholder 2">
            <a:extLst>
              <a:ext uri="{FF2B5EF4-FFF2-40B4-BE49-F238E27FC236}">
                <a16:creationId xmlns:a16="http://schemas.microsoft.com/office/drawing/2014/main" id="{5EF0258B-01EE-4594-AF88-BE2BEFDF6249}"/>
              </a:ext>
            </a:extLst>
          </p:cNvPr>
          <p:cNvSpPr>
            <a:spLocks noGrp="1"/>
          </p:cNvSpPr>
          <p:nvPr>
            <p:ph idx="1"/>
          </p:nvPr>
        </p:nvSpPr>
        <p:spPr>
          <a:xfrm>
            <a:off x="838200" y="1825625"/>
            <a:ext cx="10515600" cy="800843"/>
          </a:xfrm>
        </p:spPr>
        <p:txBody>
          <a:bodyPr>
            <a:normAutofit/>
          </a:bodyPr>
          <a:lstStyle/>
          <a:p>
            <a:pPr marL="0" indent="0">
              <a:buNone/>
            </a:pPr>
            <a:r>
              <a:rPr lang="en-US" sz="2400" dirty="0"/>
              <a:t>Because having multiple else if cases is very common, Kotlin has a simpler way of writing them.</a:t>
            </a:r>
          </a:p>
          <a:p>
            <a:pPr marL="0" indent="0">
              <a:buNone/>
            </a:pPr>
            <a:endParaRPr lang="en-SG" sz="2400" dirty="0"/>
          </a:p>
        </p:txBody>
      </p:sp>
      <p:pic>
        <p:nvPicPr>
          <p:cNvPr id="6" name="Picture 5">
            <a:extLst>
              <a:ext uri="{FF2B5EF4-FFF2-40B4-BE49-F238E27FC236}">
                <a16:creationId xmlns:a16="http://schemas.microsoft.com/office/drawing/2014/main" id="{D1A11A9E-EB99-4467-87D8-E2513D6A6D22}"/>
              </a:ext>
            </a:extLst>
          </p:cNvPr>
          <p:cNvPicPr>
            <a:picLocks noChangeAspect="1"/>
          </p:cNvPicPr>
          <p:nvPr/>
        </p:nvPicPr>
        <p:blipFill>
          <a:blip r:embed="rId2"/>
          <a:stretch>
            <a:fillRect/>
          </a:stretch>
        </p:blipFill>
        <p:spPr>
          <a:xfrm>
            <a:off x="1626141" y="3751431"/>
            <a:ext cx="2865368" cy="960203"/>
          </a:xfrm>
          <a:prstGeom prst="rect">
            <a:avLst/>
          </a:prstGeom>
        </p:spPr>
      </p:pic>
      <p:pic>
        <p:nvPicPr>
          <p:cNvPr id="8" name="Picture 7">
            <a:extLst>
              <a:ext uri="{FF2B5EF4-FFF2-40B4-BE49-F238E27FC236}">
                <a16:creationId xmlns:a16="http://schemas.microsoft.com/office/drawing/2014/main" id="{0C0FAFB8-73CB-4851-8B4F-AB74BB04DD9A}"/>
              </a:ext>
            </a:extLst>
          </p:cNvPr>
          <p:cNvPicPr>
            <a:picLocks noChangeAspect="1"/>
          </p:cNvPicPr>
          <p:nvPr/>
        </p:nvPicPr>
        <p:blipFill>
          <a:blip r:embed="rId3"/>
          <a:stretch>
            <a:fillRect/>
          </a:stretch>
        </p:blipFill>
        <p:spPr>
          <a:xfrm>
            <a:off x="6096000" y="3000184"/>
            <a:ext cx="3139712" cy="617273"/>
          </a:xfrm>
          <a:prstGeom prst="rect">
            <a:avLst/>
          </a:prstGeom>
        </p:spPr>
      </p:pic>
      <p:pic>
        <p:nvPicPr>
          <p:cNvPr id="10" name="Picture 9">
            <a:extLst>
              <a:ext uri="{FF2B5EF4-FFF2-40B4-BE49-F238E27FC236}">
                <a16:creationId xmlns:a16="http://schemas.microsoft.com/office/drawing/2014/main" id="{BEE5710F-59FA-4D20-8C17-437BFF5AB90F}"/>
              </a:ext>
            </a:extLst>
          </p:cNvPr>
          <p:cNvPicPr>
            <a:picLocks noChangeAspect="1"/>
          </p:cNvPicPr>
          <p:nvPr/>
        </p:nvPicPr>
        <p:blipFill>
          <a:blip r:embed="rId4"/>
          <a:stretch>
            <a:fillRect/>
          </a:stretch>
        </p:blipFill>
        <p:spPr>
          <a:xfrm>
            <a:off x="6022824" y="4269024"/>
            <a:ext cx="5029636" cy="1562235"/>
          </a:xfrm>
          <a:prstGeom prst="rect">
            <a:avLst/>
          </a:prstGeom>
        </p:spPr>
      </p:pic>
      <p:sp>
        <p:nvSpPr>
          <p:cNvPr id="11" name="TextBox 10">
            <a:extLst>
              <a:ext uri="{FF2B5EF4-FFF2-40B4-BE49-F238E27FC236}">
                <a16:creationId xmlns:a16="http://schemas.microsoft.com/office/drawing/2014/main" id="{FA7E382B-BDC4-47C7-B713-A350E1860873}"/>
              </a:ext>
            </a:extLst>
          </p:cNvPr>
          <p:cNvSpPr txBox="1"/>
          <p:nvPr/>
        </p:nvSpPr>
        <p:spPr>
          <a:xfrm>
            <a:off x="1155602" y="3432791"/>
            <a:ext cx="1260410" cy="276999"/>
          </a:xfrm>
          <a:prstGeom prst="rect">
            <a:avLst/>
          </a:prstGeom>
          <a:solidFill>
            <a:schemeClr val="accent4"/>
          </a:solidFill>
        </p:spPr>
        <p:txBody>
          <a:bodyPr wrap="none" rtlCol="0">
            <a:spAutoFit/>
          </a:bodyPr>
          <a:lstStyle/>
          <a:p>
            <a:r>
              <a:rPr lang="en-SG" sz="1200" dirty="0"/>
              <a:t>Traditional if-else</a:t>
            </a:r>
          </a:p>
        </p:txBody>
      </p:sp>
      <p:sp>
        <p:nvSpPr>
          <p:cNvPr id="12" name="TextBox 11">
            <a:extLst>
              <a:ext uri="{FF2B5EF4-FFF2-40B4-BE49-F238E27FC236}">
                <a16:creationId xmlns:a16="http://schemas.microsoft.com/office/drawing/2014/main" id="{31E02EC7-ECC3-49CD-BA5B-1CD000D25F24}"/>
              </a:ext>
            </a:extLst>
          </p:cNvPr>
          <p:cNvSpPr txBox="1"/>
          <p:nvPr/>
        </p:nvSpPr>
        <p:spPr>
          <a:xfrm>
            <a:off x="5558989" y="2674826"/>
            <a:ext cx="1892185" cy="276999"/>
          </a:xfrm>
          <a:prstGeom prst="rect">
            <a:avLst/>
          </a:prstGeom>
          <a:solidFill>
            <a:schemeClr val="accent4"/>
          </a:solidFill>
        </p:spPr>
        <p:txBody>
          <a:bodyPr wrap="none" rtlCol="0">
            <a:spAutoFit/>
          </a:bodyPr>
          <a:lstStyle/>
          <a:p>
            <a:r>
              <a:rPr lang="en-SG" sz="1200" dirty="0"/>
              <a:t>When with single condition</a:t>
            </a:r>
          </a:p>
        </p:txBody>
      </p:sp>
      <p:sp>
        <p:nvSpPr>
          <p:cNvPr id="13" name="TextBox 12">
            <a:extLst>
              <a:ext uri="{FF2B5EF4-FFF2-40B4-BE49-F238E27FC236}">
                <a16:creationId xmlns:a16="http://schemas.microsoft.com/office/drawing/2014/main" id="{C4014959-FF9E-4805-ABC9-CDC3CD6A701A}"/>
              </a:ext>
            </a:extLst>
          </p:cNvPr>
          <p:cNvSpPr txBox="1"/>
          <p:nvPr/>
        </p:nvSpPr>
        <p:spPr>
          <a:xfrm>
            <a:off x="5555663" y="4003972"/>
            <a:ext cx="2110193" cy="276999"/>
          </a:xfrm>
          <a:prstGeom prst="rect">
            <a:avLst/>
          </a:prstGeom>
          <a:solidFill>
            <a:schemeClr val="accent4"/>
          </a:solidFill>
        </p:spPr>
        <p:txBody>
          <a:bodyPr wrap="none" rtlCol="0">
            <a:spAutoFit/>
          </a:bodyPr>
          <a:lstStyle/>
          <a:p>
            <a:r>
              <a:rPr lang="en-SG" sz="1200" dirty="0"/>
              <a:t>When with multiple conditions</a:t>
            </a:r>
          </a:p>
        </p:txBody>
      </p:sp>
    </p:spTree>
    <p:extLst>
      <p:ext uri="{BB962C8B-B14F-4D97-AF65-F5344CB8AC3E}">
        <p14:creationId xmlns:p14="http://schemas.microsoft.com/office/powerpoint/2010/main" val="2152827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568D77C9-DB67-4CFE-BE9C-F4D90B4DA73C}"/>
              </a:ext>
            </a:extLst>
          </p:cNvPr>
          <p:cNvPicPr>
            <a:picLocks noChangeAspect="1"/>
          </p:cNvPicPr>
          <p:nvPr/>
        </p:nvPicPr>
        <p:blipFill rotWithShape="1">
          <a:blip r:embed="rId2"/>
          <a:srcRect b="4782"/>
          <a:stretch/>
        </p:blipFill>
        <p:spPr>
          <a:xfrm>
            <a:off x="838200" y="1447668"/>
            <a:ext cx="7345915" cy="5045207"/>
          </a:xfrm>
          <a:prstGeom prst="rect">
            <a:avLst/>
          </a:prstGeom>
        </p:spPr>
      </p:pic>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Auto Imports</a:t>
            </a:r>
          </a:p>
        </p:txBody>
      </p:sp>
      <p:sp>
        <p:nvSpPr>
          <p:cNvPr id="8" name="Rectangle 7">
            <a:extLst>
              <a:ext uri="{FF2B5EF4-FFF2-40B4-BE49-F238E27FC236}">
                <a16:creationId xmlns:a16="http://schemas.microsoft.com/office/drawing/2014/main" id="{EA2D08F7-D573-4AD6-81FE-5B63C4F8E41D}"/>
              </a:ext>
            </a:extLst>
          </p:cNvPr>
          <p:cNvSpPr/>
          <p:nvPr/>
        </p:nvSpPr>
        <p:spPr>
          <a:xfrm>
            <a:off x="2850205" y="2773231"/>
            <a:ext cx="1935804" cy="40771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54354F8C-89AC-4D85-BD73-036250E8C213}"/>
              </a:ext>
            </a:extLst>
          </p:cNvPr>
          <p:cNvSpPr/>
          <p:nvPr/>
        </p:nvSpPr>
        <p:spPr>
          <a:xfrm>
            <a:off x="2850205" y="2311701"/>
            <a:ext cx="3035029" cy="1785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Rectangle 11">
            <a:extLst>
              <a:ext uri="{FF2B5EF4-FFF2-40B4-BE49-F238E27FC236}">
                <a16:creationId xmlns:a16="http://schemas.microsoft.com/office/drawing/2014/main" id="{2B838290-D0F7-4241-9334-28AD1BB35B66}"/>
              </a:ext>
            </a:extLst>
          </p:cNvPr>
          <p:cNvSpPr/>
          <p:nvPr/>
        </p:nvSpPr>
        <p:spPr>
          <a:xfrm>
            <a:off x="2691319" y="5629921"/>
            <a:ext cx="2094689" cy="67360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TextBox 13">
            <a:extLst>
              <a:ext uri="{FF2B5EF4-FFF2-40B4-BE49-F238E27FC236}">
                <a16:creationId xmlns:a16="http://schemas.microsoft.com/office/drawing/2014/main" id="{8827F79E-5136-4566-BB44-D7B37300CBE7}"/>
              </a:ext>
            </a:extLst>
          </p:cNvPr>
          <p:cNvSpPr txBox="1"/>
          <p:nvPr/>
        </p:nvSpPr>
        <p:spPr>
          <a:xfrm>
            <a:off x="6987705" y="2311701"/>
            <a:ext cx="4254050" cy="2677656"/>
          </a:xfrm>
          <a:prstGeom prst="rect">
            <a:avLst/>
          </a:prstGeom>
          <a:solidFill>
            <a:schemeClr val="accent4"/>
          </a:solidFill>
        </p:spPr>
        <p:txBody>
          <a:bodyPr wrap="square" rtlCol="0">
            <a:spAutoFit/>
          </a:bodyPr>
          <a:lstStyle/>
          <a:p>
            <a:r>
              <a:rPr lang="en-US" sz="1400" dirty="0"/>
              <a:t>It can become a lot of work to remember to add import statements when you use more classes. Fortunately, Android Studio helps you choose the correct imports when you are using classes provided by others.</a:t>
            </a:r>
          </a:p>
          <a:p>
            <a:endParaRPr lang="en-US" sz="1400" dirty="0"/>
          </a:p>
          <a:p>
            <a:r>
              <a:rPr lang="en-US" sz="1400" dirty="0"/>
              <a:t>The </a:t>
            </a:r>
            <a:r>
              <a:rPr lang="en-US" sz="1400" b="1" dirty="0"/>
              <a:t>unambiguous</a:t>
            </a:r>
            <a:r>
              <a:rPr lang="en-US" sz="1400" dirty="0"/>
              <a:t> imports settings tell Android Studio to automatically add an import statement, as long as it can determine which one to use. </a:t>
            </a:r>
          </a:p>
          <a:p>
            <a:endParaRPr lang="en-US" sz="1400" dirty="0"/>
          </a:p>
          <a:p>
            <a:r>
              <a:rPr lang="en-US" sz="1400" dirty="0"/>
              <a:t>The </a:t>
            </a:r>
            <a:r>
              <a:rPr lang="en-US" sz="1400" b="1" dirty="0"/>
              <a:t>optimize</a:t>
            </a:r>
            <a:r>
              <a:rPr lang="en-US" sz="1400" dirty="0"/>
              <a:t> imports settings tell Android Studio to remove any imports that aren't being used by your code.</a:t>
            </a:r>
            <a:endParaRPr lang="en-SG" sz="1400" dirty="0"/>
          </a:p>
        </p:txBody>
      </p:sp>
    </p:spTree>
    <p:extLst>
      <p:ext uri="{BB962C8B-B14F-4D97-AF65-F5344CB8AC3E}">
        <p14:creationId xmlns:p14="http://schemas.microsoft.com/office/powerpoint/2010/main" val="40675975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Testing Pyramid</a:t>
            </a:r>
          </a:p>
        </p:txBody>
      </p:sp>
    </p:spTree>
    <p:extLst>
      <p:ext uri="{BB962C8B-B14F-4D97-AF65-F5344CB8AC3E}">
        <p14:creationId xmlns:p14="http://schemas.microsoft.com/office/powerpoint/2010/main" val="35472820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In the </a:t>
            </a:r>
            <a:r>
              <a:rPr lang="en-US" sz="2000" dirty="0">
                <a:latin typeface="Consolas" panose="020B0609020204030204" pitchFamily="49" charset="0"/>
              </a:rPr>
              <a:t>app</a:t>
            </a:r>
            <a:r>
              <a:rPr lang="en-US" sz="2000" dirty="0"/>
              <a:t> &gt; </a:t>
            </a:r>
            <a:r>
              <a:rPr lang="en-US" sz="2000" dirty="0" err="1">
                <a:latin typeface="Consolas" panose="020B0609020204030204" pitchFamily="49" charset="0"/>
              </a:rPr>
              <a:t>src</a:t>
            </a:r>
            <a:r>
              <a:rPr lang="en-US" sz="2000" dirty="0"/>
              <a:t> directory of </a:t>
            </a:r>
            <a:r>
              <a:rPr lang="en-US" sz="2000" i="1" dirty="0"/>
              <a:t>Project Source Files</a:t>
            </a:r>
            <a:r>
              <a:rPr lang="en-US" sz="2000" dirty="0"/>
              <a:t>, or </a:t>
            </a:r>
            <a:r>
              <a:rPr lang="en-US" sz="2000" dirty="0">
                <a:latin typeface="Consolas" panose="020B0609020204030204" pitchFamily="49" charset="0"/>
              </a:rPr>
              <a:t>app</a:t>
            </a:r>
            <a:r>
              <a:rPr lang="en-US" sz="2000" dirty="0"/>
              <a:t> &gt; </a:t>
            </a:r>
            <a:r>
              <a:rPr lang="en-US" sz="2000" dirty="0">
                <a:latin typeface="Consolas" panose="020B0609020204030204" pitchFamily="49" charset="0"/>
              </a:rPr>
              <a:t>java</a:t>
            </a:r>
            <a:r>
              <a:rPr lang="en-US" sz="2000" dirty="0"/>
              <a:t> directory in </a:t>
            </a:r>
            <a:r>
              <a:rPr lang="en-US" sz="2000" i="1" dirty="0"/>
              <a:t>Android</a:t>
            </a:r>
            <a:r>
              <a:rPr lang="en-US" sz="2000" dirty="0"/>
              <a:t> there are the </a:t>
            </a:r>
            <a:r>
              <a:rPr lang="en-US" sz="2000" dirty="0">
                <a:highlight>
                  <a:srgbClr val="00FF00"/>
                </a:highlight>
                <a:latin typeface="Consolas" panose="020B0609020204030204" pitchFamily="49" charset="0"/>
              </a:rPr>
              <a:t>test</a:t>
            </a:r>
            <a:r>
              <a:rPr lang="en-US" sz="2000" dirty="0"/>
              <a:t> and </a:t>
            </a:r>
            <a:r>
              <a:rPr lang="en-US" sz="2000" dirty="0" err="1">
                <a:highlight>
                  <a:srgbClr val="00FFFF"/>
                </a:highlight>
                <a:latin typeface="Consolas" panose="020B0609020204030204" pitchFamily="49" charset="0"/>
              </a:rPr>
              <a:t>androidTest</a:t>
            </a:r>
            <a:r>
              <a:rPr lang="en-US" sz="2000" dirty="0"/>
              <a:t> directories. There are two types of automated tests in Android development: </a:t>
            </a:r>
            <a:r>
              <a:rPr lang="en-US" sz="2000" dirty="0">
                <a:highlight>
                  <a:srgbClr val="00FF00"/>
                </a:highlight>
              </a:rPr>
              <a:t>unit tests</a:t>
            </a:r>
            <a:r>
              <a:rPr lang="en-US" sz="2000" dirty="0"/>
              <a:t> and </a:t>
            </a:r>
            <a:r>
              <a:rPr lang="en-US" sz="2000" dirty="0">
                <a:highlight>
                  <a:srgbClr val="00FFFF"/>
                </a:highlight>
              </a:rPr>
              <a:t>instrumentation tests</a:t>
            </a:r>
            <a:r>
              <a:rPr lang="en-US" sz="2000" dirty="0"/>
              <a:t>. The two directories represent these two categories of tests.</a:t>
            </a:r>
          </a:p>
          <a:p>
            <a:r>
              <a:rPr lang="en-US" sz="2000" dirty="0"/>
              <a:t>Android Studio automatically generates a simple unit test and instrumentation test each time you create a new project. They are just placeholders.</a:t>
            </a:r>
          </a:p>
          <a:p>
            <a:r>
              <a:rPr lang="en-US" sz="2000" dirty="0"/>
              <a:t>In the context of Android Development, </a:t>
            </a:r>
            <a:r>
              <a:rPr lang="en-US" sz="2000" dirty="0">
                <a:highlight>
                  <a:srgbClr val="00FFFF"/>
                </a:highlight>
              </a:rPr>
              <a:t>instrumentation test</a:t>
            </a:r>
            <a:r>
              <a:rPr lang="en-US" sz="2000" dirty="0"/>
              <a:t> is the term for what is, usually, a </a:t>
            </a:r>
            <a:r>
              <a:rPr lang="en-US" sz="2000" dirty="0">
                <a:highlight>
                  <a:srgbClr val="00FFFF"/>
                </a:highlight>
              </a:rPr>
              <a:t>user-interface test (UI test)</a:t>
            </a:r>
            <a:r>
              <a:rPr lang="en-US" sz="2000" dirty="0"/>
              <a:t>.</a:t>
            </a:r>
          </a:p>
          <a:p>
            <a:r>
              <a:rPr lang="en-US" sz="2000" dirty="0"/>
              <a:t>Instrumentation tests let you test parts of an app that depend on activity and fragment lifecycles, and platform APIs and services. Unlike unit tests, UI tests don't test code directly. Instead, they test the user interface to make sure that the correct UI components are displayed and that the user interface behaves as expected when actions are taken within the UI. </a:t>
            </a:r>
          </a:p>
          <a:p>
            <a:r>
              <a:rPr lang="en-US" sz="2000" dirty="0"/>
              <a:t>Creating a test every time you create a new feature in your app reduces your workload later as your app grows.</a:t>
            </a:r>
          </a:p>
          <a:p>
            <a:endParaRPr lang="en-SG" sz="2000" dirty="0"/>
          </a:p>
        </p:txBody>
      </p:sp>
    </p:spTree>
    <p:extLst>
      <p:ext uri="{BB962C8B-B14F-4D97-AF65-F5344CB8AC3E}">
        <p14:creationId xmlns:p14="http://schemas.microsoft.com/office/powerpoint/2010/main" val="9359120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With unit tests, you can test functions, classes, and properties. Local tests are executed on the Java Virtual Machine, which means they run in a development environment without needing a device or emulator.</a:t>
            </a:r>
          </a:p>
          <a:p>
            <a:r>
              <a:rPr lang="en-US" sz="2000" dirty="0"/>
              <a:t>On the other hand, all instrumentation tests must run on a physical device or emulator. When you run an instrumentation test on Android, what's really happening is that the test code is actually built into its own test APK, just like a regular Android app. The test APK is installed on the device or emulator along with the regular app APK. The test APK then runs its tests against the app APK.</a:t>
            </a:r>
            <a:endParaRPr lang="en-SG" sz="2000" dirty="0"/>
          </a:p>
        </p:txBody>
      </p:sp>
      <p:pic>
        <p:nvPicPr>
          <p:cNvPr id="5" name="Picture 4">
            <a:extLst>
              <a:ext uri="{FF2B5EF4-FFF2-40B4-BE49-F238E27FC236}">
                <a16:creationId xmlns:a16="http://schemas.microsoft.com/office/drawing/2014/main" id="{33F6736C-AFF3-4B4B-BAEB-F02840B77BA0}"/>
              </a:ext>
            </a:extLst>
          </p:cNvPr>
          <p:cNvPicPr>
            <a:picLocks noChangeAspect="1"/>
          </p:cNvPicPr>
          <p:nvPr/>
        </p:nvPicPr>
        <p:blipFill>
          <a:blip r:embed="rId2"/>
          <a:stretch>
            <a:fillRect/>
          </a:stretch>
        </p:blipFill>
        <p:spPr>
          <a:xfrm>
            <a:off x="3238252" y="4326808"/>
            <a:ext cx="5715495" cy="1958510"/>
          </a:xfrm>
          <a:prstGeom prst="rect">
            <a:avLst/>
          </a:prstGeom>
        </p:spPr>
      </p:pic>
      <p:sp>
        <p:nvSpPr>
          <p:cNvPr id="6" name="TextBox 5">
            <a:extLst>
              <a:ext uri="{FF2B5EF4-FFF2-40B4-BE49-F238E27FC236}">
                <a16:creationId xmlns:a16="http://schemas.microsoft.com/office/drawing/2014/main" id="{4A8496FC-3A07-4BE8-B68B-1451A5F0A4FC}"/>
              </a:ext>
            </a:extLst>
          </p:cNvPr>
          <p:cNvSpPr txBox="1"/>
          <p:nvPr/>
        </p:nvSpPr>
        <p:spPr>
          <a:xfrm>
            <a:off x="8081696" y="4188308"/>
            <a:ext cx="1529714" cy="276999"/>
          </a:xfrm>
          <a:prstGeom prst="rect">
            <a:avLst/>
          </a:prstGeom>
          <a:solidFill>
            <a:schemeClr val="accent4"/>
          </a:solidFill>
        </p:spPr>
        <p:txBody>
          <a:bodyPr wrap="none" rtlCol="0">
            <a:spAutoFit/>
          </a:bodyPr>
          <a:lstStyle/>
          <a:p>
            <a:r>
              <a:rPr lang="en-SG" sz="1200" dirty="0" err="1"/>
              <a:t>build.gradle</a:t>
            </a:r>
            <a:r>
              <a:rPr lang="en-SG" sz="1200" dirty="0"/>
              <a:t> (module)</a:t>
            </a:r>
          </a:p>
        </p:txBody>
      </p:sp>
      <p:sp>
        <p:nvSpPr>
          <p:cNvPr id="7" name="Rectangle 6">
            <a:extLst>
              <a:ext uri="{FF2B5EF4-FFF2-40B4-BE49-F238E27FC236}">
                <a16:creationId xmlns:a16="http://schemas.microsoft.com/office/drawing/2014/main" id="{8DD20BDB-859E-470A-AC30-6694C4BA008E}"/>
              </a:ext>
            </a:extLst>
          </p:cNvPr>
          <p:cNvSpPr/>
          <p:nvPr/>
        </p:nvSpPr>
        <p:spPr>
          <a:xfrm>
            <a:off x="3550596" y="5409088"/>
            <a:ext cx="5340486" cy="66097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9623221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sp>
        <p:nvSpPr>
          <p:cNvPr id="4" name="TextBox 3">
            <a:extLst>
              <a:ext uri="{FF2B5EF4-FFF2-40B4-BE49-F238E27FC236}">
                <a16:creationId xmlns:a16="http://schemas.microsoft.com/office/drawing/2014/main" id="{41A4C00C-9D1F-47B5-B3CB-9050EF0E4416}"/>
              </a:ext>
            </a:extLst>
          </p:cNvPr>
          <p:cNvSpPr txBox="1"/>
          <p:nvPr/>
        </p:nvSpPr>
        <p:spPr>
          <a:xfrm>
            <a:off x="838200" y="1690688"/>
            <a:ext cx="10515600" cy="2554545"/>
          </a:xfrm>
          <a:prstGeom prst="rect">
            <a:avLst/>
          </a:prstGeom>
          <a:noFill/>
        </p:spPr>
        <p:txBody>
          <a:bodyPr wrap="square" rtlCol="0">
            <a:spAutoFit/>
          </a:bodyPr>
          <a:lstStyle/>
          <a:p>
            <a:r>
              <a:rPr lang="en-US" sz="2000" dirty="0"/>
              <a:t>Test functions must first be annotated with the </a:t>
            </a:r>
            <a:r>
              <a:rPr lang="en-US" sz="2000" dirty="0">
                <a:highlight>
                  <a:srgbClr val="FFFF00"/>
                </a:highlight>
              </a:rPr>
              <a:t>@Test annotation imported from the </a:t>
            </a:r>
            <a:r>
              <a:rPr lang="en-US" sz="2000" dirty="0" err="1">
                <a:highlight>
                  <a:srgbClr val="FFFF00"/>
                </a:highlight>
              </a:rPr>
              <a:t>org.junit.test</a:t>
            </a:r>
            <a:r>
              <a:rPr lang="en-US" sz="2000" dirty="0"/>
              <a:t> library. You can think of annotation as metadata tags for a piece of code that can change the way the code is compiled. In this case, the @Test annotation lets the compiler know that the following method is a test, which lets it run as such.</a:t>
            </a:r>
          </a:p>
          <a:p>
            <a:endParaRPr lang="en-US" sz="2000" dirty="0"/>
          </a:p>
          <a:p>
            <a:r>
              <a:rPr lang="en-US" sz="2000" dirty="0">
                <a:highlight>
                  <a:srgbClr val="FFFF00"/>
                </a:highlight>
              </a:rPr>
              <a:t>Assertion</a:t>
            </a:r>
            <a:r>
              <a:rPr lang="en-US" sz="2000" dirty="0"/>
              <a:t> methods are the end goal of a unit test. Ultimately, you want to assert that a result obtained from your code is in a particular state. If the state of the result matches the expected state, the test passes. If the state of the result doesn't match the expected state, the test fails.</a:t>
            </a:r>
            <a:endParaRPr lang="en-SG" sz="2000" dirty="0"/>
          </a:p>
        </p:txBody>
      </p:sp>
      <p:pic>
        <p:nvPicPr>
          <p:cNvPr id="6" name="Picture 5">
            <a:extLst>
              <a:ext uri="{FF2B5EF4-FFF2-40B4-BE49-F238E27FC236}">
                <a16:creationId xmlns:a16="http://schemas.microsoft.com/office/drawing/2014/main" id="{97C7CDED-67AA-45B4-9FCB-D9ABA0A81E18}"/>
              </a:ext>
            </a:extLst>
          </p:cNvPr>
          <p:cNvPicPr>
            <a:picLocks noChangeAspect="1"/>
          </p:cNvPicPr>
          <p:nvPr/>
        </p:nvPicPr>
        <p:blipFill>
          <a:blip r:embed="rId2"/>
          <a:stretch>
            <a:fillRect/>
          </a:stretch>
        </p:blipFill>
        <p:spPr>
          <a:xfrm>
            <a:off x="4291518" y="4761689"/>
            <a:ext cx="3296055" cy="1465951"/>
          </a:xfrm>
          <a:prstGeom prst="rect">
            <a:avLst/>
          </a:prstGeom>
        </p:spPr>
      </p:pic>
      <p:sp>
        <p:nvSpPr>
          <p:cNvPr id="7" name="Rectangle 6">
            <a:extLst>
              <a:ext uri="{FF2B5EF4-FFF2-40B4-BE49-F238E27FC236}">
                <a16:creationId xmlns:a16="http://schemas.microsoft.com/office/drawing/2014/main" id="{59197FE1-82B1-4223-8B06-139A63FEE9A2}"/>
              </a:ext>
            </a:extLst>
          </p:cNvPr>
          <p:cNvSpPr/>
          <p:nvPr/>
        </p:nvSpPr>
        <p:spPr>
          <a:xfrm>
            <a:off x="4571999" y="5011409"/>
            <a:ext cx="661481" cy="25125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8921343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pic>
        <p:nvPicPr>
          <p:cNvPr id="5" name="Picture 4">
            <a:extLst>
              <a:ext uri="{FF2B5EF4-FFF2-40B4-BE49-F238E27FC236}">
                <a16:creationId xmlns:a16="http://schemas.microsoft.com/office/drawing/2014/main" id="{9B6D26BB-E483-4C5A-9EFA-81998D17D846}"/>
              </a:ext>
            </a:extLst>
          </p:cNvPr>
          <p:cNvPicPr>
            <a:picLocks noChangeAspect="1"/>
          </p:cNvPicPr>
          <p:nvPr/>
        </p:nvPicPr>
        <p:blipFill>
          <a:blip r:embed="rId2"/>
          <a:stretch>
            <a:fillRect/>
          </a:stretch>
        </p:blipFill>
        <p:spPr>
          <a:xfrm>
            <a:off x="465169" y="1714351"/>
            <a:ext cx="6509563" cy="2545007"/>
          </a:xfrm>
          <a:prstGeom prst="rect">
            <a:avLst/>
          </a:prstGeom>
        </p:spPr>
      </p:pic>
      <p:pic>
        <p:nvPicPr>
          <p:cNvPr id="11" name="Picture 10">
            <a:extLst>
              <a:ext uri="{FF2B5EF4-FFF2-40B4-BE49-F238E27FC236}">
                <a16:creationId xmlns:a16="http://schemas.microsoft.com/office/drawing/2014/main" id="{AB3025D5-4D99-40B2-BC50-59F254D19267}"/>
              </a:ext>
            </a:extLst>
          </p:cNvPr>
          <p:cNvPicPr>
            <a:picLocks noChangeAspect="1"/>
          </p:cNvPicPr>
          <p:nvPr/>
        </p:nvPicPr>
        <p:blipFill>
          <a:blip r:embed="rId3"/>
          <a:stretch>
            <a:fillRect/>
          </a:stretch>
        </p:blipFill>
        <p:spPr>
          <a:xfrm>
            <a:off x="2519463" y="4003883"/>
            <a:ext cx="9484468" cy="2747377"/>
          </a:xfrm>
          <a:prstGeom prst="rect">
            <a:avLst/>
          </a:prstGeom>
        </p:spPr>
      </p:pic>
      <p:sp>
        <p:nvSpPr>
          <p:cNvPr id="12" name="Rectangle 11">
            <a:extLst>
              <a:ext uri="{FF2B5EF4-FFF2-40B4-BE49-F238E27FC236}">
                <a16:creationId xmlns:a16="http://schemas.microsoft.com/office/drawing/2014/main" id="{F124ADF1-792F-46E7-AF5A-83A3D55F2A41}"/>
              </a:ext>
            </a:extLst>
          </p:cNvPr>
          <p:cNvSpPr/>
          <p:nvPr/>
        </p:nvSpPr>
        <p:spPr>
          <a:xfrm>
            <a:off x="4563894" y="2721775"/>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Click on the green arrow of the test function you want to run</a:t>
            </a:r>
          </a:p>
        </p:txBody>
      </p:sp>
      <p:sp>
        <p:nvSpPr>
          <p:cNvPr id="13" name="Oval 12">
            <a:extLst>
              <a:ext uri="{FF2B5EF4-FFF2-40B4-BE49-F238E27FC236}">
                <a16:creationId xmlns:a16="http://schemas.microsoft.com/office/drawing/2014/main" id="{BADC2030-DE14-4351-82EF-9B8DED9D4E73}"/>
              </a:ext>
            </a:extLst>
          </p:cNvPr>
          <p:cNvSpPr/>
          <p:nvPr/>
        </p:nvSpPr>
        <p:spPr>
          <a:xfrm>
            <a:off x="2782111" y="2140086"/>
            <a:ext cx="165370" cy="18482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15" name="Straight Arrow Connector 14">
            <a:extLst>
              <a:ext uri="{FF2B5EF4-FFF2-40B4-BE49-F238E27FC236}">
                <a16:creationId xmlns:a16="http://schemas.microsoft.com/office/drawing/2014/main" id="{739A0B9F-2900-492C-9B07-9A792F68EF3E}"/>
              </a:ext>
            </a:extLst>
          </p:cNvPr>
          <p:cNvCxnSpPr>
            <a:stCxn id="13" idx="6"/>
            <a:endCxn id="12" idx="1"/>
          </p:cNvCxnSpPr>
          <p:nvPr/>
        </p:nvCxnSpPr>
        <p:spPr>
          <a:xfrm>
            <a:off x="2947481" y="2232499"/>
            <a:ext cx="1616413" cy="7543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5CDA389F-323C-46F0-8D34-3D2A4C456453}"/>
              </a:ext>
            </a:extLst>
          </p:cNvPr>
          <p:cNvSpPr/>
          <p:nvPr/>
        </p:nvSpPr>
        <p:spPr>
          <a:xfrm>
            <a:off x="4786009" y="5541464"/>
            <a:ext cx="1945531" cy="53015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7" name="Rectangle 16">
            <a:extLst>
              <a:ext uri="{FF2B5EF4-FFF2-40B4-BE49-F238E27FC236}">
                <a16:creationId xmlns:a16="http://schemas.microsoft.com/office/drawing/2014/main" id="{C3764F66-DB37-41F7-AEF6-16953BB1392A}"/>
              </a:ext>
            </a:extLst>
          </p:cNvPr>
          <p:cNvSpPr/>
          <p:nvPr/>
        </p:nvSpPr>
        <p:spPr>
          <a:xfrm>
            <a:off x="7261697" y="5112492"/>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The Run console will appear and if the test is successful, you will see the pop-up dialogue as well</a:t>
            </a:r>
          </a:p>
        </p:txBody>
      </p:sp>
      <p:sp>
        <p:nvSpPr>
          <p:cNvPr id="18" name="Rectangle 17">
            <a:extLst>
              <a:ext uri="{FF2B5EF4-FFF2-40B4-BE49-F238E27FC236}">
                <a16:creationId xmlns:a16="http://schemas.microsoft.com/office/drawing/2014/main" id="{9F9B1EB7-1DE0-44D6-A95B-FEAC76F3B38D}"/>
              </a:ext>
            </a:extLst>
          </p:cNvPr>
          <p:cNvSpPr/>
          <p:nvPr/>
        </p:nvSpPr>
        <p:spPr>
          <a:xfrm>
            <a:off x="6096001" y="6283811"/>
            <a:ext cx="771728" cy="53015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9" name="Rectangle 18">
            <a:extLst>
              <a:ext uri="{FF2B5EF4-FFF2-40B4-BE49-F238E27FC236}">
                <a16:creationId xmlns:a16="http://schemas.microsoft.com/office/drawing/2014/main" id="{7E09CB04-D2D8-4793-896A-850B311033EA}"/>
              </a:ext>
            </a:extLst>
          </p:cNvPr>
          <p:cNvSpPr/>
          <p:nvPr/>
        </p:nvSpPr>
        <p:spPr>
          <a:xfrm>
            <a:off x="4766553" y="4139244"/>
            <a:ext cx="771728" cy="16323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4636082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pic>
        <p:nvPicPr>
          <p:cNvPr id="9" name="Picture 8">
            <a:extLst>
              <a:ext uri="{FF2B5EF4-FFF2-40B4-BE49-F238E27FC236}">
                <a16:creationId xmlns:a16="http://schemas.microsoft.com/office/drawing/2014/main" id="{1A1FFFB6-3040-4550-9949-FB8C2F46D5F7}"/>
              </a:ext>
            </a:extLst>
          </p:cNvPr>
          <p:cNvPicPr>
            <a:picLocks noChangeAspect="1"/>
          </p:cNvPicPr>
          <p:nvPr/>
        </p:nvPicPr>
        <p:blipFill>
          <a:blip r:embed="rId2"/>
          <a:stretch>
            <a:fillRect/>
          </a:stretch>
        </p:blipFill>
        <p:spPr>
          <a:xfrm>
            <a:off x="608169" y="1917807"/>
            <a:ext cx="10975662" cy="3022386"/>
          </a:xfrm>
          <a:prstGeom prst="rect">
            <a:avLst/>
          </a:prstGeom>
        </p:spPr>
      </p:pic>
      <p:sp>
        <p:nvSpPr>
          <p:cNvPr id="7" name="Rectangle 6">
            <a:extLst>
              <a:ext uri="{FF2B5EF4-FFF2-40B4-BE49-F238E27FC236}">
                <a16:creationId xmlns:a16="http://schemas.microsoft.com/office/drawing/2014/main" id="{245AD349-34A2-4A32-8447-1E90AD736B4A}"/>
              </a:ext>
            </a:extLst>
          </p:cNvPr>
          <p:cNvSpPr/>
          <p:nvPr/>
        </p:nvSpPr>
        <p:spPr>
          <a:xfrm>
            <a:off x="7320061" y="2670849"/>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An example if the test fails</a:t>
            </a:r>
          </a:p>
        </p:txBody>
      </p:sp>
    </p:spTree>
    <p:extLst>
      <p:ext uri="{BB962C8B-B14F-4D97-AF65-F5344CB8AC3E}">
        <p14:creationId xmlns:p14="http://schemas.microsoft.com/office/powerpoint/2010/main" val="18391451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Debugging</a:t>
            </a:r>
          </a:p>
        </p:txBody>
      </p:sp>
      <p:sp>
        <p:nvSpPr>
          <p:cNvPr id="4" name="TextBox 3">
            <a:extLst>
              <a:ext uri="{FF2B5EF4-FFF2-40B4-BE49-F238E27FC236}">
                <a16:creationId xmlns:a16="http://schemas.microsoft.com/office/drawing/2014/main" id="{49C5A307-486B-46CC-A434-1E82E011C7E1}"/>
              </a:ext>
            </a:extLst>
          </p:cNvPr>
          <p:cNvSpPr txBox="1"/>
          <p:nvPr/>
        </p:nvSpPr>
        <p:spPr>
          <a:xfrm>
            <a:off x="838200" y="1522539"/>
            <a:ext cx="10406975" cy="646331"/>
          </a:xfrm>
          <a:prstGeom prst="rect">
            <a:avLst/>
          </a:prstGeom>
          <a:noFill/>
        </p:spPr>
        <p:txBody>
          <a:bodyPr wrap="square">
            <a:spAutoFit/>
          </a:bodyPr>
          <a:lstStyle/>
          <a:p>
            <a:r>
              <a:rPr lang="en-US" b="0" i="0" dirty="0">
                <a:effectLst/>
                <a:ea typeface="Roboto" panose="02000000000000000000" pitchFamily="2" charset="0"/>
              </a:rPr>
              <a:t>The process of fixing bugs is called </a:t>
            </a:r>
            <a:r>
              <a:rPr lang="en-US" b="1" i="0" dirty="0">
                <a:effectLst/>
                <a:ea typeface="Roboto" panose="02000000000000000000" pitchFamily="2" charset="0"/>
              </a:rPr>
              <a:t>debugging</a:t>
            </a:r>
            <a:r>
              <a:rPr lang="en-US" b="0" i="0" dirty="0">
                <a:effectLst/>
                <a:ea typeface="Roboto" panose="02000000000000000000" pitchFamily="2" charset="0"/>
              </a:rPr>
              <a:t>. Logging can be used as a debugging tool. Stack traces can be used to identify and solve bugs. </a:t>
            </a:r>
            <a:r>
              <a:rPr lang="en-US" dirty="0">
                <a:ea typeface="Roboto" panose="02000000000000000000" pitchFamily="2" charset="0"/>
              </a:rPr>
              <a:t>In an Android app, the best practice for logging output is using </a:t>
            </a:r>
            <a:r>
              <a:rPr lang="en-US" dirty="0">
                <a:highlight>
                  <a:srgbClr val="FFFF00"/>
                </a:highlight>
                <a:latin typeface="Lucida Console" panose="020B0609040504020204" pitchFamily="49" charset="0"/>
                <a:ea typeface="Roboto" panose="02000000000000000000" pitchFamily="2" charset="0"/>
              </a:rPr>
              <a:t>Log</a:t>
            </a:r>
            <a:r>
              <a:rPr lang="en-US" dirty="0">
                <a:highlight>
                  <a:srgbClr val="FFFF00"/>
                </a:highlight>
                <a:ea typeface="Roboto" panose="02000000000000000000" pitchFamily="2" charset="0"/>
              </a:rPr>
              <a:t> class</a:t>
            </a:r>
            <a:r>
              <a:rPr lang="en-US" dirty="0">
                <a:ea typeface="Roboto" panose="02000000000000000000" pitchFamily="2" charset="0"/>
              </a:rPr>
              <a:t>.</a:t>
            </a:r>
            <a:endParaRPr lang="en-SG" dirty="0">
              <a:ea typeface="Roboto" panose="02000000000000000000" pitchFamily="2" charset="0"/>
            </a:endParaRPr>
          </a:p>
        </p:txBody>
      </p:sp>
      <p:pic>
        <p:nvPicPr>
          <p:cNvPr id="6" name="Picture 5">
            <a:extLst>
              <a:ext uri="{FF2B5EF4-FFF2-40B4-BE49-F238E27FC236}">
                <a16:creationId xmlns:a16="http://schemas.microsoft.com/office/drawing/2014/main" id="{FBC28D92-9BD1-4059-933C-FBF1777DC19A}"/>
              </a:ext>
            </a:extLst>
          </p:cNvPr>
          <p:cNvPicPr>
            <a:picLocks noChangeAspect="1"/>
          </p:cNvPicPr>
          <p:nvPr/>
        </p:nvPicPr>
        <p:blipFill>
          <a:blip r:embed="rId2"/>
          <a:stretch>
            <a:fillRect/>
          </a:stretch>
        </p:blipFill>
        <p:spPr>
          <a:xfrm>
            <a:off x="1082613" y="2293816"/>
            <a:ext cx="6699909" cy="4404834"/>
          </a:xfrm>
          <a:prstGeom prst="rect">
            <a:avLst/>
          </a:prstGeom>
        </p:spPr>
      </p:pic>
      <p:sp>
        <p:nvSpPr>
          <p:cNvPr id="7" name="Rectangle 6">
            <a:extLst>
              <a:ext uri="{FF2B5EF4-FFF2-40B4-BE49-F238E27FC236}">
                <a16:creationId xmlns:a16="http://schemas.microsoft.com/office/drawing/2014/main" id="{0618C574-E746-439C-847C-002315238DCE}"/>
              </a:ext>
            </a:extLst>
          </p:cNvPr>
          <p:cNvSpPr/>
          <p:nvPr/>
        </p:nvSpPr>
        <p:spPr>
          <a:xfrm>
            <a:off x="3660838" y="2553635"/>
            <a:ext cx="1251627" cy="16038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Rectangle 7">
            <a:extLst>
              <a:ext uri="{FF2B5EF4-FFF2-40B4-BE49-F238E27FC236}">
                <a16:creationId xmlns:a16="http://schemas.microsoft.com/office/drawing/2014/main" id="{86A9BF0A-30FE-4B04-A72C-2A3273293C9B}"/>
              </a:ext>
            </a:extLst>
          </p:cNvPr>
          <p:cNvSpPr/>
          <p:nvPr/>
        </p:nvSpPr>
        <p:spPr>
          <a:xfrm>
            <a:off x="3881332" y="4153708"/>
            <a:ext cx="1867713" cy="38910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0B0D9467-45F0-4AF0-A4C6-E198BD9D8D74}"/>
              </a:ext>
            </a:extLst>
          </p:cNvPr>
          <p:cNvSpPr/>
          <p:nvPr/>
        </p:nvSpPr>
        <p:spPr>
          <a:xfrm>
            <a:off x="3660838" y="2818919"/>
            <a:ext cx="1942292"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Rectangle 9">
            <a:extLst>
              <a:ext uri="{FF2B5EF4-FFF2-40B4-BE49-F238E27FC236}">
                <a16:creationId xmlns:a16="http://schemas.microsoft.com/office/drawing/2014/main" id="{D049CBCB-69F7-40B0-AD17-97A6711AE163}"/>
              </a:ext>
            </a:extLst>
          </p:cNvPr>
          <p:cNvSpPr/>
          <p:nvPr/>
        </p:nvSpPr>
        <p:spPr>
          <a:xfrm>
            <a:off x="4085614" y="3733506"/>
            <a:ext cx="515568"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Rectangle 10">
            <a:extLst>
              <a:ext uri="{FF2B5EF4-FFF2-40B4-BE49-F238E27FC236}">
                <a16:creationId xmlns:a16="http://schemas.microsoft.com/office/drawing/2014/main" id="{A992222E-1341-4650-B496-6D760AFBEDB3}"/>
              </a:ext>
            </a:extLst>
          </p:cNvPr>
          <p:cNvSpPr/>
          <p:nvPr/>
        </p:nvSpPr>
        <p:spPr>
          <a:xfrm>
            <a:off x="1261351" y="5685523"/>
            <a:ext cx="4147226"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Rectangle 11">
            <a:extLst>
              <a:ext uri="{FF2B5EF4-FFF2-40B4-BE49-F238E27FC236}">
                <a16:creationId xmlns:a16="http://schemas.microsoft.com/office/drawing/2014/main" id="{DF9AC0A5-9EDD-4D34-B727-6951BA23132D}"/>
              </a:ext>
            </a:extLst>
          </p:cNvPr>
          <p:cNvSpPr/>
          <p:nvPr/>
        </p:nvSpPr>
        <p:spPr>
          <a:xfrm>
            <a:off x="3077181" y="6543732"/>
            <a:ext cx="356681"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Rectangle 1">
            <a:extLst>
              <a:ext uri="{FF2B5EF4-FFF2-40B4-BE49-F238E27FC236}">
                <a16:creationId xmlns:a16="http://schemas.microsoft.com/office/drawing/2014/main" id="{6ADD8671-E9BE-4DE9-904B-2818E5B45A7D}"/>
              </a:ext>
            </a:extLst>
          </p:cNvPr>
          <p:cNvSpPr>
            <a:spLocks noChangeArrowheads="1"/>
          </p:cNvSpPr>
          <p:nvPr/>
        </p:nvSpPr>
        <p:spPr bwMode="auto">
          <a:xfrm>
            <a:off x="6727270" y="2526818"/>
            <a:ext cx="5218297" cy="738664"/>
          </a:xfrm>
          <a:prstGeom prst="rect">
            <a:avLst/>
          </a:prstGeom>
          <a:solidFill>
            <a:schemeClr val="accent4"/>
          </a:solidFill>
          <a:ln>
            <a:noFill/>
          </a:ln>
          <a:effec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212124"/>
                </a:solidFill>
                <a:effectLst/>
                <a:latin typeface="+mn-lt"/>
                <a:ea typeface="Roboto" panose="02000000000000000000" pitchFamily="2" charset="0"/>
              </a:rPr>
              <a:t>The log tag is typically declared outside of the class. Even though this variable is declared outside of </a:t>
            </a:r>
            <a:r>
              <a:rPr kumimoji="0" lang="en-US" altLang="en-US" sz="1400" b="0" i="0" u="none" strike="noStrike" cap="none" normalizeH="0" baseline="0" dirty="0" err="1">
                <a:ln>
                  <a:noFill/>
                </a:ln>
                <a:solidFill>
                  <a:schemeClr val="tx1"/>
                </a:solidFill>
                <a:effectLst/>
                <a:latin typeface="+mn-lt"/>
              </a:rPr>
              <a:t>MainActivity</a:t>
            </a:r>
            <a:r>
              <a:rPr kumimoji="0" lang="en-US" altLang="en-US" sz="1400" b="0" i="0" u="none" strike="noStrike" cap="none" normalizeH="0" baseline="0" dirty="0">
                <a:ln>
                  <a:noFill/>
                </a:ln>
                <a:solidFill>
                  <a:schemeClr val="tx1"/>
                </a:solidFill>
                <a:effectLst/>
                <a:latin typeface="+mn-lt"/>
              </a:rPr>
              <a:t> class</a:t>
            </a:r>
            <a:r>
              <a:rPr kumimoji="0" lang="en-US" altLang="en-US" sz="1400" b="0" i="0" u="none" strike="noStrike" cap="none" normalizeH="0" baseline="0" dirty="0">
                <a:ln>
                  <a:noFill/>
                </a:ln>
                <a:solidFill>
                  <a:srgbClr val="212124"/>
                </a:solidFill>
                <a:effectLst/>
                <a:latin typeface="+mn-lt"/>
                <a:ea typeface="Roboto" panose="02000000000000000000" pitchFamily="2" charset="0"/>
              </a:rPr>
              <a:t>, it's declared as private so that it will only be accessible in </a:t>
            </a:r>
            <a:r>
              <a:rPr kumimoji="0" lang="en-US" altLang="en-US" sz="1400" b="0" i="0" u="none" strike="noStrike" cap="none" normalizeH="0" baseline="0" dirty="0">
                <a:ln>
                  <a:noFill/>
                </a:ln>
                <a:solidFill>
                  <a:schemeClr val="tx1"/>
                </a:solidFill>
                <a:effectLst/>
                <a:latin typeface="+mn-lt"/>
              </a:rPr>
              <a:t>MainActivity.kt</a:t>
            </a:r>
            <a:r>
              <a:rPr kumimoji="0" lang="en-US" altLang="en-US" sz="1400" b="0" i="0" u="none" strike="noStrike" cap="none" normalizeH="0" baseline="0" dirty="0">
                <a:ln>
                  <a:noFill/>
                </a:ln>
                <a:solidFill>
                  <a:srgbClr val="212124"/>
                </a:solidFill>
                <a:effectLst/>
                <a:latin typeface="+mn-lt"/>
                <a:ea typeface="Roboto" panose="02000000000000000000" pitchFamily="2" charset="0"/>
              </a:rPr>
              <a:t>.</a:t>
            </a:r>
            <a:r>
              <a:rPr kumimoji="0" lang="en-US" altLang="en-US" sz="1400" b="0" i="0" u="none" strike="noStrike" cap="none" normalizeH="0" baseline="0" dirty="0">
                <a:ln>
                  <a:noFill/>
                </a:ln>
                <a:solidFill>
                  <a:schemeClr val="tx1"/>
                </a:solidFill>
                <a:effectLst/>
                <a:latin typeface="+mn-lt"/>
              </a:rPr>
              <a:t> </a:t>
            </a:r>
          </a:p>
        </p:txBody>
      </p:sp>
      <p:cxnSp>
        <p:nvCxnSpPr>
          <p:cNvPr id="14" name="Straight Arrow Connector 13">
            <a:extLst>
              <a:ext uri="{FF2B5EF4-FFF2-40B4-BE49-F238E27FC236}">
                <a16:creationId xmlns:a16="http://schemas.microsoft.com/office/drawing/2014/main" id="{2BCD96D0-ED8E-4BDF-BBBD-E1A9B5494999}"/>
              </a:ext>
            </a:extLst>
          </p:cNvPr>
          <p:cNvCxnSpPr>
            <a:cxnSpLocks/>
            <a:stCxn id="9" idx="3"/>
            <a:endCxn id="13" idx="1"/>
          </p:cNvCxnSpPr>
          <p:nvPr/>
        </p:nvCxnSpPr>
        <p:spPr>
          <a:xfrm flipV="1">
            <a:off x="5603130" y="2896150"/>
            <a:ext cx="1124140" cy="22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55758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Log Levels</a:t>
            </a:r>
          </a:p>
        </p:txBody>
      </p:sp>
      <p:graphicFrame>
        <p:nvGraphicFramePr>
          <p:cNvPr id="3" name="Table 2">
            <a:extLst>
              <a:ext uri="{FF2B5EF4-FFF2-40B4-BE49-F238E27FC236}">
                <a16:creationId xmlns:a16="http://schemas.microsoft.com/office/drawing/2014/main" id="{39D3E40A-085E-4DA3-BA80-76E47A33FA55}"/>
              </a:ext>
            </a:extLst>
          </p:cNvPr>
          <p:cNvGraphicFramePr>
            <a:graphicFrameLocks noGrp="1"/>
          </p:cNvGraphicFramePr>
          <p:nvPr>
            <p:extLst>
              <p:ext uri="{D42A27DB-BD31-4B8C-83A1-F6EECF244321}">
                <p14:modId xmlns:p14="http://schemas.microsoft.com/office/powerpoint/2010/main" val="1663133657"/>
              </p:ext>
            </p:extLst>
          </p:nvPr>
        </p:nvGraphicFramePr>
        <p:xfrm>
          <a:off x="838200" y="1690688"/>
          <a:ext cx="10515600" cy="4970095"/>
        </p:xfrm>
        <a:graphic>
          <a:graphicData uri="http://schemas.openxmlformats.org/drawingml/2006/table">
            <a:tbl>
              <a:tblPr/>
              <a:tblGrid>
                <a:gridCol w="1479599">
                  <a:extLst>
                    <a:ext uri="{9D8B030D-6E8A-4147-A177-3AD203B41FA5}">
                      <a16:colId xmlns:a16="http://schemas.microsoft.com/office/drawing/2014/main" val="166769082"/>
                    </a:ext>
                  </a:extLst>
                </a:gridCol>
                <a:gridCol w="4855100">
                  <a:extLst>
                    <a:ext uri="{9D8B030D-6E8A-4147-A177-3AD203B41FA5}">
                      <a16:colId xmlns:a16="http://schemas.microsoft.com/office/drawing/2014/main" val="1969658036"/>
                    </a:ext>
                  </a:extLst>
                </a:gridCol>
                <a:gridCol w="4180901">
                  <a:extLst>
                    <a:ext uri="{9D8B030D-6E8A-4147-A177-3AD203B41FA5}">
                      <a16:colId xmlns:a16="http://schemas.microsoft.com/office/drawing/2014/main" val="3008813053"/>
                    </a:ext>
                  </a:extLst>
                </a:gridCol>
              </a:tblGrid>
              <a:tr h="98721">
                <a:tc>
                  <a:txBody>
                    <a:bodyPr/>
                    <a:lstStyle/>
                    <a:p>
                      <a:pPr algn="l" fontAlgn="t"/>
                      <a:r>
                        <a:rPr lang="en-SG" sz="1400" b="1">
                          <a:effectLst/>
                        </a:rPr>
                        <a:t>Log level</a:t>
                      </a:r>
                    </a:p>
                  </a:txBody>
                  <a:tcPr marL="15188" marR="15188" marT="15188" marB="15188">
                    <a:lnL>
                      <a:noFill/>
                    </a:lnL>
                    <a:lnR>
                      <a:noFill/>
                    </a:lnR>
                    <a:lnT>
                      <a:noFill/>
                    </a:lnT>
                    <a:lnB w="7620" cap="flat" cmpd="sng" algn="ctr">
                      <a:solidFill>
                        <a:srgbClr val="60A6A2"/>
                      </a:solidFill>
                      <a:prstDash val="solid"/>
                      <a:round/>
                      <a:headEnd type="none" w="med" len="med"/>
                      <a:tailEnd type="none" w="med" len="med"/>
                    </a:lnB>
                    <a:solidFill>
                      <a:srgbClr val="FFFFFF"/>
                    </a:solidFill>
                  </a:tcPr>
                </a:tc>
                <a:tc>
                  <a:txBody>
                    <a:bodyPr/>
                    <a:lstStyle/>
                    <a:p>
                      <a:pPr algn="l" fontAlgn="t"/>
                      <a:r>
                        <a:rPr lang="en-SG" sz="1400" b="1">
                          <a:effectLst/>
                        </a:rPr>
                        <a:t>Use case</a:t>
                      </a:r>
                    </a:p>
                  </a:txBody>
                  <a:tcPr marL="15188" marR="15188" marT="15188" marB="15188">
                    <a:lnL>
                      <a:noFill/>
                    </a:lnL>
                    <a:lnR>
                      <a:noFill/>
                    </a:lnR>
                    <a:lnT>
                      <a:noFill/>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SG" sz="1400" b="1" dirty="0">
                          <a:effectLst/>
                        </a:rPr>
                        <a:t>Example</a:t>
                      </a:r>
                    </a:p>
                  </a:txBody>
                  <a:tcPr marL="15188" marR="15188" marT="15188" marB="15188">
                    <a:lnL>
                      <a:noFill/>
                    </a:lnL>
                    <a:lnR>
                      <a:noFill/>
                    </a:lnR>
                    <a:lnT>
                      <a:noFill/>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507561344"/>
                  </a:ext>
                </a:extLst>
              </a:tr>
              <a:tr h="440450">
                <a:tc>
                  <a:txBody>
                    <a:bodyPr/>
                    <a:lstStyle/>
                    <a:p>
                      <a:pPr algn="l" fontAlgn="t"/>
                      <a:r>
                        <a:rPr lang="en-SG" sz="1400" dirty="0">
                          <a:effectLst/>
                        </a:rPr>
                        <a:t>ASSERT</a:t>
                      </a:r>
                    </a:p>
                  </a:txBody>
                  <a:tcPr marL="15188" marR="15188" marT="15188" marB="15188">
                    <a:lnL>
                      <a:noFill/>
                    </a:lnL>
                    <a:lnR>
                      <a:noFill/>
                    </a:lnR>
                    <a:lnT w="7620" cap="flat" cmpd="sng" algn="ctr">
                      <a:solidFill>
                        <a:srgbClr val="60A6A2"/>
                      </a:solidFill>
                      <a:prstDash val="solid"/>
                      <a:round/>
                      <a:headEnd type="none" w="med" len="med"/>
                      <a:tailEnd type="none" w="med" len="med"/>
                    </a:lnT>
                    <a:lnB w="7620" cap="flat" cmpd="sng" algn="ctr">
                      <a:solidFill>
                        <a:srgbClr val="60A6A2"/>
                      </a:solidFill>
                      <a:prstDash val="solid"/>
                      <a:round/>
                      <a:headEnd type="none" w="med" len="med"/>
                      <a:tailEnd type="none" w="med" len="med"/>
                    </a:lnB>
                    <a:solidFill>
                      <a:srgbClr val="FFFFFF"/>
                    </a:solidFill>
                  </a:tcPr>
                </a:tc>
                <a:tc>
                  <a:txBody>
                    <a:bodyPr/>
                    <a:lstStyle/>
                    <a:p>
                      <a:pPr algn="l" fontAlgn="t"/>
                      <a:r>
                        <a:rPr lang="en-US" sz="1400" dirty="0">
                          <a:effectLst/>
                        </a:rPr>
                        <a:t> ASSERT logs things that you're certain will never occur.</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US" sz="1400" dirty="0" err="1">
                          <a:effectLst/>
                        </a:rPr>
                        <a:t>Log.wtf</a:t>
                      </a:r>
                      <a:r>
                        <a:rPr lang="en-US" sz="1400" dirty="0">
                          <a:effectLst/>
                        </a:rPr>
                        <a:t>(TAG, “why the heck this even happened?!”)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4013496131"/>
                  </a:ext>
                </a:extLst>
              </a:tr>
              <a:tr h="440450">
                <a:tc>
                  <a:txBody>
                    <a:bodyPr/>
                    <a:lstStyle/>
                    <a:p>
                      <a:pPr algn="l" fontAlgn="t"/>
                      <a:r>
                        <a:rPr lang="en-SG" sz="1400" dirty="0">
                          <a:effectLst/>
                        </a:rPr>
                        <a:t>ERROR</a:t>
                      </a:r>
                    </a:p>
                  </a:txBody>
                  <a:tcPr marL="15188" marR="15188" marT="15188" marB="15188">
                    <a:lnL>
                      <a:noFill/>
                    </a:lnL>
                    <a:lnR>
                      <a:noFill/>
                    </a:lnR>
                    <a:lnT w="7620" cap="flat" cmpd="sng" algn="ctr">
                      <a:solidFill>
                        <a:srgbClr val="60A6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ERROR logs report that something went seriously wrong, such as the reason why an app crashed.</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D0AEA2"/>
                      </a:solidFill>
                      <a:prstDash val="solid"/>
                      <a:round/>
                      <a:headEnd type="none" w="med" len="med"/>
                      <a:tailEnd type="none" w="med" len="med"/>
                    </a:lnB>
                    <a:solidFill>
                      <a:srgbClr val="FFFFFF"/>
                    </a:solidFill>
                  </a:tcPr>
                </a:tc>
                <a:tc>
                  <a:txBody>
                    <a:bodyPr/>
                    <a:lstStyle/>
                    <a:p>
                      <a:pPr algn="l" fontAlgn="t"/>
                      <a:r>
                        <a:rPr lang="en-US" sz="1400">
                          <a:effectLst/>
                        </a:rPr>
                        <a:t>Log.e(TAG, "The cake was left in the oven for too long and burned.").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837423793"/>
                  </a:ext>
                </a:extLst>
              </a:tr>
              <a:tr h="1055560">
                <a:tc>
                  <a:txBody>
                    <a:bodyPr/>
                    <a:lstStyle/>
                    <a:p>
                      <a:pPr algn="l" fontAlgn="t"/>
                      <a:r>
                        <a:rPr lang="en-SG" sz="1400">
                          <a:effectLst/>
                        </a:rPr>
                        <a:t>WARN</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50BCA2"/>
                      </a:solidFill>
                      <a:prstDash val="solid"/>
                      <a:round/>
                      <a:headEnd type="none" w="med" len="med"/>
                      <a:tailEnd type="none" w="med" len="med"/>
                    </a:lnB>
                    <a:solidFill>
                      <a:srgbClr val="FFFFFF"/>
                    </a:solidFill>
                  </a:tcPr>
                </a:tc>
                <a:tc>
                  <a:txBody>
                    <a:bodyPr/>
                    <a:lstStyle/>
                    <a:p>
                      <a:pPr algn="l" fontAlgn="t"/>
                      <a:r>
                        <a:rPr lang="en-US" sz="1400">
                          <a:effectLst/>
                        </a:rPr>
                        <a:t>WARN logs are less severe than an error but still report something that should be fixed to avoid a more serious error. An example might be if you call a function that's </a:t>
                      </a:r>
                      <a:r>
                        <a:rPr lang="en-US" sz="1400" i="1">
                          <a:effectLst/>
                        </a:rPr>
                        <a:t>deprecated</a:t>
                      </a:r>
                      <a:r>
                        <a:rPr lang="en-US" sz="1400">
                          <a:effectLst/>
                        </a:rPr>
                        <a:t>, meaning that its use is discouraged in favor of a newer alternative.</a:t>
                      </a:r>
                    </a:p>
                  </a:txBody>
                  <a:tcPr marL="15188" marR="15188" marT="15188" marB="15188">
                    <a:lnL>
                      <a:noFill/>
                    </a:lnL>
                    <a:lnR>
                      <a:noFill/>
                    </a:lnR>
                    <a:lnT w="7620" cap="flat" cmpd="sng" algn="ctr">
                      <a:solidFill>
                        <a:srgbClr val="D0AE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Log.w(TAG, "This oven does not heat evenly. You may want to turn the cake around halfway through to promote even browning.")</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595947420"/>
                  </a:ext>
                </a:extLst>
              </a:tr>
              <a:tr h="440450">
                <a:tc>
                  <a:txBody>
                    <a:bodyPr/>
                    <a:lstStyle/>
                    <a:p>
                      <a:pPr algn="l" fontAlgn="t"/>
                      <a:r>
                        <a:rPr lang="en-SG" sz="1400">
                          <a:effectLst/>
                        </a:rPr>
                        <a:t>INFO</a:t>
                      </a:r>
                    </a:p>
                  </a:txBody>
                  <a:tcPr marL="15188" marR="15188" marT="15188" marB="15188">
                    <a:lnL>
                      <a:noFill/>
                    </a:lnL>
                    <a:lnR>
                      <a:noFill/>
                    </a:lnR>
                    <a:lnT w="7620" cap="flat" cmpd="sng" algn="ctr">
                      <a:solidFill>
                        <a:srgbClr val="50BC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INFO logs provide useful information, such as an operation being successfully completed.</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US" sz="1400">
                          <a:effectLst/>
                        </a:rPr>
                        <a:t>Log.i(TAG, "The cake is ready to be served.").println("The cake has cooled.")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720222623"/>
                  </a:ext>
                </a:extLst>
              </a:tr>
              <a:tr h="850523">
                <a:tc>
                  <a:txBody>
                    <a:bodyPr/>
                    <a:lstStyle/>
                    <a:p>
                      <a:pPr algn="l" fontAlgn="t"/>
                      <a:r>
                        <a:rPr lang="en-SG" sz="1400">
                          <a:effectLst/>
                        </a:rPr>
                        <a:t>DEBUG</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A0BAA2"/>
                      </a:solidFill>
                      <a:prstDash val="solid"/>
                      <a:round/>
                      <a:headEnd type="none" w="med" len="med"/>
                      <a:tailEnd type="none" w="med" len="med"/>
                    </a:lnB>
                    <a:solidFill>
                      <a:srgbClr val="FFFFFF"/>
                    </a:solidFill>
                  </a:tcPr>
                </a:tc>
                <a:tc>
                  <a:txBody>
                    <a:bodyPr/>
                    <a:lstStyle/>
                    <a:p>
                      <a:pPr algn="l" fontAlgn="t"/>
                      <a:r>
                        <a:rPr lang="en-US" sz="1400">
                          <a:effectLst/>
                        </a:rPr>
                        <a:t>DEBUG logs contain information that may be useful when investigating an issue. These logs are not present in release builds such as one you'd publish on the Google Play Store.</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C0A9A2"/>
                      </a:solidFill>
                      <a:prstDash val="solid"/>
                      <a:round/>
                      <a:headEnd type="none" w="med" len="med"/>
                      <a:tailEnd type="none" w="med" len="med"/>
                    </a:lnB>
                    <a:solidFill>
                      <a:srgbClr val="FFFFFF"/>
                    </a:solidFill>
                  </a:tcPr>
                </a:tc>
                <a:tc>
                  <a:txBody>
                    <a:bodyPr/>
                    <a:lstStyle/>
                    <a:p>
                      <a:pPr algn="l" fontAlgn="t"/>
                      <a:r>
                        <a:rPr lang="en-US" sz="1400">
                          <a:effectLst/>
                        </a:rPr>
                        <a:t>Log.d(TAG, "Cake was removed from the oven after 55 minutes. Recipe calls for the cake to be removed after 50 - 60 minutes.")</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2272446250"/>
                  </a:ext>
                </a:extLst>
              </a:tr>
              <a:tr h="1465634">
                <a:tc>
                  <a:txBody>
                    <a:bodyPr/>
                    <a:lstStyle/>
                    <a:p>
                      <a:pPr algn="l" fontAlgn="t"/>
                      <a:r>
                        <a:rPr lang="en-SG" sz="1400">
                          <a:effectLst/>
                        </a:rPr>
                        <a:t>VERBOSE</a:t>
                      </a:r>
                    </a:p>
                  </a:txBody>
                  <a:tcPr marL="15188" marR="15188" marT="15188" marB="15188">
                    <a:lnL>
                      <a:noFill/>
                    </a:lnL>
                    <a:lnR>
                      <a:noFill/>
                    </a:lnR>
                    <a:lnT w="7620" cap="flat" cmpd="sng" algn="ctr">
                      <a:solidFill>
                        <a:srgbClr val="A0BAA2"/>
                      </a:solidFill>
                      <a:prstDash val="solid"/>
                      <a:round/>
                      <a:headEnd type="none" w="med" len="med"/>
                      <a:tailEnd type="none" w="med" len="med"/>
                    </a:lnT>
                    <a:lnB w="7620" cap="flat" cmpd="sng" algn="ctr">
                      <a:solidFill>
                        <a:srgbClr val="10BAA2"/>
                      </a:solidFill>
                      <a:prstDash val="solid"/>
                      <a:round/>
                      <a:headEnd type="none" w="med" len="med"/>
                      <a:tailEnd type="none" w="med" len="med"/>
                    </a:lnB>
                    <a:solidFill>
                      <a:srgbClr val="FFFFFF"/>
                    </a:solidFill>
                  </a:tcPr>
                </a:tc>
                <a:tc>
                  <a:txBody>
                    <a:bodyPr/>
                    <a:lstStyle/>
                    <a:p>
                      <a:pPr algn="l" fontAlgn="t"/>
                      <a:r>
                        <a:rPr lang="en-US" sz="1400">
                          <a:effectLst/>
                        </a:rPr>
                        <a:t>As the name implies, verbose is the least specific log level. What's considered a debug log, versus a verbose log, is a bit subjective, but generally, a verbose log is something that can be removed after a feature is implemented, whereas a debug log may still be useful for debugging. These logs are also not included in release builds.</a:t>
                      </a:r>
                    </a:p>
                  </a:txBody>
                  <a:tcPr marL="15188" marR="15188" marT="15188" marB="15188">
                    <a:lnL>
                      <a:noFill/>
                    </a:lnL>
                    <a:lnR>
                      <a:noFill/>
                    </a:lnR>
                    <a:lnT w="7620" cap="flat" cmpd="sng" algn="ctr">
                      <a:solidFill>
                        <a:srgbClr val="C0A9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dirty="0" err="1">
                          <a:effectLst/>
                        </a:rPr>
                        <a:t>Log.v</a:t>
                      </a:r>
                      <a:r>
                        <a:rPr lang="en-US" sz="1400" dirty="0">
                          <a:effectLst/>
                        </a:rPr>
                        <a:t>(TAG, "Put the mixing bowl on the counter.")</a:t>
                      </a:r>
                      <a:r>
                        <a:rPr lang="en-US" sz="1400" dirty="0" err="1">
                          <a:effectLst/>
                        </a:rPr>
                        <a:t>Log.v</a:t>
                      </a:r>
                      <a:r>
                        <a:rPr lang="en-US" sz="1400" dirty="0">
                          <a:effectLst/>
                        </a:rPr>
                        <a:t>(TAG, "Grabbed the eggs from the refrigerator.")</a:t>
                      </a:r>
                      <a:r>
                        <a:rPr lang="en-US" sz="1400" dirty="0" err="1">
                          <a:effectLst/>
                        </a:rPr>
                        <a:t>Log.v</a:t>
                      </a:r>
                      <a:r>
                        <a:rPr lang="en-US" sz="1400" dirty="0">
                          <a:effectLst/>
                        </a:rPr>
                        <a:t>(TAG, "Plugged in the stand mixer.")</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2715028209"/>
                  </a:ext>
                </a:extLst>
              </a:tr>
            </a:tbl>
          </a:graphicData>
        </a:graphic>
      </p:graphicFrame>
      <p:sp>
        <p:nvSpPr>
          <p:cNvPr id="5" name="TextBox 4">
            <a:extLst>
              <a:ext uri="{FF2B5EF4-FFF2-40B4-BE49-F238E27FC236}">
                <a16:creationId xmlns:a16="http://schemas.microsoft.com/office/drawing/2014/main" id="{DA469813-A1C1-4503-81F1-D9C6D6ECEF47}"/>
              </a:ext>
            </a:extLst>
          </p:cNvPr>
          <p:cNvSpPr txBox="1"/>
          <p:nvPr/>
        </p:nvSpPr>
        <p:spPr>
          <a:xfrm>
            <a:off x="6096000" y="557188"/>
            <a:ext cx="5257800" cy="307777"/>
          </a:xfrm>
          <a:prstGeom prst="rect">
            <a:avLst/>
          </a:prstGeom>
          <a:solidFill>
            <a:schemeClr val="accent4"/>
          </a:solidFill>
        </p:spPr>
        <p:txBody>
          <a:bodyPr wrap="square">
            <a:spAutoFit/>
          </a:bodyPr>
          <a:lstStyle/>
          <a:p>
            <a:r>
              <a:rPr lang="en-US" sz="1400" b="0" i="0" dirty="0">
                <a:effectLst/>
              </a:rPr>
              <a:t>Debug and Verbose logs won't impact performance in release builds.</a:t>
            </a:r>
            <a:endParaRPr lang="en-SG" sz="1400" dirty="0"/>
          </a:p>
        </p:txBody>
      </p:sp>
    </p:spTree>
    <p:extLst>
      <p:ext uri="{BB962C8B-B14F-4D97-AF65-F5344CB8AC3E}">
        <p14:creationId xmlns:p14="http://schemas.microsoft.com/office/powerpoint/2010/main" val="32670107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Activity Display Flow</a:t>
            </a:r>
          </a:p>
        </p:txBody>
      </p:sp>
      <p:sp>
        <p:nvSpPr>
          <p:cNvPr id="3" name="Rectangle 2">
            <a:extLst>
              <a:ext uri="{FF2B5EF4-FFF2-40B4-BE49-F238E27FC236}">
                <a16:creationId xmlns:a16="http://schemas.microsoft.com/office/drawing/2014/main" id="{90AFA6DB-EE23-499E-AAF2-6DA7B10F8AAC}"/>
              </a:ext>
            </a:extLst>
          </p:cNvPr>
          <p:cNvSpPr/>
          <p:nvPr/>
        </p:nvSpPr>
        <p:spPr>
          <a:xfrm>
            <a:off x="6966625" y="4635230"/>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In the Activity, call the corresponding layout XML</a:t>
            </a:r>
          </a:p>
        </p:txBody>
      </p:sp>
      <p:sp>
        <p:nvSpPr>
          <p:cNvPr id="4" name="Rectangle 3">
            <a:extLst>
              <a:ext uri="{FF2B5EF4-FFF2-40B4-BE49-F238E27FC236}">
                <a16:creationId xmlns:a16="http://schemas.microsoft.com/office/drawing/2014/main" id="{A0EC3749-799A-474F-A2EA-03CBA1425C3A}"/>
              </a:ext>
            </a:extLst>
          </p:cNvPr>
          <p:cNvSpPr/>
          <p:nvPr/>
        </p:nvSpPr>
        <p:spPr>
          <a:xfrm>
            <a:off x="6966628" y="5600194"/>
            <a:ext cx="4484451" cy="68711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4. In the Activity, call the View from the corresponding layout XML</a:t>
            </a:r>
          </a:p>
        </p:txBody>
      </p:sp>
      <p:pic>
        <p:nvPicPr>
          <p:cNvPr id="9" name="Picture 8">
            <a:extLst>
              <a:ext uri="{FF2B5EF4-FFF2-40B4-BE49-F238E27FC236}">
                <a16:creationId xmlns:a16="http://schemas.microsoft.com/office/drawing/2014/main" id="{F43C7D13-E38B-46E9-8C79-C3547BDDAFED}"/>
              </a:ext>
            </a:extLst>
          </p:cNvPr>
          <p:cNvPicPr>
            <a:picLocks noChangeAspect="1"/>
          </p:cNvPicPr>
          <p:nvPr/>
        </p:nvPicPr>
        <p:blipFill>
          <a:blip r:embed="rId2"/>
          <a:stretch>
            <a:fillRect/>
          </a:stretch>
        </p:blipFill>
        <p:spPr>
          <a:xfrm>
            <a:off x="669587" y="4336105"/>
            <a:ext cx="5966298" cy="1765570"/>
          </a:xfrm>
          <a:prstGeom prst="rect">
            <a:avLst/>
          </a:prstGeom>
        </p:spPr>
      </p:pic>
      <p:sp>
        <p:nvSpPr>
          <p:cNvPr id="10" name="Rectangle 9">
            <a:extLst>
              <a:ext uri="{FF2B5EF4-FFF2-40B4-BE49-F238E27FC236}">
                <a16:creationId xmlns:a16="http://schemas.microsoft.com/office/drawing/2014/main" id="{33A62B1A-625C-47CC-8407-EE5472036055}"/>
              </a:ext>
            </a:extLst>
          </p:cNvPr>
          <p:cNvSpPr/>
          <p:nvPr/>
        </p:nvSpPr>
        <p:spPr>
          <a:xfrm>
            <a:off x="1391055" y="5209162"/>
            <a:ext cx="3959158" cy="3034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Rectangle 10">
            <a:extLst>
              <a:ext uri="{FF2B5EF4-FFF2-40B4-BE49-F238E27FC236}">
                <a16:creationId xmlns:a16="http://schemas.microsoft.com/office/drawing/2014/main" id="{6766AF2E-75E8-408E-AC14-31B37F7AC98C}"/>
              </a:ext>
            </a:extLst>
          </p:cNvPr>
          <p:cNvSpPr/>
          <p:nvPr/>
        </p:nvSpPr>
        <p:spPr>
          <a:xfrm>
            <a:off x="1391054" y="5798195"/>
            <a:ext cx="5165387" cy="3034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13" name="Straight Arrow Connector 12">
            <a:extLst>
              <a:ext uri="{FF2B5EF4-FFF2-40B4-BE49-F238E27FC236}">
                <a16:creationId xmlns:a16="http://schemas.microsoft.com/office/drawing/2014/main" id="{062DED30-0593-4F87-8E31-D697FE62BACA}"/>
              </a:ext>
            </a:extLst>
          </p:cNvPr>
          <p:cNvCxnSpPr>
            <a:cxnSpLocks/>
            <a:stCxn id="10" idx="3"/>
            <a:endCxn id="3" idx="1"/>
          </p:cNvCxnSpPr>
          <p:nvPr/>
        </p:nvCxnSpPr>
        <p:spPr>
          <a:xfrm flipV="1">
            <a:off x="5350213" y="4900309"/>
            <a:ext cx="1616412" cy="46059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066FA13D-4221-4E64-A0DC-23A438748BA5}"/>
              </a:ext>
            </a:extLst>
          </p:cNvPr>
          <p:cNvCxnSpPr>
            <a:cxnSpLocks/>
            <a:stCxn id="11" idx="3"/>
            <a:endCxn id="4" idx="1"/>
          </p:cNvCxnSpPr>
          <p:nvPr/>
        </p:nvCxnSpPr>
        <p:spPr>
          <a:xfrm flipV="1">
            <a:off x="6556441" y="5943753"/>
            <a:ext cx="410187" cy="618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21" name="Picture 20">
            <a:extLst>
              <a:ext uri="{FF2B5EF4-FFF2-40B4-BE49-F238E27FC236}">
                <a16:creationId xmlns:a16="http://schemas.microsoft.com/office/drawing/2014/main" id="{D78D8880-C8AD-44BC-BFBF-E8163EC082A9}"/>
              </a:ext>
            </a:extLst>
          </p:cNvPr>
          <p:cNvPicPr>
            <a:picLocks noChangeAspect="1"/>
          </p:cNvPicPr>
          <p:nvPr/>
        </p:nvPicPr>
        <p:blipFill>
          <a:blip r:embed="rId3"/>
          <a:stretch>
            <a:fillRect/>
          </a:stretch>
        </p:blipFill>
        <p:spPr>
          <a:xfrm>
            <a:off x="1050586" y="2695133"/>
            <a:ext cx="4778154" cy="1036410"/>
          </a:xfrm>
          <a:prstGeom prst="rect">
            <a:avLst/>
          </a:prstGeom>
        </p:spPr>
      </p:pic>
      <p:sp>
        <p:nvSpPr>
          <p:cNvPr id="22" name="Rectangle 21">
            <a:extLst>
              <a:ext uri="{FF2B5EF4-FFF2-40B4-BE49-F238E27FC236}">
                <a16:creationId xmlns:a16="http://schemas.microsoft.com/office/drawing/2014/main" id="{9C5AE52F-3D21-442F-BB2F-0235FD94DA90}"/>
              </a:ext>
            </a:extLst>
          </p:cNvPr>
          <p:cNvSpPr/>
          <p:nvPr/>
        </p:nvSpPr>
        <p:spPr>
          <a:xfrm>
            <a:off x="1197438" y="1860996"/>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Declare strings in strings.xml</a:t>
            </a:r>
          </a:p>
        </p:txBody>
      </p:sp>
      <p:sp>
        <p:nvSpPr>
          <p:cNvPr id="23" name="Rectangle 22">
            <a:extLst>
              <a:ext uri="{FF2B5EF4-FFF2-40B4-BE49-F238E27FC236}">
                <a16:creationId xmlns:a16="http://schemas.microsoft.com/office/drawing/2014/main" id="{9F0E843B-B07D-4087-991A-A9A1A46B7638}"/>
              </a:ext>
            </a:extLst>
          </p:cNvPr>
          <p:cNvSpPr/>
          <p:nvPr/>
        </p:nvSpPr>
        <p:spPr>
          <a:xfrm>
            <a:off x="6869349" y="1160813"/>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In the layout XML, call the declared string</a:t>
            </a:r>
          </a:p>
        </p:txBody>
      </p:sp>
      <p:pic>
        <p:nvPicPr>
          <p:cNvPr id="25" name="Picture 24">
            <a:extLst>
              <a:ext uri="{FF2B5EF4-FFF2-40B4-BE49-F238E27FC236}">
                <a16:creationId xmlns:a16="http://schemas.microsoft.com/office/drawing/2014/main" id="{66E04B80-D5B9-4C79-A0F6-92FD0D7FC358}"/>
              </a:ext>
            </a:extLst>
          </p:cNvPr>
          <p:cNvPicPr>
            <a:picLocks noChangeAspect="1"/>
          </p:cNvPicPr>
          <p:nvPr/>
        </p:nvPicPr>
        <p:blipFill>
          <a:blip r:embed="rId4"/>
          <a:stretch>
            <a:fillRect/>
          </a:stretch>
        </p:blipFill>
        <p:spPr>
          <a:xfrm>
            <a:off x="6869349" y="1896984"/>
            <a:ext cx="4549534" cy="1981372"/>
          </a:xfrm>
          <a:prstGeom prst="rect">
            <a:avLst/>
          </a:prstGeom>
        </p:spPr>
      </p:pic>
      <p:sp>
        <p:nvSpPr>
          <p:cNvPr id="26" name="Rectangle 25">
            <a:extLst>
              <a:ext uri="{FF2B5EF4-FFF2-40B4-BE49-F238E27FC236}">
                <a16:creationId xmlns:a16="http://schemas.microsoft.com/office/drawing/2014/main" id="{BC7EADD3-6428-4008-80C2-EA602E95976A}"/>
              </a:ext>
            </a:extLst>
          </p:cNvPr>
          <p:cNvSpPr/>
          <p:nvPr/>
        </p:nvSpPr>
        <p:spPr>
          <a:xfrm>
            <a:off x="1313233" y="3094160"/>
            <a:ext cx="2655651" cy="20311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7" name="Rectangle 26">
            <a:extLst>
              <a:ext uri="{FF2B5EF4-FFF2-40B4-BE49-F238E27FC236}">
                <a16:creationId xmlns:a16="http://schemas.microsoft.com/office/drawing/2014/main" id="{61900D0C-E657-484D-A1AF-8E967B4DD50D}"/>
              </a:ext>
            </a:extLst>
          </p:cNvPr>
          <p:cNvSpPr/>
          <p:nvPr/>
        </p:nvSpPr>
        <p:spPr>
          <a:xfrm>
            <a:off x="7214682" y="2994523"/>
            <a:ext cx="2182238" cy="22533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28" name="Straight Arrow Connector 27">
            <a:extLst>
              <a:ext uri="{FF2B5EF4-FFF2-40B4-BE49-F238E27FC236}">
                <a16:creationId xmlns:a16="http://schemas.microsoft.com/office/drawing/2014/main" id="{3788D2F7-88D0-4DA4-AB13-CD491C0EDDEE}"/>
              </a:ext>
            </a:extLst>
          </p:cNvPr>
          <p:cNvCxnSpPr>
            <a:cxnSpLocks/>
            <a:stCxn id="22" idx="2"/>
            <a:endCxn id="26" idx="0"/>
          </p:cNvCxnSpPr>
          <p:nvPr/>
        </p:nvCxnSpPr>
        <p:spPr>
          <a:xfrm flipH="1">
            <a:off x="2641059" y="2391153"/>
            <a:ext cx="798605" cy="70300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E2212091-B792-4B1F-8EE4-4CDD11144090}"/>
              </a:ext>
            </a:extLst>
          </p:cNvPr>
          <p:cNvCxnSpPr>
            <a:cxnSpLocks/>
            <a:stCxn id="23" idx="2"/>
            <a:endCxn id="27" idx="0"/>
          </p:cNvCxnSpPr>
          <p:nvPr/>
        </p:nvCxnSpPr>
        <p:spPr>
          <a:xfrm flipH="1">
            <a:off x="8305801" y="1690970"/>
            <a:ext cx="805774" cy="130355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E5EF8051-0921-4FCD-9356-D1B9E0D914C1}"/>
              </a:ext>
            </a:extLst>
          </p:cNvPr>
          <p:cNvSpPr txBox="1"/>
          <p:nvPr/>
        </p:nvSpPr>
        <p:spPr>
          <a:xfrm>
            <a:off x="840236" y="2479148"/>
            <a:ext cx="861005" cy="276999"/>
          </a:xfrm>
          <a:prstGeom prst="rect">
            <a:avLst/>
          </a:prstGeom>
          <a:solidFill>
            <a:schemeClr val="accent4"/>
          </a:solidFill>
        </p:spPr>
        <p:txBody>
          <a:bodyPr wrap="none" rtlCol="0">
            <a:spAutoFit/>
          </a:bodyPr>
          <a:lstStyle/>
          <a:p>
            <a:r>
              <a:rPr lang="en-SG" sz="1200" dirty="0"/>
              <a:t>strings.xml</a:t>
            </a:r>
          </a:p>
        </p:txBody>
      </p:sp>
      <p:sp>
        <p:nvSpPr>
          <p:cNvPr id="38" name="TextBox 37">
            <a:extLst>
              <a:ext uri="{FF2B5EF4-FFF2-40B4-BE49-F238E27FC236}">
                <a16:creationId xmlns:a16="http://schemas.microsoft.com/office/drawing/2014/main" id="{07606D6B-E52A-471E-9949-0CB2F2D2D17C}"/>
              </a:ext>
            </a:extLst>
          </p:cNvPr>
          <p:cNvSpPr txBox="1"/>
          <p:nvPr/>
        </p:nvSpPr>
        <p:spPr>
          <a:xfrm>
            <a:off x="6480331" y="1745244"/>
            <a:ext cx="1305165" cy="276999"/>
          </a:xfrm>
          <a:prstGeom prst="rect">
            <a:avLst/>
          </a:prstGeom>
          <a:solidFill>
            <a:schemeClr val="accent4"/>
          </a:solidFill>
        </p:spPr>
        <p:txBody>
          <a:bodyPr wrap="none" rtlCol="0">
            <a:spAutoFit/>
          </a:bodyPr>
          <a:lstStyle/>
          <a:p>
            <a:r>
              <a:rPr lang="en-SG" sz="1200" dirty="0"/>
              <a:t>activity_main.xml</a:t>
            </a:r>
          </a:p>
        </p:txBody>
      </p:sp>
      <p:sp>
        <p:nvSpPr>
          <p:cNvPr id="39" name="TextBox 38">
            <a:extLst>
              <a:ext uri="{FF2B5EF4-FFF2-40B4-BE49-F238E27FC236}">
                <a16:creationId xmlns:a16="http://schemas.microsoft.com/office/drawing/2014/main" id="{222D721B-6C68-48BB-AD1E-167B5E7E182F}"/>
              </a:ext>
            </a:extLst>
          </p:cNvPr>
          <p:cNvSpPr txBox="1"/>
          <p:nvPr/>
        </p:nvSpPr>
        <p:spPr>
          <a:xfrm>
            <a:off x="398003" y="4148558"/>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Tree>
    <p:extLst>
      <p:ext uri="{BB962C8B-B14F-4D97-AF65-F5344CB8AC3E}">
        <p14:creationId xmlns:p14="http://schemas.microsoft.com/office/powerpoint/2010/main" val="33701740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6068C2A2-500D-418A-83BE-E1970D1C3FC2}"/>
              </a:ext>
            </a:extLst>
          </p:cNvPr>
          <p:cNvPicPr>
            <a:picLocks noChangeAspect="1"/>
          </p:cNvPicPr>
          <p:nvPr/>
        </p:nvPicPr>
        <p:blipFill>
          <a:blip r:embed="rId2"/>
          <a:stretch>
            <a:fillRect/>
          </a:stretch>
        </p:blipFill>
        <p:spPr>
          <a:xfrm>
            <a:off x="990158" y="4933963"/>
            <a:ext cx="5105842" cy="1158340"/>
          </a:xfrm>
          <a:prstGeom prst="rect">
            <a:avLst/>
          </a:prstGeom>
        </p:spPr>
      </p:pic>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Activity Display Flow</a:t>
            </a:r>
          </a:p>
        </p:txBody>
      </p:sp>
      <p:pic>
        <p:nvPicPr>
          <p:cNvPr id="6" name="Picture 5">
            <a:extLst>
              <a:ext uri="{FF2B5EF4-FFF2-40B4-BE49-F238E27FC236}">
                <a16:creationId xmlns:a16="http://schemas.microsoft.com/office/drawing/2014/main" id="{2D078DA2-4AA6-4336-9C3C-B20F2B8C7E8E}"/>
              </a:ext>
            </a:extLst>
          </p:cNvPr>
          <p:cNvPicPr>
            <a:picLocks noChangeAspect="1"/>
          </p:cNvPicPr>
          <p:nvPr/>
        </p:nvPicPr>
        <p:blipFill>
          <a:blip r:embed="rId3"/>
          <a:stretch>
            <a:fillRect/>
          </a:stretch>
        </p:blipFill>
        <p:spPr>
          <a:xfrm>
            <a:off x="838199" y="2026786"/>
            <a:ext cx="5883613" cy="1340009"/>
          </a:xfrm>
          <a:prstGeom prst="rect">
            <a:avLst/>
          </a:prstGeom>
        </p:spPr>
      </p:pic>
      <p:sp>
        <p:nvSpPr>
          <p:cNvPr id="24" name="Rectangle 23">
            <a:extLst>
              <a:ext uri="{FF2B5EF4-FFF2-40B4-BE49-F238E27FC236}">
                <a16:creationId xmlns:a16="http://schemas.microsoft.com/office/drawing/2014/main" id="{07AA8566-6980-4F7F-9223-F619DC28F903}"/>
              </a:ext>
            </a:extLst>
          </p:cNvPr>
          <p:cNvSpPr/>
          <p:nvPr/>
        </p:nvSpPr>
        <p:spPr>
          <a:xfrm>
            <a:off x="1196501" y="2493675"/>
            <a:ext cx="2519465" cy="21061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9" name="Rectangle 28">
            <a:extLst>
              <a:ext uri="{FF2B5EF4-FFF2-40B4-BE49-F238E27FC236}">
                <a16:creationId xmlns:a16="http://schemas.microsoft.com/office/drawing/2014/main" id="{0C0C11C8-532B-4C5A-BEE8-18DDB9B68FD8}"/>
              </a:ext>
            </a:extLst>
          </p:cNvPr>
          <p:cNvSpPr/>
          <p:nvPr/>
        </p:nvSpPr>
        <p:spPr>
          <a:xfrm>
            <a:off x="1196501" y="2696790"/>
            <a:ext cx="5525311" cy="21061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0" name="Rectangle 29">
            <a:extLst>
              <a:ext uri="{FF2B5EF4-FFF2-40B4-BE49-F238E27FC236}">
                <a16:creationId xmlns:a16="http://schemas.microsoft.com/office/drawing/2014/main" id="{716C606B-90A7-4A36-BA97-E57A2DB0D5BA}"/>
              </a:ext>
            </a:extLst>
          </p:cNvPr>
          <p:cNvSpPr/>
          <p:nvPr/>
        </p:nvSpPr>
        <p:spPr>
          <a:xfrm>
            <a:off x="1196500" y="2926486"/>
            <a:ext cx="3891066" cy="24468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2" name="Rectangle 31">
            <a:extLst>
              <a:ext uri="{FF2B5EF4-FFF2-40B4-BE49-F238E27FC236}">
                <a16:creationId xmlns:a16="http://schemas.microsoft.com/office/drawing/2014/main" id="{6590E27C-81E2-4ACC-A0BF-A1D8F8914DE6}"/>
              </a:ext>
            </a:extLst>
          </p:cNvPr>
          <p:cNvSpPr/>
          <p:nvPr/>
        </p:nvSpPr>
        <p:spPr>
          <a:xfrm>
            <a:off x="6966623" y="3601056"/>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And pass it into the text attribute of the </a:t>
            </a:r>
            <a:r>
              <a:rPr lang="en-SG" sz="1600" dirty="0" err="1"/>
              <a:t>TextView</a:t>
            </a:r>
            <a:endParaRPr lang="en-SG" sz="1600" dirty="0"/>
          </a:p>
        </p:txBody>
      </p:sp>
      <p:sp>
        <p:nvSpPr>
          <p:cNvPr id="33" name="Rectangle 32">
            <a:extLst>
              <a:ext uri="{FF2B5EF4-FFF2-40B4-BE49-F238E27FC236}">
                <a16:creationId xmlns:a16="http://schemas.microsoft.com/office/drawing/2014/main" id="{4A2C861A-2CB1-4AB7-AF95-802A1D3C604C}"/>
              </a:ext>
            </a:extLst>
          </p:cNvPr>
          <p:cNvSpPr/>
          <p:nvPr/>
        </p:nvSpPr>
        <p:spPr>
          <a:xfrm>
            <a:off x="6966624" y="1515234"/>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If you are updating a </a:t>
            </a:r>
            <a:r>
              <a:rPr lang="en-SG" sz="1600" dirty="0" err="1"/>
              <a:t>TextView</a:t>
            </a:r>
            <a:r>
              <a:rPr lang="en-SG" sz="1600" dirty="0"/>
              <a:t> in the Activity,</a:t>
            </a:r>
          </a:p>
        </p:txBody>
      </p:sp>
      <p:sp>
        <p:nvSpPr>
          <p:cNvPr id="34" name="Rectangle 33">
            <a:extLst>
              <a:ext uri="{FF2B5EF4-FFF2-40B4-BE49-F238E27FC236}">
                <a16:creationId xmlns:a16="http://schemas.microsoft.com/office/drawing/2014/main" id="{6055FBA9-23F3-485B-948B-D2F92316C6BD}"/>
              </a:ext>
            </a:extLst>
          </p:cNvPr>
          <p:cNvSpPr/>
          <p:nvPr/>
        </p:nvSpPr>
        <p:spPr>
          <a:xfrm>
            <a:off x="6966623" y="2558145"/>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Probably use a value from a variable,</a:t>
            </a:r>
          </a:p>
        </p:txBody>
      </p:sp>
      <p:sp>
        <p:nvSpPr>
          <p:cNvPr id="35" name="Rectangle 34">
            <a:extLst>
              <a:ext uri="{FF2B5EF4-FFF2-40B4-BE49-F238E27FC236}">
                <a16:creationId xmlns:a16="http://schemas.microsoft.com/office/drawing/2014/main" id="{F200B97B-FAF8-4F7B-89DF-DDB13CFF2F5D}"/>
              </a:ext>
            </a:extLst>
          </p:cNvPr>
          <p:cNvSpPr/>
          <p:nvPr/>
        </p:nvSpPr>
        <p:spPr>
          <a:xfrm>
            <a:off x="6429983" y="5248054"/>
            <a:ext cx="5089185"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342900" indent="-342900" algn="ctr">
              <a:buAutoNum type="arabicPeriod"/>
            </a:pPr>
            <a:r>
              <a:rPr lang="en-SG" sz="1600" dirty="0"/>
              <a:t>To set an image in the Activity, call the drawable</a:t>
            </a:r>
          </a:p>
          <a:p>
            <a:pPr algn="ctr"/>
            <a:r>
              <a:rPr lang="en-SG" sz="1600" dirty="0"/>
              <a:t>i.e. if there is a dice_2.png, call </a:t>
            </a:r>
            <a:r>
              <a:rPr lang="en-SG" sz="1600" dirty="0">
                <a:latin typeface="Lucida Console" panose="020B0609040504020204" pitchFamily="49" charset="0"/>
              </a:rPr>
              <a:t>R.drawable.dice_2</a:t>
            </a:r>
          </a:p>
        </p:txBody>
      </p:sp>
      <p:sp>
        <p:nvSpPr>
          <p:cNvPr id="36" name="TextBox 35">
            <a:extLst>
              <a:ext uri="{FF2B5EF4-FFF2-40B4-BE49-F238E27FC236}">
                <a16:creationId xmlns:a16="http://schemas.microsoft.com/office/drawing/2014/main" id="{2EB6C195-404A-4692-80BA-9C13A2B36ADB}"/>
              </a:ext>
            </a:extLst>
          </p:cNvPr>
          <p:cNvSpPr txBox="1"/>
          <p:nvPr/>
        </p:nvSpPr>
        <p:spPr>
          <a:xfrm>
            <a:off x="740925" y="1774388"/>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
        <p:nvSpPr>
          <p:cNvPr id="40" name="TextBox 39">
            <a:extLst>
              <a:ext uri="{FF2B5EF4-FFF2-40B4-BE49-F238E27FC236}">
                <a16:creationId xmlns:a16="http://schemas.microsoft.com/office/drawing/2014/main" id="{9105CD62-5B61-411F-A88D-9F1A2A33C5E9}"/>
              </a:ext>
            </a:extLst>
          </p:cNvPr>
          <p:cNvSpPr txBox="1"/>
          <p:nvPr/>
        </p:nvSpPr>
        <p:spPr>
          <a:xfrm>
            <a:off x="740924" y="4657119"/>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
        <p:nvSpPr>
          <p:cNvPr id="41" name="Rectangle 40">
            <a:extLst>
              <a:ext uri="{FF2B5EF4-FFF2-40B4-BE49-F238E27FC236}">
                <a16:creationId xmlns:a16="http://schemas.microsoft.com/office/drawing/2014/main" id="{A8C512CD-C720-454D-B7DD-B784D53ECE4A}"/>
              </a:ext>
            </a:extLst>
          </p:cNvPr>
          <p:cNvSpPr/>
          <p:nvPr/>
        </p:nvSpPr>
        <p:spPr>
          <a:xfrm>
            <a:off x="1301494" y="5708383"/>
            <a:ext cx="3698523" cy="15739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2" name="Rectangle 41">
            <a:extLst>
              <a:ext uri="{FF2B5EF4-FFF2-40B4-BE49-F238E27FC236}">
                <a16:creationId xmlns:a16="http://schemas.microsoft.com/office/drawing/2014/main" id="{90F4FB01-8445-49C7-9CCB-98ACFD9A9E21}"/>
              </a:ext>
            </a:extLst>
          </p:cNvPr>
          <p:cNvSpPr/>
          <p:nvPr/>
        </p:nvSpPr>
        <p:spPr>
          <a:xfrm>
            <a:off x="1301495" y="5526547"/>
            <a:ext cx="4457280" cy="15739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3869332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Adapter</a:t>
            </a:r>
            <a:endParaRPr lang="en-SG" dirty="0"/>
          </a:p>
        </p:txBody>
      </p:sp>
      <p:sp>
        <p:nvSpPr>
          <p:cNvPr id="3" name="Content Placeholder 2"/>
          <p:cNvSpPr>
            <a:spLocks noGrp="1"/>
          </p:cNvSpPr>
          <p:nvPr>
            <p:ph idx="1"/>
          </p:nvPr>
        </p:nvSpPr>
        <p:spPr>
          <a:xfrm>
            <a:off x="838200" y="1825625"/>
            <a:ext cx="10515600" cy="2422525"/>
          </a:xfrm>
        </p:spPr>
        <p:txBody>
          <a:bodyPr>
            <a:normAutofit/>
          </a:bodyPr>
          <a:lstStyle/>
          <a:p>
            <a:r>
              <a:rPr lang="en-US" sz="2400" dirty="0"/>
              <a:t>Adapts data into something that can be used by </a:t>
            </a:r>
            <a:r>
              <a:rPr lang="en-US" sz="2400" dirty="0" err="1"/>
              <a:t>RecyclerView</a:t>
            </a:r>
            <a:endParaRPr lang="en-US" sz="2400" dirty="0"/>
          </a:p>
          <a:p>
            <a:r>
              <a:rPr lang="en-US" sz="2400" dirty="0"/>
              <a:t>When the app runs, </a:t>
            </a:r>
            <a:r>
              <a:rPr lang="en-US" sz="2400" dirty="0" err="1"/>
              <a:t>RecyclerView</a:t>
            </a:r>
            <a:r>
              <a:rPr lang="en-US" sz="2400" dirty="0"/>
              <a:t> uses the adapter to figure out how to display the data on the screen</a:t>
            </a:r>
          </a:p>
          <a:p>
            <a:r>
              <a:rPr lang="en-US" sz="2400" dirty="0" err="1"/>
              <a:t>RecyclerView</a:t>
            </a:r>
            <a:r>
              <a:rPr lang="en-US" sz="2400" dirty="0"/>
              <a:t> asks the adapter to create a new list view item for the first data item in your list, and once it has the view, it asks the adapter to provide the data to draw the item</a:t>
            </a:r>
            <a:endParaRPr lang="en-SG" sz="2400" dirty="0"/>
          </a:p>
        </p:txBody>
      </p:sp>
    </p:spTree>
    <p:extLst>
      <p:ext uri="{BB962C8B-B14F-4D97-AF65-F5344CB8AC3E}">
        <p14:creationId xmlns:p14="http://schemas.microsoft.com/office/powerpoint/2010/main" val="8331642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711200" y="1003300"/>
            <a:ext cx="3009900" cy="51054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TextBox 2"/>
          <p:cNvSpPr txBox="1"/>
          <p:nvPr/>
        </p:nvSpPr>
        <p:spPr>
          <a:xfrm>
            <a:off x="723900" y="596900"/>
            <a:ext cx="2961708" cy="369332"/>
          </a:xfrm>
          <a:prstGeom prst="rect">
            <a:avLst/>
          </a:prstGeom>
          <a:noFill/>
        </p:spPr>
        <p:txBody>
          <a:bodyPr wrap="none" rtlCol="0">
            <a:spAutoFit/>
          </a:bodyPr>
          <a:lstStyle/>
          <a:p>
            <a:r>
              <a:rPr lang="en-US" dirty="0" err="1"/>
              <a:t>RecyclerView</a:t>
            </a:r>
            <a:r>
              <a:rPr lang="en-US" dirty="0"/>
              <a:t> (UI component)</a:t>
            </a:r>
            <a:endParaRPr lang="en-SG" dirty="0"/>
          </a:p>
        </p:txBody>
      </p:sp>
      <p:sp>
        <p:nvSpPr>
          <p:cNvPr id="4" name="Rectangle 3"/>
          <p:cNvSpPr/>
          <p:nvPr/>
        </p:nvSpPr>
        <p:spPr>
          <a:xfrm>
            <a:off x="1041400" y="13716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sp>
        <p:nvSpPr>
          <p:cNvPr id="5" name="Rectangle 4"/>
          <p:cNvSpPr/>
          <p:nvPr/>
        </p:nvSpPr>
        <p:spPr>
          <a:xfrm>
            <a:off x="1041400" y="24892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6" name="Rectangle 5"/>
          <p:cNvSpPr/>
          <p:nvPr/>
        </p:nvSpPr>
        <p:spPr>
          <a:xfrm>
            <a:off x="1047750" y="36068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7" name="Rectangle 6"/>
          <p:cNvSpPr/>
          <p:nvPr/>
        </p:nvSpPr>
        <p:spPr>
          <a:xfrm>
            <a:off x="1047750" y="47244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8" name="Rectangle 7"/>
          <p:cNvSpPr/>
          <p:nvPr/>
        </p:nvSpPr>
        <p:spPr>
          <a:xfrm>
            <a:off x="1334247" y="1562785"/>
            <a:ext cx="1763806" cy="63363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ListView</a:t>
            </a:r>
            <a:r>
              <a:rPr lang="en-US" dirty="0">
                <a:solidFill>
                  <a:schemeClr val="tx1"/>
                </a:solidFill>
              </a:rPr>
              <a:t> </a:t>
            </a:r>
          </a:p>
          <a:p>
            <a:pPr algn="ctr"/>
            <a:r>
              <a:rPr lang="en-US" dirty="0">
                <a:solidFill>
                  <a:schemeClr val="tx1"/>
                </a:solidFill>
              </a:rPr>
              <a:t>(UI component)</a:t>
            </a:r>
            <a:endParaRPr lang="en-SG" dirty="0">
              <a:solidFill>
                <a:schemeClr val="tx1"/>
              </a:solidFill>
            </a:endParaRPr>
          </a:p>
        </p:txBody>
      </p:sp>
      <p:cxnSp>
        <p:nvCxnSpPr>
          <p:cNvPr id="10" name="Straight Arrow Connector 9"/>
          <p:cNvCxnSpPr>
            <a:cxnSpLocks/>
            <a:stCxn id="4" idx="3"/>
            <a:endCxn id="8" idx="3"/>
          </p:cNvCxnSpPr>
          <p:nvPr/>
        </p:nvCxnSpPr>
        <p:spPr>
          <a:xfrm flipH="1">
            <a:off x="3098053" y="1879600"/>
            <a:ext cx="2801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Rectangle 10"/>
          <p:cNvSpPr/>
          <p:nvPr/>
        </p:nvSpPr>
        <p:spPr>
          <a:xfrm>
            <a:off x="8763000" y="13716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Adapter</a:t>
            </a:r>
            <a:endParaRPr lang="en-SG" dirty="0">
              <a:solidFill>
                <a:schemeClr val="tx1"/>
              </a:solidFill>
            </a:endParaRPr>
          </a:p>
        </p:txBody>
      </p:sp>
      <p:sp>
        <p:nvSpPr>
          <p:cNvPr id="12" name="Rectangle 11"/>
          <p:cNvSpPr/>
          <p:nvPr/>
        </p:nvSpPr>
        <p:spPr>
          <a:xfrm>
            <a:off x="8763000" y="38608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Data Source</a:t>
            </a:r>
          </a:p>
          <a:p>
            <a:pPr algn="ctr"/>
            <a:r>
              <a:rPr lang="en-US" dirty="0">
                <a:solidFill>
                  <a:schemeClr val="tx1"/>
                </a:solidFill>
              </a:rPr>
              <a:t>(Local/Remote)</a:t>
            </a:r>
            <a:endParaRPr lang="en-SG" dirty="0">
              <a:solidFill>
                <a:schemeClr val="tx1"/>
              </a:solidFill>
            </a:endParaRPr>
          </a:p>
        </p:txBody>
      </p:sp>
      <p:cxnSp>
        <p:nvCxnSpPr>
          <p:cNvPr id="18" name="Straight Arrow Connector 17"/>
          <p:cNvCxnSpPr>
            <a:stCxn id="12" idx="0"/>
            <a:endCxn id="11" idx="2"/>
          </p:cNvCxnSpPr>
          <p:nvPr/>
        </p:nvCxnSpPr>
        <p:spPr>
          <a:xfrm flipV="1">
            <a:off x="9931400" y="2387600"/>
            <a:ext cx="0" cy="1473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10394950" y="2862590"/>
            <a:ext cx="1123521" cy="523220"/>
          </a:xfrm>
          <a:prstGeom prst="rect">
            <a:avLst/>
          </a:prstGeom>
          <a:noFill/>
        </p:spPr>
        <p:txBody>
          <a:bodyPr wrap="square" rtlCol="0">
            <a:spAutoFit/>
          </a:bodyPr>
          <a:lstStyle/>
          <a:p>
            <a:r>
              <a:rPr lang="en-US" sz="1400" dirty="0">
                <a:solidFill>
                  <a:schemeClr val="accent1"/>
                </a:solidFill>
              </a:rPr>
              <a:t>Pass data as parameter</a:t>
            </a:r>
            <a:endParaRPr lang="en-SG" sz="1400" dirty="0">
              <a:solidFill>
                <a:schemeClr val="accent1"/>
              </a:solidFill>
            </a:endParaRPr>
          </a:p>
        </p:txBody>
      </p:sp>
      <p:sp>
        <p:nvSpPr>
          <p:cNvPr id="22" name="TextBox 21"/>
          <p:cNvSpPr txBox="1"/>
          <p:nvPr/>
        </p:nvSpPr>
        <p:spPr>
          <a:xfrm>
            <a:off x="3059877" y="1586010"/>
            <a:ext cx="649345" cy="307777"/>
          </a:xfrm>
          <a:prstGeom prst="rect">
            <a:avLst/>
          </a:prstGeom>
          <a:noFill/>
        </p:spPr>
        <p:txBody>
          <a:bodyPr wrap="none" rtlCol="0">
            <a:spAutoFit/>
          </a:bodyPr>
          <a:lstStyle/>
          <a:p>
            <a:pPr algn="ctr"/>
            <a:r>
              <a:rPr lang="en-US" sz="1400" dirty="0">
                <a:solidFill>
                  <a:schemeClr val="accent1"/>
                </a:solidFill>
              </a:rPr>
              <a:t>Wraps</a:t>
            </a:r>
            <a:endParaRPr lang="en-SG" sz="1400" dirty="0">
              <a:solidFill>
                <a:schemeClr val="accent1"/>
              </a:solidFill>
            </a:endParaRPr>
          </a:p>
        </p:txBody>
      </p:sp>
      <p:cxnSp>
        <p:nvCxnSpPr>
          <p:cNvPr id="25" name="Elbow Connector 24"/>
          <p:cNvCxnSpPr/>
          <p:nvPr/>
        </p:nvCxnSpPr>
        <p:spPr>
          <a:xfrm rot="16200000" flipV="1">
            <a:off x="6070600" y="-2489200"/>
            <a:ext cx="12700" cy="7721600"/>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4101680" y="570347"/>
            <a:ext cx="3625172" cy="1169551"/>
          </a:xfrm>
          <a:prstGeom prst="rect">
            <a:avLst/>
          </a:prstGeom>
          <a:noFill/>
        </p:spPr>
        <p:txBody>
          <a:bodyPr wrap="square" rtlCol="0">
            <a:spAutoFit/>
          </a:bodyPr>
          <a:lstStyle/>
          <a:p>
            <a:pPr algn="ctr"/>
            <a:r>
              <a:rPr lang="en-US" sz="1400" dirty="0">
                <a:solidFill>
                  <a:schemeClr val="accent1"/>
                </a:solidFill>
              </a:rPr>
              <a:t>Creates </a:t>
            </a:r>
            <a:r>
              <a:rPr lang="en-US" sz="1400" dirty="0" err="1">
                <a:solidFill>
                  <a:schemeClr val="accent1"/>
                </a:solidFill>
              </a:rPr>
              <a:t>ViewHolders</a:t>
            </a:r>
            <a:r>
              <a:rPr lang="en-US" sz="1400" dirty="0">
                <a:solidFill>
                  <a:schemeClr val="accent1"/>
                </a:solidFill>
              </a:rPr>
              <a:t> to wrap around a View and to set data for the View</a:t>
            </a:r>
          </a:p>
          <a:p>
            <a:pPr algn="ctr"/>
            <a:endParaRPr lang="en-US" sz="1400" dirty="0">
              <a:solidFill>
                <a:schemeClr val="accent1"/>
              </a:solidFill>
            </a:endParaRPr>
          </a:p>
          <a:p>
            <a:pPr algn="ctr"/>
            <a:r>
              <a:rPr lang="en-US" sz="1400" dirty="0">
                <a:solidFill>
                  <a:schemeClr val="accent1"/>
                </a:solidFill>
              </a:rPr>
              <a:t>Once a </a:t>
            </a:r>
            <a:r>
              <a:rPr lang="en-US" sz="1400" dirty="0" err="1">
                <a:solidFill>
                  <a:schemeClr val="accent1"/>
                </a:solidFill>
              </a:rPr>
              <a:t>ViewHolder</a:t>
            </a:r>
            <a:r>
              <a:rPr lang="en-US" sz="1400" dirty="0">
                <a:solidFill>
                  <a:schemeClr val="accent1"/>
                </a:solidFill>
              </a:rPr>
              <a:t> is reused (when it goes out of screen), the adapter will pass it next data</a:t>
            </a:r>
            <a:endParaRPr lang="en-SG" sz="1400" dirty="0">
              <a:solidFill>
                <a:schemeClr val="accent1"/>
              </a:solidFill>
            </a:endParaRPr>
          </a:p>
        </p:txBody>
      </p:sp>
      <p:sp>
        <p:nvSpPr>
          <p:cNvPr id="28" name="Oval 27"/>
          <p:cNvSpPr/>
          <p:nvPr/>
        </p:nvSpPr>
        <p:spPr>
          <a:xfrm>
            <a:off x="9474200" y="2692400"/>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Model</a:t>
            </a:r>
            <a:endParaRPr lang="en-SG" sz="1200" dirty="0"/>
          </a:p>
        </p:txBody>
      </p:sp>
      <p:sp>
        <p:nvSpPr>
          <p:cNvPr id="29" name="TextBox 28"/>
          <p:cNvSpPr txBox="1"/>
          <p:nvPr/>
        </p:nvSpPr>
        <p:spPr>
          <a:xfrm>
            <a:off x="4531879" y="5924034"/>
            <a:ext cx="7431522" cy="646331"/>
          </a:xfrm>
          <a:prstGeom prst="rect">
            <a:avLst/>
          </a:prstGeom>
          <a:noFill/>
        </p:spPr>
        <p:txBody>
          <a:bodyPr wrap="square" rtlCol="0">
            <a:spAutoFit/>
          </a:bodyPr>
          <a:lstStyle/>
          <a:p>
            <a:r>
              <a:rPr lang="en-US" dirty="0"/>
              <a:t>Adapter uses </a:t>
            </a:r>
            <a:r>
              <a:rPr lang="en-US" dirty="0" err="1"/>
              <a:t>ViewHolder</a:t>
            </a:r>
            <a:r>
              <a:rPr lang="en-US" dirty="0"/>
              <a:t> objects as a way to bind (display) data to the UI, in this case the </a:t>
            </a:r>
            <a:r>
              <a:rPr lang="en-US" dirty="0" err="1"/>
              <a:t>ListView</a:t>
            </a:r>
            <a:r>
              <a:rPr lang="en-US" dirty="0"/>
              <a:t> UI component in </a:t>
            </a:r>
            <a:r>
              <a:rPr lang="en-US" dirty="0" err="1"/>
              <a:t>RecyclerView</a:t>
            </a:r>
            <a:endParaRPr lang="en-SG" dirty="0"/>
          </a:p>
        </p:txBody>
      </p:sp>
      <p:sp>
        <p:nvSpPr>
          <p:cNvPr id="26" name="TextBox 25">
            <a:extLst>
              <a:ext uri="{FF2B5EF4-FFF2-40B4-BE49-F238E27FC236}">
                <a16:creationId xmlns:a16="http://schemas.microsoft.com/office/drawing/2014/main" id="{8718EF31-67F8-4DE0-83A5-CE0CEC813D4C}"/>
              </a:ext>
            </a:extLst>
          </p:cNvPr>
          <p:cNvSpPr txBox="1"/>
          <p:nvPr/>
        </p:nvSpPr>
        <p:spPr>
          <a:xfrm>
            <a:off x="823950" y="1020344"/>
            <a:ext cx="1504950" cy="369332"/>
          </a:xfrm>
          <a:prstGeom prst="rect">
            <a:avLst/>
          </a:prstGeom>
          <a:noFill/>
        </p:spPr>
        <p:txBody>
          <a:bodyPr wrap="square">
            <a:spAutoFit/>
          </a:bodyPr>
          <a:lstStyle/>
          <a:p>
            <a:pPr algn="ctr"/>
            <a:r>
              <a:rPr lang="en-US" dirty="0" err="1">
                <a:solidFill>
                  <a:schemeClr val="tx1"/>
                </a:solidFill>
              </a:rPr>
              <a:t>ViewHolder</a:t>
            </a:r>
            <a:endParaRPr lang="en-SG" dirty="0">
              <a:solidFill>
                <a:schemeClr val="tx1"/>
              </a:solidFill>
            </a:endParaRPr>
          </a:p>
        </p:txBody>
      </p:sp>
      <p:sp>
        <p:nvSpPr>
          <p:cNvPr id="43" name="TextBox 42">
            <a:extLst>
              <a:ext uri="{FF2B5EF4-FFF2-40B4-BE49-F238E27FC236}">
                <a16:creationId xmlns:a16="http://schemas.microsoft.com/office/drawing/2014/main" id="{07BAD4ED-20CA-4075-8A77-37FBD3BBF1BA}"/>
              </a:ext>
            </a:extLst>
          </p:cNvPr>
          <p:cNvSpPr txBox="1"/>
          <p:nvPr/>
        </p:nvSpPr>
        <p:spPr>
          <a:xfrm>
            <a:off x="3980551" y="2605799"/>
            <a:ext cx="4325250" cy="1831271"/>
          </a:xfrm>
          <a:prstGeom prst="rect">
            <a:avLst/>
          </a:prstGeom>
          <a:noFill/>
        </p:spPr>
        <p:txBody>
          <a:bodyPr wrap="square" rtlCol="0">
            <a:spAutoFit/>
          </a:bodyPr>
          <a:lstStyle/>
          <a:p>
            <a:pPr>
              <a:spcAft>
                <a:spcPts val="600"/>
              </a:spcAft>
            </a:pPr>
            <a:r>
              <a:rPr lang="en-US" sz="1400" u="sng" dirty="0">
                <a:latin typeface="Segoe UI" panose="020B0502040204020203" pitchFamily="34" charset="0"/>
                <a:cs typeface="Segoe UI" panose="020B0502040204020203" pitchFamily="34" charset="0"/>
              </a:rPr>
              <a:t>Overriding </a:t>
            </a:r>
            <a:r>
              <a:rPr lang="en-US" sz="1400" u="sng" dirty="0" err="1">
                <a:latin typeface="Segoe UI" panose="020B0502040204020203" pitchFamily="34" charset="0"/>
                <a:cs typeface="Segoe UI" panose="020B0502040204020203" pitchFamily="34" charset="0"/>
              </a:rPr>
              <a:t>RecyclerView.Adapter’s</a:t>
            </a:r>
            <a:r>
              <a:rPr lang="en-US" sz="1400" u="sng" dirty="0">
                <a:latin typeface="Segoe UI" panose="020B0502040204020203" pitchFamily="34" charset="0"/>
                <a:cs typeface="Segoe UI" panose="020B0502040204020203" pitchFamily="34" charset="0"/>
              </a:rPr>
              <a:t> methods</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rPr>
              <a:t>onCreateViewHolder</a:t>
            </a:r>
            <a:r>
              <a:rPr lang="en-US" sz="1400" dirty="0">
                <a:latin typeface="Segoe UI" panose="020B0502040204020203" pitchFamily="34" charset="0"/>
                <a:cs typeface="Segoe UI" panose="020B0502040204020203" pitchFamily="34" charset="0"/>
              </a:rPr>
              <a:t>() </a:t>
            </a:r>
            <a:r>
              <a:rPr lang="en-US" sz="1400" dirty="0">
                <a:latin typeface="Segoe UI" panose="020B0502040204020203" pitchFamily="34" charset="0"/>
                <a:cs typeface="Segoe UI" panose="020B0502040204020203" pitchFamily="34" charset="0"/>
                <a:sym typeface="Wingdings" panose="05000000000000000000" pitchFamily="2" charset="2"/>
              </a:rPr>
              <a:t> Creates and initializes the </a:t>
            </a:r>
            <a:r>
              <a:rPr lang="en-US" sz="1400" dirty="0" err="1">
                <a:latin typeface="Segoe UI" panose="020B0502040204020203" pitchFamily="34" charset="0"/>
                <a:cs typeface="Segoe UI" panose="020B0502040204020203" pitchFamily="34" charset="0"/>
                <a:sym typeface="Wingdings" panose="05000000000000000000" pitchFamily="2" charset="2"/>
              </a:rPr>
              <a:t>ViewHolder</a:t>
            </a:r>
            <a:r>
              <a:rPr lang="en-US" sz="1400" dirty="0">
                <a:latin typeface="Segoe UI" panose="020B0502040204020203" pitchFamily="34" charset="0"/>
                <a:cs typeface="Segoe UI" panose="020B0502040204020203" pitchFamily="34" charset="0"/>
                <a:sym typeface="Wingdings" panose="05000000000000000000" pitchFamily="2" charset="2"/>
              </a:rPr>
              <a:t> and its associated View.</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sym typeface="Wingdings" panose="05000000000000000000" pitchFamily="2" charset="2"/>
              </a:rPr>
              <a:t>onBindViewHolder</a:t>
            </a:r>
            <a:r>
              <a:rPr lang="en-US" sz="1400" dirty="0">
                <a:latin typeface="Segoe UI" panose="020B0502040204020203" pitchFamily="34" charset="0"/>
                <a:cs typeface="Segoe UI" panose="020B0502040204020203" pitchFamily="34" charset="0"/>
                <a:sym typeface="Wingdings" panose="05000000000000000000" pitchFamily="2" charset="2"/>
              </a:rPr>
              <a:t>()  Fetches the appropriate data and uses the data to fill in the view holder's layout (i.e. </a:t>
            </a:r>
            <a:r>
              <a:rPr lang="en-US" sz="1400" dirty="0" err="1">
                <a:latin typeface="Segoe UI" panose="020B0502040204020203" pitchFamily="34" charset="0"/>
                <a:cs typeface="Segoe UI" panose="020B0502040204020203" pitchFamily="34" charset="0"/>
                <a:sym typeface="Wingdings" panose="05000000000000000000" pitchFamily="2" charset="2"/>
              </a:rPr>
              <a:t>TextView</a:t>
            </a:r>
            <a:r>
              <a:rPr lang="en-US" sz="1400" dirty="0">
                <a:latin typeface="Segoe UI" panose="020B0502040204020203" pitchFamily="34" charset="0"/>
                <a:cs typeface="Segoe UI" panose="020B0502040204020203" pitchFamily="34" charset="0"/>
                <a:sym typeface="Wingdings" panose="05000000000000000000" pitchFamily="2" charset="2"/>
              </a:rPr>
              <a:t>, </a:t>
            </a:r>
            <a:r>
              <a:rPr lang="en-US" sz="1400" dirty="0" err="1">
                <a:latin typeface="Segoe UI" panose="020B0502040204020203" pitchFamily="34" charset="0"/>
                <a:cs typeface="Segoe UI" panose="020B0502040204020203" pitchFamily="34" charset="0"/>
                <a:sym typeface="Wingdings" panose="05000000000000000000" pitchFamily="2" charset="2"/>
              </a:rPr>
              <a:t>ListView</a:t>
            </a:r>
            <a:r>
              <a:rPr lang="en-US" sz="1400" dirty="0">
                <a:latin typeface="Segoe UI" panose="020B0502040204020203" pitchFamily="34" charset="0"/>
                <a:cs typeface="Segoe UI" panose="020B0502040204020203" pitchFamily="34" charset="0"/>
                <a:sym typeface="Wingdings" panose="05000000000000000000" pitchFamily="2" charset="2"/>
              </a:rPr>
              <a:t>, or </a:t>
            </a:r>
            <a:r>
              <a:rPr lang="en-US" sz="1400" dirty="0" err="1">
                <a:latin typeface="Segoe UI" panose="020B0502040204020203" pitchFamily="34" charset="0"/>
                <a:cs typeface="Segoe UI" panose="020B0502040204020203" pitchFamily="34" charset="0"/>
                <a:sym typeface="Wingdings" panose="05000000000000000000" pitchFamily="2" charset="2"/>
              </a:rPr>
              <a:t>ImageView</a:t>
            </a:r>
            <a:r>
              <a:rPr lang="en-US" sz="1400" dirty="0">
                <a:latin typeface="Segoe UI" panose="020B0502040204020203" pitchFamily="34" charset="0"/>
                <a:cs typeface="Segoe UI" panose="020B0502040204020203" pitchFamily="34" charset="0"/>
                <a:sym typeface="Wingdings" panose="05000000000000000000" pitchFamily="2" charset="2"/>
              </a:rPr>
              <a:t>).</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rPr>
              <a:t>getItemCount</a:t>
            </a:r>
            <a:r>
              <a:rPr lang="en-US" sz="1400" dirty="0">
                <a:latin typeface="Segoe UI" panose="020B0502040204020203" pitchFamily="34" charset="0"/>
                <a:cs typeface="Segoe UI" panose="020B0502040204020203" pitchFamily="34" charset="0"/>
              </a:rPr>
              <a:t>() </a:t>
            </a:r>
            <a:r>
              <a:rPr lang="en-US" sz="1400" dirty="0">
                <a:latin typeface="Segoe UI" panose="020B0502040204020203" pitchFamily="34" charset="0"/>
                <a:cs typeface="Segoe UI" panose="020B0502040204020203" pitchFamily="34" charset="0"/>
                <a:sym typeface="Wingdings" panose="05000000000000000000" pitchFamily="2" charset="2"/>
              </a:rPr>
              <a:t> </a:t>
            </a:r>
            <a:r>
              <a:rPr lang="en-US" sz="1400" dirty="0">
                <a:latin typeface="Segoe UI" panose="020B0502040204020203" pitchFamily="34" charset="0"/>
                <a:cs typeface="Segoe UI" panose="020B0502040204020203" pitchFamily="34" charset="0"/>
              </a:rPr>
              <a:t>Gets the size of the data set</a:t>
            </a:r>
            <a:endParaRPr lang="en-SG" sz="1400" dirty="0">
              <a:latin typeface="Segoe UI" panose="020B0502040204020203" pitchFamily="34" charset="0"/>
              <a:cs typeface="Segoe UI" panose="020B0502040204020203" pitchFamily="34" charset="0"/>
            </a:endParaRPr>
          </a:p>
        </p:txBody>
      </p:sp>
      <p:sp>
        <p:nvSpPr>
          <p:cNvPr id="23" name="Oval 22"/>
          <p:cNvSpPr/>
          <p:nvPr/>
        </p:nvSpPr>
        <p:spPr>
          <a:xfrm>
            <a:off x="7726852" y="570347"/>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View</a:t>
            </a:r>
          </a:p>
          <a:p>
            <a:pPr algn="ctr"/>
            <a:r>
              <a:rPr lang="en-US" sz="1200" dirty="0"/>
              <a:t>Model</a:t>
            </a:r>
            <a:endParaRPr lang="en-SG" sz="1200" dirty="0"/>
          </a:p>
        </p:txBody>
      </p:sp>
      <p:sp>
        <p:nvSpPr>
          <p:cNvPr id="24" name="Oval 23"/>
          <p:cNvSpPr/>
          <p:nvPr/>
        </p:nvSpPr>
        <p:spPr>
          <a:xfrm>
            <a:off x="355600" y="1962812"/>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View</a:t>
            </a:r>
          </a:p>
        </p:txBody>
      </p:sp>
    </p:spTree>
    <p:extLst>
      <p:ext uri="{BB962C8B-B14F-4D97-AF65-F5344CB8AC3E}">
        <p14:creationId xmlns:p14="http://schemas.microsoft.com/office/powerpoint/2010/main" val="3935265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Model vs. </a:t>
            </a:r>
            <a:r>
              <a:rPr lang="en-US" dirty="0" err="1"/>
              <a:t>Datasource</a:t>
            </a:r>
            <a:endParaRPr lang="en-SG" dirty="0"/>
          </a:p>
        </p:txBody>
      </p:sp>
      <p:sp>
        <p:nvSpPr>
          <p:cNvPr id="3" name="Content Placeholder 2"/>
          <p:cNvSpPr>
            <a:spLocks noGrp="1"/>
          </p:cNvSpPr>
          <p:nvPr>
            <p:ph idx="1"/>
          </p:nvPr>
        </p:nvSpPr>
        <p:spPr/>
        <p:txBody>
          <a:bodyPr/>
          <a:lstStyle/>
          <a:p>
            <a:r>
              <a:rPr lang="en-US" dirty="0"/>
              <a:t>Each model represents certain data you want in your app</a:t>
            </a:r>
          </a:p>
          <a:p>
            <a:pPr lvl="1"/>
            <a:r>
              <a:rPr lang="en-US" dirty="0"/>
              <a:t>e.g. Car model, Fruit model, House model</a:t>
            </a:r>
          </a:p>
          <a:p>
            <a:r>
              <a:rPr lang="en-US" dirty="0" err="1"/>
              <a:t>Datasource</a:t>
            </a:r>
            <a:r>
              <a:rPr lang="en-US" dirty="0"/>
              <a:t> is a separate class where you can create functions to handle different types of data models</a:t>
            </a:r>
            <a:endParaRPr lang="en-SG" dirty="0"/>
          </a:p>
        </p:txBody>
      </p:sp>
    </p:spTree>
    <p:extLst>
      <p:ext uri="{BB962C8B-B14F-4D97-AF65-F5344CB8AC3E}">
        <p14:creationId xmlns:p14="http://schemas.microsoft.com/office/powerpoint/2010/main" val="27589699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ADF61-2343-4150-8592-6E0680070EEA}"/>
              </a:ext>
            </a:extLst>
          </p:cNvPr>
          <p:cNvSpPr>
            <a:spLocks noGrp="1"/>
          </p:cNvSpPr>
          <p:nvPr>
            <p:ph type="title"/>
          </p:nvPr>
        </p:nvSpPr>
        <p:spPr/>
        <p:txBody>
          <a:bodyPr/>
          <a:lstStyle/>
          <a:p>
            <a:r>
              <a:rPr lang="en-SG" dirty="0"/>
              <a:t>Coding nuances that nobody really cares</a:t>
            </a:r>
          </a:p>
        </p:txBody>
      </p:sp>
      <p:sp>
        <p:nvSpPr>
          <p:cNvPr id="3" name="Content Placeholder 2">
            <a:extLst>
              <a:ext uri="{FF2B5EF4-FFF2-40B4-BE49-F238E27FC236}">
                <a16:creationId xmlns:a16="http://schemas.microsoft.com/office/drawing/2014/main" id="{A7912FF4-9187-4E0A-824C-E0D930645EAF}"/>
              </a:ext>
            </a:extLst>
          </p:cNvPr>
          <p:cNvSpPr>
            <a:spLocks noGrp="1"/>
          </p:cNvSpPr>
          <p:nvPr>
            <p:ph idx="1"/>
          </p:nvPr>
        </p:nvSpPr>
        <p:spPr/>
        <p:txBody>
          <a:bodyPr>
            <a:normAutofit/>
          </a:bodyPr>
          <a:lstStyle/>
          <a:p>
            <a:r>
              <a:rPr lang="en-SG" sz="2400" dirty="0"/>
              <a:t>Method or Function?</a:t>
            </a:r>
          </a:p>
          <a:p>
            <a:pPr lvl="1"/>
            <a:r>
              <a:rPr lang="en-SG" sz="2000" dirty="0"/>
              <a:t>A method presumes the existence of an object (i.e. defined within a class), while a function is free and independent.</a:t>
            </a:r>
          </a:p>
          <a:p>
            <a:r>
              <a:rPr lang="en-SG" sz="2400" dirty="0"/>
              <a:t>Parameter or Argument?</a:t>
            </a:r>
          </a:p>
          <a:p>
            <a:pPr lvl="1"/>
            <a:r>
              <a:rPr lang="en-US" sz="2000" dirty="0"/>
              <a:t>A parameter is variable declaration in the function/method definition. When the function/method is called, the arguments are the data you pass into its parameters.</a:t>
            </a:r>
            <a:endParaRPr lang="en-SG" sz="2000" dirty="0"/>
          </a:p>
        </p:txBody>
      </p:sp>
    </p:spTree>
    <p:extLst>
      <p:ext uri="{BB962C8B-B14F-4D97-AF65-F5344CB8AC3E}">
        <p14:creationId xmlns:p14="http://schemas.microsoft.com/office/powerpoint/2010/main" val="8316219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7268C-0A37-45CF-9EAB-464D9AEBB375}"/>
              </a:ext>
            </a:extLst>
          </p:cNvPr>
          <p:cNvSpPr>
            <a:spLocks noGrp="1"/>
          </p:cNvSpPr>
          <p:nvPr>
            <p:ph type="title"/>
          </p:nvPr>
        </p:nvSpPr>
        <p:spPr/>
        <p:txBody>
          <a:bodyPr/>
          <a:lstStyle/>
          <a:p>
            <a:r>
              <a:rPr lang="en-SG" dirty="0"/>
              <a:t>Gradle</a:t>
            </a:r>
          </a:p>
        </p:txBody>
      </p:sp>
      <p:sp>
        <p:nvSpPr>
          <p:cNvPr id="3" name="Content Placeholder 2">
            <a:extLst>
              <a:ext uri="{FF2B5EF4-FFF2-40B4-BE49-F238E27FC236}">
                <a16:creationId xmlns:a16="http://schemas.microsoft.com/office/drawing/2014/main" id="{AE86A37D-CE0D-4D61-A496-5876950F08FF}"/>
              </a:ext>
            </a:extLst>
          </p:cNvPr>
          <p:cNvSpPr>
            <a:spLocks noGrp="1"/>
          </p:cNvSpPr>
          <p:nvPr>
            <p:ph idx="1"/>
          </p:nvPr>
        </p:nvSpPr>
        <p:spPr/>
        <p:txBody>
          <a:bodyPr/>
          <a:lstStyle/>
          <a:p>
            <a:endParaRPr lang="en-SG"/>
          </a:p>
        </p:txBody>
      </p:sp>
    </p:spTree>
    <p:extLst>
      <p:ext uri="{BB962C8B-B14F-4D97-AF65-F5344CB8AC3E}">
        <p14:creationId xmlns:p14="http://schemas.microsoft.com/office/powerpoint/2010/main" val="17189405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8E556B-5B6F-4633-A2EB-7FE36D45D86C}"/>
              </a:ext>
            </a:extLst>
          </p:cNvPr>
          <p:cNvSpPr>
            <a:spLocks noGrp="1"/>
          </p:cNvSpPr>
          <p:nvPr>
            <p:ph type="title"/>
          </p:nvPr>
        </p:nvSpPr>
        <p:spPr/>
        <p:txBody>
          <a:bodyPr/>
          <a:lstStyle/>
          <a:p>
            <a:r>
              <a:rPr lang="en-SG" dirty="0"/>
              <a:t>What is it??? Too abstract???</a:t>
            </a:r>
          </a:p>
        </p:txBody>
      </p:sp>
      <p:sp>
        <p:nvSpPr>
          <p:cNvPr id="3" name="Content Placeholder 2">
            <a:extLst>
              <a:ext uri="{FF2B5EF4-FFF2-40B4-BE49-F238E27FC236}">
                <a16:creationId xmlns:a16="http://schemas.microsoft.com/office/drawing/2014/main" id="{3623A9E3-951A-43B9-A39D-3EAC2F574922}"/>
              </a:ext>
            </a:extLst>
          </p:cNvPr>
          <p:cNvSpPr>
            <a:spLocks noGrp="1"/>
          </p:cNvSpPr>
          <p:nvPr>
            <p:ph idx="1"/>
          </p:nvPr>
        </p:nvSpPr>
        <p:spPr/>
        <p:txBody>
          <a:bodyPr/>
          <a:lstStyle/>
          <a:p>
            <a:r>
              <a:rPr lang="en-SG" dirty="0"/>
              <a:t>Releasing mobile apps without the right tooling is a complex process</a:t>
            </a:r>
          </a:p>
          <a:p>
            <a:r>
              <a:rPr lang="en-SG" dirty="0"/>
              <a:t>A mobile-focused CI/CD tool considers the unique challenges of building for mobile and has mobile-first features that help you build, test, and deploy mobile apps faster and more efficiently</a:t>
            </a:r>
          </a:p>
        </p:txBody>
      </p:sp>
      <p:pic>
        <p:nvPicPr>
          <p:cNvPr id="5" name="Picture 4">
            <a:extLst>
              <a:ext uri="{FF2B5EF4-FFF2-40B4-BE49-F238E27FC236}">
                <a16:creationId xmlns:a16="http://schemas.microsoft.com/office/drawing/2014/main" id="{314E9E67-3284-4D9A-BE30-A7E239A8DAB2}"/>
              </a:ext>
            </a:extLst>
          </p:cNvPr>
          <p:cNvPicPr>
            <a:picLocks noChangeAspect="1"/>
          </p:cNvPicPr>
          <p:nvPr/>
        </p:nvPicPr>
        <p:blipFill>
          <a:blip r:embed="rId2"/>
          <a:stretch>
            <a:fillRect/>
          </a:stretch>
        </p:blipFill>
        <p:spPr>
          <a:xfrm>
            <a:off x="2068481" y="3899077"/>
            <a:ext cx="8055038" cy="2133785"/>
          </a:xfrm>
          <a:prstGeom prst="rect">
            <a:avLst/>
          </a:prstGeom>
        </p:spPr>
      </p:pic>
    </p:spTree>
    <p:extLst>
      <p:ext uri="{BB962C8B-B14F-4D97-AF65-F5344CB8AC3E}">
        <p14:creationId xmlns:p14="http://schemas.microsoft.com/office/powerpoint/2010/main" val="27032118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EBC8D79-2182-445E-9A49-630601D5D1D1}"/>
              </a:ext>
            </a:extLst>
          </p:cNvPr>
          <p:cNvPicPr>
            <a:picLocks noChangeAspect="1"/>
          </p:cNvPicPr>
          <p:nvPr/>
        </p:nvPicPr>
        <p:blipFill>
          <a:blip r:embed="rId2"/>
          <a:stretch>
            <a:fillRect/>
          </a:stretch>
        </p:blipFill>
        <p:spPr>
          <a:xfrm>
            <a:off x="2182791" y="1192336"/>
            <a:ext cx="7826418" cy="4473328"/>
          </a:xfrm>
          <a:prstGeom prst="rect">
            <a:avLst/>
          </a:prstGeom>
        </p:spPr>
      </p:pic>
    </p:spTree>
    <p:extLst>
      <p:ext uri="{BB962C8B-B14F-4D97-AF65-F5344CB8AC3E}">
        <p14:creationId xmlns:p14="http://schemas.microsoft.com/office/powerpoint/2010/main" val="21214709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68E7847-9FDA-401C-B3F9-95A075E9007B}"/>
              </a:ext>
            </a:extLst>
          </p:cNvPr>
          <p:cNvPicPr>
            <a:picLocks noChangeAspect="1"/>
          </p:cNvPicPr>
          <p:nvPr/>
        </p:nvPicPr>
        <p:blipFill>
          <a:blip r:embed="rId2"/>
          <a:stretch>
            <a:fillRect/>
          </a:stretch>
        </p:blipFill>
        <p:spPr>
          <a:xfrm>
            <a:off x="3142994" y="1874385"/>
            <a:ext cx="5906012" cy="3109229"/>
          </a:xfrm>
          <a:prstGeom prst="rect">
            <a:avLst/>
          </a:prstGeom>
        </p:spPr>
      </p:pic>
    </p:spTree>
    <p:extLst>
      <p:ext uri="{BB962C8B-B14F-4D97-AF65-F5344CB8AC3E}">
        <p14:creationId xmlns:p14="http://schemas.microsoft.com/office/powerpoint/2010/main" val="30538822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68E7847-9FDA-401C-B3F9-95A075E9007B}"/>
              </a:ext>
            </a:extLst>
          </p:cNvPr>
          <p:cNvPicPr>
            <a:picLocks noChangeAspect="1"/>
          </p:cNvPicPr>
          <p:nvPr/>
        </p:nvPicPr>
        <p:blipFill>
          <a:blip r:embed="rId3"/>
          <a:stretch>
            <a:fillRect/>
          </a:stretch>
        </p:blipFill>
        <p:spPr>
          <a:xfrm>
            <a:off x="3142994" y="1874385"/>
            <a:ext cx="5906012" cy="3109229"/>
          </a:xfrm>
          <a:prstGeom prst="rect">
            <a:avLst/>
          </a:prstGeom>
        </p:spPr>
      </p:pic>
    </p:spTree>
    <p:extLst>
      <p:ext uri="{BB962C8B-B14F-4D97-AF65-F5344CB8AC3E}">
        <p14:creationId xmlns:p14="http://schemas.microsoft.com/office/powerpoint/2010/main" val="398411128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573BF-2ADD-4A4B-BC81-0B801B9F4733}"/>
              </a:ext>
            </a:extLst>
          </p:cNvPr>
          <p:cNvSpPr>
            <a:spLocks noGrp="1"/>
          </p:cNvSpPr>
          <p:nvPr>
            <p:ph type="title"/>
          </p:nvPr>
        </p:nvSpPr>
        <p:spPr/>
        <p:txBody>
          <a:bodyPr/>
          <a:lstStyle/>
          <a:p>
            <a:r>
              <a:rPr lang="en-SG" dirty="0"/>
              <a:t>Different CI/CD Approaches???</a:t>
            </a:r>
          </a:p>
        </p:txBody>
      </p:sp>
      <p:sp>
        <p:nvSpPr>
          <p:cNvPr id="3" name="Content Placeholder 2">
            <a:extLst>
              <a:ext uri="{FF2B5EF4-FFF2-40B4-BE49-F238E27FC236}">
                <a16:creationId xmlns:a16="http://schemas.microsoft.com/office/drawing/2014/main" id="{E7493389-75CB-4628-BE01-11A9182F096D}"/>
              </a:ext>
            </a:extLst>
          </p:cNvPr>
          <p:cNvSpPr>
            <a:spLocks noGrp="1"/>
          </p:cNvSpPr>
          <p:nvPr>
            <p:ph idx="1"/>
          </p:nvPr>
        </p:nvSpPr>
        <p:spPr/>
        <p:txBody>
          <a:bodyPr/>
          <a:lstStyle/>
          <a:p>
            <a:r>
              <a:rPr lang="en-SG" dirty="0"/>
              <a:t>Jenkins</a:t>
            </a:r>
          </a:p>
          <a:p>
            <a:r>
              <a:rPr lang="en-SG" dirty="0"/>
              <a:t>GitHub Actions</a:t>
            </a:r>
          </a:p>
          <a:p>
            <a:r>
              <a:rPr lang="en-SG" dirty="0"/>
              <a:t>Fastlane</a:t>
            </a:r>
          </a:p>
          <a:p>
            <a:r>
              <a:rPr lang="en-SG" dirty="0" err="1"/>
              <a:t>CircleCI</a:t>
            </a:r>
            <a:endParaRPr lang="en-SG" dirty="0"/>
          </a:p>
          <a:p>
            <a:r>
              <a:rPr lang="en-SG" dirty="0"/>
              <a:t>GitLab</a:t>
            </a:r>
          </a:p>
        </p:txBody>
      </p:sp>
    </p:spTree>
    <p:extLst>
      <p:ext uri="{BB962C8B-B14F-4D97-AF65-F5344CB8AC3E}">
        <p14:creationId xmlns:p14="http://schemas.microsoft.com/office/powerpoint/2010/main" val="20381170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More concepts</a:t>
            </a:r>
            <a:endParaRPr lang="en-SG" dirty="0"/>
          </a:p>
        </p:txBody>
      </p:sp>
      <p:sp>
        <p:nvSpPr>
          <p:cNvPr id="3" name="Content Placeholder 2"/>
          <p:cNvSpPr>
            <a:spLocks noGrp="1"/>
          </p:cNvSpPr>
          <p:nvPr>
            <p:ph idx="1"/>
          </p:nvPr>
        </p:nvSpPr>
        <p:spPr/>
        <p:txBody>
          <a:bodyPr/>
          <a:lstStyle/>
          <a:p>
            <a:r>
              <a:rPr lang="en-US" dirty="0"/>
              <a:t>Clean Architecture</a:t>
            </a:r>
          </a:p>
          <a:p>
            <a:r>
              <a:rPr lang="en-US" dirty="0"/>
              <a:t>MVVM Architecture</a:t>
            </a:r>
          </a:p>
          <a:p>
            <a:pPr lvl="1"/>
            <a:r>
              <a:rPr lang="en-US" dirty="0"/>
              <a:t>Single Source of Truth </a:t>
            </a:r>
            <a:r>
              <a:rPr lang="en-US" dirty="0">
                <a:sym typeface="Wingdings" panose="05000000000000000000" pitchFamily="2" charset="2"/>
              </a:rPr>
              <a:t> to implement the repository pattern</a:t>
            </a:r>
            <a:endParaRPr lang="en-US" dirty="0"/>
          </a:p>
          <a:p>
            <a:r>
              <a:rPr lang="en-US" dirty="0"/>
              <a:t>Dependency Injection</a:t>
            </a:r>
          </a:p>
          <a:p>
            <a:r>
              <a:rPr lang="en-US" dirty="0">
                <a:hlinkClick r:id="rId2"/>
              </a:rPr>
              <a:t>https://developer.android.com/topic/architecture#recommended-app-arch</a:t>
            </a:r>
            <a:endParaRPr lang="en-US" dirty="0"/>
          </a:p>
          <a:p>
            <a:r>
              <a:rPr lang="en-US" dirty="0"/>
              <a:t>Data Access Object (DAO)</a:t>
            </a:r>
          </a:p>
          <a:p>
            <a:r>
              <a:rPr lang="en-US" dirty="0"/>
              <a:t>Why need </a:t>
            </a:r>
            <a:r>
              <a:rPr lang="en-US" dirty="0" err="1"/>
              <a:t>contentDescription</a:t>
            </a:r>
            <a:r>
              <a:rPr lang="en-US" dirty="0"/>
              <a:t> for Views???</a:t>
            </a:r>
          </a:p>
        </p:txBody>
      </p:sp>
    </p:spTree>
    <p:extLst>
      <p:ext uri="{BB962C8B-B14F-4D97-AF65-F5344CB8AC3E}">
        <p14:creationId xmlns:p14="http://schemas.microsoft.com/office/powerpoint/2010/main" val="18469387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1163</TotalTime>
  <Words>2652</Words>
  <Application>Microsoft Office PowerPoint</Application>
  <PresentationFormat>Widescreen</PresentationFormat>
  <Paragraphs>217</Paragraphs>
  <Slides>31</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vt:i4>
      </vt:variant>
    </vt:vector>
  </HeadingPairs>
  <TitlesOfParts>
    <vt:vector size="38" baseType="lpstr">
      <vt:lpstr>Arial</vt:lpstr>
      <vt:lpstr>Calibri</vt:lpstr>
      <vt:lpstr>Calibri Light</vt:lpstr>
      <vt:lpstr>Consolas</vt:lpstr>
      <vt:lpstr>Lucida Console</vt:lpstr>
      <vt:lpstr>Segoe UI</vt:lpstr>
      <vt:lpstr>Office Theme</vt:lpstr>
      <vt:lpstr>Android Basics in Kotlin</vt:lpstr>
      <vt:lpstr>Inheritance</vt:lpstr>
      <vt:lpstr>Inheritance</vt:lpstr>
      <vt:lpstr>Vocabulary</vt:lpstr>
      <vt:lpstr>Vocabulary</vt:lpstr>
      <vt:lpstr>Program entry point</vt:lpstr>
      <vt:lpstr>Unit?</vt:lpstr>
      <vt:lpstr>Generics???</vt:lpstr>
      <vt:lpstr>if-else… or when?</vt:lpstr>
      <vt:lpstr>Auto Imports</vt:lpstr>
      <vt:lpstr>Testing Pyramid</vt:lpstr>
      <vt:lpstr>Automated Testing</vt:lpstr>
      <vt:lpstr>Automated Testing</vt:lpstr>
      <vt:lpstr>Unit Tests</vt:lpstr>
      <vt:lpstr>Unit Tests</vt:lpstr>
      <vt:lpstr>Unit Tests</vt:lpstr>
      <vt:lpstr>Debugging</vt:lpstr>
      <vt:lpstr>Log Levels</vt:lpstr>
      <vt:lpstr>Activity Display Flow</vt:lpstr>
      <vt:lpstr>Activity Display Flow</vt:lpstr>
      <vt:lpstr>Adapter</vt:lpstr>
      <vt:lpstr>PowerPoint Presentation</vt:lpstr>
      <vt:lpstr>Model vs. Datasource</vt:lpstr>
      <vt:lpstr>Coding nuances that nobody really cares</vt:lpstr>
      <vt:lpstr>Gradle</vt:lpstr>
      <vt:lpstr>What is it??? Too abstract???</vt:lpstr>
      <vt:lpstr>PowerPoint Presentation</vt:lpstr>
      <vt:lpstr>PowerPoint Presentation</vt:lpstr>
      <vt:lpstr>PowerPoint Presentation</vt:lpstr>
      <vt:lpstr>Different CI/CD Approaches???</vt:lpstr>
      <vt:lpstr>More concepts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Android Activity Lifecycle</dc:title>
  <dc:creator>DSTA Devt 01</dc:creator>
  <cp:lastModifiedBy>Corliss Chua</cp:lastModifiedBy>
  <cp:revision>178</cp:revision>
  <dcterms:created xsi:type="dcterms:W3CDTF">2022-05-30T08:41:58Z</dcterms:created>
  <dcterms:modified xsi:type="dcterms:W3CDTF">2022-06-11T17:07:42Z</dcterms:modified>
</cp:coreProperties>
</file>