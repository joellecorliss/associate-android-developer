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6"/>
  </p:notesMasterIdLst>
  <p:sldIdLst>
    <p:sldId id="256" r:id="rId2"/>
    <p:sldId id="262" r:id="rId3"/>
    <p:sldId id="263" r:id="rId4"/>
    <p:sldId id="272" r:id="rId5"/>
    <p:sldId id="273" r:id="rId6"/>
    <p:sldId id="281" r:id="rId7"/>
    <p:sldId id="275" r:id="rId8"/>
    <p:sldId id="276" r:id="rId9"/>
    <p:sldId id="294" r:id="rId10"/>
    <p:sldId id="295" r:id="rId11"/>
    <p:sldId id="290" r:id="rId12"/>
    <p:sldId id="291" r:id="rId13"/>
    <p:sldId id="274" r:id="rId14"/>
    <p:sldId id="288" r:id="rId15"/>
    <p:sldId id="293" r:id="rId16"/>
    <p:sldId id="306" r:id="rId17"/>
    <p:sldId id="305" r:id="rId18"/>
    <p:sldId id="259" r:id="rId19"/>
    <p:sldId id="279" r:id="rId20"/>
    <p:sldId id="278" r:id="rId21"/>
    <p:sldId id="287" r:id="rId22"/>
    <p:sldId id="257" r:id="rId23"/>
    <p:sldId id="258" r:id="rId24"/>
    <p:sldId id="260" r:id="rId25"/>
    <p:sldId id="307" r:id="rId26"/>
    <p:sldId id="292" r:id="rId27"/>
    <p:sldId id="304" r:id="rId28"/>
    <p:sldId id="296" r:id="rId29"/>
    <p:sldId id="297" r:id="rId30"/>
    <p:sldId id="298" r:id="rId31"/>
    <p:sldId id="308" r:id="rId32"/>
    <p:sldId id="277" r:id="rId33"/>
    <p:sldId id="280" r:id="rId34"/>
    <p:sldId id="299" r:id="rId35"/>
    <p:sldId id="300" r:id="rId36"/>
    <p:sldId id="301" r:id="rId37"/>
    <p:sldId id="284" r:id="rId38"/>
    <p:sldId id="264" r:id="rId39"/>
    <p:sldId id="271" r:id="rId40"/>
    <p:sldId id="309" r:id="rId41"/>
    <p:sldId id="265" r:id="rId42"/>
    <p:sldId id="289" r:id="rId43"/>
    <p:sldId id="302" r:id="rId44"/>
    <p:sldId id="303" r:id="rId45"/>
    <p:sldId id="283" r:id="rId46"/>
    <p:sldId id="282" r:id="rId47"/>
    <p:sldId id="285" r:id="rId48"/>
    <p:sldId id="286" r:id="rId49"/>
    <p:sldId id="267" r:id="rId50"/>
    <p:sldId id="268" r:id="rId51"/>
    <p:sldId id="269" r:id="rId52"/>
    <p:sldId id="270" r:id="rId53"/>
    <p:sldId id="266" r:id="rId54"/>
    <p:sldId id="261" r:id="rId5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83EB77BB-446C-4B58-A750-248E53529936}">
          <p14:sldIdLst>
            <p14:sldId id="256"/>
            <p14:sldId id="262"/>
            <p14:sldId id="263"/>
            <p14:sldId id="272"/>
            <p14:sldId id="273"/>
            <p14:sldId id="281"/>
            <p14:sldId id="275"/>
            <p14:sldId id="276"/>
            <p14:sldId id="294"/>
            <p14:sldId id="295"/>
            <p14:sldId id="290"/>
            <p14:sldId id="291"/>
            <p14:sldId id="274"/>
            <p14:sldId id="288"/>
            <p14:sldId id="293"/>
            <p14:sldId id="306"/>
            <p14:sldId id="305"/>
            <p14:sldId id="259"/>
          </p14:sldIdLst>
        </p14:section>
        <p14:section name="Gradle" id="{8862B42C-AB28-4740-92D7-08BBDECDF7E4}">
          <p14:sldIdLst>
            <p14:sldId id="279"/>
          </p14:sldIdLst>
        </p14:section>
        <p14:section name="Android Studio" id="{A5880AA5-B5CC-4094-8340-7A2E235FF0C1}">
          <p14:sldIdLst>
            <p14:sldId id="278"/>
            <p14:sldId id="287"/>
          </p14:sldIdLst>
        </p14:section>
        <p14:section name="Adapter &gt; ViewHolder &gt; RecyclerView" id="{ED2873D2-7274-4F37-9EA1-29B6BCF376E0}">
          <p14:sldIdLst>
            <p14:sldId id="257"/>
            <p14:sldId id="258"/>
            <p14:sldId id="260"/>
            <p14:sldId id="307"/>
            <p14:sldId id="292"/>
            <p14:sldId id="304"/>
          </p14:sldIdLst>
        </p14:section>
        <p14:section name="Resources &gt; Layout &gt; Activity" id="{075AA403-EAF5-4876-A8D8-FA1693109801}">
          <p14:sldIdLst>
            <p14:sldId id="296"/>
            <p14:sldId id="297"/>
            <p14:sldId id="298"/>
            <p14:sldId id="308"/>
            <p14:sldId id="277"/>
            <p14:sldId id="280"/>
            <p14:sldId id="299"/>
            <p14:sldId id="300"/>
            <p14:sldId id="301"/>
          </p14:sldIdLst>
        </p14:section>
        <p14:section name="All About Testing and Debugging" id="{1760EBF3-D43D-40CE-8F81-D3B0E7B48B84}">
          <p14:sldIdLst>
            <p14:sldId id="284"/>
            <p14:sldId id="264"/>
            <p14:sldId id="271"/>
            <p14:sldId id="309"/>
            <p14:sldId id="265"/>
            <p14:sldId id="289"/>
            <p14:sldId id="302"/>
            <p14:sldId id="303"/>
            <p14:sldId id="283"/>
            <p14:sldId id="282"/>
            <p14:sldId id="285"/>
            <p14:sldId id="286"/>
          </p14:sldIdLst>
        </p14:section>
        <p14:section name="CI/CD" id="{E6169A93-43D0-47AB-A84E-FB0E09D06245}">
          <p14:sldIdLst>
            <p14:sldId id="267"/>
            <p14:sldId id="268"/>
            <p14:sldId id="269"/>
            <p14:sldId id="270"/>
            <p14:sldId id="266"/>
            <p14:sldId id="261"/>
          </p14:sldIdLst>
        </p14:section>
      </p14:sectionLst>
    </p:ex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Corliss Chua" initials="CC" lastIdx="1" clrIdx="0">
    <p:extLst>
      <p:ext uri="{19B8F6BF-5375-455C-9EA6-DF929625EA0E}">
        <p15:presenceInfo xmlns:p15="http://schemas.microsoft.com/office/powerpoint/2012/main" userId="3166d17b198545c5"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F169"/>
    <a:srgbClr val="00FFFF"/>
    <a:srgbClr val="00FF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920" autoAdjust="0"/>
    <p:restoredTop sz="92415" autoAdjust="0"/>
  </p:normalViewPr>
  <p:slideViewPr>
    <p:cSldViewPr snapToGrid="0">
      <p:cViewPr varScale="1">
        <p:scale>
          <a:sx n="79" d="100"/>
          <a:sy n="79" d="100"/>
        </p:scale>
        <p:origin x="1037"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tableStyles" Target="tableStyle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commentAuthors" Target="commentAuthor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0B40D95-F8C5-4C4C-B8B1-7273D807A246}" type="datetimeFigureOut">
              <a:rPr lang="en-SG" smtClean="0"/>
              <a:t>24/6/2022</a:t>
            </a:fld>
            <a:endParaRPr lang="en-S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292F0F-6BB4-4714-BDBB-674EE16F5C0C}" type="slidenum">
              <a:rPr lang="en-SG" smtClean="0"/>
              <a:t>‹#›</a:t>
            </a:fld>
            <a:endParaRPr lang="en-SG"/>
          </a:p>
        </p:txBody>
      </p:sp>
    </p:spTree>
    <p:extLst>
      <p:ext uri="{BB962C8B-B14F-4D97-AF65-F5344CB8AC3E}">
        <p14:creationId xmlns:p14="http://schemas.microsoft.com/office/powerpoint/2010/main" val="10689063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0D292F0F-6BB4-4714-BDBB-674EE16F5C0C}" type="slidenum">
              <a:rPr lang="en-SG" smtClean="0"/>
              <a:t>23</a:t>
            </a:fld>
            <a:endParaRPr lang="en-SG"/>
          </a:p>
        </p:txBody>
      </p:sp>
    </p:spTree>
    <p:extLst>
      <p:ext uri="{BB962C8B-B14F-4D97-AF65-F5344CB8AC3E}">
        <p14:creationId xmlns:p14="http://schemas.microsoft.com/office/powerpoint/2010/main" val="15185387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dirty="0"/>
              <a:t>https://www.youtube.com/watch?v=BDIOx1QySQs</a:t>
            </a:r>
          </a:p>
        </p:txBody>
      </p:sp>
      <p:sp>
        <p:nvSpPr>
          <p:cNvPr id="4" name="Slide Number Placeholder 3"/>
          <p:cNvSpPr>
            <a:spLocks noGrp="1"/>
          </p:cNvSpPr>
          <p:nvPr>
            <p:ph type="sldNum" sz="quarter" idx="5"/>
          </p:nvPr>
        </p:nvSpPr>
        <p:spPr/>
        <p:txBody>
          <a:bodyPr/>
          <a:lstStyle/>
          <a:p>
            <a:fld id="{0D292F0F-6BB4-4714-BDBB-674EE16F5C0C}" type="slidenum">
              <a:rPr lang="en-SG" smtClean="0"/>
              <a:t>52</a:t>
            </a:fld>
            <a:endParaRPr lang="en-SG"/>
          </a:p>
        </p:txBody>
      </p:sp>
    </p:spTree>
    <p:extLst>
      <p:ext uri="{BB962C8B-B14F-4D97-AF65-F5344CB8AC3E}">
        <p14:creationId xmlns:p14="http://schemas.microsoft.com/office/powerpoint/2010/main" val="207440812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SG"/>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SG"/>
          </a:p>
        </p:txBody>
      </p:sp>
      <p:sp>
        <p:nvSpPr>
          <p:cNvPr id="4" name="Date Placeholder 3"/>
          <p:cNvSpPr>
            <a:spLocks noGrp="1"/>
          </p:cNvSpPr>
          <p:nvPr>
            <p:ph type="dt" sz="half" idx="10"/>
          </p:nvPr>
        </p:nvSpPr>
        <p:spPr/>
        <p:txBody>
          <a:bodyPr/>
          <a:lstStyle/>
          <a:p>
            <a:fld id="{D0255EFB-A077-440B-BB8F-918E450D588D}" type="datetimeFigureOut">
              <a:rPr lang="en-SG" smtClean="0"/>
              <a:t>24/6/2022</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30051893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SG"/>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p:cNvSpPr>
            <a:spLocks noGrp="1"/>
          </p:cNvSpPr>
          <p:nvPr>
            <p:ph type="dt" sz="half" idx="10"/>
          </p:nvPr>
        </p:nvSpPr>
        <p:spPr/>
        <p:txBody>
          <a:bodyPr/>
          <a:lstStyle/>
          <a:p>
            <a:fld id="{D0255EFB-A077-440B-BB8F-918E450D588D}" type="datetimeFigureOut">
              <a:rPr lang="en-SG" smtClean="0"/>
              <a:t>24/6/2022</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698913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SG"/>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D0255EFB-A077-440B-BB8F-918E450D588D}" type="datetimeFigureOut">
              <a:rPr lang="en-SG" smtClean="0"/>
              <a:t>24/6/2022</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3501631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SG"/>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Date Placeholder 4"/>
          <p:cNvSpPr>
            <a:spLocks noGrp="1"/>
          </p:cNvSpPr>
          <p:nvPr>
            <p:ph type="dt" sz="half" idx="10"/>
          </p:nvPr>
        </p:nvSpPr>
        <p:spPr/>
        <p:txBody>
          <a:bodyPr/>
          <a:lstStyle/>
          <a:p>
            <a:fld id="{D0255EFB-A077-440B-BB8F-918E450D588D}" type="datetimeFigureOut">
              <a:rPr lang="en-SG" smtClean="0"/>
              <a:t>24/6/2022</a:t>
            </a:fld>
            <a:endParaRPr lang="en-SG"/>
          </a:p>
        </p:txBody>
      </p:sp>
      <p:sp>
        <p:nvSpPr>
          <p:cNvPr id="6" name="Footer Placeholder 5"/>
          <p:cNvSpPr>
            <a:spLocks noGrp="1"/>
          </p:cNvSpPr>
          <p:nvPr>
            <p:ph type="ftr" sz="quarter" idx="11"/>
          </p:nvPr>
        </p:nvSpPr>
        <p:spPr/>
        <p:txBody>
          <a:bodyPr/>
          <a:lstStyle/>
          <a:p>
            <a:endParaRPr lang="en-SG"/>
          </a:p>
        </p:txBody>
      </p:sp>
      <p:sp>
        <p:nvSpPr>
          <p:cNvPr id="7" name="Slide Number Placeholder 6"/>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7367560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SG"/>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7" name="Date Placeholder 6"/>
          <p:cNvSpPr>
            <a:spLocks noGrp="1"/>
          </p:cNvSpPr>
          <p:nvPr>
            <p:ph type="dt" sz="half" idx="10"/>
          </p:nvPr>
        </p:nvSpPr>
        <p:spPr/>
        <p:txBody>
          <a:bodyPr/>
          <a:lstStyle/>
          <a:p>
            <a:fld id="{D0255EFB-A077-440B-BB8F-918E450D588D}" type="datetimeFigureOut">
              <a:rPr lang="en-SG" smtClean="0"/>
              <a:t>24/6/2022</a:t>
            </a:fld>
            <a:endParaRPr lang="en-SG"/>
          </a:p>
        </p:txBody>
      </p:sp>
      <p:sp>
        <p:nvSpPr>
          <p:cNvPr id="8" name="Footer Placeholder 7"/>
          <p:cNvSpPr>
            <a:spLocks noGrp="1"/>
          </p:cNvSpPr>
          <p:nvPr>
            <p:ph type="ftr" sz="quarter" idx="11"/>
          </p:nvPr>
        </p:nvSpPr>
        <p:spPr/>
        <p:txBody>
          <a:bodyPr/>
          <a:lstStyle/>
          <a:p>
            <a:endParaRPr lang="en-SG"/>
          </a:p>
        </p:txBody>
      </p:sp>
      <p:sp>
        <p:nvSpPr>
          <p:cNvPr id="9" name="Slide Number Placeholder 8"/>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07435108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SG"/>
          </a:p>
        </p:txBody>
      </p:sp>
      <p:sp>
        <p:nvSpPr>
          <p:cNvPr id="3" name="Date Placeholder 2"/>
          <p:cNvSpPr>
            <a:spLocks noGrp="1"/>
          </p:cNvSpPr>
          <p:nvPr>
            <p:ph type="dt" sz="half" idx="10"/>
          </p:nvPr>
        </p:nvSpPr>
        <p:spPr/>
        <p:txBody>
          <a:bodyPr/>
          <a:lstStyle/>
          <a:p>
            <a:fld id="{D0255EFB-A077-440B-BB8F-918E450D588D}" type="datetimeFigureOut">
              <a:rPr lang="en-SG" smtClean="0"/>
              <a:t>24/6/2022</a:t>
            </a:fld>
            <a:endParaRPr lang="en-SG"/>
          </a:p>
        </p:txBody>
      </p:sp>
      <p:sp>
        <p:nvSpPr>
          <p:cNvPr id="4" name="Footer Placeholder 3"/>
          <p:cNvSpPr>
            <a:spLocks noGrp="1"/>
          </p:cNvSpPr>
          <p:nvPr>
            <p:ph type="ftr" sz="quarter" idx="11"/>
          </p:nvPr>
        </p:nvSpPr>
        <p:spPr/>
        <p:txBody>
          <a:bodyPr/>
          <a:lstStyle/>
          <a:p>
            <a:endParaRPr lang="en-SG"/>
          </a:p>
        </p:txBody>
      </p:sp>
      <p:sp>
        <p:nvSpPr>
          <p:cNvPr id="5" name="Slide Number Placeholder 4"/>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4214361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0255EFB-A077-440B-BB8F-918E450D588D}" type="datetimeFigureOut">
              <a:rPr lang="en-SG" smtClean="0"/>
              <a:t>24/6/2022</a:t>
            </a:fld>
            <a:endParaRPr lang="en-SG"/>
          </a:p>
        </p:txBody>
      </p:sp>
      <p:sp>
        <p:nvSpPr>
          <p:cNvPr id="3" name="Footer Placeholder 2"/>
          <p:cNvSpPr>
            <a:spLocks noGrp="1"/>
          </p:cNvSpPr>
          <p:nvPr>
            <p:ph type="ftr" sz="quarter" idx="11"/>
          </p:nvPr>
        </p:nvSpPr>
        <p:spPr/>
        <p:txBody>
          <a:bodyPr/>
          <a:lstStyle/>
          <a:p>
            <a:endParaRPr lang="en-SG"/>
          </a:p>
        </p:txBody>
      </p:sp>
      <p:sp>
        <p:nvSpPr>
          <p:cNvPr id="4" name="Slide Number Placeholder 3"/>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5510834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D0255EFB-A077-440B-BB8F-918E450D588D}" type="datetimeFigureOut">
              <a:rPr lang="en-SG" smtClean="0"/>
              <a:t>24/6/2022</a:t>
            </a:fld>
            <a:endParaRPr lang="en-SG"/>
          </a:p>
        </p:txBody>
      </p:sp>
      <p:sp>
        <p:nvSpPr>
          <p:cNvPr id="6" name="Footer Placeholder 5"/>
          <p:cNvSpPr>
            <a:spLocks noGrp="1"/>
          </p:cNvSpPr>
          <p:nvPr>
            <p:ph type="ftr" sz="quarter" idx="11"/>
          </p:nvPr>
        </p:nvSpPr>
        <p:spPr/>
        <p:txBody>
          <a:bodyPr/>
          <a:lstStyle/>
          <a:p>
            <a:endParaRPr lang="en-SG"/>
          </a:p>
        </p:txBody>
      </p:sp>
      <p:sp>
        <p:nvSpPr>
          <p:cNvPr id="7" name="Slide Number Placeholder 6"/>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315854943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SG"/>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D0255EFB-A077-440B-BB8F-918E450D588D}" type="datetimeFigureOut">
              <a:rPr lang="en-SG" smtClean="0"/>
              <a:t>24/6/2022</a:t>
            </a:fld>
            <a:endParaRPr lang="en-SG"/>
          </a:p>
        </p:txBody>
      </p:sp>
      <p:sp>
        <p:nvSpPr>
          <p:cNvPr id="6" name="Footer Placeholder 5"/>
          <p:cNvSpPr>
            <a:spLocks noGrp="1"/>
          </p:cNvSpPr>
          <p:nvPr>
            <p:ph type="ftr" sz="quarter" idx="11"/>
          </p:nvPr>
        </p:nvSpPr>
        <p:spPr/>
        <p:txBody>
          <a:bodyPr/>
          <a:lstStyle/>
          <a:p>
            <a:endParaRPr lang="en-SG"/>
          </a:p>
        </p:txBody>
      </p:sp>
      <p:sp>
        <p:nvSpPr>
          <p:cNvPr id="7" name="Slide Number Placeholder 6"/>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0276045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SG"/>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p:cNvSpPr>
            <a:spLocks noGrp="1"/>
          </p:cNvSpPr>
          <p:nvPr>
            <p:ph type="dt" sz="half" idx="10"/>
          </p:nvPr>
        </p:nvSpPr>
        <p:spPr/>
        <p:txBody>
          <a:bodyPr/>
          <a:lstStyle/>
          <a:p>
            <a:fld id="{D0255EFB-A077-440B-BB8F-918E450D588D}" type="datetimeFigureOut">
              <a:rPr lang="en-SG" smtClean="0"/>
              <a:t>24/6/2022</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3602378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SG"/>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p:cNvSpPr>
            <a:spLocks noGrp="1"/>
          </p:cNvSpPr>
          <p:nvPr>
            <p:ph type="dt" sz="half" idx="10"/>
          </p:nvPr>
        </p:nvSpPr>
        <p:spPr/>
        <p:txBody>
          <a:bodyPr/>
          <a:lstStyle/>
          <a:p>
            <a:fld id="{D0255EFB-A077-440B-BB8F-918E450D588D}" type="datetimeFigureOut">
              <a:rPr lang="en-SG" smtClean="0"/>
              <a:t>24/6/2022</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3696253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SG"/>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0255EFB-A077-440B-BB8F-918E450D588D}" type="datetimeFigureOut">
              <a:rPr lang="en-SG" smtClean="0"/>
              <a:t>24/6/2022</a:t>
            </a:fld>
            <a:endParaRPr lang="en-SG"/>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SG"/>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8D9B65-B1CB-469D-93E1-4AFB41AAF60C}" type="slidenum">
              <a:rPr lang="en-SG" smtClean="0"/>
              <a:t>‹#›</a:t>
            </a:fld>
            <a:endParaRPr lang="en-SG"/>
          </a:p>
        </p:txBody>
      </p:sp>
    </p:spTree>
    <p:extLst>
      <p:ext uri="{BB962C8B-B14F-4D97-AF65-F5344CB8AC3E}">
        <p14:creationId xmlns:p14="http://schemas.microsoft.com/office/powerpoint/2010/main" val="305683526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3.png"/></Relationships>
</file>

<file path=ppt/slides/_rels/slide2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8.png"/></Relationships>
</file>

<file path=ppt/slides/_rels/slide2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3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3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hyperlink" Target="https://developer.android.com/topic/architecture#recommended-app-arch"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Android Basics in </a:t>
            </a:r>
            <a:r>
              <a:rPr lang="en-US" dirty="0" err="1"/>
              <a:t>Kotlin</a:t>
            </a:r>
            <a:endParaRPr lang="en-SG" dirty="0"/>
          </a:p>
        </p:txBody>
      </p:sp>
      <p:sp>
        <p:nvSpPr>
          <p:cNvPr id="3" name="Subtitle 2"/>
          <p:cNvSpPr>
            <a:spLocks noGrp="1"/>
          </p:cNvSpPr>
          <p:nvPr>
            <p:ph type="subTitle" idx="1"/>
          </p:nvPr>
        </p:nvSpPr>
        <p:spPr/>
        <p:txBody>
          <a:bodyPr/>
          <a:lstStyle/>
          <a:p>
            <a:r>
              <a:rPr lang="en-US" dirty="0"/>
              <a:t>Concepts and stuff???</a:t>
            </a:r>
            <a:endParaRPr lang="en-SG" dirty="0"/>
          </a:p>
        </p:txBody>
      </p:sp>
    </p:spTree>
    <p:extLst>
      <p:ext uri="{BB962C8B-B14F-4D97-AF65-F5344CB8AC3E}">
        <p14:creationId xmlns:p14="http://schemas.microsoft.com/office/powerpoint/2010/main" val="33057996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41D825-D53C-411A-AE73-A9F12A59923E}"/>
              </a:ext>
            </a:extLst>
          </p:cNvPr>
          <p:cNvSpPr>
            <a:spLocks noGrp="1"/>
          </p:cNvSpPr>
          <p:nvPr>
            <p:ph type="title"/>
          </p:nvPr>
        </p:nvSpPr>
        <p:spPr/>
        <p:txBody>
          <a:bodyPr/>
          <a:lstStyle/>
          <a:p>
            <a:r>
              <a:rPr lang="en-SG" dirty="0"/>
              <a:t>Vocabulary</a:t>
            </a:r>
          </a:p>
        </p:txBody>
      </p:sp>
      <p:sp>
        <p:nvSpPr>
          <p:cNvPr id="3" name="Content Placeholder 2">
            <a:extLst>
              <a:ext uri="{FF2B5EF4-FFF2-40B4-BE49-F238E27FC236}">
                <a16:creationId xmlns:a16="http://schemas.microsoft.com/office/drawing/2014/main" id="{63340896-CE62-499B-BB9B-B63DEE061533}"/>
              </a:ext>
            </a:extLst>
          </p:cNvPr>
          <p:cNvSpPr>
            <a:spLocks noGrp="1"/>
          </p:cNvSpPr>
          <p:nvPr>
            <p:ph idx="1"/>
          </p:nvPr>
        </p:nvSpPr>
        <p:spPr/>
        <p:txBody>
          <a:bodyPr>
            <a:normAutofit/>
          </a:bodyPr>
          <a:lstStyle/>
          <a:p>
            <a:r>
              <a:rPr lang="en-US" sz="1800" dirty="0">
                <a:highlight>
                  <a:srgbClr val="FFFF00"/>
                </a:highlight>
                <a:latin typeface="Consolas" panose="020B0609020204030204" pitchFamily="49" charset="0"/>
              </a:rPr>
              <a:t>fun</a:t>
            </a:r>
            <a:r>
              <a:rPr lang="en-US" sz="1800" dirty="0"/>
              <a:t> is a word in the Kotlin programming language. </a:t>
            </a:r>
            <a:r>
              <a:rPr lang="en-US" sz="1800" dirty="0">
                <a:highlight>
                  <a:srgbClr val="FFFF00"/>
                </a:highlight>
                <a:latin typeface="Consolas" panose="020B0609020204030204" pitchFamily="49" charset="0"/>
              </a:rPr>
              <a:t>fun</a:t>
            </a:r>
            <a:r>
              <a:rPr lang="en-US" sz="1800" dirty="0"/>
              <a:t> stands for function. A function is a section of a program that performs a specific task.</a:t>
            </a:r>
          </a:p>
          <a:p>
            <a:r>
              <a:rPr lang="en-US" sz="1800" dirty="0"/>
              <a:t>Every Kotlin program needs a function named </a:t>
            </a:r>
            <a:r>
              <a:rPr lang="en-US" sz="1800" dirty="0">
                <a:highlight>
                  <a:srgbClr val="FFFF00"/>
                </a:highlight>
                <a:latin typeface="Consolas" panose="020B0609020204030204" pitchFamily="49" charset="0"/>
              </a:rPr>
              <a:t>main</a:t>
            </a:r>
            <a:r>
              <a:rPr lang="en-US" sz="1800" dirty="0"/>
              <a:t>. It is the first, or main, function that is called when you run a program.</a:t>
            </a:r>
          </a:p>
          <a:p>
            <a:r>
              <a:rPr lang="en-US" sz="1800" dirty="0" err="1">
                <a:highlight>
                  <a:srgbClr val="FFFF00"/>
                </a:highlight>
                <a:latin typeface="Consolas" panose="020B0609020204030204" pitchFamily="49" charset="0"/>
              </a:rPr>
              <a:t>println</a:t>
            </a:r>
            <a:r>
              <a:rPr lang="en-US" sz="1800" dirty="0"/>
              <a:t> tells the system to print a line of text.</a:t>
            </a:r>
          </a:p>
          <a:p>
            <a:r>
              <a:rPr lang="en-US" sz="1800" dirty="0">
                <a:highlight>
                  <a:srgbClr val="FFFF00"/>
                </a:highlight>
              </a:rPr>
              <a:t>Camel case</a:t>
            </a:r>
            <a:r>
              <a:rPr lang="en-US" sz="1800" dirty="0"/>
              <a:t> means to capitalize the beginning of each word and remove all spaces in between. This is a convention for naming functions, variables, and classes in Kotlin, such as </a:t>
            </a:r>
            <a:r>
              <a:rPr lang="en-US" sz="1800" dirty="0" err="1">
                <a:latin typeface="Consolas" panose="020B0609020204030204" pitchFamily="49" charset="0"/>
              </a:rPr>
              <a:t>LinearLayout</a:t>
            </a:r>
            <a:r>
              <a:rPr lang="en-US" sz="1800" dirty="0"/>
              <a:t>, </a:t>
            </a:r>
            <a:r>
              <a:rPr lang="en-US" sz="1800" dirty="0" err="1">
                <a:latin typeface="Consolas" panose="020B0609020204030204" pitchFamily="49" charset="0"/>
              </a:rPr>
              <a:t>MainActivity</a:t>
            </a:r>
            <a:r>
              <a:rPr lang="en-US" sz="1800" dirty="0"/>
              <a:t>, or </a:t>
            </a:r>
            <a:r>
              <a:rPr lang="en-US" sz="1800" dirty="0" err="1">
                <a:latin typeface="Consolas" panose="020B0609020204030204" pitchFamily="49" charset="0"/>
              </a:rPr>
              <a:t>setOnClickListener</a:t>
            </a:r>
            <a:r>
              <a:rPr lang="en-US" sz="1800" dirty="0"/>
              <a:t>.</a:t>
            </a:r>
          </a:p>
          <a:p>
            <a:r>
              <a:rPr lang="en-US" sz="1800" dirty="0"/>
              <a:t>A </a:t>
            </a:r>
            <a:r>
              <a:rPr lang="en-US" sz="1800" dirty="0">
                <a:highlight>
                  <a:srgbClr val="FFFF00"/>
                </a:highlight>
              </a:rPr>
              <a:t>click listener</a:t>
            </a:r>
            <a:r>
              <a:rPr lang="en-US" sz="1800" dirty="0"/>
              <a:t> is a small piece of code that can be attached to a View. The click listener waits for the view to be tapped, and when the view is tapped, it executes a click handler.</a:t>
            </a:r>
          </a:p>
          <a:p>
            <a:r>
              <a:rPr lang="en-US" sz="1800" dirty="0"/>
              <a:t>A </a:t>
            </a:r>
            <a:r>
              <a:rPr lang="en-US" sz="1800" dirty="0">
                <a:highlight>
                  <a:srgbClr val="FFFF00"/>
                </a:highlight>
              </a:rPr>
              <a:t>click handler</a:t>
            </a:r>
            <a:r>
              <a:rPr lang="en-US" sz="1800" dirty="0"/>
              <a:t> is a piece of code that is invoked by a click listener when the View is tapped.</a:t>
            </a:r>
          </a:p>
          <a:p>
            <a:r>
              <a:rPr lang="en-US" sz="1800" dirty="0">
                <a:highlight>
                  <a:srgbClr val="FFFF00"/>
                </a:highlight>
              </a:rPr>
              <a:t>Gradle</a:t>
            </a:r>
            <a:r>
              <a:rPr lang="en-US" sz="1800" dirty="0"/>
              <a:t> is a tool used by Android Studio to automate and manage the build process for your app. It takes the source code you write for an app, along with platform code, libraries, and resources, and assembles all these parts into an APK that can be installed and run on an Android device.</a:t>
            </a:r>
            <a:endParaRPr lang="en-SG" sz="1800" dirty="0"/>
          </a:p>
        </p:txBody>
      </p:sp>
    </p:spTree>
    <p:extLst>
      <p:ext uri="{BB962C8B-B14F-4D97-AF65-F5344CB8AC3E}">
        <p14:creationId xmlns:p14="http://schemas.microsoft.com/office/powerpoint/2010/main" val="24816584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E93ABD-AD03-4CA6-893B-E423C18A1FD8}"/>
              </a:ext>
            </a:extLst>
          </p:cNvPr>
          <p:cNvSpPr>
            <a:spLocks noGrp="1"/>
          </p:cNvSpPr>
          <p:nvPr>
            <p:ph type="title"/>
          </p:nvPr>
        </p:nvSpPr>
        <p:spPr/>
        <p:txBody>
          <a:bodyPr/>
          <a:lstStyle/>
          <a:p>
            <a:r>
              <a:rPr lang="en-SG" dirty="0"/>
              <a:t>Vocabulary</a:t>
            </a:r>
          </a:p>
        </p:txBody>
      </p:sp>
      <p:sp>
        <p:nvSpPr>
          <p:cNvPr id="3" name="Content Placeholder 2">
            <a:extLst>
              <a:ext uri="{FF2B5EF4-FFF2-40B4-BE49-F238E27FC236}">
                <a16:creationId xmlns:a16="http://schemas.microsoft.com/office/drawing/2014/main" id="{6667C15B-3A62-4A76-9665-566B0F49FD91}"/>
              </a:ext>
            </a:extLst>
          </p:cNvPr>
          <p:cNvSpPr>
            <a:spLocks noGrp="1"/>
          </p:cNvSpPr>
          <p:nvPr>
            <p:ph idx="1"/>
          </p:nvPr>
        </p:nvSpPr>
        <p:spPr>
          <a:xfrm>
            <a:off x="838200" y="1690688"/>
            <a:ext cx="10515600" cy="4750273"/>
          </a:xfrm>
        </p:spPr>
        <p:txBody>
          <a:bodyPr>
            <a:normAutofit/>
          </a:bodyPr>
          <a:lstStyle/>
          <a:p>
            <a:r>
              <a:rPr lang="en-US" sz="2000" dirty="0"/>
              <a:t>Normally non-null properties must be initialized in the constructor, but sometimes that isn't practical. In those cases, a property can be marked with </a:t>
            </a:r>
            <a:r>
              <a:rPr lang="en-US" sz="2000" dirty="0" err="1">
                <a:highlight>
                  <a:srgbClr val="FFFF00"/>
                </a:highlight>
                <a:latin typeface="Consolas" panose="020B0609020204030204" pitchFamily="49" charset="0"/>
              </a:rPr>
              <a:t>lateinit</a:t>
            </a:r>
            <a:r>
              <a:rPr lang="en-US" sz="2000" dirty="0"/>
              <a:t>, which is a promise that the variable will be initialized before it is used. Note that an exception will be thrown if that property is accessed before being initialized.</a:t>
            </a:r>
          </a:p>
          <a:p>
            <a:r>
              <a:rPr lang="en-US" sz="2000" dirty="0"/>
              <a:t>Null is a special value that means "no value". It's different from a default value, for example, a Double having a value of 0.0 or an empty String with zero characters, "". In Kotlin, it’s preferable to not allow null values and you have to use special operators to permit a </a:t>
            </a:r>
            <a:r>
              <a:rPr lang="en-US" sz="2000" dirty="0">
                <a:highlight>
                  <a:srgbClr val="FFFF00"/>
                </a:highlight>
                <a:latin typeface="Consolas" panose="020B0609020204030204" pitchFamily="49" charset="0"/>
              </a:rPr>
              <a:t>null</a:t>
            </a:r>
            <a:r>
              <a:rPr lang="en-US" sz="2000" dirty="0"/>
              <a:t> value. </a:t>
            </a:r>
            <a:r>
              <a:rPr lang="en-US" sz="2000" dirty="0">
                <a:latin typeface="Consolas" panose="020B0609020204030204" pitchFamily="49" charset="0"/>
              </a:rPr>
              <a:t>null</a:t>
            </a:r>
            <a:r>
              <a:rPr lang="en-US" sz="2000" dirty="0"/>
              <a:t> means there is no value. If a method expects a value, passing null will cause an error.</a:t>
            </a:r>
          </a:p>
          <a:p>
            <a:r>
              <a:rPr lang="en-US" sz="2000" dirty="0"/>
              <a:t>To organize Views, you put them in a container. A </a:t>
            </a:r>
            <a:r>
              <a:rPr lang="en-US" sz="2000" dirty="0" err="1">
                <a:highlight>
                  <a:srgbClr val="FFFF00"/>
                </a:highlight>
              </a:rPr>
              <a:t>ViewGroup</a:t>
            </a:r>
            <a:r>
              <a:rPr lang="en-US" sz="2000" dirty="0"/>
              <a:t> is a container that </a:t>
            </a:r>
            <a:r>
              <a:rPr lang="en-US" sz="2000" dirty="0">
                <a:highlight>
                  <a:srgbClr val="FFFF00"/>
                </a:highlight>
              </a:rPr>
              <a:t>View</a:t>
            </a:r>
            <a:r>
              <a:rPr lang="en-US" sz="2000" dirty="0"/>
              <a:t> objects can sit in, and is responsible for arranging the Views inside it. One kind of </a:t>
            </a:r>
            <a:r>
              <a:rPr lang="en-US" sz="2000" dirty="0" err="1"/>
              <a:t>ViewGroup</a:t>
            </a:r>
            <a:r>
              <a:rPr lang="en-US" sz="2000" dirty="0"/>
              <a:t> is a </a:t>
            </a:r>
            <a:r>
              <a:rPr lang="en-US" sz="2000" dirty="0">
                <a:highlight>
                  <a:srgbClr val="FFFF00"/>
                </a:highlight>
                <a:latin typeface="Consolas" panose="020B0609020204030204" pitchFamily="49" charset="0"/>
              </a:rPr>
              <a:t>ConstraintLayout</a:t>
            </a:r>
            <a:r>
              <a:rPr lang="en-US" sz="2000" dirty="0"/>
              <a:t>, which helps you arrange the Views inside it in a flexible way. </a:t>
            </a:r>
            <a:r>
              <a:rPr lang="en-US" sz="2000" dirty="0">
                <a:highlight>
                  <a:srgbClr val="FFFF00"/>
                </a:highlight>
              </a:rPr>
              <a:t>Views need to be constrained horizontally and vertically within a </a:t>
            </a:r>
            <a:r>
              <a:rPr lang="en-US" sz="2000" dirty="0">
                <a:highlight>
                  <a:srgbClr val="FFFF00"/>
                </a:highlight>
                <a:latin typeface="Consolas" panose="020B0609020204030204" pitchFamily="49" charset="0"/>
              </a:rPr>
              <a:t>ConstraintLayout</a:t>
            </a:r>
            <a:r>
              <a:rPr lang="en-US" sz="2000" dirty="0"/>
              <a:t>.</a:t>
            </a:r>
          </a:p>
          <a:p>
            <a:r>
              <a:rPr lang="en-US" sz="2000" dirty="0" err="1">
                <a:highlight>
                  <a:srgbClr val="FFFF00"/>
                </a:highlight>
              </a:rPr>
              <a:t>dp</a:t>
            </a:r>
            <a:r>
              <a:rPr lang="en-US" sz="2000" dirty="0"/>
              <a:t> is a unit of measure for distances on the screen, </a:t>
            </a:r>
            <a:r>
              <a:rPr lang="en-US" sz="2000" dirty="0" err="1">
                <a:highlight>
                  <a:srgbClr val="FFFF00"/>
                </a:highlight>
              </a:rPr>
              <a:t>sp</a:t>
            </a:r>
            <a:r>
              <a:rPr lang="en-US" sz="2000" dirty="0"/>
              <a:t> is a unit of measure for the font size.</a:t>
            </a:r>
          </a:p>
          <a:p>
            <a:r>
              <a:rPr lang="en-US" sz="2000" dirty="0"/>
              <a:t>In Android, a graphic that can be drawn to the screen is generally referred to as a </a:t>
            </a:r>
            <a:r>
              <a:rPr lang="en-US" sz="2000" dirty="0">
                <a:highlight>
                  <a:srgbClr val="FFFF00"/>
                </a:highlight>
              </a:rPr>
              <a:t>drawable</a:t>
            </a:r>
            <a:r>
              <a:rPr lang="en-US" sz="2000" dirty="0"/>
              <a:t>.</a:t>
            </a:r>
            <a:endParaRPr lang="en-SG" sz="2000" dirty="0"/>
          </a:p>
        </p:txBody>
      </p:sp>
    </p:spTree>
    <p:extLst>
      <p:ext uri="{BB962C8B-B14F-4D97-AF65-F5344CB8AC3E}">
        <p14:creationId xmlns:p14="http://schemas.microsoft.com/office/powerpoint/2010/main" val="33791379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115DB4-3CB0-4416-AFBD-0793A53A2301}"/>
              </a:ext>
            </a:extLst>
          </p:cNvPr>
          <p:cNvSpPr>
            <a:spLocks noGrp="1"/>
          </p:cNvSpPr>
          <p:nvPr>
            <p:ph type="title"/>
          </p:nvPr>
        </p:nvSpPr>
        <p:spPr/>
        <p:txBody>
          <a:bodyPr/>
          <a:lstStyle/>
          <a:p>
            <a:r>
              <a:rPr lang="en-SG" dirty="0"/>
              <a:t>Program entry point</a:t>
            </a:r>
          </a:p>
        </p:txBody>
      </p:sp>
      <p:sp>
        <p:nvSpPr>
          <p:cNvPr id="3" name="Content Placeholder 2">
            <a:extLst>
              <a:ext uri="{FF2B5EF4-FFF2-40B4-BE49-F238E27FC236}">
                <a16:creationId xmlns:a16="http://schemas.microsoft.com/office/drawing/2014/main" id="{784A447D-9F82-404C-9215-CD8084792402}"/>
              </a:ext>
            </a:extLst>
          </p:cNvPr>
          <p:cNvSpPr>
            <a:spLocks noGrp="1"/>
          </p:cNvSpPr>
          <p:nvPr>
            <p:ph idx="1"/>
          </p:nvPr>
        </p:nvSpPr>
        <p:spPr>
          <a:xfrm>
            <a:off x="838200" y="2178995"/>
            <a:ext cx="4589834" cy="2081719"/>
          </a:xfrm>
        </p:spPr>
        <p:txBody>
          <a:bodyPr/>
          <a:lstStyle/>
          <a:p>
            <a:pPr marL="514350" indent="-514350">
              <a:buAutoNum type="arabicPeriod"/>
            </a:pPr>
            <a:r>
              <a:rPr lang="en-SG" dirty="0"/>
              <a:t>Without arguments</a:t>
            </a:r>
          </a:p>
          <a:p>
            <a:pPr marL="0" indent="0">
              <a:buNone/>
            </a:pPr>
            <a:endParaRPr lang="en-SG" sz="1200" dirty="0"/>
          </a:p>
          <a:p>
            <a:pPr marL="0" indent="0">
              <a:buNone/>
            </a:pPr>
            <a:r>
              <a:rPr lang="en-SG" sz="1200" dirty="0">
                <a:latin typeface="Lucida Console" panose="020B0609040504020204" pitchFamily="49" charset="0"/>
              </a:rPr>
              <a:t>fun main() {</a:t>
            </a:r>
          </a:p>
          <a:p>
            <a:pPr marL="0" indent="0">
              <a:buNone/>
            </a:pPr>
            <a:r>
              <a:rPr lang="en-SG" sz="1200" dirty="0">
                <a:latin typeface="Lucida Console" panose="020B0609040504020204" pitchFamily="49" charset="0"/>
              </a:rPr>
              <a:t>	println(“Hello World!”)</a:t>
            </a:r>
          </a:p>
          <a:p>
            <a:pPr marL="0" indent="0">
              <a:buNone/>
            </a:pPr>
            <a:r>
              <a:rPr lang="en-SG" sz="1200" dirty="0">
                <a:latin typeface="Lucida Console" panose="020B0609040504020204" pitchFamily="49" charset="0"/>
              </a:rPr>
              <a:t>}</a:t>
            </a:r>
          </a:p>
          <a:p>
            <a:pPr marL="0" indent="0">
              <a:buNone/>
            </a:pPr>
            <a:endParaRPr lang="en-SG" dirty="0"/>
          </a:p>
          <a:p>
            <a:pPr marL="514350" indent="-514350">
              <a:buAutoNum type="arabicPeriod"/>
            </a:pPr>
            <a:endParaRPr lang="en-SG" dirty="0"/>
          </a:p>
          <a:p>
            <a:pPr marL="0" indent="0">
              <a:buNone/>
            </a:pPr>
            <a:endParaRPr lang="en-SG" dirty="0"/>
          </a:p>
        </p:txBody>
      </p:sp>
      <p:sp>
        <p:nvSpPr>
          <p:cNvPr id="4" name="Content Placeholder 2">
            <a:extLst>
              <a:ext uri="{FF2B5EF4-FFF2-40B4-BE49-F238E27FC236}">
                <a16:creationId xmlns:a16="http://schemas.microsoft.com/office/drawing/2014/main" id="{89CC78DD-90A6-4942-A439-FD22DDE2724A}"/>
              </a:ext>
            </a:extLst>
          </p:cNvPr>
          <p:cNvSpPr txBox="1">
            <a:spLocks/>
          </p:cNvSpPr>
          <p:nvPr/>
        </p:nvSpPr>
        <p:spPr>
          <a:xfrm>
            <a:off x="6418634" y="2178995"/>
            <a:ext cx="4589834" cy="399796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SG" dirty="0"/>
              <a:t>2. With arguments</a:t>
            </a:r>
          </a:p>
          <a:p>
            <a:pPr marL="0" indent="0">
              <a:buNone/>
            </a:pPr>
            <a:endParaRPr lang="en-SG" sz="1200" dirty="0"/>
          </a:p>
          <a:p>
            <a:pPr marL="0" indent="0">
              <a:buNone/>
            </a:pPr>
            <a:r>
              <a:rPr lang="en-SG" sz="1200" dirty="0">
                <a:latin typeface="Lucida Console" panose="020B0609040504020204" pitchFamily="49" charset="0"/>
              </a:rPr>
              <a:t>fun main(args: Array&lt;String&gt;) {</a:t>
            </a:r>
          </a:p>
          <a:p>
            <a:pPr marL="0" indent="0">
              <a:buNone/>
            </a:pPr>
            <a:r>
              <a:rPr lang="en-SG" sz="1200" dirty="0">
                <a:latin typeface="Lucida Console" panose="020B0609040504020204" pitchFamily="49" charset="0"/>
              </a:rPr>
              <a:t>	println(args.contentToString())</a:t>
            </a:r>
          </a:p>
          <a:p>
            <a:pPr marL="0" indent="0">
              <a:buNone/>
            </a:pPr>
            <a:r>
              <a:rPr lang="en-SG" sz="1200" dirty="0">
                <a:latin typeface="Lucida Console" panose="020B0609040504020204" pitchFamily="49" charset="0"/>
              </a:rPr>
              <a:t>}</a:t>
            </a:r>
          </a:p>
          <a:p>
            <a:pPr marL="0" indent="0">
              <a:buNone/>
            </a:pPr>
            <a:endParaRPr lang="en-SG" dirty="0"/>
          </a:p>
        </p:txBody>
      </p:sp>
      <p:sp>
        <p:nvSpPr>
          <p:cNvPr id="5" name="Content Placeholder 2">
            <a:extLst>
              <a:ext uri="{FF2B5EF4-FFF2-40B4-BE49-F238E27FC236}">
                <a16:creationId xmlns:a16="http://schemas.microsoft.com/office/drawing/2014/main" id="{2DFD1012-5193-4ED3-BA1D-F490F68B1576}"/>
              </a:ext>
            </a:extLst>
          </p:cNvPr>
          <p:cNvSpPr txBox="1">
            <a:spLocks/>
          </p:cNvSpPr>
          <p:nvPr/>
        </p:nvSpPr>
        <p:spPr>
          <a:xfrm>
            <a:off x="3020843" y="4411156"/>
            <a:ext cx="6150313" cy="208171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SG" dirty="0"/>
              <a:t>3. Android’s </a:t>
            </a:r>
            <a:r>
              <a:rPr lang="en-SG" dirty="0">
                <a:latin typeface="Lucida Console" panose="020B0609040504020204" pitchFamily="49" charset="0"/>
              </a:rPr>
              <a:t>main()</a:t>
            </a:r>
          </a:p>
          <a:p>
            <a:pPr marL="0" indent="0">
              <a:buNone/>
            </a:pPr>
            <a:endParaRPr lang="en-SG" sz="1200" dirty="0"/>
          </a:p>
          <a:p>
            <a:pPr marL="0" indent="0">
              <a:buFont typeface="Arial" panose="020B0604020202020204" pitchFamily="34" charset="0"/>
              <a:buNone/>
            </a:pPr>
            <a:r>
              <a:rPr lang="en-SG" sz="1200" dirty="0">
                <a:latin typeface="Lucida Console" panose="020B0609040504020204" pitchFamily="49" charset="0"/>
              </a:rPr>
              <a:t>override fun onCreate(savedInstanceState: Bundle?) {</a:t>
            </a:r>
          </a:p>
          <a:p>
            <a:pPr marL="0" indent="0">
              <a:buFont typeface="Arial" panose="020B0604020202020204" pitchFamily="34" charset="0"/>
              <a:buNone/>
            </a:pPr>
            <a:r>
              <a:rPr lang="en-SG" sz="1200" dirty="0">
                <a:latin typeface="Lucida Console" panose="020B0609040504020204" pitchFamily="49" charset="0"/>
              </a:rPr>
              <a:t>       </a:t>
            </a:r>
            <a:r>
              <a:rPr lang="en-US" sz="1200" dirty="0">
                <a:latin typeface="Lucida Console" panose="020B0609040504020204" pitchFamily="49" charset="0"/>
              </a:rPr>
              <a:t>super.onCreate(savedInstanceState)</a:t>
            </a:r>
          </a:p>
          <a:p>
            <a:pPr marL="0" indent="0">
              <a:buFont typeface="Arial" panose="020B0604020202020204" pitchFamily="34" charset="0"/>
              <a:buNone/>
            </a:pPr>
            <a:r>
              <a:rPr lang="en-US" sz="1200" dirty="0">
                <a:latin typeface="Lucida Console" panose="020B0609040504020204" pitchFamily="49" charset="0"/>
              </a:rPr>
              <a:t>       setContentView(R.layout.activity_main)</a:t>
            </a:r>
            <a:endParaRPr lang="en-SG" sz="1200" dirty="0">
              <a:latin typeface="Lucida Console" panose="020B0609040504020204" pitchFamily="49" charset="0"/>
            </a:endParaRPr>
          </a:p>
          <a:p>
            <a:pPr marL="0" indent="0">
              <a:buFont typeface="Arial" panose="020B0604020202020204" pitchFamily="34" charset="0"/>
              <a:buNone/>
            </a:pPr>
            <a:r>
              <a:rPr lang="en-SG" sz="1200" dirty="0">
                <a:latin typeface="Lucida Console" panose="020B0609040504020204" pitchFamily="49" charset="0"/>
              </a:rPr>
              <a:t>}</a:t>
            </a:r>
          </a:p>
          <a:p>
            <a:pPr marL="0" indent="0">
              <a:buFont typeface="Arial" panose="020B0604020202020204" pitchFamily="34" charset="0"/>
              <a:buNone/>
            </a:pPr>
            <a:endParaRPr lang="en-SG" dirty="0"/>
          </a:p>
          <a:p>
            <a:pPr marL="514350" indent="-514350">
              <a:buFont typeface="Arial" panose="020B0604020202020204" pitchFamily="34" charset="0"/>
              <a:buAutoNum type="arabicPeriod"/>
            </a:pPr>
            <a:endParaRPr lang="en-SG" dirty="0"/>
          </a:p>
          <a:p>
            <a:pPr marL="0" indent="0">
              <a:buFont typeface="Arial" panose="020B0604020202020204" pitchFamily="34" charset="0"/>
              <a:buNone/>
            </a:pPr>
            <a:endParaRPr lang="en-SG" dirty="0"/>
          </a:p>
        </p:txBody>
      </p:sp>
    </p:spTree>
    <p:extLst>
      <p:ext uri="{BB962C8B-B14F-4D97-AF65-F5344CB8AC3E}">
        <p14:creationId xmlns:p14="http://schemas.microsoft.com/office/powerpoint/2010/main" val="3772958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43D4E4-589A-4470-9F99-06CBDDAE1385}"/>
              </a:ext>
            </a:extLst>
          </p:cNvPr>
          <p:cNvSpPr>
            <a:spLocks noGrp="1"/>
          </p:cNvSpPr>
          <p:nvPr>
            <p:ph type="title"/>
          </p:nvPr>
        </p:nvSpPr>
        <p:spPr/>
        <p:txBody>
          <a:bodyPr/>
          <a:lstStyle/>
          <a:p>
            <a:r>
              <a:rPr lang="en-SG" dirty="0"/>
              <a:t>Unit?</a:t>
            </a:r>
          </a:p>
        </p:txBody>
      </p:sp>
      <p:sp>
        <p:nvSpPr>
          <p:cNvPr id="3" name="Content Placeholder 2">
            <a:extLst>
              <a:ext uri="{FF2B5EF4-FFF2-40B4-BE49-F238E27FC236}">
                <a16:creationId xmlns:a16="http://schemas.microsoft.com/office/drawing/2014/main" id="{C4A86444-780C-48D3-B724-A0905CAB63AF}"/>
              </a:ext>
            </a:extLst>
          </p:cNvPr>
          <p:cNvSpPr>
            <a:spLocks noGrp="1"/>
          </p:cNvSpPr>
          <p:nvPr>
            <p:ph idx="1"/>
          </p:nvPr>
        </p:nvSpPr>
        <p:spPr/>
        <p:txBody>
          <a:bodyPr>
            <a:normAutofit/>
          </a:bodyPr>
          <a:lstStyle/>
          <a:p>
            <a:pPr marL="0" indent="0">
              <a:buNone/>
            </a:pPr>
            <a:r>
              <a:rPr lang="en-US" sz="1800" dirty="0">
                <a:latin typeface="Lucida Console" panose="020B0609040504020204" pitchFamily="49" charset="0"/>
              </a:rPr>
              <a:t>fun </a:t>
            </a:r>
            <a:r>
              <a:rPr lang="en-US" sz="1800" dirty="0" err="1">
                <a:latin typeface="Lucida Console" panose="020B0609040504020204" pitchFamily="49" charset="0"/>
              </a:rPr>
              <a:t>printSum</a:t>
            </a:r>
            <a:r>
              <a:rPr lang="en-US" sz="1800" dirty="0">
                <a:latin typeface="Lucida Console" panose="020B0609040504020204" pitchFamily="49" charset="0"/>
              </a:rPr>
              <a:t>(a: Int, b: Int) : </a:t>
            </a:r>
            <a:r>
              <a:rPr lang="en-US" sz="1800" dirty="0">
                <a:highlight>
                  <a:srgbClr val="FFFF00"/>
                </a:highlight>
                <a:latin typeface="Lucida Console" panose="020B0609040504020204" pitchFamily="49" charset="0"/>
              </a:rPr>
              <a:t>Unit</a:t>
            </a:r>
            <a:r>
              <a:rPr lang="en-US" sz="1800" dirty="0">
                <a:latin typeface="Lucida Console" panose="020B0609040504020204" pitchFamily="49" charset="0"/>
              </a:rPr>
              <a:t> {</a:t>
            </a:r>
          </a:p>
          <a:p>
            <a:pPr marL="0" indent="0">
              <a:buNone/>
            </a:pPr>
            <a:r>
              <a:rPr lang="en-US" sz="1800" dirty="0">
                <a:latin typeface="Lucida Console" panose="020B0609040504020204" pitchFamily="49" charset="0"/>
              </a:rPr>
              <a:t>    </a:t>
            </a:r>
            <a:r>
              <a:rPr lang="en-US" sz="1800" dirty="0" err="1">
                <a:latin typeface="Lucida Console" panose="020B0609040504020204" pitchFamily="49" charset="0"/>
              </a:rPr>
              <a:t>println</a:t>
            </a:r>
            <a:r>
              <a:rPr lang="en-US" sz="1800" dirty="0">
                <a:latin typeface="Lucida Console" panose="020B0609040504020204" pitchFamily="49" charset="0"/>
              </a:rPr>
              <a:t>("sum of a and b is ${a + b}")</a:t>
            </a:r>
          </a:p>
          <a:p>
            <a:pPr marL="0" indent="0">
              <a:buNone/>
            </a:pPr>
            <a:r>
              <a:rPr lang="en-US" sz="1800" dirty="0">
                <a:latin typeface="Lucida Console" panose="020B0609040504020204" pitchFamily="49" charset="0"/>
              </a:rPr>
              <a:t>}</a:t>
            </a:r>
          </a:p>
          <a:p>
            <a:pPr marL="0" indent="0">
              <a:buNone/>
            </a:pPr>
            <a:endParaRPr lang="en-US" sz="1800" dirty="0">
              <a:latin typeface="Lucida Console" panose="020B0609040504020204" pitchFamily="49" charset="0"/>
            </a:endParaRPr>
          </a:p>
          <a:p>
            <a:pPr marL="0" indent="0">
              <a:buNone/>
            </a:pPr>
            <a:r>
              <a:rPr lang="en-US" sz="2000" dirty="0">
                <a:highlight>
                  <a:srgbClr val="FFFF00"/>
                </a:highlight>
              </a:rPr>
              <a:t>Basically it corresponds to </a:t>
            </a:r>
            <a:r>
              <a:rPr lang="en-US" sz="2000" dirty="0">
                <a:highlight>
                  <a:srgbClr val="FFFF00"/>
                </a:highlight>
                <a:latin typeface="Lucida Console" panose="020B0609040504020204" pitchFamily="49" charset="0"/>
              </a:rPr>
              <a:t>void</a:t>
            </a:r>
            <a:r>
              <a:rPr lang="en-US" sz="2000" dirty="0">
                <a:highlight>
                  <a:srgbClr val="FFFF00"/>
                </a:highlight>
              </a:rPr>
              <a:t> in Java. </a:t>
            </a:r>
            <a:r>
              <a:rPr lang="en-US" sz="2000" dirty="0"/>
              <a:t>It is the return type of any function that does not return any meaningful value, and it is optional to mention </a:t>
            </a:r>
            <a:r>
              <a:rPr lang="en-US" sz="2000" dirty="0">
                <a:latin typeface="Lucida Console" panose="020B0609040504020204" pitchFamily="49" charset="0"/>
              </a:rPr>
              <a:t>Unit</a:t>
            </a:r>
            <a:r>
              <a:rPr lang="en-US" sz="2000" dirty="0"/>
              <a:t> as the return type. So it’s the same as:</a:t>
            </a:r>
          </a:p>
          <a:p>
            <a:pPr marL="0" indent="0">
              <a:buNone/>
            </a:pPr>
            <a:endParaRPr lang="en-US" sz="1800" dirty="0">
              <a:latin typeface="Lucida Console" panose="020B0609040504020204" pitchFamily="49" charset="0"/>
            </a:endParaRPr>
          </a:p>
          <a:p>
            <a:pPr marL="0" indent="0">
              <a:buNone/>
            </a:pPr>
            <a:r>
              <a:rPr lang="en-US" sz="1800" dirty="0">
                <a:latin typeface="Lucida Console" panose="020B0609040504020204" pitchFamily="49" charset="0"/>
              </a:rPr>
              <a:t>fun </a:t>
            </a:r>
            <a:r>
              <a:rPr lang="en-US" sz="1800" dirty="0" err="1">
                <a:latin typeface="Lucida Console" panose="020B0609040504020204" pitchFamily="49" charset="0"/>
              </a:rPr>
              <a:t>printSum</a:t>
            </a:r>
            <a:r>
              <a:rPr lang="en-US" sz="1800" dirty="0">
                <a:latin typeface="Lucida Console" panose="020B0609040504020204" pitchFamily="49" charset="0"/>
              </a:rPr>
              <a:t>(a: Int, b: Int) {</a:t>
            </a:r>
          </a:p>
          <a:p>
            <a:pPr marL="0" indent="0">
              <a:buNone/>
            </a:pPr>
            <a:r>
              <a:rPr lang="en-US" sz="1800" dirty="0">
                <a:latin typeface="Lucida Console" panose="020B0609040504020204" pitchFamily="49" charset="0"/>
              </a:rPr>
              <a:t>    </a:t>
            </a:r>
            <a:r>
              <a:rPr lang="en-US" sz="1800" dirty="0" err="1">
                <a:latin typeface="Lucida Console" panose="020B0609040504020204" pitchFamily="49" charset="0"/>
              </a:rPr>
              <a:t>println</a:t>
            </a:r>
            <a:r>
              <a:rPr lang="en-US" sz="1800" dirty="0">
                <a:latin typeface="Lucida Console" panose="020B0609040504020204" pitchFamily="49" charset="0"/>
              </a:rPr>
              <a:t>("sum of a and b is ${a + b}")</a:t>
            </a:r>
          </a:p>
          <a:p>
            <a:pPr marL="0" indent="0">
              <a:buNone/>
            </a:pPr>
            <a:r>
              <a:rPr lang="en-US" sz="1800" dirty="0">
                <a:latin typeface="Lucida Console" panose="020B0609040504020204" pitchFamily="49" charset="0"/>
              </a:rPr>
              <a:t>}</a:t>
            </a:r>
          </a:p>
          <a:p>
            <a:pPr marL="0" indent="0">
              <a:buNone/>
            </a:pPr>
            <a:endParaRPr lang="en-SG" sz="1800" dirty="0">
              <a:latin typeface="Lucida Console" panose="020B0609040504020204" pitchFamily="49" charset="0"/>
            </a:endParaRPr>
          </a:p>
        </p:txBody>
      </p:sp>
    </p:spTree>
    <p:extLst>
      <p:ext uri="{BB962C8B-B14F-4D97-AF65-F5344CB8AC3E}">
        <p14:creationId xmlns:p14="http://schemas.microsoft.com/office/powerpoint/2010/main" val="78870860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E8D2FF-D8C6-4DAD-8544-D511A5A60B3C}"/>
              </a:ext>
            </a:extLst>
          </p:cNvPr>
          <p:cNvSpPr>
            <a:spLocks noGrp="1"/>
          </p:cNvSpPr>
          <p:nvPr>
            <p:ph type="title"/>
          </p:nvPr>
        </p:nvSpPr>
        <p:spPr/>
        <p:txBody>
          <a:bodyPr/>
          <a:lstStyle/>
          <a:p>
            <a:r>
              <a:rPr lang="en-SG" dirty="0"/>
              <a:t>if-else… or when?</a:t>
            </a:r>
          </a:p>
        </p:txBody>
      </p:sp>
      <p:sp>
        <p:nvSpPr>
          <p:cNvPr id="3" name="Content Placeholder 2">
            <a:extLst>
              <a:ext uri="{FF2B5EF4-FFF2-40B4-BE49-F238E27FC236}">
                <a16:creationId xmlns:a16="http://schemas.microsoft.com/office/drawing/2014/main" id="{5EF0258B-01EE-4594-AF88-BE2BEFDF6249}"/>
              </a:ext>
            </a:extLst>
          </p:cNvPr>
          <p:cNvSpPr>
            <a:spLocks noGrp="1"/>
          </p:cNvSpPr>
          <p:nvPr>
            <p:ph idx="1"/>
          </p:nvPr>
        </p:nvSpPr>
        <p:spPr>
          <a:xfrm>
            <a:off x="838200" y="1825625"/>
            <a:ext cx="10515600" cy="800843"/>
          </a:xfrm>
        </p:spPr>
        <p:txBody>
          <a:bodyPr>
            <a:normAutofit/>
          </a:bodyPr>
          <a:lstStyle/>
          <a:p>
            <a:pPr marL="0" indent="0">
              <a:buNone/>
            </a:pPr>
            <a:r>
              <a:rPr lang="en-US" sz="2400" dirty="0"/>
              <a:t>Because having multiple else if cases is very common, Kotlin has a simpler way of writing them.</a:t>
            </a:r>
          </a:p>
          <a:p>
            <a:pPr marL="0" indent="0">
              <a:buNone/>
            </a:pPr>
            <a:endParaRPr lang="en-SG" sz="2400" dirty="0"/>
          </a:p>
        </p:txBody>
      </p:sp>
      <p:pic>
        <p:nvPicPr>
          <p:cNvPr id="6" name="Picture 5">
            <a:extLst>
              <a:ext uri="{FF2B5EF4-FFF2-40B4-BE49-F238E27FC236}">
                <a16:creationId xmlns:a16="http://schemas.microsoft.com/office/drawing/2014/main" id="{D1A11A9E-EB99-4467-87D8-E2513D6A6D22}"/>
              </a:ext>
            </a:extLst>
          </p:cNvPr>
          <p:cNvPicPr>
            <a:picLocks noChangeAspect="1"/>
          </p:cNvPicPr>
          <p:nvPr/>
        </p:nvPicPr>
        <p:blipFill>
          <a:blip r:embed="rId2"/>
          <a:stretch>
            <a:fillRect/>
          </a:stretch>
        </p:blipFill>
        <p:spPr>
          <a:xfrm>
            <a:off x="1626141" y="3751431"/>
            <a:ext cx="2865368" cy="960203"/>
          </a:xfrm>
          <a:prstGeom prst="rect">
            <a:avLst/>
          </a:prstGeom>
        </p:spPr>
      </p:pic>
      <p:pic>
        <p:nvPicPr>
          <p:cNvPr id="8" name="Picture 7">
            <a:extLst>
              <a:ext uri="{FF2B5EF4-FFF2-40B4-BE49-F238E27FC236}">
                <a16:creationId xmlns:a16="http://schemas.microsoft.com/office/drawing/2014/main" id="{0C0FAFB8-73CB-4851-8B4F-AB74BB04DD9A}"/>
              </a:ext>
            </a:extLst>
          </p:cNvPr>
          <p:cNvPicPr>
            <a:picLocks noChangeAspect="1"/>
          </p:cNvPicPr>
          <p:nvPr/>
        </p:nvPicPr>
        <p:blipFill>
          <a:blip r:embed="rId3"/>
          <a:stretch>
            <a:fillRect/>
          </a:stretch>
        </p:blipFill>
        <p:spPr>
          <a:xfrm>
            <a:off x="6096000" y="3000184"/>
            <a:ext cx="3139712" cy="617273"/>
          </a:xfrm>
          <a:prstGeom prst="rect">
            <a:avLst/>
          </a:prstGeom>
        </p:spPr>
      </p:pic>
      <p:pic>
        <p:nvPicPr>
          <p:cNvPr id="10" name="Picture 9">
            <a:extLst>
              <a:ext uri="{FF2B5EF4-FFF2-40B4-BE49-F238E27FC236}">
                <a16:creationId xmlns:a16="http://schemas.microsoft.com/office/drawing/2014/main" id="{BEE5710F-59FA-4D20-8C17-437BFF5AB90F}"/>
              </a:ext>
            </a:extLst>
          </p:cNvPr>
          <p:cNvPicPr>
            <a:picLocks noChangeAspect="1"/>
          </p:cNvPicPr>
          <p:nvPr/>
        </p:nvPicPr>
        <p:blipFill>
          <a:blip r:embed="rId4"/>
          <a:stretch>
            <a:fillRect/>
          </a:stretch>
        </p:blipFill>
        <p:spPr>
          <a:xfrm>
            <a:off x="6022824" y="4269024"/>
            <a:ext cx="5029636" cy="1562235"/>
          </a:xfrm>
          <a:prstGeom prst="rect">
            <a:avLst/>
          </a:prstGeom>
        </p:spPr>
      </p:pic>
      <p:sp>
        <p:nvSpPr>
          <p:cNvPr id="11" name="TextBox 10">
            <a:extLst>
              <a:ext uri="{FF2B5EF4-FFF2-40B4-BE49-F238E27FC236}">
                <a16:creationId xmlns:a16="http://schemas.microsoft.com/office/drawing/2014/main" id="{FA7E382B-BDC4-47C7-B713-A350E1860873}"/>
              </a:ext>
            </a:extLst>
          </p:cNvPr>
          <p:cNvSpPr txBox="1"/>
          <p:nvPr/>
        </p:nvSpPr>
        <p:spPr>
          <a:xfrm>
            <a:off x="1155602" y="3432791"/>
            <a:ext cx="1260410" cy="276999"/>
          </a:xfrm>
          <a:prstGeom prst="rect">
            <a:avLst/>
          </a:prstGeom>
          <a:solidFill>
            <a:schemeClr val="accent4"/>
          </a:solidFill>
        </p:spPr>
        <p:txBody>
          <a:bodyPr wrap="none" rtlCol="0">
            <a:spAutoFit/>
          </a:bodyPr>
          <a:lstStyle/>
          <a:p>
            <a:r>
              <a:rPr lang="en-SG" sz="1200" dirty="0"/>
              <a:t>Traditional if-else</a:t>
            </a:r>
          </a:p>
        </p:txBody>
      </p:sp>
      <p:sp>
        <p:nvSpPr>
          <p:cNvPr id="12" name="TextBox 11">
            <a:extLst>
              <a:ext uri="{FF2B5EF4-FFF2-40B4-BE49-F238E27FC236}">
                <a16:creationId xmlns:a16="http://schemas.microsoft.com/office/drawing/2014/main" id="{31E02EC7-ECC3-49CD-BA5B-1CD000D25F24}"/>
              </a:ext>
            </a:extLst>
          </p:cNvPr>
          <p:cNvSpPr txBox="1"/>
          <p:nvPr/>
        </p:nvSpPr>
        <p:spPr>
          <a:xfrm>
            <a:off x="5558989" y="2674826"/>
            <a:ext cx="1892185" cy="276999"/>
          </a:xfrm>
          <a:prstGeom prst="rect">
            <a:avLst/>
          </a:prstGeom>
          <a:solidFill>
            <a:schemeClr val="accent4"/>
          </a:solidFill>
        </p:spPr>
        <p:txBody>
          <a:bodyPr wrap="none" rtlCol="0">
            <a:spAutoFit/>
          </a:bodyPr>
          <a:lstStyle/>
          <a:p>
            <a:r>
              <a:rPr lang="en-SG" sz="1200" dirty="0"/>
              <a:t>When with single condition</a:t>
            </a:r>
          </a:p>
        </p:txBody>
      </p:sp>
      <p:sp>
        <p:nvSpPr>
          <p:cNvPr id="13" name="TextBox 12">
            <a:extLst>
              <a:ext uri="{FF2B5EF4-FFF2-40B4-BE49-F238E27FC236}">
                <a16:creationId xmlns:a16="http://schemas.microsoft.com/office/drawing/2014/main" id="{C4014959-FF9E-4805-ABC9-CDC3CD6A701A}"/>
              </a:ext>
            </a:extLst>
          </p:cNvPr>
          <p:cNvSpPr txBox="1"/>
          <p:nvPr/>
        </p:nvSpPr>
        <p:spPr>
          <a:xfrm>
            <a:off x="5555663" y="4003972"/>
            <a:ext cx="2110193" cy="276999"/>
          </a:xfrm>
          <a:prstGeom prst="rect">
            <a:avLst/>
          </a:prstGeom>
          <a:solidFill>
            <a:schemeClr val="accent4"/>
          </a:solidFill>
        </p:spPr>
        <p:txBody>
          <a:bodyPr wrap="none" rtlCol="0">
            <a:spAutoFit/>
          </a:bodyPr>
          <a:lstStyle/>
          <a:p>
            <a:r>
              <a:rPr lang="en-SG" sz="1200" dirty="0"/>
              <a:t>When with multiple conditions</a:t>
            </a:r>
          </a:p>
        </p:txBody>
      </p:sp>
    </p:spTree>
    <p:extLst>
      <p:ext uri="{BB962C8B-B14F-4D97-AF65-F5344CB8AC3E}">
        <p14:creationId xmlns:p14="http://schemas.microsoft.com/office/powerpoint/2010/main" val="2152827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150B8-C409-456F-B1AB-D549F4E2B723}"/>
              </a:ext>
            </a:extLst>
          </p:cNvPr>
          <p:cNvSpPr>
            <a:spLocks noGrp="1"/>
          </p:cNvSpPr>
          <p:nvPr>
            <p:ph type="title"/>
          </p:nvPr>
        </p:nvSpPr>
        <p:spPr/>
        <p:txBody>
          <a:bodyPr/>
          <a:lstStyle/>
          <a:p>
            <a:r>
              <a:rPr lang="en-SG" dirty="0"/>
              <a:t>Class Hierarchy / Inheritance</a:t>
            </a:r>
          </a:p>
        </p:txBody>
      </p:sp>
      <p:sp>
        <p:nvSpPr>
          <p:cNvPr id="3" name="Content Placeholder 2">
            <a:extLst>
              <a:ext uri="{FF2B5EF4-FFF2-40B4-BE49-F238E27FC236}">
                <a16:creationId xmlns:a16="http://schemas.microsoft.com/office/drawing/2014/main" id="{D864DE4C-4E81-4964-945C-2FCF3BAFDEB1}"/>
              </a:ext>
            </a:extLst>
          </p:cNvPr>
          <p:cNvSpPr>
            <a:spLocks noGrp="1"/>
          </p:cNvSpPr>
          <p:nvPr>
            <p:ph idx="1"/>
          </p:nvPr>
        </p:nvSpPr>
        <p:spPr/>
        <p:txBody>
          <a:bodyPr>
            <a:normAutofit fontScale="92500" lnSpcReduction="20000"/>
          </a:bodyPr>
          <a:lstStyle/>
          <a:p>
            <a:r>
              <a:rPr lang="en-US" sz="2400" dirty="0"/>
              <a:t>Kotlin </a:t>
            </a:r>
            <a:r>
              <a:rPr lang="en-US" sz="2400" dirty="0">
                <a:highlight>
                  <a:srgbClr val="FFFF00"/>
                </a:highlight>
              </a:rPr>
              <a:t>classes</a:t>
            </a:r>
            <a:r>
              <a:rPr lang="en-US" sz="2400" dirty="0"/>
              <a:t> are </a:t>
            </a:r>
            <a:r>
              <a:rPr lang="en-US" sz="2400" dirty="0">
                <a:highlight>
                  <a:srgbClr val="FFFF00"/>
                </a:highlight>
              </a:rPr>
              <a:t>final by default</a:t>
            </a:r>
            <a:r>
              <a:rPr lang="en-US" sz="2400" dirty="0"/>
              <a:t>. If you want to allow the class inheritance, mark the class with the </a:t>
            </a:r>
            <a:r>
              <a:rPr lang="en-US" sz="2400" dirty="0">
                <a:highlight>
                  <a:srgbClr val="FFFF00"/>
                </a:highlight>
                <a:latin typeface="Lucida Console" panose="020B0609040504020204" pitchFamily="49" charset="0"/>
              </a:rPr>
              <a:t>open</a:t>
            </a:r>
            <a:r>
              <a:rPr lang="en-US" sz="2400" dirty="0"/>
              <a:t> modifier.</a:t>
            </a:r>
          </a:p>
          <a:p>
            <a:r>
              <a:rPr lang="en-US" sz="2400" dirty="0"/>
              <a:t>Kotlin </a:t>
            </a:r>
            <a:r>
              <a:rPr lang="en-US" sz="2400" dirty="0">
                <a:highlight>
                  <a:srgbClr val="FFFF00"/>
                </a:highlight>
              </a:rPr>
              <a:t>methods</a:t>
            </a:r>
            <a:r>
              <a:rPr lang="en-US" sz="2400" dirty="0"/>
              <a:t> are also </a:t>
            </a:r>
            <a:r>
              <a:rPr lang="en-US" sz="2400" dirty="0">
                <a:highlight>
                  <a:srgbClr val="FFFF00"/>
                </a:highlight>
              </a:rPr>
              <a:t>final by default</a:t>
            </a:r>
            <a:r>
              <a:rPr lang="en-US" sz="2400" dirty="0"/>
              <a:t>. As with the classes, the </a:t>
            </a:r>
            <a:r>
              <a:rPr lang="en-US" sz="2400" dirty="0">
                <a:highlight>
                  <a:srgbClr val="FFFF00"/>
                </a:highlight>
                <a:latin typeface="Lucida Console" panose="020B0609040504020204" pitchFamily="49" charset="0"/>
              </a:rPr>
              <a:t>open</a:t>
            </a:r>
            <a:r>
              <a:rPr lang="en-US" sz="2400" dirty="0"/>
              <a:t> modifier allows overriding them.</a:t>
            </a:r>
          </a:p>
          <a:p>
            <a:endParaRPr lang="en-US" sz="2400" dirty="0"/>
          </a:p>
          <a:p>
            <a:pPr marL="0" indent="0">
              <a:buNone/>
            </a:pPr>
            <a:r>
              <a:rPr lang="en-US" sz="1200" dirty="0">
                <a:highlight>
                  <a:srgbClr val="FFFF00"/>
                </a:highlight>
                <a:latin typeface="Lucida Console" panose="020B0609040504020204" pitchFamily="49" charset="0"/>
              </a:rPr>
              <a:t>open</a:t>
            </a:r>
            <a:r>
              <a:rPr lang="en-US" sz="1200" dirty="0">
                <a:latin typeface="Lucida Console" panose="020B0609040504020204" pitchFamily="49" charset="0"/>
              </a:rPr>
              <a:t> class Tiger(</a:t>
            </a:r>
            <a:r>
              <a:rPr lang="en-US" sz="1200" dirty="0" err="1">
                <a:latin typeface="Lucida Console" panose="020B0609040504020204" pitchFamily="49" charset="0"/>
              </a:rPr>
              <a:t>val</a:t>
            </a:r>
            <a:r>
              <a:rPr lang="en-US" sz="1200" dirty="0">
                <a:latin typeface="Lucida Console" panose="020B0609040504020204" pitchFamily="49" charset="0"/>
              </a:rPr>
              <a:t> origin: String) {</a:t>
            </a:r>
          </a:p>
          <a:p>
            <a:pPr marL="0" indent="0">
              <a:buNone/>
            </a:pPr>
            <a:r>
              <a:rPr lang="en-US" sz="1200" dirty="0">
                <a:latin typeface="Lucida Console" panose="020B0609040504020204" pitchFamily="49" charset="0"/>
              </a:rPr>
              <a:t>	</a:t>
            </a:r>
            <a:r>
              <a:rPr lang="en-US" sz="1200" dirty="0">
                <a:highlight>
                  <a:srgbClr val="FFFF00"/>
                </a:highlight>
                <a:latin typeface="Lucida Console" panose="020B0609040504020204" pitchFamily="49" charset="0"/>
              </a:rPr>
              <a:t>open</a:t>
            </a:r>
            <a:r>
              <a:rPr lang="en-US" sz="1200" dirty="0">
                <a:latin typeface="Lucida Console" panose="020B0609040504020204" pitchFamily="49" charset="0"/>
              </a:rPr>
              <a:t> fun </a:t>
            </a:r>
            <a:r>
              <a:rPr lang="en-US" sz="1200" dirty="0" err="1">
                <a:latin typeface="Lucida Console" panose="020B0609040504020204" pitchFamily="49" charset="0"/>
              </a:rPr>
              <a:t>sayHello</a:t>
            </a: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		</a:t>
            </a:r>
            <a:r>
              <a:rPr lang="en-US" sz="1200" dirty="0" err="1">
                <a:latin typeface="Lucida Console" panose="020B0609040504020204" pitchFamily="49" charset="0"/>
              </a:rPr>
              <a:t>println</a:t>
            </a:r>
            <a:r>
              <a:rPr lang="en-US" sz="1200" dirty="0">
                <a:latin typeface="Lucida Console" panose="020B0609040504020204" pitchFamily="49" charset="0"/>
              </a:rPr>
              <a:t>(“A tiger from $origin says: </a:t>
            </a:r>
            <a:r>
              <a:rPr lang="en-US" sz="1200" dirty="0" err="1">
                <a:latin typeface="Lucida Console" panose="020B0609040504020204" pitchFamily="49" charset="0"/>
              </a:rPr>
              <a:t>grrrh</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a:t>
            </a:r>
          </a:p>
          <a:p>
            <a:pPr marL="0" indent="0">
              <a:buNone/>
            </a:pPr>
            <a:endParaRPr lang="en-US" sz="1200" dirty="0">
              <a:latin typeface="Lucida Console" panose="020B0609040504020204" pitchFamily="49" charset="0"/>
            </a:endParaRPr>
          </a:p>
          <a:p>
            <a:pPr marL="0" indent="0">
              <a:buNone/>
            </a:pPr>
            <a:r>
              <a:rPr lang="en-US" sz="1200" dirty="0">
                <a:latin typeface="Lucida Console" panose="020B0609040504020204" pitchFamily="49" charset="0"/>
              </a:rPr>
              <a:t>class </a:t>
            </a:r>
            <a:r>
              <a:rPr lang="en-US" sz="1200" dirty="0" err="1">
                <a:latin typeface="Lucida Console" panose="020B0609040504020204" pitchFamily="49" charset="0"/>
              </a:rPr>
              <a:t>SiberianTiger</a:t>
            </a:r>
            <a:r>
              <a:rPr lang="en-US" sz="1200" dirty="0">
                <a:latin typeface="Lucida Console" panose="020B0609040504020204" pitchFamily="49" charset="0"/>
              </a:rPr>
              <a:t> : Tiger(“Siberia”)</a:t>
            </a:r>
          </a:p>
          <a:p>
            <a:pPr marL="0" indent="0">
              <a:buNone/>
            </a:pPr>
            <a:endParaRPr lang="en-US" sz="1200" dirty="0">
              <a:latin typeface="Lucida Console" panose="020B0609040504020204" pitchFamily="49" charset="0"/>
            </a:endParaRPr>
          </a:p>
          <a:p>
            <a:pPr marL="0" indent="0">
              <a:buNone/>
            </a:pPr>
            <a:r>
              <a:rPr lang="en-US" sz="1200" dirty="0">
                <a:latin typeface="Lucida Console" panose="020B0609040504020204" pitchFamily="49" charset="0"/>
              </a:rPr>
              <a:t>fun main() {</a:t>
            </a:r>
            <a:br>
              <a:rPr lang="en-US" sz="1200" dirty="0">
                <a:latin typeface="Lucida Console" panose="020B0609040504020204" pitchFamily="49" charset="0"/>
              </a:rPr>
            </a:br>
            <a:r>
              <a:rPr lang="en-US" sz="1200" dirty="0">
                <a:latin typeface="Lucida Console" panose="020B0609040504020204" pitchFamily="49" charset="0"/>
              </a:rPr>
              <a:t>	</a:t>
            </a:r>
            <a:r>
              <a:rPr lang="en-US" sz="1200" dirty="0" err="1">
                <a:latin typeface="Lucida Console" panose="020B0609040504020204" pitchFamily="49" charset="0"/>
              </a:rPr>
              <a:t>val</a:t>
            </a:r>
            <a:r>
              <a:rPr lang="en-US" sz="1200" dirty="0">
                <a:latin typeface="Lucida Console" panose="020B0609040504020204" pitchFamily="49" charset="0"/>
              </a:rPr>
              <a:t> tiger</a:t>
            </a:r>
            <a:r>
              <a:rPr lang="en-US" sz="1200" dirty="0">
                <a:solidFill>
                  <a:schemeClr val="bg2">
                    <a:lumMod val="75000"/>
                  </a:schemeClr>
                </a:solidFill>
                <a:latin typeface="Lucida Console" panose="020B0609040504020204" pitchFamily="49" charset="0"/>
              </a:rPr>
              <a:t>: Tiger</a:t>
            </a:r>
            <a:r>
              <a:rPr lang="en-US" sz="1200" dirty="0">
                <a:latin typeface="Lucida Console" panose="020B0609040504020204" pitchFamily="49" charset="0"/>
              </a:rPr>
              <a:t> = </a:t>
            </a:r>
            <a:r>
              <a:rPr lang="en-US" sz="1200" dirty="0" err="1">
                <a:latin typeface="Lucida Console" panose="020B0609040504020204" pitchFamily="49" charset="0"/>
              </a:rPr>
              <a:t>SiberianTiger</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	</a:t>
            </a:r>
            <a:r>
              <a:rPr lang="en-US" sz="1200" dirty="0" err="1">
                <a:latin typeface="Lucida Console" panose="020B0609040504020204" pitchFamily="49" charset="0"/>
              </a:rPr>
              <a:t>tiger.sayHello</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a:t>
            </a:r>
            <a:endParaRPr lang="en-SG" sz="1200" dirty="0">
              <a:latin typeface="Lucida Console" panose="020B0609040504020204" pitchFamily="49" charset="0"/>
            </a:endParaRPr>
          </a:p>
        </p:txBody>
      </p:sp>
    </p:spTree>
    <p:extLst>
      <p:ext uri="{BB962C8B-B14F-4D97-AF65-F5344CB8AC3E}">
        <p14:creationId xmlns:p14="http://schemas.microsoft.com/office/powerpoint/2010/main" val="35794723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150B8-C409-456F-B1AB-D549F4E2B723}"/>
              </a:ext>
            </a:extLst>
          </p:cNvPr>
          <p:cNvSpPr>
            <a:spLocks noGrp="1"/>
          </p:cNvSpPr>
          <p:nvPr>
            <p:ph type="title"/>
          </p:nvPr>
        </p:nvSpPr>
        <p:spPr/>
        <p:txBody>
          <a:bodyPr/>
          <a:lstStyle/>
          <a:p>
            <a:r>
              <a:rPr lang="en-SG" dirty="0"/>
              <a:t>Class Hierarchy / Inheritance</a:t>
            </a:r>
          </a:p>
        </p:txBody>
      </p:sp>
      <p:sp>
        <p:nvSpPr>
          <p:cNvPr id="3" name="Content Placeholder 2">
            <a:extLst>
              <a:ext uri="{FF2B5EF4-FFF2-40B4-BE49-F238E27FC236}">
                <a16:creationId xmlns:a16="http://schemas.microsoft.com/office/drawing/2014/main" id="{D864DE4C-4E81-4964-945C-2FCF3BAFDEB1}"/>
              </a:ext>
            </a:extLst>
          </p:cNvPr>
          <p:cNvSpPr>
            <a:spLocks noGrp="1"/>
          </p:cNvSpPr>
          <p:nvPr>
            <p:ph idx="1"/>
          </p:nvPr>
        </p:nvSpPr>
        <p:spPr>
          <a:xfrm>
            <a:off x="838200" y="1825625"/>
            <a:ext cx="6155987" cy="4351338"/>
          </a:xfrm>
        </p:spPr>
        <p:txBody>
          <a:bodyPr>
            <a:normAutofit lnSpcReduction="10000"/>
          </a:bodyPr>
          <a:lstStyle/>
          <a:p>
            <a:pPr marL="0" indent="0">
              <a:buNone/>
            </a:pPr>
            <a:r>
              <a:rPr lang="en-US" sz="1200" dirty="0">
                <a:highlight>
                  <a:srgbClr val="FFFF00"/>
                </a:highlight>
                <a:latin typeface="Lucida Console" panose="020B0609040504020204" pitchFamily="49" charset="0"/>
              </a:rPr>
              <a:t>open</a:t>
            </a:r>
            <a:r>
              <a:rPr lang="en-US" sz="1200" dirty="0">
                <a:latin typeface="Lucida Console" panose="020B0609040504020204" pitchFamily="49" charset="0"/>
              </a:rPr>
              <a:t> class Tiger(</a:t>
            </a:r>
            <a:r>
              <a:rPr lang="en-US" sz="1200" dirty="0" err="1">
                <a:latin typeface="Lucida Console" panose="020B0609040504020204" pitchFamily="49" charset="0"/>
              </a:rPr>
              <a:t>val</a:t>
            </a:r>
            <a:r>
              <a:rPr lang="en-US" sz="1200" dirty="0">
                <a:latin typeface="Lucida Console" panose="020B0609040504020204" pitchFamily="49" charset="0"/>
              </a:rPr>
              <a:t> origin: String) {</a:t>
            </a:r>
          </a:p>
          <a:p>
            <a:pPr marL="0" indent="0">
              <a:buNone/>
            </a:pPr>
            <a:r>
              <a:rPr lang="en-US" sz="1200" dirty="0">
                <a:latin typeface="Lucida Console" panose="020B0609040504020204" pitchFamily="49" charset="0"/>
              </a:rPr>
              <a:t>	</a:t>
            </a:r>
            <a:r>
              <a:rPr lang="en-US" sz="1200" dirty="0">
                <a:highlight>
                  <a:srgbClr val="00FFFF"/>
                </a:highlight>
                <a:latin typeface="Lucida Console" panose="020B0609040504020204" pitchFamily="49" charset="0"/>
              </a:rPr>
              <a:t>open</a:t>
            </a:r>
            <a:r>
              <a:rPr lang="en-US" sz="1200" dirty="0">
                <a:latin typeface="Lucida Console" panose="020B0609040504020204" pitchFamily="49" charset="0"/>
              </a:rPr>
              <a:t> fun </a:t>
            </a:r>
            <a:r>
              <a:rPr lang="en-US" sz="1200" dirty="0" err="1">
                <a:latin typeface="Lucida Console" panose="020B0609040504020204" pitchFamily="49" charset="0"/>
              </a:rPr>
              <a:t>sayHello</a:t>
            </a: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		</a:t>
            </a:r>
            <a:r>
              <a:rPr lang="en-US" sz="1200" dirty="0" err="1">
                <a:latin typeface="Lucida Console" panose="020B0609040504020204" pitchFamily="49" charset="0"/>
              </a:rPr>
              <a:t>println</a:t>
            </a:r>
            <a:r>
              <a:rPr lang="en-US" sz="1200" dirty="0">
                <a:latin typeface="Lucida Console" panose="020B0609040504020204" pitchFamily="49" charset="0"/>
              </a:rPr>
              <a:t>(“A tiger from $origin says: </a:t>
            </a:r>
            <a:r>
              <a:rPr lang="en-US" sz="1200" dirty="0" err="1">
                <a:latin typeface="Lucida Console" panose="020B0609040504020204" pitchFamily="49" charset="0"/>
              </a:rPr>
              <a:t>grrrh</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a:t>
            </a:r>
          </a:p>
          <a:p>
            <a:pPr marL="0" indent="0">
              <a:buNone/>
            </a:pPr>
            <a:endParaRPr lang="en-US" sz="1200" dirty="0">
              <a:latin typeface="Lucida Console" panose="020B0609040504020204" pitchFamily="49" charset="0"/>
            </a:endParaRPr>
          </a:p>
          <a:p>
            <a:pPr marL="0" indent="0">
              <a:buNone/>
            </a:pPr>
            <a:r>
              <a:rPr lang="en-US" sz="1200" dirty="0">
                <a:highlight>
                  <a:srgbClr val="FFFF00"/>
                </a:highlight>
                <a:latin typeface="Lucida Console" panose="020B0609040504020204" pitchFamily="49" charset="0"/>
              </a:rPr>
              <a:t>class</a:t>
            </a:r>
            <a:r>
              <a:rPr lang="en-US" sz="1200" dirty="0">
                <a:latin typeface="Lucida Console" panose="020B0609040504020204" pitchFamily="49" charset="0"/>
              </a:rPr>
              <a:t> </a:t>
            </a:r>
            <a:r>
              <a:rPr lang="en-US" sz="1200" dirty="0" err="1">
                <a:latin typeface="Lucida Console" panose="020B0609040504020204" pitchFamily="49" charset="0"/>
              </a:rPr>
              <a:t>SiberianTiger</a:t>
            </a:r>
            <a:r>
              <a:rPr lang="en-US" sz="1200" dirty="0">
                <a:latin typeface="Lucida Console" panose="020B0609040504020204" pitchFamily="49" charset="0"/>
              </a:rPr>
              <a:t> : </a:t>
            </a:r>
            <a:r>
              <a:rPr lang="en-US" sz="1200" dirty="0">
                <a:highlight>
                  <a:srgbClr val="00FF00"/>
                </a:highlight>
                <a:latin typeface="Lucida Console" panose="020B0609040504020204" pitchFamily="49" charset="0"/>
              </a:rPr>
              <a:t>Tiger(“Siberia”)</a:t>
            </a: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	</a:t>
            </a:r>
            <a:r>
              <a:rPr lang="en-US" sz="1200" dirty="0">
                <a:highlight>
                  <a:srgbClr val="00FFFF"/>
                </a:highlight>
                <a:latin typeface="Lucida Console" panose="020B0609040504020204" pitchFamily="49" charset="0"/>
              </a:rPr>
              <a:t>override</a:t>
            </a:r>
            <a:r>
              <a:rPr lang="en-US" sz="1200" dirty="0">
                <a:latin typeface="Lucida Console" panose="020B0609040504020204" pitchFamily="49" charset="0"/>
              </a:rPr>
              <a:t> fun </a:t>
            </a:r>
            <a:r>
              <a:rPr lang="en-US" sz="1200" dirty="0" err="1">
                <a:latin typeface="Lucida Console" panose="020B0609040504020204" pitchFamily="49" charset="0"/>
              </a:rPr>
              <a:t>sayHello</a:t>
            </a: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		</a:t>
            </a:r>
            <a:r>
              <a:rPr lang="en-US" sz="1200" dirty="0" err="1">
                <a:latin typeface="Lucida Console" panose="020B0609040504020204" pitchFamily="49" charset="0"/>
              </a:rPr>
              <a:t>println</a:t>
            </a:r>
            <a:r>
              <a:rPr lang="en-US" sz="1200" dirty="0">
                <a:latin typeface="Lucida Console" panose="020B0609040504020204" pitchFamily="49" charset="0"/>
              </a:rPr>
              <a:t>("Hi I'm from Siberia </a:t>
            </a:r>
            <a:r>
              <a:rPr lang="en-US" sz="1200" dirty="0" err="1">
                <a:latin typeface="Lucida Console" panose="020B0609040504020204" pitchFamily="49" charset="0"/>
              </a:rPr>
              <a:t>grrrh</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a:t>
            </a:r>
          </a:p>
          <a:p>
            <a:pPr marL="0" indent="0">
              <a:buNone/>
            </a:pPr>
            <a:endParaRPr lang="en-US" sz="1200" dirty="0">
              <a:latin typeface="Lucida Console" panose="020B0609040504020204" pitchFamily="49" charset="0"/>
            </a:endParaRPr>
          </a:p>
          <a:p>
            <a:pPr marL="0" indent="0">
              <a:buNone/>
            </a:pPr>
            <a:r>
              <a:rPr lang="en-US" sz="1200" dirty="0">
                <a:latin typeface="Lucida Console" panose="020B0609040504020204" pitchFamily="49" charset="0"/>
              </a:rPr>
              <a:t>fun main() {</a:t>
            </a:r>
            <a:br>
              <a:rPr lang="en-US" sz="1200" dirty="0">
                <a:latin typeface="Lucida Console" panose="020B0609040504020204" pitchFamily="49" charset="0"/>
              </a:rPr>
            </a:br>
            <a:r>
              <a:rPr lang="en-US" sz="1200" dirty="0">
                <a:latin typeface="Lucida Console" panose="020B0609040504020204" pitchFamily="49" charset="0"/>
              </a:rPr>
              <a:t>	</a:t>
            </a:r>
            <a:r>
              <a:rPr lang="en-US" sz="1200" dirty="0" err="1">
                <a:latin typeface="Lucida Console" panose="020B0609040504020204" pitchFamily="49" charset="0"/>
              </a:rPr>
              <a:t>val</a:t>
            </a:r>
            <a:r>
              <a:rPr lang="en-US" sz="1200" dirty="0">
                <a:latin typeface="Lucida Console" panose="020B0609040504020204" pitchFamily="49" charset="0"/>
              </a:rPr>
              <a:t> tiger</a:t>
            </a:r>
            <a:r>
              <a:rPr lang="en-US" sz="1200" dirty="0">
                <a:solidFill>
                  <a:schemeClr val="bg2">
                    <a:lumMod val="75000"/>
                  </a:schemeClr>
                </a:solidFill>
                <a:latin typeface="Lucida Console" panose="020B0609040504020204" pitchFamily="49" charset="0"/>
              </a:rPr>
              <a:t>: Tiger</a:t>
            </a:r>
            <a:r>
              <a:rPr lang="en-US" sz="1200" dirty="0">
                <a:latin typeface="Lucida Console" panose="020B0609040504020204" pitchFamily="49" charset="0"/>
              </a:rPr>
              <a:t> = </a:t>
            </a:r>
            <a:r>
              <a:rPr lang="en-US" sz="1200" dirty="0" err="1">
                <a:latin typeface="Lucida Console" panose="020B0609040504020204" pitchFamily="49" charset="0"/>
              </a:rPr>
              <a:t>SiberianTiger</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	</a:t>
            </a:r>
            <a:r>
              <a:rPr lang="en-US" sz="1200" dirty="0" err="1">
                <a:latin typeface="Lucida Console" panose="020B0609040504020204" pitchFamily="49" charset="0"/>
              </a:rPr>
              <a:t>tiger.sayHello</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a:t>
            </a:r>
            <a:endParaRPr lang="en-SG" sz="1200" dirty="0">
              <a:latin typeface="Lucida Console" panose="020B0609040504020204" pitchFamily="49" charset="0"/>
            </a:endParaRPr>
          </a:p>
        </p:txBody>
      </p:sp>
      <p:cxnSp>
        <p:nvCxnSpPr>
          <p:cNvPr id="5" name="Straight Arrow Connector 4">
            <a:extLst>
              <a:ext uri="{FF2B5EF4-FFF2-40B4-BE49-F238E27FC236}">
                <a16:creationId xmlns:a16="http://schemas.microsoft.com/office/drawing/2014/main" id="{0FE3704D-EE3F-48B3-8A03-A4608BF16D3E}"/>
              </a:ext>
            </a:extLst>
          </p:cNvPr>
          <p:cNvCxnSpPr/>
          <p:nvPr/>
        </p:nvCxnSpPr>
        <p:spPr>
          <a:xfrm>
            <a:off x="1138136" y="2052536"/>
            <a:ext cx="0" cy="1376464"/>
          </a:xfrm>
          <a:prstGeom prst="straightConnector1">
            <a:avLst/>
          </a:prstGeom>
          <a:ln>
            <a:tailEnd type="triangle"/>
          </a:ln>
        </p:spPr>
        <p:style>
          <a:lnRef idx="1">
            <a:schemeClr val="accent4"/>
          </a:lnRef>
          <a:fillRef idx="0">
            <a:schemeClr val="accent4"/>
          </a:fillRef>
          <a:effectRef idx="0">
            <a:schemeClr val="accent4"/>
          </a:effectRef>
          <a:fontRef idx="minor">
            <a:schemeClr val="tx1"/>
          </a:fontRef>
        </p:style>
      </p:cxnSp>
      <p:cxnSp>
        <p:nvCxnSpPr>
          <p:cNvPr id="6" name="Straight Arrow Connector 5">
            <a:extLst>
              <a:ext uri="{FF2B5EF4-FFF2-40B4-BE49-F238E27FC236}">
                <a16:creationId xmlns:a16="http://schemas.microsoft.com/office/drawing/2014/main" id="{C0785C4B-E6C1-489C-88C5-33EE7ED757FE}"/>
              </a:ext>
            </a:extLst>
          </p:cNvPr>
          <p:cNvCxnSpPr/>
          <p:nvPr/>
        </p:nvCxnSpPr>
        <p:spPr>
          <a:xfrm>
            <a:off x="2059021" y="2321668"/>
            <a:ext cx="0" cy="1376464"/>
          </a:xfrm>
          <a:prstGeom prst="straightConnector1">
            <a:avLst/>
          </a:prstGeom>
          <a:ln>
            <a:solidFill>
              <a:srgbClr val="00B0F0"/>
            </a:solidFill>
            <a:tailEnd type="triangle"/>
          </a:ln>
        </p:spPr>
        <p:style>
          <a:lnRef idx="1">
            <a:schemeClr val="accent4"/>
          </a:lnRef>
          <a:fillRef idx="0">
            <a:schemeClr val="accent4"/>
          </a:fillRef>
          <a:effectRef idx="0">
            <a:schemeClr val="accent4"/>
          </a:effectRef>
          <a:fontRef idx="minor">
            <a:schemeClr val="tx1"/>
          </a:fontRef>
        </p:style>
      </p:cxnSp>
      <p:sp>
        <p:nvSpPr>
          <p:cNvPr id="7" name="TextBox 6">
            <a:extLst>
              <a:ext uri="{FF2B5EF4-FFF2-40B4-BE49-F238E27FC236}">
                <a16:creationId xmlns:a16="http://schemas.microsoft.com/office/drawing/2014/main" id="{BE67928A-57EA-4386-A190-E6E8EDCA1239}"/>
              </a:ext>
            </a:extLst>
          </p:cNvPr>
          <p:cNvSpPr txBox="1"/>
          <p:nvPr/>
        </p:nvSpPr>
        <p:spPr>
          <a:xfrm>
            <a:off x="6740457" y="2990344"/>
            <a:ext cx="5076218" cy="3293209"/>
          </a:xfrm>
          <a:prstGeom prst="rect">
            <a:avLst/>
          </a:prstGeom>
          <a:noFill/>
        </p:spPr>
        <p:txBody>
          <a:bodyPr wrap="square" rtlCol="0">
            <a:spAutoFit/>
          </a:bodyPr>
          <a:lstStyle/>
          <a:p>
            <a:pPr marL="342900" indent="-342900">
              <a:buAutoNum type="arabicPeriod"/>
            </a:pPr>
            <a:r>
              <a:rPr lang="en-SG" sz="1600" dirty="0"/>
              <a:t>To </a:t>
            </a:r>
            <a:r>
              <a:rPr lang="en-SG" sz="1600" dirty="0">
                <a:highlight>
                  <a:srgbClr val="FFFF00"/>
                </a:highlight>
              </a:rPr>
              <a:t>inherit</a:t>
            </a:r>
            <a:r>
              <a:rPr lang="en-SG" sz="1600" dirty="0"/>
              <a:t> a superclass, the superclass itself must be marked with the </a:t>
            </a:r>
            <a:r>
              <a:rPr lang="en-SG" sz="1600" dirty="0">
                <a:highlight>
                  <a:srgbClr val="FFFF00"/>
                </a:highlight>
                <a:latin typeface="Lucida Console" panose="020B0609040504020204" pitchFamily="49" charset="0"/>
              </a:rPr>
              <a:t>open/abstract</a:t>
            </a:r>
            <a:r>
              <a:rPr lang="en-SG" sz="1600" dirty="0"/>
              <a:t> modifier</a:t>
            </a:r>
          </a:p>
          <a:p>
            <a:pPr marL="342900" indent="-342900">
              <a:buAutoNum type="arabicPeriod"/>
            </a:pPr>
            <a:endParaRPr lang="en-SG" sz="1600" dirty="0"/>
          </a:p>
          <a:p>
            <a:pPr marL="342900" indent="-342900">
              <a:buAutoNum type="arabicPeriod"/>
            </a:pPr>
            <a:r>
              <a:rPr lang="en-SG" sz="1600" dirty="0"/>
              <a:t>To override a superclass’ method or property, the superclass method or property must be marked with the </a:t>
            </a:r>
            <a:r>
              <a:rPr lang="en-SG" sz="1600" dirty="0">
                <a:highlight>
                  <a:srgbClr val="00FFFF"/>
                </a:highlight>
                <a:latin typeface="Lucida Console" panose="020B0609040504020204" pitchFamily="49" charset="0"/>
              </a:rPr>
              <a:t>open</a:t>
            </a:r>
            <a:r>
              <a:rPr lang="en-SG" sz="1600" dirty="0"/>
              <a:t> modifier, and the overriding method or property must be marked with the </a:t>
            </a:r>
            <a:r>
              <a:rPr lang="en-SG" sz="1600" dirty="0">
                <a:highlight>
                  <a:srgbClr val="00FFFF"/>
                </a:highlight>
                <a:latin typeface="Lucida Console" panose="020B0609040504020204" pitchFamily="49" charset="0"/>
              </a:rPr>
              <a:t>override</a:t>
            </a:r>
            <a:r>
              <a:rPr lang="en-SG" sz="1600" dirty="0"/>
              <a:t> modifier</a:t>
            </a:r>
          </a:p>
          <a:p>
            <a:pPr marL="342900" indent="-342900">
              <a:buAutoNum type="arabicPeriod"/>
            </a:pPr>
            <a:endParaRPr lang="en-SG" sz="1600" dirty="0"/>
          </a:p>
          <a:p>
            <a:pPr marL="342900" indent="-342900">
              <a:buAutoNum type="arabicPeriod"/>
            </a:pPr>
            <a:r>
              <a:rPr lang="en-SG" sz="1600" dirty="0"/>
              <a:t>If only specify </a:t>
            </a:r>
            <a:r>
              <a:rPr lang="en-SG" sz="1600" dirty="0">
                <a:highlight>
                  <a:srgbClr val="00FF00"/>
                </a:highlight>
                <a:latin typeface="Lucida Console" panose="020B0609040504020204" pitchFamily="49" charset="0"/>
              </a:rPr>
              <a:t>Tiger</a:t>
            </a:r>
            <a:r>
              <a:rPr lang="en-SG" sz="1600" dirty="0"/>
              <a:t>: </a:t>
            </a:r>
            <a:r>
              <a:rPr lang="en-US" sz="1600" dirty="0"/>
              <a:t> Error – This type has a constructor, and thus must be initialized here</a:t>
            </a:r>
          </a:p>
          <a:p>
            <a:pPr marL="342900" indent="-342900">
              <a:buAutoNum type="arabicPeriod"/>
            </a:pPr>
            <a:r>
              <a:rPr lang="en-US" sz="1600" dirty="0"/>
              <a:t>If only specify </a:t>
            </a:r>
            <a:r>
              <a:rPr lang="en-US" sz="1600" dirty="0">
                <a:highlight>
                  <a:srgbClr val="00FF00"/>
                </a:highlight>
                <a:latin typeface="Lucida Console" panose="020B0609040504020204" pitchFamily="49" charset="0"/>
              </a:rPr>
              <a:t>Tiger()</a:t>
            </a:r>
            <a:r>
              <a:rPr lang="en-US" sz="1600" dirty="0"/>
              <a:t>: Error – No value passed for parameter 'origin'</a:t>
            </a:r>
            <a:endParaRPr lang="en-SG" sz="1600" dirty="0"/>
          </a:p>
        </p:txBody>
      </p:sp>
      <p:cxnSp>
        <p:nvCxnSpPr>
          <p:cNvPr id="9" name="Straight Arrow Connector 8">
            <a:extLst>
              <a:ext uri="{FF2B5EF4-FFF2-40B4-BE49-F238E27FC236}">
                <a16:creationId xmlns:a16="http://schemas.microsoft.com/office/drawing/2014/main" id="{4D50E0C4-FD86-4683-9E24-06A3F45B04A7}"/>
              </a:ext>
            </a:extLst>
          </p:cNvPr>
          <p:cNvCxnSpPr>
            <a:cxnSpLocks/>
            <a:endCxn id="10" idx="2"/>
          </p:cNvCxnSpPr>
          <p:nvPr/>
        </p:nvCxnSpPr>
        <p:spPr>
          <a:xfrm flipV="1">
            <a:off x="3122579" y="4913094"/>
            <a:ext cx="711742" cy="339842"/>
          </a:xfrm>
          <a:prstGeom prst="straightConnector1">
            <a:avLst/>
          </a:prstGeom>
          <a:ln>
            <a:tailEnd type="triangle"/>
          </a:ln>
        </p:spPr>
        <p:style>
          <a:lnRef idx="1">
            <a:schemeClr val="accent3"/>
          </a:lnRef>
          <a:fillRef idx="0">
            <a:schemeClr val="accent3"/>
          </a:fillRef>
          <a:effectRef idx="0">
            <a:schemeClr val="accent3"/>
          </a:effectRef>
          <a:fontRef idx="minor">
            <a:schemeClr val="tx1"/>
          </a:fontRef>
        </p:style>
      </p:cxnSp>
      <p:sp>
        <p:nvSpPr>
          <p:cNvPr id="10" name="Rectangle 9">
            <a:extLst>
              <a:ext uri="{FF2B5EF4-FFF2-40B4-BE49-F238E27FC236}">
                <a16:creationId xmlns:a16="http://schemas.microsoft.com/office/drawing/2014/main" id="{EFAA7395-974C-4CA8-B129-6BD99AA5AE88}"/>
              </a:ext>
            </a:extLst>
          </p:cNvPr>
          <p:cNvSpPr/>
          <p:nvPr/>
        </p:nvSpPr>
        <p:spPr>
          <a:xfrm>
            <a:off x="3377121" y="4522694"/>
            <a:ext cx="914400" cy="390400"/>
          </a:xfrm>
          <a:prstGeom prst="rect">
            <a:avLst/>
          </a:prstGeom>
          <a:no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SG" sz="1200" dirty="0">
                <a:solidFill>
                  <a:schemeClr val="bg2">
                    <a:lumMod val="75000"/>
                  </a:schemeClr>
                </a:solidFill>
              </a:rPr>
              <a:t>Optional to indicate?</a:t>
            </a:r>
          </a:p>
        </p:txBody>
      </p:sp>
    </p:spTree>
    <p:extLst>
      <p:ext uri="{BB962C8B-B14F-4D97-AF65-F5344CB8AC3E}">
        <p14:creationId xmlns:p14="http://schemas.microsoft.com/office/powerpoint/2010/main" val="8643577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150B8-C409-456F-B1AB-D549F4E2B723}"/>
              </a:ext>
            </a:extLst>
          </p:cNvPr>
          <p:cNvSpPr>
            <a:spLocks noGrp="1"/>
          </p:cNvSpPr>
          <p:nvPr>
            <p:ph type="title"/>
          </p:nvPr>
        </p:nvSpPr>
        <p:spPr/>
        <p:txBody>
          <a:bodyPr/>
          <a:lstStyle/>
          <a:p>
            <a:r>
              <a:rPr lang="en-SG" dirty="0"/>
              <a:t>Class Hierarchy / Inheritance</a:t>
            </a:r>
          </a:p>
        </p:txBody>
      </p:sp>
      <p:sp>
        <p:nvSpPr>
          <p:cNvPr id="3" name="Content Placeholder 2">
            <a:extLst>
              <a:ext uri="{FF2B5EF4-FFF2-40B4-BE49-F238E27FC236}">
                <a16:creationId xmlns:a16="http://schemas.microsoft.com/office/drawing/2014/main" id="{D864DE4C-4E81-4964-945C-2FCF3BAFDEB1}"/>
              </a:ext>
            </a:extLst>
          </p:cNvPr>
          <p:cNvSpPr>
            <a:spLocks noGrp="1"/>
          </p:cNvSpPr>
          <p:nvPr>
            <p:ph idx="1"/>
          </p:nvPr>
        </p:nvSpPr>
        <p:spPr>
          <a:xfrm>
            <a:off x="838199" y="1527244"/>
            <a:ext cx="6798013" cy="4965632"/>
          </a:xfrm>
        </p:spPr>
        <p:txBody>
          <a:bodyPr>
            <a:normAutofit fontScale="92500" lnSpcReduction="10000"/>
          </a:bodyPr>
          <a:lstStyle/>
          <a:p>
            <a:pPr marL="0" indent="0">
              <a:buNone/>
            </a:pPr>
            <a:r>
              <a:rPr lang="en-US" sz="1200" dirty="0">
                <a:highlight>
                  <a:srgbClr val="FFFF00"/>
                </a:highlight>
                <a:latin typeface="Lucida Console" panose="020B0609040504020204" pitchFamily="49" charset="0"/>
              </a:rPr>
              <a:t>abstract</a:t>
            </a:r>
            <a:r>
              <a:rPr lang="en-US" sz="1200" dirty="0">
                <a:latin typeface="Lucida Console" panose="020B0609040504020204" pitchFamily="49" charset="0"/>
              </a:rPr>
              <a:t> class Dwelling(private var </a:t>
            </a:r>
            <a:r>
              <a:rPr lang="en-US" sz="1200" dirty="0">
                <a:highlight>
                  <a:srgbClr val="00FF00"/>
                </a:highlight>
                <a:latin typeface="Lucida Console" panose="020B0609040504020204" pitchFamily="49" charset="0"/>
              </a:rPr>
              <a:t>residents</a:t>
            </a:r>
            <a:r>
              <a:rPr lang="en-US" sz="1200" dirty="0">
                <a:latin typeface="Lucida Console" panose="020B0609040504020204" pitchFamily="49" charset="0"/>
              </a:rPr>
              <a:t>: Int) {</a:t>
            </a:r>
          </a:p>
          <a:p>
            <a:pPr marL="0" indent="0">
              <a:buNone/>
            </a:pPr>
            <a:r>
              <a:rPr lang="en-US" sz="1200" dirty="0">
                <a:latin typeface="Lucida Console" panose="020B0609040504020204" pitchFamily="49" charset="0"/>
              </a:rPr>
              <a:t>	</a:t>
            </a:r>
            <a:r>
              <a:rPr lang="en-US" sz="1200" dirty="0">
                <a:highlight>
                  <a:srgbClr val="00FFFF"/>
                </a:highlight>
                <a:latin typeface="Lucida Console" panose="020B0609040504020204" pitchFamily="49" charset="0"/>
              </a:rPr>
              <a:t>abstract</a:t>
            </a:r>
            <a:r>
              <a:rPr lang="en-US" sz="1200" dirty="0">
                <a:latin typeface="Lucida Console" panose="020B0609040504020204" pitchFamily="49" charset="0"/>
              </a:rPr>
              <a:t> </a:t>
            </a:r>
            <a:r>
              <a:rPr lang="en-US" sz="1200" dirty="0" err="1">
                <a:latin typeface="Lucida Console" panose="020B0609040504020204" pitchFamily="49" charset="0"/>
              </a:rPr>
              <a:t>val</a:t>
            </a:r>
            <a:r>
              <a:rPr lang="en-US" sz="1200" dirty="0">
                <a:latin typeface="Lucida Console" panose="020B0609040504020204" pitchFamily="49" charset="0"/>
              </a:rPr>
              <a:t> capacity: Int</a:t>
            </a:r>
          </a:p>
          <a:p>
            <a:pPr marL="0" indent="0">
              <a:buNone/>
            </a:pPr>
            <a:r>
              <a:rPr lang="en-US" sz="1200" dirty="0">
                <a:latin typeface="Lucida Console" panose="020B0609040504020204" pitchFamily="49" charset="0"/>
              </a:rPr>
              <a:t>	</a:t>
            </a:r>
            <a:r>
              <a:rPr lang="en-US" sz="1200" dirty="0">
                <a:highlight>
                  <a:srgbClr val="00FFFF"/>
                </a:highlight>
                <a:latin typeface="Lucida Console" panose="020B0609040504020204" pitchFamily="49" charset="0"/>
              </a:rPr>
              <a:t>abstract</a:t>
            </a:r>
            <a:r>
              <a:rPr lang="en-US" sz="1200" dirty="0">
                <a:latin typeface="Lucida Console" panose="020B0609040504020204" pitchFamily="49" charset="0"/>
              </a:rPr>
              <a:t> fun </a:t>
            </a:r>
            <a:r>
              <a:rPr lang="en-US" sz="1200" dirty="0" err="1">
                <a:latin typeface="Lucida Console" panose="020B0609040504020204" pitchFamily="49" charset="0"/>
              </a:rPr>
              <a:t>floorSize</a:t>
            </a:r>
            <a:r>
              <a:rPr lang="en-US" sz="1200" dirty="0">
                <a:latin typeface="Lucida Console" panose="020B0609040504020204" pitchFamily="49" charset="0"/>
              </a:rPr>
              <a:t>(): Double</a:t>
            </a:r>
          </a:p>
          <a:p>
            <a:pPr marL="0" indent="0">
              <a:buNone/>
            </a:pPr>
            <a:r>
              <a:rPr lang="en-US" sz="1200" dirty="0">
                <a:latin typeface="Lucida Console" panose="020B0609040504020204" pitchFamily="49" charset="0"/>
              </a:rPr>
              <a:t>	fun </a:t>
            </a:r>
            <a:r>
              <a:rPr lang="en-US" sz="1200" dirty="0" err="1">
                <a:latin typeface="Lucida Console" panose="020B0609040504020204" pitchFamily="49" charset="0"/>
              </a:rPr>
              <a:t>hasRoom</a:t>
            </a:r>
            <a:r>
              <a:rPr lang="en-US" sz="1200" dirty="0">
                <a:latin typeface="Lucida Console" panose="020B0609040504020204" pitchFamily="49" charset="0"/>
              </a:rPr>
              <a:t>()</a:t>
            </a:r>
            <a:r>
              <a:rPr lang="en-US" sz="1200" dirty="0">
                <a:highlight>
                  <a:srgbClr val="C0C0C0"/>
                </a:highlight>
                <a:latin typeface="Lucida Console" panose="020B0609040504020204" pitchFamily="49" charset="0"/>
              </a:rPr>
              <a:t>: Boolean</a:t>
            </a: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		return capacity &lt; residents</a:t>
            </a:r>
          </a:p>
          <a:p>
            <a:pPr marL="0" indent="0">
              <a:buNone/>
            </a:pP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a:t>
            </a:r>
          </a:p>
          <a:p>
            <a:pPr marL="0" indent="0">
              <a:buNone/>
            </a:pPr>
            <a:endParaRPr lang="en-US" sz="1200" dirty="0">
              <a:latin typeface="Lucida Console" panose="020B0609040504020204" pitchFamily="49" charset="0"/>
            </a:endParaRPr>
          </a:p>
          <a:p>
            <a:pPr marL="0" indent="0">
              <a:buNone/>
            </a:pPr>
            <a:r>
              <a:rPr lang="en-US" sz="1200" dirty="0">
                <a:highlight>
                  <a:srgbClr val="FFFF00"/>
                </a:highlight>
                <a:latin typeface="Lucida Console" panose="020B0609040504020204" pitchFamily="49" charset="0"/>
              </a:rPr>
              <a:t>class</a:t>
            </a:r>
            <a:r>
              <a:rPr lang="en-US" sz="1200" dirty="0">
                <a:latin typeface="Lucida Console" panose="020B0609040504020204" pitchFamily="49" charset="0"/>
              </a:rPr>
              <a:t> </a:t>
            </a:r>
            <a:r>
              <a:rPr lang="en-US" sz="1200" dirty="0" err="1">
                <a:latin typeface="Lucida Console" panose="020B0609040504020204" pitchFamily="49" charset="0"/>
              </a:rPr>
              <a:t>SquareCabin</a:t>
            </a:r>
            <a:r>
              <a:rPr lang="en-US" sz="1200" dirty="0">
                <a:latin typeface="Lucida Console" panose="020B0609040504020204" pitchFamily="49" charset="0"/>
              </a:rPr>
              <a:t>(</a:t>
            </a:r>
            <a:r>
              <a:rPr lang="en-US" sz="1200" dirty="0">
                <a:highlight>
                  <a:srgbClr val="00FF00"/>
                </a:highlight>
                <a:latin typeface="Lucida Console" panose="020B0609040504020204" pitchFamily="49" charset="0"/>
              </a:rPr>
              <a:t>people</a:t>
            </a:r>
            <a:r>
              <a:rPr lang="en-US" sz="1200" dirty="0">
                <a:latin typeface="Lucida Console" panose="020B0609040504020204" pitchFamily="49" charset="0"/>
              </a:rPr>
              <a:t>: Int, </a:t>
            </a:r>
            <a:r>
              <a:rPr lang="en-US" sz="1200" dirty="0" err="1">
                <a:highlight>
                  <a:srgbClr val="FFF169"/>
                </a:highlight>
                <a:latin typeface="Lucida Console" panose="020B0609040504020204" pitchFamily="49" charset="0"/>
              </a:rPr>
              <a:t>val</a:t>
            </a:r>
            <a:r>
              <a:rPr lang="en-US" sz="1200" dirty="0">
                <a:highlight>
                  <a:srgbClr val="FFF169"/>
                </a:highlight>
                <a:latin typeface="Lucida Console" panose="020B0609040504020204" pitchFamily="49" charset="0"/>
              </a:rPr>
              <a:t> length: Double</a:t>
            </a:r>
            <a:r>
              <a:rPr lang="en-US" sz="1200" dirty="0">
                <a:latin typeface="Lucida Console" panose="020B0609040504020204" pitchFamily="49" charset="0"/>
              </a:rPr>
              <a:t>) : Dwelling(</a:t>
            </a:r>
            <a:r>
              <a:rPr lang="en-US" sz="1200" dirty="0">
                <a:highlight>
                  <a:srgbClr val="00FF00"/>
                </a:highlight>
                <a:latin typeface="Lucida Console" panose="020B0609040504020204" pitchFamily="49" charset="0"/>
              </a:rPr>
              <a:t>people</a:t>
            </a: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	</a:t>
            </a:r>
            <a:r>
              <a:rPr lang="en-US" sz="1200" dirty="0">
                <a:highlight>
                  <a:srgbClr val="00FFFF"/>
                </a:highlight>
                <a:latin typeface="Lucida Console" panose="020B0609040504020204" pitchFamily="49" charset="0"/>
              </a:rPr>
              <a:t>override</a:t>
            </a:r>
            <a:r>
              <a:rPr lang="en-US" sz="1200" dirty="0">
                <a:latin typeface="Lucida Console" panose="020B0609040504020204" pitchFamily="49" charset="0"/>
              </a:rPr>
              <a:t> fun </a:t>
            </a:r>
            <a:r>
              <a:rPr lang="en-US" sz="1200" dirty="0" err="1">
                <a:latin typeface="Lucida Console" panose="020B0609040504020204" pitchFamily="49" charset="0"/>
              </a:rPr>
              <a:t>floorSize</a:t>
            </a: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		return </a:t>
            </a:r>
            <a:r>
              <a:rPr lang="en-US" sz="1200" dirty="0">
                <a:highlight>
                  <a:srgbClr val="FFF169"/>
                </a:highlight>
                <a:latin typeface="Lucida Console" panose="020B0609040504020204" pitchFamily="49" charset="0"/>
              </a:rPr>
              <a:t>length * length</a:t>
            </a:r>
          </a:p>
          <a:p>
            <a:pPr marL="0" indent="0">
              <a:buNone/>
            </a:pP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	</a:t>
            </a:r>
            <a:r>
              <a:rPr lang="en-US" sz="1200" dirty="0">
                <a:highlight>
                  <a:srgbClr val="00FFFF"/>
                </a:highlight>
                <a:latin typeface="Lucida Console" panose="020B0609040504020204" pitchFamily="49" charset="0"/>
              </a:rPr>
              <a:t>override</a:t>
            </a:r>
            <a:r>
              <a:rPr lang="en-US" sz="1200" dirty="0">
                <a:latin typeface="Lucida Console" panose="020B0609040504020204" pitchFamily="49" charset="0"/>
              </a:rPr>
              <a:t> </a:t>
            </a:r>
            <a:r>
              <a:rPr lang="en-US" sz="1200" dirty="0" err="1">
                <a:latin typeface="Lucida Console" panose="020B0609040504020204" pitchFamily="49" charset="0"/>
              </a:rPr>
              <a:t>val</a:t>
            </a:r>
            <a:r>
              <a:rPr lang="en-US" sz="1200" dirty="0">
                <a:latin typeface="Lucida Console" panose="020B0609040504020204" pitchFamily="49" charset="0"/>
              </a:rPr>
              <a:t> capacity = 6</a:t>
            </a:r>
          </a:p>
          <a:p>
            <a:pPr marL="0" indent="0">
              <a:buNone/>
            </a:pPr>
            <a:r>
              <a:rPr lang="en-US" sz="1200" dirty="0">
                <a:latin typeface="Lucida Console" panose="020B0609040504020204" pitchFamily="49" charset="0"/>
              </a:rPr>
              <a:t>}</a:t>
            </a:r>
          </a:p>
          <a:p>
            <a:pPr marL="0" indent="0">
              <a:buNone/>
            </a:pPr>
            <a:endParaRPr lang="en-US" sz="1200" dirty="0">
              <a:latin typeface="Lucida Console" panose="020B0609040504020204" pitchFamily="49" charset="0"/>
            </a:endParaRPr>
          </a:p>
          <a:p>
            <a:pPr marL="0" indent="0">
              <a:buNone/>
            </a:pPr>
            <a:r>
              <a:rPr lang="en-US" sz="1200" dirty="0">
                <a:latin typeface="Lucida Console" panose="020B0609040504020204" pitchFamily="49" charset="0"/>
              </a:rPr>
              <a:t>fun main() {</a:t>
            </a:r>
            <a:br>
              <a:rPr lang="en-US" sz="1200" dirty="0">
                <a:latin typeface="Lucida Console" panose="020B0609040504020204" pitchFamily="49" charset="0"/>
              </a:rPr>
            </a:br>
            <a:r>
              <a:rPr lang="en-US" sz="1200" dirty="0">
                <a:latin typeface="Lucida Console" panose="020B0609040504020204" pitchFamily="49" charset="0"/>
              </a:rPr>
              <a:t>	</a:t>
            </a:r>
            <a:r>
              <a:rPr lang="en-US" sz="1200" dirty="0" err="1">
                <a:latin typeface="Lucida Console" panose="020B0609040504020204" pitchFamily="49" charset="0"/>
              </a:rPr>
              <a:t>val</a:t>
            </a:r>
            <a:r>
              <a:rPr lang="en-US" sz="1200" dirty="0">
                <a:latin typeface="Lucida Console" panose="020B0609040504020204" pitchFamily="49" charset="0"/>
              </a:rPr>
              <a:t> cabin = </a:t>
            </a:r>
            <a:r>
              <a:rPr lang="en-US" sz="1200" dirty="0" err="1">
                <a:latin typeface="Lucida Console" panose="020B0609040504020204" pitchFamily="49" charset="0"/>
              </a:rPr>
              <a:t>SquareCabin</a:t>
            </a:r>
            <a:r>
              <a:rPr lang="en-US" sz="1200" dirty="0">
                <a:latin typeface="Lucida Console" panose="020B0609040504020204" pitchFamily="49" charset="0"/>
              </a:rPr>
              <a:t>(</a:t>
            </a:r>
            <a:r>
              <a:rPr lang="en-US" sz="1200" dirty="0">
                <a:highlight>
                  <a:srgbClr val="00FF00"/>
                </a:highlight>
                <a:latin typeface="Lucida Console" panose="020B0609040504020204" pitchFamily="49" charset="0"/>
              </a:rPr>
              <a:t>3</a:t>
            </a:r>
            <a:r>
              <a:rPr lang="en-US" sz="1200" dirty="0">
                <a:latin typeface="Lucida Console" panose="020B0609040504020204" pitchFamily="49" charset="0"/>
              </a:rPr>
              <a:t>, </a:t>
            </a:r>
            <a:r>
              <a:rPr lang="en-US" sz="1200" dirty="0">
                <a:highlight>
                  <a:srgbClr val="FFF169"/>
                </a:highlight>
                <a:latin typeface="Lucida Console" panose="020B0609040504020204" pitchFamily="49" charset="0"/>
              </a:rPr>
              <a:t>40.0</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	println(“${</a:t>
            </a:r>
            <a:r>
              <a:rPr lang="en-US" sz="1200" dirty="0" err="1">
                <a:latin typeface="Lucida Console" panose="020B0609040504020204" pitchFamily="49" charset="0"/>
              </a:rPr>
              <a:t>cabin.hasRoom</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a:t>
            </a:r>
            <a:endParaRPr lang="en-SG" sz="1200" dirty="0">
              <a:latin typeface="Lucida Console" panose="020B0609040504020204" pitchFamily="49" charset="0"/>
            </a:endParaRPr>
          </a:p>
        </p:txBody>
      </p:sp>
      <p:sp>
        <p:nvSpPr>
          <p:cNvPr id="7" name="TextBox 6">
            <a:extLst>
              <a:ext uri="{FF2B5EF4-FFF2-40B4-BE49-F238E27FC236}">
                <a16:creationId xmlns:a16="http://schemas.microsoft.com/office/drawing/2014/main" id="{BE67928A-57EA-4386-A190-E6E8EDCA1239}"/>
              </a:ext>
            </a:extLst>
          </p:cNvPr>
          <p:cNvSpPr txBox="1"/>
          <p:nvPr/>
        </p:nvSpPr>
        <p:spPr>
          <a:xfrm>
            <a:off x="6804362" y="1398988"/>
            <a:ext cx="5076218" cy="5016758"/>
          </a:xfrm>
          <a:prstGeom prst="rect">
            <a:avLst/>
          </a:prstGeom>
          <a:noFill/>
        </p:spPr>
        <p:txBody>
          <a:bodyPr wrap="square" rtlCol="0">
            <a:spAutoFit/>
          </a:bodyPr>
          <a:lstStyle/>
          <a:p>
            <a:pPr marL="342900" indent="-342900">
              <a:buAutoNum type="arabicPeriod"/>
            </a:pPr>
            <a:r>
              <a:rPr lang="en-SG" sz="1600" dirty="0"/>
              <a:t>To </a:t>
            </a:r>
            <a:r>
              <a:rPr lang="en-SG" sz="1600" dirty="0">
                <a:highlight>
                  <a:srgbClr val="FFFF00"/>
                </a:highlight>
              </a:rPr>
              <a:t>inherit/extend from</a:t>
            </a:r>
            <a:r>
              <a:rPr lang="en-SG" sz="1600" dirty="0"/>
              <a:t> a superclass, the superclass itself must be marked with the </a:t>
            </a:r>
            <a:r>
              <a:rPr lang="en-SG" sz="1600" dirty="0">
                <a:highlight>
                  <a:srgbClr val="FFFF00"/>
                </a:highlight>
                <a:latin typeface="Lucida Console" panose="020B0609040504020204" pitchFamily="49" charset="0"/>
              </a:rPr>
              <a:t>open/abstract</a:t>
            </a:r>
            <a:r>
              <a:rPr lang="en-SG" sz="1600" dirty="0"/>
              <a:t> modifier</a:t>
            </a:r>
          </a:p>
          <a:p>
            <a:pPr marL="342900" indent="-342900">
              <a:buAutoNum type="arabicPeriod"/>
            </a:pPr>
            <a:endParaRPr lang="en-SG" sz="1600" dirty="0"/>
          </a:p>
          <a:p>
            <a:pPr marL="342900" indent="-342900">
              <a:buAutoNum type="arabicPeriod"/>
            </a:pPr>
            <a:r>
              <a:rPr lang="en-SG" sz="1600" dirty="0"/>
              <a:t>Since an </a:t>
            </a:r>
            <a:r>
              <a:rPr lang="en-SG" sz="1600" dirty="0">
                <a:highlight>
                  <a:srgbClr val="00FFFF"/>
                </a:highlight>
                <a:latin typeface="Lucida Console" panose="020B0609040504020204" pitchFamily="49" charset="0"/>
              </a:rPr>
              <a:t>abstract</a:t>
            </a:r>
            <a:r>
              <a:rPr lang="en-SG" sz="1600" dirty="0"/>
              <a:t> property of </a:t>
            </a:r>
            <a:r>
              <a:rPr lang="en-SG" sz="1600" dirty="0">
                <a:highlight>
                  <a:srgbClr val="00FFFF"/>
                </a:highlight>
                <a:latin typeface="Lucida Console" panose="020B0609040504020204" pitchFamily="49" charset="0"/>
              </a:rPr>
              <a:t>capacity</a:t>
            </a:r>
            <a:r>
              <a:rPr lang="en-SG" sz="1600" dirty="0"/>
              <a:t> is defined in the superclass, the subclass must override it by providing it a value, and be marked with the </a:t>
            </a:r>
            <a:r>
              <a:rPr lang="en-SG" sz="1600" dirty="0">
                <a:highlight>
                  <a:srgbClr val="00FFFF"/>
                </a:highlight>
                <a:latin typeface="Lucida Console" panose="020B0609040504020204" pitchFamily="49" charset="0"/>
              </a:rPr>
              <a:t>override</a:t>
            </a:r>
            <a:r>
              <a:rPr lang="en-SG" sz="1600" dirty="0"/>
              <a:t> modifier</a:t>
            </a:r>
          </a:p>
          <a:p>
            <a:pPr marL="342900" indent="-342900">
              <a:buAutoNum type="arabicPeriod"/>
            </a:pPr>
            <a:endParaRPr lang="en-SG" sz="1600" dirty="0"/>
          </a:p>
          <a:p>
            <a:pPr marL="342900" indent="-342900">
              <a:buAutoNum type="arabicPeriod"/>
            </a:pPr>
            <a:endParaRPr lang="en-SG" sz="1600" dirty="0"/>
          </a:p>
          <a:p>
            <a:pPr marL="342900" indent="-342900">
              <a:buAutoNum type="arabicPeriod"/>
            </a:pPr>
            <a:endParaRPr lang="en-SG" sz="1600" dirty="0"/>
          </a:p>
          <a:p>
            <a:pPr marL="342900" indent="-342900">
              <a:buAutoNum type="arabicPeriod"/>
            </a:pPr>
            <a:r>
              <a:rPr lang="en-US" sz="1600" dirty="0"/>
              <a:t>When extending from a superclass, you must </a:t>
            </a:r>
            <a:r>
              <a:rPr lang="en-US" sz="1600" dirty="0">
                <a:highlight>
                  <a:srgbClr val="00FF00"/>
                </a:highlight>
              </a:rPr>
              <a:t>pass in the required parameters expected by the superclass</a:t>
            </a:r>
            <a:r>
              <a:rPr lang="en-US" sz="1600" dirty="0"/>
              <a:t>.</a:t>
            </a:r>
          </a:p>
          <a:p>
            <a:pPr marL="342900" indent="-342900">
              <a:buAutoNum type="arabicPeriod"/>
            </a:pPr>
            <a:endParaRPr lang="en-US" sz="1600" dirty="0"/>
          </a:p>
          <a:p>
            <a:pPr marL="342900" indent="-342900">
              <a:buAutoNum type="arabicPeriod"/>
            </a:pPr>
            <a:r>
              <a:rPr lang="en-US" sz="1600" dirty="0"/>
              <a:t>If the </a:t>
            </a:r>
            <a:r>
              <a:rPr lang="en-US" sz="1600" dirty="0">
                <a:highlight>
                  <a:srgbClr val="C0C0C0"/>
                </a:highlight>
              </a:rPr>
              <a:t>return type</a:t>
            </a:r>
            <a:r>
              <a:rPr lang="en-US" sz="1600" dirty="0"/>
              <a:t> is not specified when supposed to, it will show an error of ‘</a:t>
            </a:r>
            <a:r>
              <a:rPr lang="en-US" sz="1600" dirty="0">
                <a:latin typeface="Lucida Console" panose="020B0609040504020204" pitchFamily="49" charset="0"/>
              </a:rPr>
              <a:t>Type mismatch: inferred type is &lt;return type&gt; but Unit was expected</a:t>
            </a:r>
            <a:r>
              <a:rPr lang="en-US" sz="1600" dirty="0"/>
              <a:t>’</a:t>
            </a:r>
          </a:p>
          <a:p>
            <a:pPr marL="342900" indent="-342900">
              <a:buAutoNum type="arabicPeriod"/>
            </a:pPr>
            <a:endParaRPr lang="en-US" sz="1600" dirty="0"/>
          </a:p>
          <a:p>
            <a:pPr marL="342900" indent="-342900">
              <a:buAutoNum type="arabicPeriod"/>
            </a:pPr>
            <a:r>
              <a:rPr lang="en-US" sz="1600" dirty="0"/>
              <a:t>Defining </a:t>
            </a:r>
            <a:r>
              <a:rPr lang="en-US" sz="1600" dirty="0">
                <a:highlight>
                  <a:srgbClr val="FFF169"/>
                </a:highlight>
              </a:rPr>
              <a:t>new parameters for subclasses</a:t>
            </a:r>
            <a:r>
              <a:rPr lang="en-US" sz="1600" dirty="0"/>
              <a:t> are allowed.</a:t>
            </a:r>
            <a:endParaRPr lang="en-SG" sz="1600" dirty="0"/>
          </a:p>
        </p:txBody>
      </p:sp>
      <p:cxnSp>
        <p:nvCxnSpPr>
          <p:cNvPr id="8" name="Connector: Elbow 7">
            <a:extLst>
              <a:ext uri="{FF2B5EF4-FFF2-40B4-BE49-F238E27FC236}">
                <a16:creationId xmlns:a16="http://schemas.microsoft.com/office/drawing/2014/main" id="{F1066A3E-545D-43C7-BC7C-A17588248E26}"/>
              </a:ext>
            </a:extLst>
          </p:cNvPr>
          <p:cNvCxnSpPr>
            <a:cxnSpLocks/>
          </p:cNvCxnSpPr>
          <p:nvPr/>
        </p:nvCxnSpPr>
        <p:spPr>
          <a:xfrm rot="5400000" flipH="1" flipV="1">
            <a:off x="4510119" y="1663937"/>
            <a:ext cx="12700" cy="3912950"/>
          </a:xfrm>
          <a:prstGeom prst="bentConnector3">
            <a:avLst>
              <a:gd name="adj1" fmla="val 1800000"/>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060643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150B8-C409-456F-B1AB-D549F4E2B723}"/>
              </a:ext>
            </a:extLst>
          </p:cNvPr>
          <p:cNvSpPr>
            <a:spLocks noGrp="1"/>
          </p:cNvSpPr>
          <p:nvPr>
            <p:ph type="title"/>
          </p:nvPr>
        </p:nvSpPr>
        <p:spPr/>
        <p:txBody>
          <a:bodyPr/>
          <a:lstStyle/>
          <a:p>
            <a:r>
              <a:rPr lang="en-SG" dirty="0"/>
              <a:t>Class Hierarchy / Inheritance</a:t>
            </a:r>
          </a:p>
        </p:txBody>
      </p:sp>
      <p:sp>
        <p:nvSpPr>
          <p:cNvPr id="3" name="Content Placeholder 2">
            <a:extLst>
              <a:ext uri="{FF2B5EF4-FFF2-40B4-BE49-F238E27FC236}">
                <a16:creationId xmlns:a16="http://schemas.microsoft.com/office/drawing/2014/main" id="{D864DE4C-4E81-4964-945C-2FCF3BAFDEB1}"/>
              </a:ext>
            </a:extLst>
          </p:cNvPr>
          <p:cNvSpPr>
            <a:spLocks noGrp="1"/>
          </p:cNvSpPr>
          <p:nvPr>
            <p:ph idx="1"/>
          </p:nvPr>
        </p:nvSpPr>
        <p:spPr>
          <a:xfrm>
            <a:off x="526913" y="1770435"/>
            <a:ext cx="7323307" cy="4965632"/>
          </a:xfrm>
        </p:spPr>
        <p:txBody>
          <a:bodyPr>
            <a:normAutofit/>
          </a:bodyPr>
          <a:lstStyle/>
          <a:p>
            <a:pPr marL="0" indent="0">
              <a:buNone/>
            </a:pPr>
            <a:r>
              <a:rPr lang="en-US" sz="1000" dirty="0">
                <a:highlight>
                  <a:srgbClr val="FFFF00"/>
                </a:highlight>
                <a:latin typeface="Lucida Console" panose="020B0609040504020204" pitchFamily="49" charset="0"/>
              </a:rPr>
              <a:t>open</a:t>
            </a:r>
            <a:r>
              <a:rPr lang="en-US" sz="1000" dirty="0">
                <a:latin typeface="Lucida Console" panose="020B0609040504020204" pitchFamily="49" charset="0"/>
              </a:rPr>
              <a:t> class </a:t>
            </a:r>
            <a:r>
              <a:rPr lang="en-US" sz="1000" dirty="0" err="1">
                <a:latin typeface="Lucida Console" panose="020B0609040504020204" pitchFamily="49" charset="0"/>
              </a:rPr>
              <a:t>RoundHut</a:t>
            </a:r>
            <a:r>
              <a:rPr lang="en-US" sz="1000" dirty="0">
                <a:latin typeface="Lucida Console" panose="020B0609040504020204" pitchFamily="49" charset="0"/>
              </a:rPr>
              <a:t>(people: Int, </a:t>
            </a:r>
            <a:r>
              <a:rPr lang="en-US" sz="1000" dirty="0" err="1">
                <a:highlight>
                  <a:srgbClr val="FFF169"/>
                </a:highlight>
                <a:latin typeface="Lucida Console" panose="020B0609040504020204" pitchFamily="49" charset="0"/>
              </a:rPr>
              <a:t>val</a:t>
            </a:r>
            <a:r>
              <a:rPr lang="en-US" sz="1000" dirty="0">
                <a:highlight>
                  <a:srgbClr val="FFF169"/>
                </a:highlight>
                <a:latin typeface="Lucida Console" panose="020B0609040504020204" pitchFamily="49" charset="0"/>
              </a:rPr>
              <a:t> radius: Double</a:t>
            </a:r>
            <a:r>
              <a:rPr lang="en-US" sz="1000" dirty="0">
                <a:latin typeface="Lucida Console" panose="020B0609040504020204" pitchFamily="49" charset="0"/>
              </a:rPr>
              <a:t>) : Dwelling(residents) {</a:t>
            </a:r>
          </a:p>
          <a:p>
            <a:pPr marL="0" indent="0">
              <a:buNone/>
            </a:pPr>
            <a:r>
              <a:rPr lang="en-US" sz="1000" dirty="0">
                <a:latin typeface="Lucida Console" panose="020B0609040504020204" pitchFamily="49" charset="0"/>
              </a:rPr>
              <a:t>	</a:t>
            </a:r>
            <a:r>
              <a:rPr lang="en-US" sz="1000" dirty="0">
                <a:highlight>
                  <a:srgbClr val="00FFFF"/>
                </a:highlight>
                <a:latin typeface="Lucida Console" panose="020B0609040504020204" pitchFamily="49" charset="0"/>
              </a:rPr>
              <a:t>override</a:t>
            </a:r>
            <a:r>
              <a:rPr lang="en-US" sz="1000" dirty="0">
                <a:latin typeface="Lucida Console" panose="020B0609040504020204" pitchFamily="49" charset="0"/>
              </a:rPr>
              <a:t> </a:t>
            </a:r>
            <a:r>
              <a:rPr lang="en-US" sz="1000" dirty="0" err="1">
                <a:latin typeface="Lucida Console" panose="020B0609040504020204" pitchFamily="49" charset="0"/>
              </a:rPr>
              <a:t>val</a:t>
            </a:r>
            <a:r>
              <a:rPr lang="en-US" sz="1000" dirty="0">
                <a:latin typeface="Lucida Console" panose="020B0609040504020204" pitchFamily="49" charset="0"/>
              </a:rPr>
              <a:t> capacity: Int = 6</a:t>
            </a:r>
          </a:p>
          <a:p>
            <a:pPr marL="0" indent="0">
              <a:buNone/>
            </a:pPr>
            <a:r>
              <a:rPr lang="en-US" sz="1000" dirty="0">
                <a:latin typeface="Lucida Console" panose="020B0609040504020204" pitchFamily="49" charset="0"/>
              </a:rPr>
              <a:t>	</a:t>
            </a:r>
            <a:r>
              <a:rPr lang="en-US" sz="1000" dirty="0">
                <a:highlight>
                  <a:srgbClr val="00FFFF"/>
                </a:highlight>
                <a:latin typeface="Lucida Console" panose="020B0609040504020204" pitchFamily="49" charset="0"/>
              </a:rPr>
              <a:t>override</a:t>
            </a:r>
            <a:r>
              <a:rPr lang="en-US" sz="1000" dirty="0">
                <a:latin typeface="Lucida Console" panose="020B0609040504020204" pitchFamily="49" charset="0"/>
              </a:rPr>
              <a:t> fun </a:t>
            </a:r>
            <a:r>
              <a:rPr lang="en-US" sz="1000" dirty="0" err="1">
                <a:latin typeface="Lucida Console" panose="020B0609040504020204" pitchFamily="49" charset="0"/>
              </a:rPr>
              <a:t>floorSize</a:t>
            </a:r>
            <a:r>
              <a:rPr lang="en-US" sz="1000" dirty="0">
                <a:latin typeface="Lucida Console" panose="020B0609040504020204" pitchFamily="49" charset="0"/>
              </a:rPr>
              <a:t>(): Double {</a:t>
            </a:r>
          </a:p>
          <a:p>
            <a:pPr marL="0" indent="0">
              <a:buNone/>
            </a:pPr>
            <a:r>
              <a:rPr lang="en-US" sz="1000" dirty="0">
                <a:latin typeface="Lucida Console" panose="020B0609040504020204" pitchFamily="49" charset="0"/>
              </a:rPr>
              <a:t>		return PI * radius * radius</a:t>
            </a:r>
          </a:p>
          <a:p>
            <a:pPr marL="0" indent="0">
              <a:buNone/>
            </a:pPr>
            <a:r>
              <a:rPr lang="en-US" sz="1000" dirty="0">
                <a:latin typeface="Lucida Console" panose="020B0609040504020204" pitchFamily="49" charset="0"/>
              </a:rPr>
              <a:t>	}</a:t>
            </a:r>
          </a:p>
          <a:p>
            <a:pPr marL="0" indent="0">
              <a:buNone/>
            </a:pPr>
            <a:r>
              <a:rPr lang="en-US" sz="1000" dirty="0">
                <a:latin typeface="Lucida Console" panose="020B0609040504020204" pitchFamily="49" charset="0"/>
              </a:rPr>
              <a:t>	</a:t>
            </a:r>
          </a:p>
          <a:p>
            <a:pPr marL="0" indent="0">
              <a:buNone/>
            </a:pPr>
            <a:r>
              <a:rPr lang="en-US" sz="1000" dirty="0">
                <a:highlight>
                  <a:srgbClr val="FFFF00"/>
                </a:highlight>
                <a:latin typeface="Lucida Console" panose="020B0609040504020204" pitchFamily="49" charset="0"/>
              </a:rPr>
              <a:t>class</a:t>
            </a:r>
            <a:r>
              <a:rPr lang="en-US" sz="1000" dirty="0">
                <a:latin typeface="Lucida Console" panose="020B0609040504020204" pitchFamily="49" charset="0"/>
              </a:rPr>
              <a:t> RoundTower(people: Int, radius: Int, </a:t>
            </a:r>
            <a:r>
              <a:rPr lang="en-US" sz="1000" dirty="0" err="1">
                <a:highlight>
                  <a:srgbClr val="FFF169"/>
                </a:highlight>
                <a:latin typeface="Lucida Console" panose="020B0609040504020204" pitchFamily="49" charset="0"/>
              </a:rPr>
              <a:t>val</a:t>
            </a:r>
            <a:r>
              <a:rPr lang="en-US" sz="1000" dirty="0">
                <a:highlight>
                  <a:srgbClr val="FFF169"/>
                </a:highlight>
                <a:latin typeface="Lucida Console" panose="020B0609040504020204" pitchFamily="49" charset="0"/>
              </a:rPr>
              <a:t> floors: Int = 2</a:t>
            </a:r>
            <a:r>
              <a:rPr lang="en-US" sz="1000" dirty="0">
                <a:latin typeface="Lucida Console" panose="020B0609040504020204" pitchFamily="49" charset="0"/>
              </a:rPr>
              <a:t>) : </a:t>
            </a:r>
            <a:r>
              <a:rPr lang="en-US" sz="1000" dirty="0" err="1">
                <a:latin typeface="Lucida Console" panose="020B0609040504020204" pitchFamily="49" charset="0"/>
              </a:rPr>
              <a:t>RoundHut</a:t>
            </a:r>
            <a:r>
              <a:rPr lang="en-US" sz="1000" dirty="0">
                <a:latin typeface="Lucida Console" panose="020B0609040504020204" pitchFamily="49" charset="0"/>
              </a:rPr>
              <a:t>(people, radius) {</a:t>
            </a:r>
          </a:p>
          <a:p>
            <a:pPr marL="0" indent="0">
              <a:buNone/>
            </a:pPr>
            <a:r>
              <a:rPr lang="en-US" sz="1000" dirty="0">
                <a:latin typeface="Lucida Console" panose="020B0609040504020204" pitchFamily="49" charset="0"/>
              </a:rPr>
              <a:t>	</a:t>
            </a:r>
            <a:r>
              <a:rPr lang="en-US" sz="1000" dirty="0">
                <a:highlight>
                  <a:srgbClr val="00FFFF"/>
                </a:highlight>
                <a:latin typeface="Lucida Console" panose="020B0609040504020204" pitchFamily="49" charset="0"/>
              </a:rPr>
              <a:t>override</a:t>
            </a:r>
            <a:r>
              <a:rPr lang="en-US" sz="1000" dirty="0">
                <a:latin typeface="Lucida Console" panose="020B0609040504020204" pitchFamily="49" charset="0"/>
              </a:rPr>
              <a:t> </a:t>
            </a:r>
            <a:r>
              <a:rPr lang="en-US" sz="1000" dirty="0" err="1">
                <a:latin typeface="Lucida Console" panose="020B0609040504020204" pitchFamily="49" charset="0"/>
              </a:rPr>
              <a:t>val</a:t>
            </a:r>
            <a:r>
              <a:rPr lang="en-US" sz="1000" dirty="0">
                <a:latin typeface="Lucida Console" panose="020B0609040504020204" pitchFamily="49" charset="0"/>
              </a:rPr>
              <a:t> capacity = 6</a:t>
            </a:r>
          </a:p>
          <a:p>
            <a:pPr marL="0" indent="0">
              <a:buNone/>
            </a:pPr>
            <a:r>
              <a:rPr lang="en-US" sz="1000" dirty="0">
                <a:latin typeface="Lucida Console" panose="020B0609040504020204" pitchFamily="49" charset="0"/>
              </a:rPr>
              <a:t>	override fun </a:t>
            </a:r>
            <a:r>
              <a:rPr lang="en-US" sz="1000" dirty="0" err="1">
                <a:latin typeface="Lucida Console" panose="020B0609040504020204" pitchFamily="49" charset="0"/>
              </a:rPr>
              <a:t>floorSize</a:t>
            </a:r>
            <a:r>
              <a:rPr lang="en-US" sz="1000" dirty="0">
                <a:latin typeface="Lucida Console" panose="020B0609040504020204" pitchFamily="49" charset="0"/>
              </a:rPr>
              <a:t>(): Double {</a:t>
            </a:r>
          </a:p>
          <a:p>
            <a:pPr marL="0" indent="0">
              <a:buNone/>
            </a:pPr>
            <a:r>
              <a:rPr lang="en-US" sz="1000" dirty="0">
                <a:latin typeface="Lucida Console" panose="020B0609040504020204" pitchFamily="49" charset="0"/>
              </a:rPr>
              <a:t>		</a:t>
            </a:r>
            <a:r>
              <a:rPr lang="en-US" sz="1000" dirty="0">
                <a:highlight>
                  <a:srgbClr val="00FF00"/>
                </a:highlight>
                <a:latin typeface="Lucida Console" panose="020B0609040504020204" pitchFamily="49" charset="0"/>
              </a:rPr>
              <a:t>return PI * radius * radius * floors</a:t>
            </a:r>
          </a:p>
          <a:p>
            <a:pPr marL="0" indent="0">
              <a:buNone/>
            </a:pPr>
            <a:r>
              <a:rPr lang="en-US" sz="1000" dirty="0">
                <a:latin typeface="Lucida Console" panose="020B0609040504020204" pitchFamily="49" charset="0"/>
              </a:rPr>
              <a:t>		</a:t>
            </a:r>
            <a:r>
              <a:rPr lang="en-US" sz="1000" dirty="0">
                <a:highlight>
                  <a:srgbClr val="00FF00"/>
                </a:highlight>
                <a:latin typeface="Lucida Console" panose="020B0609040504020204" pitchFamily="49" charset="0"/>
              </a:rPr>
              <a:t>/* OR */</a:t>
            </a:r>
          </a:p>
          <a:p>
            <a:pPr marL="0" indent="0">
              <a:buNone/>
            </a:pPr>
            <a:r>
              <a:rPr lang="en-US" sz="1000" dirty="0">
                <a:latin typeface="Lucida Console" panose="020B0609040504020204" pitchFamily="49" charset="0"/>
              </a:rPr>
              <a:t>		</a:t>
            </a:r>
            <a:r>
              <a:rPr lang="en-US" sz="1000" dirty="0">
                <a:highlight>
                  <a:srgbClr val="00FF00"/>
                </a:highlight>
                <a:latin typeface="Lucida Console" panose="020B0609040504020204" pitchFamily="49" charset="0"/>
              </a:rPr>
              <a:t>return </a:t>
            </a:r>
            <a:r>
              <a:rPr lang="en-US" sz="1000" dirty="0" err="1">
                <a:highlight>
                  <a:srgbClr val="00FF00"/>
                </a:highlight>
                <a:latin typeface="Lucida Console" panose="020B0609040504020204" pitchFamily="49" charset="0"/>
              </a:rPr>
              <a:t>super.floorArea</a:t>
            </a:r>
            <a:r>
              <a:rPr lang="en-US" sz="1000" dirty="0">
                <a:highlight>
                  <a:srgbClr val="00FF00"/>
                </a:highlight>
                <a:latin typeface="Lucida Console" panose="020B0609040504020204" pitchFamily="49" charset="0"/>
              </a:rPr>
              <a:t>() * floors</a:t>
            </a:r>
          </a:p>
          <a:p>
            <a:pPr marL="0" indent="0">
              <a:buNone/>
            </a:pPr>
            <a:r>
              <a:rPr lang="en-US" sz="1000" dirty="0">
                <a:latin typeface="Lucida Console" panose="020B0609040504020204" pitchFamily="49" charset="0"/>
              </a:rPr>
              <a:t>	}</a:t>
            </a:r>
          </a:p>
          <a:p>
            <a:pPr marL="0" indent="0">
              <a:buNone/>
            </a:pPr>
            <a:r>
              <a:rPr lang="en-US" sz="1000" dirty="0">
                <a:latin typeface="Lucida Console" panose="020B0609040504020204" pitchFamily="49" charset="0"/>
              </a:rPr>
              <a:t>}</a:t>
            </a:r>
          </a:p>
          <a:p>
            <a:pPr marL="0" indent="0">
              <a:buNone/>
            </a:pPr>
            <a:endParaRPr lang="en-US" sz="1000" dirty="0">
              <a:latin typeface="Lucida Console" panose="020B0609040504020204" pitchFamily="49" charset="0"/>
            </a:endParaRPr>
          </a:p>
          <a:p>
            <a:pPr marL="0" indent="0">
              <a:buNone/>
            </a:pPr>
            <a:r>
              <a:rPr lang="en-US" sz="1000" dirty="0">
                <a:latin typeface="Lucida Console" panose="020B0609040504020204" pitchFamily="49" charset="0"/>
              </a:rPr>
              <a:t>fun main() {</a:t>
            </a:r>
            <a:br>
              <a:rPr lang="en-US" sz="1000" dirty="0">
                <a:latin typeface="Lucida Console" panose="020B0609040504020204" pitchFamily="49" charset="0"/>
              </a:rPr>
            </a:br>
            <a:r>
              <a:rPr lang="en-US" sz="1000" dirty="0">
                <a:latin typeface="Lucida Console" panose="020B0609040504020204" pitchFamily="49" charset="0"/>
              </a:rPr>
              <a:t>	</a:t>
            </a:r>
            <a:r>
              <a:rPr lang="en-US" sz="1000" dirty="0" err="1">
                <a:latin typeface="Lucida Console" panose="020B0609040504020204" pitchFamily="49" charset="0"/>
              </a:rPr>
              <a:t>val</a:t>
            </a:r>
            <a:r>
              <a:rPr lang="en-US" sz="1000" dirty="0">
                <a:latin typeface="Lucida Console" panose="020B0609040504020204" pitchFamily="49" charset="0"/>
              </a:rPr>
              <a:t> </a:t>
            </a:r>
            <a:r>
              <a:rPr lang="en-US" sz="1000" dirty="0" err="1">
                <a:latin typeface="Lucida Console" panose="020B0609040504020204" pitchFamily="49" charset="0"/>
              </a:rPr>
              <a:t>roundHut</a:t>
            </a:r>
            <a:r>
              <a:rPr lang="en-US" sz="1000" dirty="0">
                <a:latin typeface="Lucida Console" panose="020B0609040504020204" pitchFamily="49" charset="0"/>
              </a:rPr>
              <a:t> = </a:t>
            </a:r>
            <a:r>
              <a:rPr lang="en-US" sz="1000" dirty="0" err="1">
                <a:latin typeface="Lucida Console" panose="020B0609040504020204" pitchFamily="49" charset="0"/>
              </a:rPr>
              <a:t>RoundHut</a:t>
            </a:r>
            <a:r>
              <a:rPr lang="en-US" sz="1000" dirty="0">
                <a:latin typeface="Lucida Console" panose="020B0609040504020204" pitchFamily="49" charset="0"/>
              </a:rPr>
              <a:t>(3, 40.0)</a:t>
            </a:r>
          </a:p>
          <a:p>
            <a:pPr marL="0" indent="0">
              <a:buNone/>
            </a:pPr>
            <a:r>
              <a:rPr lang="en-US" sz="1000" dirty="0">
                <a:latin typeface="Lucida Console" panose="020B0609040504020204" pitchFamily="49" charset="0"/>
              </a:rPr>
              <a:t>	</a:t>
            </a:r>
            <a:r>
              <a:rPr lang="en-US" sz="1000" dirty="0" err="1">
                <a:latin typeface="Lucida Console" panose="020B0609040504020204" pitchFamily="49" charset="0"/>
              </a:rPr>
              <a:t>val</a:t>
            </a:r>
            <a:r>
              <a:rPr lang="en-US" sz="1000" dirty="0">
                <a:latin typeface="Lucida Console" panose="020B0609040504020204" pitchFamily="49" charset="0"/>
              </a:rPr>
              <a:t> </a:t>
            </a:r>
            <a:r>
              <a:rPr lang="en-US" sz="1000" dirty="0" err="1">
                <a:latin typeface="Lucida Console" panose="020B0609040504020204" pitchFamily="49" charset="0"/>
              </a:rPr>
              <a:t>roundTower</a:t>
            </a:r>
            <a:r>
              <a:rPr lang="en-US" sz="1000" dirty="0">
                <a:latin typeface="Lucida Console" panose="020B0609040504020204" pitchFamily="49" charset="0"/>
              </a:rPr>
              <a:t> = RoundTower(3, 15.5)</a:t>
            </a:r>
          </a:p>
          <a:p>
            <a:pPr marL="0" indent="0">
              <a:buNone/>
            </a:pPr>
            <a:r>
              <a:rPr lang="en-US" sz="1000" dirty="0">
                <a:latin typeface="Lucida Console" panose="020B0609040504020204" pitchFamily="49" charset="0"/>
              </a:rPr>
              <a:t>}</a:t>
            </a:r>
            <a:endParaRPr lang="en-SG" sz="1000" dirty="0">
              <a:latin typeface="Lucida Console" panose="020B0609040504020204" pitchFamily="49" charset="0"/>
            </a:endParaRPr>
          </a:p>
        </p:txBody>
      </p:sp>
      <p:sp>
        <p:nvSpPr>
          <p:cNvPr id="7" name="TextBox 6">
            <a:extLst>
              <a:ext uri="{FF2B5EF4-FFF2-40B4-BE49-F238E27FC236}">
                <a16:creationId xmlns:a16="http://schemas.microsoft.com/office/drawing/2014/main" id="{BE67928A-57EA-4386-A190-E6E8EDCA1239}"/>
              </a:ext>
            </a:extLst>
          </p:cNvPr>
          <p:cNvSpPr txBox="1"/>
          <p:nvPr/>
        </p:nvSpPr>
        <p:spPr>
          <a:xfrm>
            <a:off x="6765452" y="2117505"/>
            <a:ext cx="5076218" cy="4524315"/>
          </a:xfrm>
          <a:prstGeom prst="rect">
            <a:avLst/>
          </a:prstGeom>
          <a:noFill/>
        </p:spPr>
        <p:txBody>
          <a:bodyPr wrap="square" rtlCol="0">
            <a:spAutoFit/>
          </a:bodyPr>
          <a:lstStyle/>
          <a:p>
            <a:pPr marL="342900" indent="-342900">
              <a:buAutoNum type="arabicPeriod"/>
            </a:pPr>
            <a:r>
              <a:rPr lang="en-SG" sz="1600" dirty="0"/>
              <a:t>To </a:t>
            </a:r>
            <a:r>
              <a:rPr lang="en-SG" sz="1600" dirty="0">
                <a:highlight>
                  <a:srgbClr val="FFFF00"/>
                </a:highlight>
              </a:rPr>
              <a:t>inherit/extend from</a:t>
            </a:r>
            <a:r>
              <a:rPr lang="en-SG" sz="1600" dirty="0"/>
              <a:t> a superclass, the superclass itself must be marked with the </a:t>
            </a:r>
            <a:r>
              <a:rPr lang="en-SG" sz="1600" dirty="0">
                <a:highlight>
                  <a:srgbClr val="FFFF00"/>
                </a:highlight>
                <a:latin typeface="Lucida Console" panose="020B0609040504020204" pitchFamily="49" charset="0"/>
              </a:rPr>
              <a:t>open/abstract</a:t>
            </a:r>
            <a:r>
              <a:rPr lang="en-SG" sz="1600" dirty="0"/>
              <a:t> modifier. (In this case, </a:t>
            </a:r>
            <a:r>
              <a:rPr lang="en-SG" sz="1600" dirty="0" err="1"/>
              <a:t>RoundHut</a:t>
            </a:r>
            <a:r>
              <a:rPr lang="en-SG" sz="1600" dirty="0"/>
              <a:t> uses </a:t>
            </a:r>
            <a:r>
              <a:rPr lang="en-SG" sz="1600" dirty="0">
                <a:highlight>
                  <a:srgbClr val="FFFF00"/>
                </a:highlight>
                <a:latin typeface="Lucida Console" panose="020B0609040504020204" pitchFamily="49" charset="0"/>
              </a:rPr>
              <a:t>open</a:t>
            </a:r>
            <a:r>
              <a:rPr lang="en-SG" sz="1600" dirty="0"/>
              <a:t> because it makes sense that I can instantiate a </a:t>
            </a:r>
            <a:r>
              <a:rPr lang="en-SG" sz="1600" dirty="0" err="1"/>
              <a:t>RoundHut</a:t>
            </a:r>
            <a:r>
              <a:rPr lang="en-SG" sz="1600" dirty="0"/>
              <a:t> object)</a:t>
            </a:r>
          </a:p>
          <a:p>
            <a:pPr marL="342900" indent="-342900">
              <a:buAutoNum type="arabicPeriod"/>
            </a:pPr>
            <a:endParaRPr lang="en-SG" sz="1600" dirty="0"/>
          </a:p>
          <a:p>
            <a:pPr marL="342900" indent="-342900">
              <a:buAutoNum type="arabicPeriod"/>
            </a:pPr>
            <a:endParaRPr lang="en-SG" sz="1600" dirty="0"/>
          </a:p>
          <a:p>
            <a:pPr marL="342900" indent="-342900">
              <a:buAutoNum type="arabicPeriod"/>
            </a:pPr>
            <a:endParaRPr lang="en-SG" sz="1600" dirty="0"/>
          </a:p>
          <a:p>
            <a:pPr marL="342900" indent="-342900">
              <a:buAutoNum type="arabicPeriod"/>
            </a:pPr>
            <a:r>
              <a:rPr lang="en-SG" sz="1600" dirty="0"/>
              <a:t>Since an </a:t>
            </a:r>
            <a:r>
              <a:rPr lang="en-SG" sz="1600" dirty="0">
                <a:highlight>
                  <a:srgbClr val="00FFFF"/>
                </a:highlight>
                <a:latin typeface="Lucida Console" panose="020B0609040504020204" pitchFamily="49" charset="0"/>
              </a:rPr>
              <a:t>abstract</a:t>
            </a:r>
            <a:r>
              <a:rPr lang="en-SG" sz="1600" dirty="0"/>
              <a:t> property of </a:t>
            </a:r>
            <a:r>
              <a:rPr lang="en-SG" sz="1600" dirty="0">
                <a:highlight>
                  <a:srgbClr val="00FFFF"/>
                </a:highlight>
                <a:latin typeface="Lucida Console" panose="020B0609040504020204" pitchFamily="49" charset="0"/>
              </a:rPr>
              <a:t>capacity</a:t>
            </a:r>
            <a:r>
              <a:rPr lang="en-SG" sz="1600" dirty="0"/>
              <a:t> is defined in the superclass, the subclass must override it by providing it a value, and be marked with the </a:t>
            </a:r>
            <a:r>
              <a:rPr lang="en-SG" sz="1600" dirty="0">
                <a:highlight>
                  <a:srgbClr val="00FFFF"/>
                </a:highlight>
                <a:latin typeface="Lucida Console" panose="020B0609040504020204" pitchFamily="49" charset="0"/>
              </a:rPr>
              <a:t>override</a:t>
            </a:r>
            <a:r>
              <a:rPr lang="en-SG" sz="1600" dirty="0"/>
              <a:t> modifier</a:t>
            </a:r>
          </a:p>
          <a:p>
            <a:pPr marL="342900" indent="-342900">
              <a:buAutoNum type="arabicPeriod"/>
            </a:pPr>
            <a:endParaRPr lang="en-US" sz="1600" dirty="0"/>
          </a:p>
          <a:p>
            <a:pPr marL="342900" indent="-342900">
              <a:buAutoNum type="arabicPeriod"/>
            </a:pPr>
            <a:r>
              <a:rPr lang="en-US" sz="1600" dirty="0"/>
              <a:t>Defining </a:t>
            </a:r>
            <a:r>
              <a:rPr lang="en-US" sz="1600" dirty="0">
                <a:highlight>
                  <a:srgbClr val="FFF169"/>
                </a:highlight>
              </a:rPr>
              <a:t>new parameters for sub-subclasses</a:t>
            </a:r>
            <a:r>
              <a:rPr lang="en-US" sz="1600" dirty="0"/>
              <a:t> are allowed too.</a:t>
            </a:r>
          </a:p>
          <a:p>
            <a:pPr marL="342900" indent="-342900">
              <a:buAutoNum type="arabicPeriod"/>
            </a:pPr>
            <a:endParaRPr lang="en-US" sz="1600" dirty="0"/>
          </a:p>
          <a:p>
            <a:pPr marL="342900" indent="-342900">
              <a:buAutoNum type="arabicPeriod"/>
            </a:pPr>
            <a:r>
              <a:rPr lang="en-US" sz="1600" dirty="0"/>
              <a:t>Can use the </a:t>
            </a:r>
            <a:r>
              <a:rPr lang="en-US" sz="1600" dirty="0">
                <a:highlight>
                  <a:srgbClr val="00FF00"/>
                </a:highlight>
                <a:latin typeface="Lucida Console" panose="020B0609040504020204" pitchFamily="49" charset="0"/>
              </a:rPr>
              <a:t>super</a:t>
            </a:r>
            <a:r>
              <a:rPr lang="en-US" sz="1600" dirty="0"/>
              <a:t> keyword in the subclass for whatever you need from the superclass to avoid repetitive implementation.</a:t>
            </a:r>
            <a:endParaRPr lang="en-SG" sz="1600" dirty="0"/>
          </a:p>
        </p:txBody>
      </p:sp>
    </p:spTree>
    <p:extLst>
      <p:ext uri="{BB962C8B-B14F-4D97-AF65-F5344CB8AC3E}">
        <p14:creationId xmlns:p14="http://schemas.microsoft.com/office/powerpoint/2010/main" val="22538056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41A61E-F79F-4A21-95F9-E6A31DCF630F}"/>
              </a:ext>
            </a:extLst>
          </p:cNvPr>
          <p:cNvSpPr>
            <a:spLocks noGrp="1"/>
          </p:cNvSpPr>
          <p:nvPr>
            <p:ph type="title"/>
          </p:nvPr>
        </p:nvSpPr>
        <p:spPr/>
        <p:txBody>
          <a:bodyPr/>
          <a:lstStyle/>
          <a:p>
            <a:r>
              <a:rPr lang="en-SG" dirty="0"/>
              <a:t>Abstract? Wtf is that??</a:t>
            </a:r>
          </a:p>
        </p:txBody>
      </p:sp>
      <p:sp>
        <p:nvSpPr>
          <p:cNvPr id="3" name="Content Placeholder 2">
            <a:extLst>
              <a:ext uri="{FF2B5EF4-FFF2-40B4-BE49-F238E27FC236}">
                <a16:creationId xmlns:a16="http://schemas.microsoft.com/office/drawing/2014/main" id="{07872F3D-ED3D-4EEB-9792-88BD6D22154F}"/>
              </a:ext>
            </a:extLst>
          </p:cNvPr>
          <p:cNvSpPr>
            <a:spLocks noGrp="1"/>
          </p:cNvSpPr>
          <p:nvPr>
            <p:ph idx="1"/>
          </p:nvPr>
        </p:nvSpPr>
        <p:spPr>
          <a:xfrm>
            <a:off x="838200" y="1821046"/>
            <a:ext cx="10515600" cy="4591354"/>
          </a:xfrm>
        </p:spPr>
        <p:txBody>
          <a:bodyPr>
            <a:normAutofit/>
          </a:bodyPr>
          <a:lstStyle/>
          <a:p>
            <a:pPr marL="0" indent="0">
              <a:buNone/>
            </a:pPr>
            <a:r>
              <a:rPr lang="en-SG" sz="1800" dirty="0"/>
              <a:t>You define a class as abstract when that class should not be instantiated on its own, and therefore cannot create an instance from it.</a:t>
            </a:r>
          </a:p>
          <a:p>
            <a:pPr marL="0" indent="0">
              <a:buNone/>
            </a:pPr>
            <a:endParaRPr lang="en-SG" sz="1800" dirty="0"/>
          </a:p>
          <a:p>
            <a:pPr marL="0" indent="0">
              <a:buNone/>
            </a:pPr>
            <a:r>
              <a:rPr lang="en-SG" sz="1800" dirty="0"/>
              <a:t>For example… an Animal class. Doesn’t make sense to create an Animal object when there are so many different animals and they do different things and have different attributes. Makes more sense to have a Cat or Dog subclass that extends from an Animal class.</a:t>
            </a:r>
          </a:p>
          <a:p>
            <a:pPr marL="0" indent="0">
              <a:buNone/>
            </a:pPr>
            <a:endParaRPr lang="en-SG" sz="1800" dirty="0"/>
          </a:p>
          <a:p>
            <a:pPr marL="0" indent="0">
              <a:buNone/>
            </a:pPr>
            <a:r>
              <a:rPr lang="en-SG" sz="1800" dirty="0"/>
              <a:t>You define a method in an abstract class as abstract when that method should not be implemented in the class. So if you determine that method to be abstract, you just need to declare the function, without the body (i.e. must remove the curly brackets).</a:t>
            </a:r>
          </a:p>
          <a:p>
            <a:pPr marL="0" indent="0">
              <a:buNone/>
            </a:pPr>
            <a:endParaRPr lang="en-SG" sz="1800" dirty="0"/>
          </a:p>
          <a:p>
            <a:pPr marL="0" indent="0">
              <a:buNone/>
            </a:pPr>
            <a:r>
              <a:rPr lang="en-SG" sz="1800" dirty="0"/>
              <a:t>Properties/Fields can also be abstract. Properties/Fields in an abstract class must be abstract or initialised.</a:t>
            </a:r>
          </a:p>
        </p:txBody>
      </p:sp>
    </p:spTree>
    <p:extLst>
      <p:ext uri="{BB962C8B-B14F-4D97-AF65-F5344CB8AC3E}">
        <p14:creationId xmlns:p14="http://schemas.microsoft.com/office/powerpoint/2010/main" val="337379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41A61E-F79F-4A21-95F9-E6A31DCF630F}"/>
              </a:ext>
            </a:extLst>
          </p:cNvPr>
          <p:cNvSpPr>
            <a:spLocks noGrp="1"/>
          </p:cNvSpPr>
          <p:nvPr>
            <p:ph type="title"/>
          </p:nvPr>
        </p:nvSpPr>
        <p:spPr/>
        <p:txBody>
          <a:bodyPr/>
          <a:lstStyle/>
          <a:p>
            <a:r>
              <a:rPr lang="en-SG" dirty="0"/>
              <a:t>Abstract vs. Open???</a:t>
            </a:r>
          </a:p>
        </p:txBody>
      </p:sp>
      <p:pic>
        <p:nvPicPr>
          <p:cNvPr id="7" name="Picture 6">
            <a:extLst>
              <a:ext uri="{FF2B5EF4-FFF2-40B4-BE49-F238E27FC236}">
                <a16:creationId xmlns:a16="http://schemas.microsoft.com/office/drawing/2014/main" id="{8E0EE820-CE03-4106-A4B5-9827CE257941}"/>
              </a:ext>
            </a:extLst>
          </p:cNvPr>
          <p:cNvPicPr>
            <a:picLocks noChangeAspect="1"/>
          </p:cNvPicPr>
          <p:nvPr/>
        </p:nvPicPr>
        <p:blipFill>
          <a:blip r:embed="rId2"/>
          <a:stretch>
            <a:fillRect/>
          </a:stretch>
        </p:blipFill>
        <p:spPr>
          <a:xfrm>
            <a:off x="838200" y="3042742"/>
            <a:ext cx="3167610" cy="1408799"/>
          </a:xfrm>
          <a:prstGeom prst="rect">
            <a:avLst/>
          </a:prstGeom>
        </p:spPr>
      </p:pic>
      <p:pic>
        <p:nvPicPr>
          <p:cNvPr id="9" name="Picture 8">
            <a:extLst>
              <a:ext uri="{FF2B5EF4-FFF2-40B4-BE49-F238E27FC236}">
                <a16:creationId xmlns:a16="http://schemas.microsoft.com/office/drawing/2014/main" id="{03EB7FAF-345C-4AD3-808A-7E1A96554C3E}"/>
              </a:ext>
            </a:extLst>
          </p:cNvPr>
          <p:cNvPicPr>
            <a:picLocks noChangeAspect="1"/>
          </p:cNvPicPr>
          <p:nvPr/>
        </p:nvPicPr>
        <p:blipFill>
          <a:blip r:embed="rId3"/>
          <a:stretch>
            <a:fillRect/>
          </a:stretch>
        </p:blipFill>
        <p:spPr>
          <a:xfrm>
            <a:off x="838200" y="1758786"/>
            <a:ext cx="3110411" cy="914299"/>
          </a:xfrm>
          <a:prstGeom prst="rect">
            <a:avLst/>
          </a:prstGeom>
        </p:spPr>
      </p:pic>
      <p:pic>
        <p:nvPicPr>
          <p:cNvPr id="11" name="Picture 10">
            <a:extLst>
              <a:ext uri="{FF2B5EF4-FFF2-40B4-BE49-F238E27FC236}">
                <a16:creationId xmlns:a16="http://schemas.microsoft.com/office/drawing/2014/main" id="{12A7120A-940A-4C7B-B138-21220E09C124}"/>
              </a:ext>
            </a:extLst>
          </p:cNvPr>
          <p:cNvPicPr>
            <a:picLocks noChangeAspect="1"/>
          </p:cNvPicPr>
          <p:nvPr/>
        </p:nvPicPr>
        <p:blipFill>
          <a:blip r:embed="rId4"/>
          <a:stretch>
            <a:fillRect/>
          </a:stretch>
        </p:blipFill>
        <p:spPr>
          <a:xfrm>
            <a:off x="8428628" y="1758786"/>
            <a:ext cx="3302928" cy="3160866"/>
          </a:xfrm>
          <a:prstGeom prst="rect">
            <a:avLst/>
          </a:prstGeom>
        </p:spPr>
      </p:pic>
      <p:sp>
        <p:nvSpPr>
          <p:cNvPr id="6" name="TextBox 5">
            <a:extLst>
              <a:ext uri="{FF2B5EF4-FFF2-40B4-BE49-F238E27FC236}">
                <a16:creationId xmlns:a16="http://schemas.microsoft.com/office/drawing/2014/main" id="{007FFEAD-C09C-48E9-9247-FE52921AE6B6}"/>
              </a:ext>
            </a:extLst>
          </p:cNvPr>
          <p:cNvSpPr txBox="1"/>
          <p:nvPr/>
        </p:nvSpPr>
        <p:spPr>
          <a:xfrm>
            <a:off x="838200" y="5064750"/>
            <a:ext cx="10515600" cy="1477328"/>
          </a:xfrm>
          <a:prstGeom prst="rect">
            <a:avLst/>
          </a:prstGeom>
          <a:noFill/>
        </p:spPr>
        <p:txBody>
          <a:bodyPr wrap="square" rtlCol="0">
            <a:spAutoFit/>
          </a:bodyPr>
          <a:lstStyle/>
          <a:p>
            <a:r>
              <a:rPr lang="en-SG" dirty="0"/>
              <a:t>So…. All three codes work. What does the difference? You can instantiate an Animal object on the right because it has the open modifier.</a:t>
            </a:r>
          </a:p>
          <a:p>
            <a:endParaRPr lang="en-SG" dirty="0"/>
          </a:p>
          <a:p>
            <a:r>
              <a:rPr lang="en-SG" dirty="0"/>
              <a:t>With abstract methods, your subclass has to inherit. But with open methods, your subclass doesn’t have to inherit. And by default, if your subclass doesn’t inherit, your subclass can still call the superclass method.</a:t>
            </a:r>
          </a:p>
        </p:txBody>
      </p:sp>
      <p:pic>
        <p:nvPicPr>
          <p:cNvPr id="10" name="Picture 9">
            <a:extLst>
              <a:ext uri="{FF2B5EF4-FFF2-40B4-BE49-F238E27FC236}">
                <a16:creationId xmlns:a16="http://schemas.microsoft.com/office/drawing/2014/main" id="{13D6D014-4BC1-43A9-A48C-B4ABCB619730}"/>
              </a:ext>
            </a:extLst>
          </p:cNvPr>
          <p:cNvPicPr>
            <a:picLocks noChangeAspect="1"/>
          </p:cNvPicPr>
          <p:nvPr/>
        </p:nvPicPr>
        <p:blipFill>
          <a:blip r:embed="rId5"/>
          <a:stretch>
            <a:fillRect/>
          </a:stretch>
        </p:blipFill>
        <p:spPr>
          <a:xfrm>
            <a:off x="4490516" y="1758786"/>
            <a:ext cx="3396207" cy="2692574"/>
          </a:xfrm>
          <a:prstGeom prst="rect">
            <a:avLst/>
          </a:prstGeom>
        </p:spPr>
      </p:pic>
      <p:sp>
        <p:nvSpPr>
          <p:cNvPr id="12" name="Rectangle 11">
            <a:extLst>
              <a:ext uri="{FF2B5EF4-FFF2-40B4-BE49-F238E27FC236}">
                <a16:creationId xmlns:a16="http://schemas.microsoft.com/office/drawing/2014/main" id="{F14B54C1-EDB3-4394-8A1E-8F0DBEF2EE20}"/>
              </a:ext>
            </a:extLst>
          </p:cNvPr>
          <p:cNvSpPr/>
          <p:nvPr/>
        </p:nvSpPr>
        <p:spPr>
          <a:xfrm>
            <a:off x="1215957" y="2071990"/>
            <a:ext cx="2645924" cy="262647"/>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3" name="Rectangle 12">
            <a:extLst>
              <a:ext uri="{FF2B5EF4-FFF2-40B4-BE49-F238E27FC236}">
                <a16:creationId xmlns:a16="http://schemas.microsoft.com/office/drawing/2014/main" id="{A3A9E2DB-9AB3-4C5D-A9AD-543C6763FC24}"/>
              </a:ext>
            </a:extLst>
          </p:cNvPr>
          <p:cNvSpPr/>
          <p:nvPr/>
        </p:nvSpPr>
        <p:spPr>
          <a:xfrm>
            <a:off x="4894257" y="2084611"/>
            <a:ext cx="2645924" cy="262647"/>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992573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E8D2FF-D8C6-4DAD-8544-D511A5A60B3C}"/>
              </a:ext>
            </a:extLst>
          </p:cNvPr>
          <p:cNvSpPr>
            <a:spLocks noGrp="1"/>
          </p:cNvSpPr>
          <p:nvPr>
            <p:ph type="title"/>
          </p:nvPr>
        </p:nvSpPr>
        <p:spPr/>
        <p:txBody>
          <a:bodyPr/>
          <a:lstStyle/>
          <a:p>
            <a:r>
              <a:rPr lang="en-SG" dirty="0"/>
              <a:t>Generics???</a:t>
            </a:r>
          </a:p>
        </p:txBody>
      </p:sp>
      <p:sp>
        <p:nvSpPr>
          <p:cNvPr id="3" name="Content Placeholder 2">
            <a:extLst>
              <a:ext uri="{FF2B5EF4-FFF2-40B4-BE49-F238E27FC236}">
                <a16:creationId xmlns:a16="http://schemas.microsoft.com/office/drawing/2014/main" id="{5EF0258B-01EE-4594-AF88-BE2BEFDF6249}"/>
              </a:ext>
            </a:extLst>
          </p:cNvPr>
          <p:cNvSpPr>
            <a:spLocks noGrp="1"/>
          </p:cNvSpPr>
          <p:nvPr>
            <p:ph idx="1"/>
          </p:nvPr>
        </p:nvSpPr>
        <p:spPr/>
        <p:txBody>
          <a:bodyPr>
            <a:normAutofit/>
          </a:bodyPr>
          <a:lstStyle/>
          <a:p>
            <a:r>
              <a:rPr lang="en-US" sz="2400" dirty="0"/>
              <a:t>A genericity mechanism that's become standard in modern languages. Generic classes and functions increase code reusability by encapsulating common logic that is independent of a particular generic type, like the logic inside a </a:t>
            </a:r>
            <a:r>
              <a:rPr lang="en-US" sz="2400" dirty="0">
                <a:latin typeface="Lucida Console" panose="020B0609040504020204" pitchFamily="49" charset="0"/>
              </a:rPr>
              <a:t>List&lt;T&gt;</a:t>
            </a:r>
            <a:r>
              <a:rPr lang="en-US" sz="2400" dirty="0"/>
              <a:t> is independent of what </a:t>
            </a:r>
            <a:r>
              <a:rPr lang="en-US" sz="2400" dirty="0">
                <a:latin typeface="Lucida Console" panose="020B0609040504020204" pitchFamily="49" charset="0"/>
              </a:rPr>
              <a:t>T</a:t>
            </a:r>
            <a:r>
              <a:rPr lang="en-US" sz="2400" dirty="0"/>
              <a:t> is.</a:t>
            </a:r>
          </a:p>
          <a:p>
            <a:r>
              <a:rPr lang="en-US" sz="2400" dirty="0"/>
              <a:t>Can have generic classes and generic functions.</a:t>
            </a:r>
          </a:p>
          <a:p>
            <a:pPr marL="0" indent="0">
              <a:buNone/>
            </a:pPr>
            <a:endParaRPr lang="en-US" sz="2400" dirty="0"/>
          </a:p>
          <a:p>
            <a:pPr marL="0" indent="0">
              <a:buNone/>
            </a:pPr>
            <a:endParaRPr lang="en-SG" sz="2400" dirty="0"/>
          </a:p>
        </p:txBody>
      </p:sp>
    </p:spTree>
    <p:extLst>
      <p:ext uri="{BB962C8B-B14F-4D97-AF65-F5344CB8AC3E}">
        <p14:creationId xmlns:p14="http://schemas.microsoft.com/office/powerpoint/2010/main" val="23793296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6E8C1F-7DEB-451C-B334-9E4E55F4DACF}"/>
              </a:ext>
            </a:extLst>
          </p:cNvPr>
          <p:cNvSpPr>
            <a:spLocks noGrp="1"/>
          </p:cNvSpPr>
          <p:nvPr>
            <p:ph type="title"/>
          </p:nvPr>
        </p:nvSpPr>
        <p:spPr/>
        <p:txBody>
          <a:bodyPr/>
          <a:lstStyle/>
          <a:p>
            <a:r>
              <a:rPr lang="en-SG" dirty="0"/>
              <a:t>Dynamic String Resources</a:t>
            </a:r>
          </a:p>
        </p:txBody>
      </p:sp>
      <p:sp>
        <p:nvSpPr>
          <p:cNvPr id="3" name="Content Placeholder 2">
            <a:extLst>
              <a:ext uri="{FF2B5EF4-FFF2-40B4-BE49-F238E27FC236}">
                <a16:creationId xmlns:a16="http://schemas.microsoft.com/office/drawing/2014/main" id="{147E30CB-94D1-4A47-AB76-55D6FF4B1781}"/>
              </a:ext>
            </a:extLst>
          </p:cNvPr>
          <p:cNvSpPr>
            <a:spLocks noGrp="1"/>
          </p:cNvSpPr>
          <p:nvPr>
            <p:ph idx="1"/>
          </p:nvPr>
        </p:nvSpPr>
        <p:spPr>
          <a:xfrm>
            <a:off x="838200" y="1825625"/>
            <a:ext cx="10515600" cy="460375"/>
          </a:xfrm>
        </p:spPr>
        <p:txBody>
          <a:bodyPr>
            <a:normAutofit/>
          </a:bodyPr>
          <a:lstStyle/>
          <a:p>
            <a:pPr marL="0" indent="0">
              <a:buNone/>
            </a:pPr>
            <a:r>
              <a:rPr lang="en-SG" sz="1800" dirty="0"/>
              <a:t>You can also declare dynamic string resources, with special characters.</a:t>
            </a:r>
          </a:p>
        </p:txBody>
      </p:sp>
      <p:pic>
        <p:nvPicPr>
          <p:cNvPr id="5" name="Picture 4">
            <a:extLst>
              <a:ext uri="{FF2B5EF4-FFF2-40B4-BE49-F238E27FC236}">
                <a16:creationId xmlns:a16="http://schemas.microsoft.com/office/drawing/2014/main" id="{7A71A3F8-A0DE-4F1C-8855-6C14B189272D}"/>
              </a:ext>
            </a:extLst>
          </p:cNvPr>
          <p:cNvPicPr>
            <a:picLocks noChangeAspect="1"/>
          </p:cNvPicPr>
          <p:nvPr/>
        </p:nvPicPr>
        <p:blipFill>
          <a:blip r:embed="rId2"/>
          <a:stretch>
            <a:fillRect/>
          </a:stretch>
        </p:blipFill>
        <p:spPr>
          <a:xfrm>
            <a:off x="838200" y="2771739"/>
            <a:ext cx="6817468" cy="427333"/>
          </a:xfrm>
          <a:prstGeom prst="rect">
            <a:avLst/>
          </a:prstGeom>
        </p:spPr>
      </p:pic>
      <p:sp>
        <p:nvSpPr>
          <p:cNvPr id="6" name="TextBox 5">
            <a:extLst>
              <a:ext uri="{FF2B5EF4-FFF2-40B4-BE49-F238E27FC236}">
                <a16:creationId xmlns:a16="http://schemas.microsoft.com/office/drawing/2014/main" id="{9BBCEC99-80BC-4A88-9220-2EA8A2088F9F}"/>
              </a:ext>
            </a:extLst>
          </p:cNvPr>
          <p:cNvSpPr txBox="1"/>
          <p:nvPr/>
        </p:nvSpPr>
        <p:spPr>
          <a:xfrm>
            <a:off x="737312" y="2571920"/>
            <a:ext cx="872355" cy="276999"/>
          </a:xfrm>
          <a:prstGeom prst="rect">
            <a:avLst/>
          </a:prstGeom>
          <a:solidFill>
            <a:schemeClr val="accent4"/>
          </a:solidFill>
        </p:spPr>
        <p:txBody>
          <a:bodyPr wrap="none" rtlCol="0">
            <a:spAutoFit/>
          </a:bodyPr>
          <a:lstStyle/>
          <a:p>
            <a:r>
              <a:rPr lang="en-SG" sz="1200" dirty="0"/>
              <a:t>strings.xml</a:t>
            </a:r>
          </a:p>
        </p:txBody>
      </p:sp>
      <p:pic>
        <p:nvPicPr>
          <p:cNvPr id="8" name="Picture 7">
            <a:extLst>
              <a:ext uri="{FF2B5EF4-FFF2-40B4-BE49-F238E27FC236}">
                <a16:creationId xmlns:a16="http://schemas.microsoft.com/office/drawing/2014/main" id="{DC092560-C475-454E-B0BF-F113E71D1951}"/>
              </a:ext>
            </a:extLst>
          </p:cNvPr>
          <p:cNvPicPr>
            <a:picLocks noChangeAspect="1"/>
          </p:cNvPicPr>
          <p:nvPr/>
        </p:nvPicPr>
        <p:blipFill>
          <a:blip r:embed="rId3"/>
          <a:stretch>
            <a:fillRect/>
          </a:stretch>
        </p:blipFill>
        <p:spPr>
          <a:xfrm>
            <a:off x="838200" y="3629675"/>
            <a:ext cx="8208524" cy="410426"/>
          </a:xfrm>
          <a:prstGeom prst="rect">
            <a:avLst/>
          </a:prstGeom>
        </p:spPr>
      </p:pic>
      <p:sp>
        <p:nvSpPr>
          <p:cNvPr id="9" name="TextBox 8">
            <a:extLst>
              <a:ext uri="{FF2B5EF4-FFF2-40B4-BE49-F238E27FC236}">
                <a16:creationId xmlns:a16="http://schemas.microsoft.com/office/drawing/2014/main" id="{68D9B52E-FB2B-49D2-B83E-F5C3216F398E}"/>
              </a:ext>
            </a:extLst>
          </p:cNvPr>
          <p:cNvSpPr txBox="1"/>
          <p:nvPr/>
        </p:nvSpPr>
        <p:spPr>
          <a:xfrm>
            <a:off x="737312" y="3387777"/>
            <a:ext cx="1121141" cy="276999"/>
          </a:xfrm>
          <a:prstGeom prst="rect">
            <a:avLst/>
          </a:prstGeom>
          <a:solidFill>
            <a:schemeClr val="accent4"/>
          </a:solidFill>
        </p:spPr>
        <p:txBody>
          <a:bodyPr wrap="none" rtlCol="0">
            <a:spAutoFit/>
          </a:bodyPr>
          <a:lstStyle/>
          <a:p>
            <a:r>
              <a:rPr lang="en-SG" sz="1200" dirty="0"/>
              <a:t>MainActivity.kt</a:t>
            </a:r>
          </a:p>
        </p:txBody>
      </p:sp>
      <p:sp>
        <p:nvSpPr>
          <p:cNvPr id="10" name="Content Placeholder 2">
            <a:extLst>
              <a:ext uri="{FF2B5EF4-FFF2-40B4-BE49-F238E27FC236}">
                <a16:creationId xmlns:a16="http://schemas.microsoft.com/office/drawing/2014/main" id="{26D428FF-653F-4450-AFFF-07F7E1438B7C}"/>
              </a:ext>
            </a:extLst>
          </p:cNvPr>
          <p:cNvSpPr txBox="1">
            <a:spLocks/>
          </p:cNvSpPr>
          <p:nvPr/>
        </p:nvSpPr>
        <p:spPr>
          <a:xfrm>
            <a:off x="838200" y="4445470"/>
            <a:ext cx="10515600" cy="92419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1800" dirty="0"/>
              <a:t>When declaring the string resource, each argument is numbered in the order it appears (1, 2, etc.) and has a letter to identify the type (</a:t>
            </a:r>
            <a:r>
              <a:rPr lang="en-US" sz="1800" dirty="0">
                <a:highlight>
                  <a:srgbClr val="FFFF00"/>
                </a:highlight>
              </a:rPr>
              <a:t>d</a:t>
            </a:r>
            <a:r>
              <a:rPr lang="en-US" sz="1800" dirty="0"/>
              <a:t> for decimal number, </a:t>
            </a:r>
            <a:r>
              <a:rPr lang="en-US" sz="1800" dirty="0">
                <a:highlight>
                  <a:srgbClr val="FFFF00"/>
                </a:highlight>
              </a:rPr>
              <a:t>s</a:t>
            </a:r>
            <a:r>
              <a:rPr lang="en-US" sz="1800" dirty="0"/>
              <a:t> for string, etc.). Arguments of the correct type can be passed into the call to </a:t>
            </a:r>
            <a:r>
              <a:rPr lang="en-US" sz="1800" dirty="0">
                <a:latin typeface="Lucida Console" panose="020B0609040504020204" pitchFamily="49" charset="0"/>
              </a:rPr>
              <a:t>getString()</a:t>
            </a:r>
            <a:r>
              <a:rPr lang="en-US" sz="1800" dirty="0"/>
              <a:t>.</a:t>
            </a:r>
            <a:endParaRPr lang="en-SG" sz="1800" dirty="0"/>
          </a:p>
        </p:txBody>
      </p:sp>
    </p:spTree>
    <p:extLst>
      <p:ext uri="{BB962C8B-B14F-4D97-AF65-F5344CB8AC3E}">
        <p14:creationId xmlns:p14="http://schemas.microsoft.com/office/powerpoint/2010/main" val="23235779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3131DA-8E9E-48AA-A0C6-9253AA46BD1D}"/>
              </a:ext>
            </a:extLst>
          </p:cNvPr>
          <p:cNvSpPr>
            <a:spLocks noGrp="1"/>
          </p:cNvSpPr>
          <p:nvPr>
            <p:ph type="title"/>
          </p:nvPr>
        </p:nvSpPr>
        <p:spPr/>
        <p:txBody>
          <a:bodyPr/>
          <a:lstStyle/>
          <a:p>
            <a:r>
              <a:rPr lang="en-SG" dirty="0"/>
              <a:t>With</a:t>
            </a:r>
          </a:p>
        </p:txBody>
      </p:sp>
      <p:sp>
        <p:nvSpPr>
          <p:cNvPr id="5" name="Rectangle 1">
            <a:extLst>
              <a:ext uri="{FF2B5EF4-FFF2-40B4-BE49-F238E27FC236}">
                <a16:creationId xmlns:a16="http://schemas.microsoft.com/office/drawing/2014/main" id="{52979DE2-EB75-4889-827D-1459994C12A1}"/>
              </a:ext>
            </a:extLst>
          </p:cNvPr>
          <p:cNvSpPr txBox="1">
            <a:spLocks noChangeArrowheads="1"/>
          </p:cNvSpPr>
          <p:nvPr/>
        </p:nvSpPr>
        <p:spPr bwMode="auto">
          <a:xfrm>
            <a:off x="6665914" y="3447296"/>
            <a:ext cx="4090863" cy="11079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rtlCol="0" anchor="ctr" anchorCtr="0" compatLnSpc="1">
            <a:prstTxWarp prst="textNoShape">
              <a:avLst/>
            </a:prstTxWarp>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eaLnBrk="0" fontAlgn="base" hangingPunct="0">
              <a:lnSpc>
                <a:spcPct val="100000"/>
              </a:lnSpc>
              <a:spcBef>
                <a:spcPct val="0"/>
              </a:spcBef>
              <a:spcAft>
                <a:spcPct val="0"/>
              </a:spcAft>
              <a:buFontTx/>
              <a:buNone/>
            </a:pPr>
            <a:r>
              <a:rPr lang="en-US" altLang="en-US" sz="1200">
                <a:latin typeface="Lucida Console" panose="020B0609040504020204" pitchFamily="49" charset="0"/>
                <a:ea typeface="var(--devsite-code-font-family)"/>
              </a:rPr>
              <a:t>with(squareCabin) {</a:t>
            </a:r>
            <a:br>
              <a:rPr lang="en-US" altLang="en-US" sz="1200">
                <a:latin typeface="Lucida Console" panose="020B0609040504020204" pitchFamily="49" charset="0"/>
                <a:ea typeface="var(--devsite-code-font-family)"/>
              </a:rPr>
            </a:br>
            <a:r>
              <a:rPr lang="en-US" altLang="en-US" sz="1200">
                <a:latin typeface="Lucida Console" panose="020B0609040504020204" pitchFamily="49" charset="0"/>
                <a:ea typeface="var(--devsite-code-font-family)"/>
              </a:rPr>
              <a:t>    println("\nSquare Cabin\n============")</a:t>
            </a:r>
            <a:br>
              <a:rPr lang="en-US" altLang="en-US" sz="1200">
                <a:latin typeface="Lucida Console" panose="020B0609040504020204" pitchFamily="49" charset="0"/>
                <a:ea typeface="var(--devsite-code-font-family)"/>
              </a:rPr>
            </a:br>
            <a:r>
              <a:rPr lang="en-US" altLang="en-US" sz="1200">
                <a:latin typeface="Lucida Console" panose="020B0609040504020204" pitchFamily="49" charset="0"/>
                <a:ea typeface="var(--devsite-code-font-family)"/>
              </a:rPr>
              <a:t>    println("Capacity: ${capacity}")</a:t>
            </a:r>
            <a:br>
              <a:rPr lang="en-US" altLang="en-US" sz="1200">
                <a:latin typeface="Lucida Console" panose="020B0609040504020204" pitchFamily="49" charset="0"/>
                <a:ea typeface="var(--devsite-code-font-family)"/>
              </a:rPr>
            </a:br>
            <a:r>
              <a:rPr lang="en-US" altLang="en-US" sz="1200">
                <a:latin typeface="Lucida Console" panose="020B0609040504020204" pitchFamily="49" charset="0"/>
                <a:ea typeface="var(--devsite-code-font-family)"/>
              </a:rPr>
              <a:t>    println("Material: ${buildingMaterial}")</a:t>
            </a:r>
            <a:br>
              <a:rPr lang="en-US" altLang="en-US" sz="1200">
                <a:latin typeface="Lucida Console" panose="020B0609040504020204" pitchFamily="49" charset="0"/>
                <a:ea typeface="var(--devsite-code-font-family)"/>
              </a:rPr>
            </a:br>
            <a:r>
              <a:rPr lang="en-US" altLang="en-US" sz="1200">
                <a:latin typeface="Lucida Console" panose="020B0609040504020204" pitchFamily="49" charset="0"/>
                <a:ea typeface="var(--devsite-code-font-family)"/>
              </a:rPr>
              <a:t>    println("Has room? ${hasRoom()}")</a:t>
            </a:r>
            <a:br>
              <a:rPr lang="en-US" altLang="en-US" sz="1200">
                <a:latin typeface="Lucida Console" panose="020B0609040504020204" pitchFamily="49" charset="0"/>
                <a:ea typeface="var(--devsite-code-font-family)"/>
              </a:rPr>
            </a:br>
            <a:r>
              <a:rPr lang="en-US" altLang="en-US" sz="1200">
                <a:latin typeface="Lucida Console" panose="020B0609040504020204" pitchFamily="49" charset="0"/>
                <a:ea typeface="var(--devsite-code-font-family)"/>
              </a:rPr>
              <a:t>}</a:t>
            </a:r>
            <a:r>
              <a:rPr lang="en-US" altLang="en-US" sz="1200">
                <a:latin typeface="Lucida Console" panose="020B0609040504020204" pitchFamily="49" charset="0"/>
              </a:rPr>
              <a:t> </a:t>
            </a:r>
            <a:endParaRPr lang="en-US" altLang="en-US" sz="1200" dirty="0">
              <a:latin typeface="Lucida Console" panose="020B0609040504020204" pitchFamily="49" charset="0"/>
            </a:endParaRPr>
          </a:p>
        </p:txBody>
      </p:sp>
      <p:sp>
        <p:nvSpPr>
          <p:cNvPr id="7" name="Rectangle 3">
            <a:extLst>
              <a:ext uri="{FF2B5EF4-FFF2-40B4-BE49-F238E27FC236}">
                <a16:creationId xmlns:a16="http://schemas.microsoft.com/office/drawing/2014/main" id="{FACB5103-476B-470F-9A54-AF8543C6F9C9}"/>
              </a:ext>
            </a:extLst>
          </p:cNvPr>
          <p:cNvSpPr>
            <a:spLocks noGrp="1" noChangeArrowheads="1"/>
          </p:cNvSpPr>
          <p:nvPr>
            <p:ph idx="1"/>
          </p:nvPr>
        </p:nvSpPr>
        <p:spPr bwMode="auto">
          <a:xfrm>
            <a:off x="838200" y="3447296"/>
            <a:ext cx="5257801"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t>println("\</a:t>
            </a:r>
            <a:r>
              <a:rPr kumimoji="0" lang="en-US" altLang="en-US" sz="1200" b="0" i="0" u="none" strike="noStrike" cap="none" normalizeH="0" baseline="0" dirty="0" err="1">
                <a:ln>
                  <a:noFill/>
                </a:ln>
                <a:solidFill>
                  <a:schemeClr val="tx1"/>
                </a:solidFill>
                <a:effectLst/>
                <a:latin typeface="Lucida Console" panose="020B0609040504020204" pitchFamily="49" charset="0"/>
                <a:ea typeface="var(--devsite-code-font-family)"/>
              </a:rPr>
              <a:t>nSquare</a:t>
            </a:r>
            <a: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t> Cabin\n============")</a:t>
            </a:r>
            <a:b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br>
            <a: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t>println("Capacity: ${</a:t>
            </a:r>
            <a:r>
              <a:rPr kumimoji="0" lang="en-US" altLang="en-US" sz="1200" b="0" i="0" u="none" strike="noStrike" cap="none" normalizeH="0" baseline="0" dirty="0" err="1">
                <a:ln>
                  <a:noFill/>
                </a:ln>
                <a:solidFill>
                  <a:schemeClr val="tx1"/>
                </a:solidFill>
                <a:effectLst/>
                <a:latin typeface="Lucida Console" panose="020B0609040504020204" pitchFamily="49" charset="0"/>
                <a:ea typeface="var(--devsite-code-font-family)"/>
              </a:rPr>
              <a:t>squareCabin.capacity</a:t>
            </a:r>
            <a: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t>}")</a:t>
            </a:r>
            <a:b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br>
            <a: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t>println("Material: ${</a:t>
            </a:r>
            <a:r>
              <a:rPr kumimoji="0" lang="en-US" altLang="en-US" sz="1200" b="0" i="0" u="none" strike="noStrike" cap="none" normalizeH="0" baseline="0" dirty="0" err="1">
                <a:ln>
                  <a:noFill/>
                </a:ln>
                <a:solidFill>
                  <a:schemeClr val="tx1"/>
                </a:solidFill>
                <a:effectLst/>
                <a:latin typeface="Lucida Console" panose="020B0609040504020204" pitchFamily="49" charset="0"/>
                <a:ea typeface="var(--devsite-code-font-family)"/>
              </a:rPr>
              <a:t>squareCabin.buildingMaterial</a:t>
            </a:r>
            <a: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t>}")</a:t>
            </a:r>
            <a:b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br>
            <a: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t>println("Has room? ${</a:t>
            </a:r>
            <a:r>
              <a:rPr kumimoji="0" lang="en-US" altLang="en-US" sz="1200" b="0" i="0" u="none" strike="noStrike" cap="none" normalizeH="0" baseline="0" dirty="0" err="1">
                <a:ln>
                  <a:noFill/>
                </a:ln>
                <a:solidFill>
                  <a:schemeClr val="tx1"/>
                </a:solidFill>
                <a:effectLst/>
                <a:latin typeface="Lucida Console" panose="020B0609040504020204" pitchFamily="49" charset="0"/>
                <a:ea typeface="var(--devsite-code-font-family)"/>
              </a:rPr>
              <a:t>squareCabin.hasRoom</a:t>
            </a:r>
            <a: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t>()}")</a:t>
            </a:r>
            <a:r>
              <a:rPr kumimoji="0" lang="en-US" altLang="en-US" sz="1200" b="0" i="0" u="none" strike="noStrike" cap="none" normalizeH="0" baseline="0" dirty="0">
                <a:ln>
                  <a:noFill/>
                </a:ln>
                <a:solidFill>
                  <a:schemeClr val="tx1"/>
                </a:solidFill>
                <a:effectLst/>
                <a:latin typeface="Lucida Console" panose="020B0609040504020204" pitchFamily="49" charset="0"/>
              </a:rPr>
              <a:t> </a:t>
            </a:r>
          </a:p>
        </p:txBody>
      </p:sp>
      <p:sp>
        <p:nvSpPr>
          <p:cNvPr id="8" name="Content Placeholder 2">
            <a:extLst>
              <a:ext uri="{FF2B5EF4-FFF2-40B4-BE49-F238E27FC236}">
                <a16:creationId xmlns:a16="http://schemas.microsoft.com/office/drawing/2014/main" id="{112A39FC-D924-4FDB-95E7-3ED6A92366B3}"/>
              </a:ext>
            </a:extLst>
          </p:cNvPr>
          <p:cNvSpPr txBox="1">
            <a:spLocks/>
          </p:cNvSpPr>
          <p:nvPr/>
        </p:nvSpPr>
        <p:spPr>
          <a:xfrm>
            <a:off x="838200" y="1825625"/>
            <a:ext cx="10515600" cy="46037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SG" sz="1800" dirty="0"/>
              <a:t>Don’t have to repeat the instance name, especially when it has many methods or attributes.</a:t>
            </a:r>
          </a:p>
        </p:txBody>
      </p:sp>
    </p:spTree>
    <p:extLst>
      <p:ext uri="{BB962C8B-B14F-4D97-AF65-F5344CB8AC3E}">
        <p14:creationId xmlns:p14="http://schemas.microsoft.com/office/powerpoint/2010/main" val="38410373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21B943-AE6F-4C22-B12D-915929D31655}"/>
              </a:ext>
            </a:extLst>
          </p:cNvPr>
          <p:cNvSpPr>
            <a:spLocks noGrp="1"/>
          </p:cNvSpPr>
          <p:nvPr>
            <p:ph type="title"/>
          </p:nvPr>
        </p:nvSpPr>
        <p:spPr/>
        <p:txBody>
          <a:bodyPr/>
          <a:lstStyle/>
          <a:p>
            <a:r>
              <a:rPr lang="en-SG" dirty="0"/>
              <a:t>Vararg</a:t>
            </a:r>
          </a:p>
        </p:txBody>
      </p:sp>
      <p:sp>
        <p:nvSpPr>
          <p:cNvPr id="3" name="Content Placeholder 2">
            <a:extLst>
              <a:ext uri="{FF2B5EF4-FFF2-40B4-BE49-F238E27FC236}">
                <a16:creationId xmlns:a16="http://schemas.microsoft.com/office/drawing/2014/main" id="{305AE893-0364-4585-A97E-8FE167382ADA}"/>
              </a:ext>
            </a:extLst>
          </p:cNvPr>
          <p:cNvSpPr>
            <a:spLocks noGrp="1"/>
          </p:cNvSpPr>
          <p:nvPr>
            <p:ph idx="1"/>
          </p:nvPr>
        </p:nvSpPr>
        <p:spPr/>
        <p:txBody>
          <a:bodyPr/>
          <a:lstStyle/>
          <a:p>
            <a:pPr marL="0" indent="0">
              <a:buNone/>
            </a:pPr>
            <a:r>
              <a:rPr lang="en-SG" sz="2400" u="sng" dirty="0"/>
              <a:t>Instead of </a:t>
            </a:r>
          </a:p>
          <a:p>
            <a:pPr marL="0" indent="0">
              <a:buNone/>
            </a:pPr>
            <a:r>
              <a:rPr lang="nn-NO" sz="1400" dirty="0">
                <a:latin typeface="Lucida Console" panose="020B0609040504020204" pitchFamily="49" charset="0"/>
              </a:rPr>
              <a:t>class Vegetables(val toppings: List&lt;String&gt;)</a:t>
            </a:r>
            <a:endParaRPr lang="en-SG" sz="1400" dirty="0">
              <a:latin typeface="Lucida Console" panose="020B0609040504020204" pitchFamily="49" charset="0"/>
            </a:endParaRPr>
          </a:p>
          <a:p>
            <a:pPr marL="0" indent="0">
              <a:buNone/>
            </a:pPr>
            <a:r>
              <a:rPr lang="nn-NO" sz="1400" dirty="0">
                <a:latin typeface="Lucida Console" panose="020B0609040504020204" pitchFamily="49" charset="0"/>
              </a:rPr>
              <a:t>val vegetables = </a:t>
            </a:r>
            <a:r>
              <a:rPr lang="en-SG" sz="1400" dirty="0">
                <a:latin typeface="Lucida Console" panose="020B0609040504020204" pitchFamily="49" charset="0"/>
              </a:rPr>
              <a:t>Vegetables(listOf("Cabbage", "Sprouts", "Onion"))</a:t>
            </a:r>
          </a:p>
          <a:p>
            <a:pPr marL="0" indent="0">
              <a:buNone/>
            </a:pPr>
            <a:endParaRPr lang="en-SG" dirty="0"/>
          </a:p>
          <a:p>
            <a:pPr marL="0" indent="0">
              <a:buNone/>
            </a:pPr>
            <a:r>
              <a:rPr lang="en-SG" sz="2400" u="sng" dirty="0"/>
              <a:t>You can use the </a:t>
            </a:r>
            <a:r>
              <a:rPr lang="en-SG" sz="2400" u="sng" dirty="0">
                <a:latin typeface="Lucida Console" panose="020B0609040504020204" pitchFamily="49" charset="0"/>
              </a:rPr>
              <a:t>vararg</a:t>
            </a:r>
            <a:r>
              <a:rPr lang="en-SG" sz="2400" u="sng" dirty="0"/>
              <a:t> modifier to pass variable number of arguments</a:t>
            </a:r>
            <a:r>
              <a:rPr lang="en-SG" u="sng" dirty="0"/>
              <a:t> </a:t>
            </a:r>
          </a:p>
          <a:p>
            <a:pPr marL="0" indent="0">
              <a:buNone/>
            </a:pPr>
            <a:r>
              <a:rPr lang="nn-NO" sz="1400" dirty="0">
                <a:latin typeface="Lucida Console" panose="020B0609040504020204" pitchFamily="49" charset="0"/>
              </a:rPr>
              <a:t>class Vegetables(</a:t>
            </a:r>
            <a:r>
              <a:rPr lang="nn-NO" sz="1400" dirty="0">
                <a:highlight>
                  <a:srgbClr val="FFFF00"/>
                </a:highlight>
                <a:latin typeface="Lucida Console" panose="020B0609040504020204" pitchFamily="49" charset="0"/>
              </a:rPr>
              <a:t>vararg</a:t>
            </a:r>
            <a:r>
              <a:rPr lang="nn-NO" sz="1400" dirty="0">
                <a:latin typeface="Lucida Console" panose="020B0609040504020204" pitchFamily="49" charset="0"/>
              </a:rPr>
              <a:t> val toppings: String)</a:t>
            </a:r>
          </a:p>
          <a:p>
            <a:pPr marL="0" indent="0">
              <a:buNone/>
            </a:pPr>
            <a:r>
              <a:rPr lang="nn-NO" sz="1400" dirty="0">
                <a:latin typeface="Lucida Console" panose="020B0609040504020204" pitchFamily="49" charset="0"/>
              </a:rPr>
              <a:t>val vegetables = Vegetables("Cabbage", "Sprouts", "Onion")</a:t>
            </a:r>
            <a:endParaRPr lang="en-SG" sz="1400" dirty="0">
              <a:latin typeface="Lucida Console" panose="020B0609040504020204" pitchFamily="49" charset="0"/>
            </a:endParaRPr>
          </a:p>
        </p:txBody>
      </p:sp>
    </p:spTree>
    <p:extLst>
      <p:ext uri="{BB962C8B-B14F-4D97-AF65-F5344CB8AC3E}">
        <p14:creationId xmlns:p14="http://schemas.microsoft.com/office/powerpoint/2010/main" val="12366949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C785B9-7C9F-4431-8CD6-472679A60FCE}"/>
              </a:ext>
            </a:extLst>
          </p:cNvPr>
          <p:cNvSpPr>
            <a:spLocks noGrp="1"/>
          </p:cNvSpPr>
          <p:nvPr>
            <p:ph type="title"/>
          </p:nvPr>
        </p:nvSpPr>
        <p:spPr/>
        <p:txBody>
          <a:bodyPr/>
          <a:lstStyle/>
          <a:p>
            <a:r>
              <a:rPr lang="en-SG" dirty="0"/>
              <a:t>Lists</a:t>
            </a:r>
          </a:p>
        </p:txBody>
      </p:sp>
      <p:sp>
        <p:nvSpPr>
          <p:cNvPr id="3" name="Content Placeholder 2">
            <a:extLst>
              <a:ext uri="{FF2B5EF4-FFF2-40B4-BE49-F238E27FC236}">
                <a16:creationId xmlns:a16="http://schemas.microsoft.com/office/drawing/2014/main" id="{42FCFF4D-FA19-4F6E-81D8-1794A16E0D41}"/>
              </a:ext>
            </a:extLst>
          </p:cNvPr>
          <p:cNvSpPr>
            <a:spLocks noGrp="1"/>
          </p:cNvSpPr>
          <p:nvPr>
            <p:ph idx="1"/>
          </p:nvPr>
        </p:nvSpPr>
        <p:spPr>
          <a:xfrm>
            <a:off x="838200" y="1690688"/>
            <a:ext cx="10515600" cy="4351338"/>
          </a:xfrm>
        </p:spPr>
        <p:txBody>
          <a:bodyPr>
            <a:normAutofit/>
          </a:bodyPr>
          <a:lstStyle/>
          <a:p>
            <a:r>
              <a:rPr lang="en-SG" sz="2400" dirty="0">
                <a:latin typeface="Lucida Console" panose="020B0609040504020204" pitchFamily="49" charset="0"/>
              </a:rPr>
              <a:t>List = listOf&lt;…&gt;(…)</a:t>
            </a:r>
          </a:p>
          <a:p>
            <a:pPr lvl="1"/>
            <a:r>
              <a:rPr lang="en-SG" sz="1800" dirty="0">
                <a:latin typeface="Lucida Console" panose="020B0609040504020204" pitchFamily="49" charset="0"/>
              </a:rPr>
              <a:t>Methods</a:t>
            </a:r>
          </a:p>
          <a:p>
            <a:pPr lvl="2"/>
            <a:r>
              <a:rPr lang="en-SG" sz="1400" dirty="0">
                <a:latin typeface="Lucida Console" panose="020B0609040504020204" pitchFamily="49" charset="0"/>
              </a:rPr>
              <a:t>reversed()</a:t>
            </a:r>
          </a:p>
          <a:p>
            <a:pPr lvl="2"/>
            <a:r>
              <a:rPr lang="en-SG" sz="1400" dirty="0">
                <a:latin typeface="Lucida Console" panose="020B0609040504020204" pitchFamily="49" charset="0"/>
              </a:rPr>
              <a:t>sorted()</a:t>
            </a:r>
          </a:p>
          <a:p>
            <a:pPr lvl="2"/>
            <a:r>
              <a:rPr lang="en-SG" sz="1400" dirty="0">
                <a:latin typeface="Lucida Console" panose="020B0609040504020204" pitchFamily="49" charset="0"/>
              </a:rPr>
              <a:t>first()</a:t>
            </a:r>
          </a:p>
          <a:p>
            <a:pPr lvl="2"/>
            <a:r>
              <a:rPr lang="en-SG" sz="1400" dirty="0">
                <a:latin typeface="Lucida Console" panose="020B0609040504020204" pitchFamily="49" charset="0"/>
              </a:rPr>
              <a:t>last()</a:t>
            </a:r>
          </a:p>
          <a:p>
            <a:pPr lvl="2"/>
            <a:r>
              <a:rPr lang="en-SG" sz="1400" dirty="0">
                <a:latin typeface="Lucida Console" panose="020B0609040504020204" pitchFamily="49" charset="0"/>
              </a:rPr>
              <a:t>contains()</a:t>
            </a:r>
          </a:p>
          <a:p>
            <a:r>
              <a:rPr lang="en-SG" sz="2400" dirty="0">
                <a:latin typeface="Lucida Console" panose="020B0609040504020204" pitchFamily="49" charset="0"/>
              </a:rPr>
              <a:t>MutableList = </a:t>
            </a:r>
            <a:r>
              <a:rPr lang="en-SG" sz="2400" dirty="0" err="1">
                <a:latin typeface="Lucida Console" panose="020B0609040504020204" pitchFamily="49" charset="0"/>
              </a:rPr>
              <a:t>mutableListOf</a:t>
            </a:r>
            <a:r>
              <a:rPr lang="en-SG" sz="2400" dirty="0">
                <a:latin typeface="Lucida Console" panose="020B0609040504020204" pitchFamily="49" charset="0"/>
              </a:rPr>
              <a:t>&lt;…&gt;(…)</a:t>
            </a:r>
          </a:p>
          <a:p>
            <a:pPr lvl="1"/>
            <a:r>
              <a:rPr lang="en-SG" sz="1800" dirty="0">
                <a:latin typeface="Lucida Console" panose="020B0609040504020204" pitchFamily="49" charset="0"/>
              </a:rPr>
              <a:t>Methods</a:t>
            </a:r>
          </a:p>
          <a:p>
            <a:pPr lvl="2"/>
            <a:r>
              <a:rPr lang="en-SG" sz="1400" dirty="0">
                <a:latin typeface="Lucida Console" panose="020B0609040504020204" pitchFamily="49" charset="0"/>
              </a:rPr>
              <a:t>add()</a:t>
            </a:r>
          </a:p>
          <a:p>
            <a:pPr lvl="2"/>
            <a:r>
              <a:rPr lang="en-SG" sz="1400" dirty="0" err="1">
                <a:latin typeface="Lucida Console" panose="020B0609040504020204" pitchFamily="49" charset="0"/>
              </a:rPr>
              <a:t>addAll</a:t>
            </a:r>
            <a:r>
              <a:rPr lang="en-SG" sz="1400" dirty="0">
                <a:latin typeface="Lucida Console" panose="020B0609040504020204" pitchFamily="49" charset="0"/>
              </a:rPr>
              <a:t>()</a:t>
            </a:r>
          </a:p>
          <a:p>
            <a:pPr lvl="2"/>
            <a:r>
              <a:rPr lang="en-SG" sz="1400" dirty="0">
                <a:latin typeface="Lucida Console" panose="020B0609040504020204" pitchFamily="49" charset="0"/>
              </a:rPr>
              <a:t>remove()</a:t>
            </a:r>
          </a:p>
          <a:p>
            <a:pPr lvl="2"/>
            <a:r>
              <a:rPr lang="en-SG" sz="1400" dirty="0" err="1">
                <a:latin typeface="Lucida Console" panose="020B0609040504020204" pitchFamily="49" charset="0"/>
              </a:rPr>
              <a:t>removeAt</a:t>
            </a:r>
            <a:r>
              <a:rPr lang="en-SG" sz="1400" dirty="0">
                <a:latin typeface="Lucida Console" panose="020B0609040504020204" pitchFamily="49" charset="0"/>
              </a:rPr>
              <a:t>()</a:t>
            </a:r>
          </a:p>
          <a:p>
            <a:pPr lvl="2"/>
            <a:r>
              <a:rPr lang="en-SG" sz="1400" dirty="0">
                <a:latin typeface="Lucida Console" panose="020B0609040504020204" pitchFamily="49" charset="0"/>
              </a:rPr>
              <a:t>clear()</a:t>
            </a:r>
          </a:p>
          <a:p>
            <a:pPr lvl="2"/>
            <a:r>
              <a:rPr lang="en-SG" sz="1400" dirty="0" err="1">
                <a:latin typeface="Lucida Console" panose="020B0609040504020204" pitchFamily="49" charset="0"/>
              </a:rPr>
              <a:t>isEmpty</a:t>
            </a:r>
            <a:r>
              <a:rPr lang="en-SG" sz="1400" dirty="0">
                <a:latin typeface="Lucida Console" panose="020B0609040504020204" pitchFamily="49" charset="0"/>
              </a:rPr>
              <a:t>()</a:t>
            </a:r>
          </a:p>
          <a:p>
            <a:pPr lvl="2"/>
            <a:endParaRPr lang="en-SG" sz="1400" dirty="0">
              <a:latin typeface="Lucida Console" panose="020B0609040504020204" pitchFamily="49" charset="0"/>
            </a:endParaRPr>
          </a:p>
          <a:p>
            <a:endParaRPr lang="en-SG" sz="1800" dirty="0">
              <a:latin typeface="Lucida Console" panose="020B0609040504020204" pitchFamily="49" charset="0"/>
            </a:endParaRPr>
          </a:p>
        </p:txBody>
      </p:sp>
      <p:sp>
        <p:nvSpPr>
          <p:cNvPr id="4" name="Rectangle 1">
            <a:extLst>
              <a:ext uri="{FF2B5EF4-FFF2-40B4-BE49-F238E27FC236}">
                <a16:creationId xmlns:a16="http://schemas.microsoft.com/office/drawing/2014/main" id="{9186565B-74B1-42F1-8641-7AE218AD5B35}"/>
              </a:ext>
            </a:extLst>
          </p:cNvPr>
          <p:cNvSpPr>
            <a:spLocks noChangeArrowheads="1"/>
          </p:cNvSpPr>
          <p:nvPr/>
        </p:nvSpPr>
        <p:spPr bwMode="auto">
          <a:xfrm>
            <a:off x="6264613" y="1091491"/>
            <a:ext cx="5546387" cy="1077218"/>
          </a:xfrm>
          <a:prstGeom prst="rect">
            <a:avLst/>
          </a:prstGeom>
          <a:solidFill>
            <a:schemeClr val="accent4"/>
          </a:solidFill>
          <a:ln>
            <a:noFill/>
          </a:ln>
          <a:effectLst/>
        </p:spPr>
        <p:txBody>
          <a:bodyPr vert="horz" wrap="square" lIns="0" tIns="0" rIns="0" bIns="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sz="1400" b="0" i="0" u="none" strike="noStrike" cap="none" normalizeH="0" baseline="0" dirty="0" err="1">
                <a:ln>
                  <a:noFill/>
                </a:ln>
                <a:solidFill>
                  <a:schemeClr val="tx1"/>
                </a:solidFill>
                <a:effectLst/>
                <a:latin typeface="Lucida Console" panose="020B0609040504020204" pitchFamily="49" charset="0"/>
                <a:ea typeface="var(--devsite-code-font-family)"/>
              </a:rPr>
              <a:t>val</a:t>
            </a:r>
            <a:r>
              <a:rPr kumimoji="0" lang="en-US" altLang="en-US" sz="1400" b="0" i="0" u="none" strike="noStrike" cap="none" normalizeH="0" baseline="0" dirty="0">
                <a:ln>
                  <a:noFill/>
                </a:ln>
                <a:solidFill>
                  <a:schemeClr val="tx1"/>
                </a:solidFill>
                <a:effectLst/>
                <a:latin typeface="Lucida Console" panose="020B0609040504020204" pitchFamily="49" charset="0"/>
                <a:ea typeface="var(--devsite-code-font-family)"/>
              </a:rPr>
              <a:t> entrees = </a:t>
            </a:r>
            <a:r>
              <a:rPr kumimoji="0" lang="en-US" altLang="en-US" sz="1400" b="0" i="0" u="none" strike="noStrike" cap="none" normalizeH="0" baseline="0" dirty="0" err="1">
                <a:ln>
                  <a:noFill/>
                </a:ln>
                <a:solidFill>
                  <a:schemeClr val="tx1"/>
                </a:solidFill>
                <a:effectLst/>
                <a:latin typeface="Lucida Console" panose="020B0609040504020204" pitchFamily="49" charset="0"/>
                <a:ea typeface="var(--devsite-code-font-family)"/>
              </a:rPr>
              <a:t>mutableListOf</a:t>
            </a:r>
            <a:r>
              <a:rPr kumimoji="0" lang="en-US" altLang="en-US" sz="1400" b="0" i="0" u="none" strike="noStrike" cap="none" normalizeH="0" baseline="0" dirty="0">
                <a:ln>
                  <a:noFill/>
                </a:ln>
                <a:solidFill>
                  <a:schemeClr val="tx1"/>
                </a:solidFill>
                <a:effectLst/>
                <a:latin typeface="Lucida Console" panose="020B0609040504020204" pitchFamily="49" charset="0"/>
                <a:ea typeface="var(--devsite-code-font-family)"/>
              </a:rPr>
              <a:t>&lt;String&gt;()</a:t>
            </a:r>
          </a:p>
          <a:p>
            <a:pPr marL="0" marR="0" lvl="0" indent="0" algn="ctr" defTabSz="914400" rtl="0" eaLnBrk="0" fontAlgn="base" latinLnBrk="0" hangingPunct="0">
              <a:lnSpc>
                <a:spcPct val="100000"/>
              </a:lnSpc>
              <a:spcBef>
                <a:spcPct val="0"/>
              </a:spcBef>
              <a:spcAft>
                <a:spcPct val="0"/>
              </a:spcAft>
              <a:buClrTx/>
              <a:buSzTx/>
              <a:buFontTx/>
              <a:buNone/>
              <a:tabLst/>
            </a:pPr>
            <a:endParaRPr lang="en-US" altLang="en-US" sz="1400" dirty="0">
              <a:latin typeface="Lucida Console" panose="020B0609040504020204" pitchFamily="49" charset="0"/>
              <a:ea typeface="var(--devsite-code-font-family)"/>
            </a:endParaRPr>
          </a:p>
          <a:p>
            <a:pPr marL="0" marR="0" lvl="0" indent="0" algn="ctr" defTabSz="914400" rtl="0" eaLnBrk="0" fontAlgn="base" latinLnBrk="0" hangingPunct="0">
              <a:lnSpc>
                <a:spcPct val="100000"/>
              </a:lnSpc>
              <a:spcBef>
                <a:spcPct val="0"/>
              </a:spcBef>
              <a:spcAft>
                <a:spcPct val="0"/>
              </a:spcAft>
              <a:buClrTx/>
              <a:buSzTx/>
              <a:buFontTx/>
              <a:buNone/>
              <a:tabLst/>
            </a:pPr>
            <a:r>
              <a:rPr lang="en-US" altLang="en-US" sz="1400" dirty="0">
                <a:latin typeface="Segoe UI" panose="020B0502040204020203" pitchFamily="34" charset="0"/>
                <a:ea typeface="var(--devsite-code-font-family)"/>
                <a:cs typeface="Segoe UI" panose="020B0502040204020203" pitchFamily="34" charset="0"/>
              </a:rPr>
              <a:t>is the same as</a:t>
            </a:r>
          </a:p>
          <a:p>
            <a:pPr marL="0" marR="0" lvl="0" indent="0" algn="ctr" defTabSz="914400" rtl="0" eaLnBrk="0" fontAlgn="base" latinLnBrk="0" hangingPunct="0">
              <a:lnSpc>
                <a:spcPct val="100000"/>
              </a:lnSpc>
              <a:spcBef>
                <a:spcPct val="0"/>
              </a:spcBef>
              <a:spcAft>
                <a:spcPct val="0"/>
              </a:spcAft>
              <a:buClrTx/>
              <a:buSzTx/>
              <a:buFontTx/>
              <a:buNone/>
              <a:tabLst/>
            </a:pPr>
            <a:endParaRPr kumimoji="0" lang="en-US" altLang="en-US" sz="1400" b="0" i="0" u="none" strike="noStrike" cap="none" normalizeH="0" baseline="0" dirty="0">
              <a:ln>
                <a:noFill/>
              </a:ln>
              <a:solidFill>
                <a:schemeClr val="tx1"/>
              </a:solidFill>
              <a:effectLst/>
              <a:latin typeface="Lucida Console" panose="020B0609040504020204" pitchFamily="49" charset="0"/>
              <a:ea typeface="var(--devsite-code-font-family)"/>
            </a:endParaRPr>
          </a:p>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sz="1400" b="0" i="0" u="none" strike="noStrike" cap="none" normalizeH="0" baseline="0" dirty="0" err="1">
                <a:ln>
                  <a:noFill/>
                </a:ln>
                <a:solidFill>
                  <a:schemeClr val="tx1"/>
                </a:solidFill>
                <a:effectLst/>
                <a:latin typeface="Lucida Console" panose="020B0609040504020204" pitchFamily="49" charset="0"/>
                <a:ea typeface="var(--devsite-code-font-family)"/>
              </a:rPr>
              <a:t>val</a:t>
            </a:r>
            <a:r>
              <a:rPr kumimoji="0" lang="en-US" altLang="en-US" sz="1400" b="0" i="0" u="none" strike="noStrike" cap="none" normalizeH="0" baseline="0" dirty="0">
                <a:ln>
                  <a:noFill/>
                </a:ln>
                <a:solidFill>
                  <a:schemeClr val="tx1"/>
                </a:solidFill>
                <a:effectLst/>
                <a:latin typeface="Lucida Console" panose="020B0609040504020204" pitchFamily="49" charset="0"/>
                <a:ea typeface="var(--devsite-code-font-family)"/>
              </a:rPr>
              <a:t> entrees: MutableList&lt;String&gt; = </a:t>
            </a:r>
            <a:r>
              <a:rPr kumimoji="0" lang="en-US" altLang="en-US" sz="1400" b="0" i="0" u="none" strike="noStrike" cap="none" normalizeH="0" baseline="0" dirty="0" err="1">
                <a:ln>
                  <a:noFill/>
                </a:ln>
                <a:solidFill>
                  <a:schemeClr val="tx1"/>
                </a:solidFill>
                <a:effectLst/>
                <a:latin typeface="Lucida Console" panose="020B0609040504020204" pitchFamily="49" charset="0"/>
                <a:ea typeface="var(--devsite-code-font-family)"/>
              </a:rPr>
              <a:t>mutableListOf</a:t>
            </a:r>
            <a:r>
              <a:rPr kumimoji="0" lang="en-US" altLang="en-US" sz="1400" b="0" i="0" u="none" strike="noStrike" cap="none" normalizeH="0" baseline="0" dirty="0">
                <a:ln>
                  <a:noFill/>
                </a:ln>
                <a:solidFill>
                  <a:schemeClr val="tx1"/>
                </a:solidFill>
                <a:effectLst/>
                <a:latin typeface="Lucida Console" panose="020B0609040504020204" pitchFamily="49" charset="0"/>
                <a:ea typeface="var(--devsite-code-font-family)"/>
              </a:rPr>
              <a:t>() </a:t>
            </a:r>
            <a:r>
              <a:rPr kumimoji="0" lang="en-US" altLang="en-US" sz="1400" b="0" i="0" u="none" strike="noStrike" cap="none" normalizeH="0" baseline="0" dirty="0">
                <a:ln>
                  <a:noFill/>
                </a:ln>
                <a:solidFill>
                  <a:schemeClr val="tx1"/>
                </a:solidFill>
                <a:effectLst/>
                <a:latin typeface="Lucida Console" panose="020B0609040504020204" pitchFamily="49" charset="0"/>
              </a:rPr>
              <a:t> </a:t>
            </a:r>
          </a:p>
        </p:txBody>
      </p:sp>
      <p:sp>
        <p:nvSpPr>
          <p:cNvPr id="6" name="Rectangle 1">
            <a:extLst>
              <a:ext uri="{FF2B5EF4-FFF2-40B4-BE49-F238E27FC236}">
                <a16:creationId xmlns:a16="http://schemas.microsoft.com/office/drawing/2014/main" id="{43785030-FBE1-41DC-A94D-FE83C33DCC1D}"/>
              </a:ext>
            </a:extLst>
          </p:cNvPr>
          <p:cNvSpPr>
            <a:spLocks noChangeArrowheads="1"/>
          </p:cNvSpPr>
          <p:nvPr/>
        </p:nvSpPr>
        <p:spPr bwMode="auto">
          <a:xfrm>
            <a:off x="5894962" y="4486787"/>
            <a:ext cx="6071681" cy="2154436"/>
          </a:xfrm>
          <a:prstGeom prst="rect">
            <a:avLst/>
          </a:prstGeom>
          <a:solidFill>
            <a:schemeClr val="accent4"/>
          </a:solidFill>
          <a:ln>
            <a:noFill/>
          </a:ln>
          <a:effectLst/>
        </p:spPr>
        <p:txBody>
          <a:bodyPr vert="horz" wrap="square" lIns="0" tIns="0" rIns="0" bIns="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sz="1400" b="1" i="0" u="none" strike="noStrike" cap="none" normalizeH="0" baseline="0" dirty="0">
                <a:ln>
                  <a:noFill/>
                </a:ln>
                <a:solidFill>
                  <a:schemeClr val="tx1"/>
                </a:solidFill>
                <a:effectLst/>
                <a:latin typeface="Segoe UI" panose="020B0502040204020203" pitchFamily="34" charset="0"/>
                <a:ea typeface="var(--devsite-code-font-family)"/>
                <a:cs typeface="Segoe UI" panose="020B0502040204020203" pitchFamily="34" charset="0"/>
              </a:rPr>
              <a:t>How does the </a:t>
            </a:r>
            <a:r>
              <a:rPr kumimoji="0" lang="en-US" altLang="en-US" sz="1400" b="1" i="0" u="none" strike="noStrike" cap="none" normalizeH="0" baseline="0" dirty="0" err="1">
                <a:ln>
                  <a:noFill/>
                </a:ln>
                <a:solidFill>
                  <a:schemeClr val="tx1"/>
                </a:solidFill>
                <a:effectLst/>
                <a:latin typeface="Lucida Console" panose="020B0609040504020204" pitchFamily="49" charset="0"/>
                <a:ea typeface="var(--devsite-code-font-family)"/>
                <a:cs typeface="Segoe UI" panose="020B0502040204020203" pitchFamily="34" charset="0"/>
              </a:rPr>
              <a:t>val</a:t>
            </a:r>
            <a:r>
              <a:rPr kumimoji="0" lang="en-US" altLang="en-US" sz="1400" b="1" i="0" u="none" strike="noStrike" cap="none" normalizeH="0" baseline="0" dirty="0">
                <a:ln>
                  <a:noFill/>
                </a:ln>
                <a:solidFill>
                  <a:schemeClr val="tx1"/>
                </a:solidFill>
                <a:effectLst/>
                <a:latin typeface="Segoe UI" panose="020B0502040204020203" pitchFamily="34" charset="0"/>
                <a:ea typeface="var(--devsite-code-font-family)"/>
                <a:cs typeface="Segoe UI" panose="020B0502040204020203" pitchFamily="34" charset="0"/>
              </a:rPr>
              <a:t> and </a:t>
            </a:r>
            <a:r>
              <a:rPr kumimoji="0" lang="en-US" altLang="en-US" sz="1400" b="1" i="0" u="none" strike="noStrike" cap="none" normalizeH="0" baseline="0" dirty="0">
                <a:ln>
                  <a:noFill/>
                </a:ln>
                <a:solidFill>
                  <a:schemeClr val="tx1"/>
                </a:solidFill>
                <a:effectLst/>
                <a:latin typeface="Lucida Console" panose="020B0609040504020204" pitchFamily="49" charset="0"/>
                <a:ea typeface="var(--devsite-code-font-family)"/>
                <a:cs typeface="Segoe UI" panose="020B0502040204020203" pitchFamily="34" charset="0"/>
              </a:rPr>
              <a:t>var</a:t>
            </a:r>
            <a:r>
              <a:rPr kumimoji="0" lang="en-US" altLang="en-US" sz="1400" b="1" i="0" u="none" strike="noStrike" cap="none" normalizeH="0" baseline="0" dirty="0">
                <a:ln>
                  <a:noFill/>
                </a:ln>
                <a:solidFill>
                  <a:schemeClr val="tx1"/>
                </a:solidFill>
                <a:effectLst/>
                <a:latin typeface="Segoe UI" panose="020B0502040204020203" pitchFamily="34" charset="0"/>
                <a:ea typeface="var(--devsite-code-font-family)"/>
                <a:cs typeface="Segoe UI" panose="020B0502040204020203" pitchFamily="34" charset="0"/>
              </a:rPr>
              <a:t> keyword affect lists/mutable list?</a:t>
            </a:r>
          </a:p>
          <a:p>
            <a:pPr marL="0" marR="0" lvl="0" indent="0" algn="ctr" defTabSz="914400" rtl="0" eaLnBrk="0" fontAlgn="base" latinLnBrk="0" hangingPunct="0">
              <a:lnSpc>
                <a:spcPct val="100000"/>
              </a:lnSpc>
              <a:spcBef>
                <a:spcPct val="0"/>
              </a:spcBef>
              <a:spcAft>
                <a:spcPct val="0"/>
              </a:spcAft>
              <a:buClrTx/>
              <a:buSzTx/>
              <a:buFontTx/>
              <a:buNone/>
              <a:tabLst/>
            </a:pPr>
            <a:endParaRPr lang="en-US" altLang="en-US" sz="1400" dirty="0">
              <a:latin typeface="Segoe UI" panose="020B0502040204020203" pitchFamily="34" charset="0"/>
              <a:cs typeface="Segoe UI" panose="020B0502040204020203" pitchFamily="34" charset="0"/>
            </a:endParaRPr>
          </a:p>
          <a:p>
            <a:pPr marL="0" marR="0" lvl="0" indent="0" algn="ctr" defTabSz="914400" rtl="0" eaLnBrk="0" fontAlgn="base" latinLnBrk="0" hangingPunct="0">
              <a:lnSpc>
                <a:spcPct val="100000"/>
              </a:lnSpc>
              <a:spcBef>
                <a:spcPct val="0"/>
              </a:spcBef>
              <a:spcAft>
                <a:spcPct val="0"/>
              </a:spcAft>
              <a:buClrTx/>
              <a:buSzTx/>
              <a:buFontTx/>
              <a:buNone/>
              <a:tabLst/>
            </a:pPr>
            <a:r>
              <a:rPr lang="en-US" altLang="en-US" sz="1400" dirty="0" err="1">
                <a:latin typeface="Lucida Console" panose="020B0609040504020204" pitchFamily="49" charset="0"/>
                <a:cs typeface="Segoe UI" panose="020B0502040204020203" pitchFamily="34" charset="0"/>
              </a:rPr>
              <a:t>v</a:t>
            </a:r>
            <a:r>
              <a:rPr kumimoji="0" lang="en-US" altLang="en-US" sz="1400" b="0" i="0" u="none" strike="noStrike" cap="none" normalizeH="0" baseline="0" dirty="0" err="1">
                <a:ln>
                  <a:noFill/>
                </a:ln>
                <a:solidFill>
                  <a:schemeClr val="tx1"/>
                </a:solidFill>
                <a:effectLst/>
                <a:latin typeface="Lucida Console" panose="020B0609040504020204" pitchFamily="49" charset="0"/>
                <a:cs typeface="Segoe UI" panose="020B0502040204020203" pitchFamily="34" charset="0"/>
              </a:rPr>
              <a:t>al</a:t>
            </a:r>
            <a:r>
              <a:rPr kumimoji="0" lang="en-US" altLang="en-US" sz="1400" b="0" i="0" u="none" strike="noStrike" cap="none" normalizeH="0" baseline="0" dirty="0">
                <a:ln>
                  <a:noFill/>
                </a:ln>
                <a:solidFill>
                  <a:schemeClr val="tx1"/>
                </a:solidFill>
                <a:effectLst/>
                <a:latin typeface="Segoe UI" panose="020B0502040204020203" pitchFamily="34" charset="0"/>
                <a:cs typeface="Segoe UI" panose="020B0502040204020203" pitchFamily="34" charset="0"/>
              </a:rPr>
              <a:t> with mutable list = cannot reassign variable with a new valu</a:t>
            </a:r>
            <a:r>
              <a:rPr lang="en-US" altLang="en-US" sz="1400" dirty="0">
                <a:latin typeface="Segoe UI" panose="020B0502040204020203" pitchFamily="34" charset="0"/>
                <a:cs typeface="Segoe UI" panose="020B0502040204020203" pitchFamily="34" charset="0"/>
              </a:rPr>
              <a:t>e, but can alter existing content of variable</a:t>
            </a:r>
          </a:p>
          <a:p>
            <a:pPr marL="0" marR="0" lvl="0" indent="0" algn="ctr" defTabSz="914400" rtl="0" eaLnBrk="0" fontAlgn="base" latinLnBrk="0" hangingPunct="0">
              <a:lnSpc>
                <a:spcPct val="100000"/>
              </a:lnSpc>
              <a:spcBef>
                <a:spcPct val="0"/>
              </a:spcBef>
              <a:spcAft>
                <a:spcPct val="0"/>
              </a:spcAft>
              <a:buClrTx/>
              <a:buSzTx/>
              <a:buFontTx/>
              <a:buNone/>
              <a:tabLst/>
            </a:pPr>
            <a:endParaRPr kumimoji="0" lang="en-US" altLang="en-US" sz="1400" b="0" i="0" u="none" strike="noStrike" cap="none" normalizeH="0" baseline="0" dirty="0">
              <a:ln>
                <a:noFill/>
              </a:ln>
              <a:solidFill>
                <a:schemeClr val="tx1"/>
              </a:solidFill>
              <a:effectLst/>
              <a:latin typeface="Segoe UI" panose="020B0502040204020203" pitchFamily="34" charset="0"/>
              <a:cs typeface="Segoe UI" panose="020B0502040204020203" pitchFamily="34" charset="0"/>
            </a:endParaRPr>
          </a:p>
          <a:p>
            <a:pPr marL="0" marR="0" lvl="0" indent="0" algn="ctr" defTabSz="914400" rtl="0" eaLnBrk="0" fontAlgn="base" latinLnBrk="0" hangingPunct="0">
              <a:lnSpc>
                <a:spcPct val="100000"/>
              </a:lnSpc>
              <a:spcBef>
                <a:spcPct val="0"/>
              </a:spcBef>
              <a:spcAft>
                <a:spcPct val="0"/>
              </a:spcAft>
              <a:buClrTx/>
              <a:buSzTx/>
              <a:buFontTx/>
              <a:buNone/>
              <a:tabLst/>
            </a:pPr>
            <a:r>
              <a:rPr lang="en-US" altLang="en-US" sz="1400" dirty="0">
                <a:latin typeface="Lucida Console" panose="020B0609040504020204" pitchFamily="49" charset="0"/>
                <a:cs typeface="Segoe UI" panose="020B0502040204020203" pitchFamily="34" charset="0"/>
              </a:rPr>
              <a:t>var</a:t>
            </a:r>
            <a:r>
              <a:rPr lang="en-US" altLang="en-US" sz="1400" dirty="0">
                <a:latin typeface="Segoe UI" panose="020B0502040204020203" pitchFamily="34" charset="0"/>
                <a:cs typeface="Segoe UI" panose="020B0502040204020203" pitchFamily="34" charset="0"/>
              </a:rPr>
              <a:t> with mutable list = can reassign, can alter existing content</a:t>
            </a:r>
          </a:p>
          <a:p>
            <a:pPr marL="0" marR="0" lvl="0" indent="0" algn="ctr" defTabSz="914400" rtl="0" eaLnBrk="0" fontAlgn="base" latinLnBrk="0" hangingPunct="0">
              <a:lnSpc>
                <a:spcPct val="100000"/>
              </a:lnSpc>
              <a:spcBef>
                <a:spcPct val="0"/>
              </a:spcBef>
              <a:spcAft>
                <a:spcPct val="0"/>
              </a:spcAft>
              <a:buClrTx/>
              <a:buSzTx/>
              <a:buFontTx/>
              <a:buNone/>
              <a:tabLst/>
            </a:pPr>
            <a:endParaRPr kumimoji="0" lang="en-US" altLang="en-US" sz="1400" b="0" i="0" u="none" strike="noStrike" cap="none" normalizeH="0" baseline="0" dirty="0">
              <a:ln>
                <a:noFill/>
              </a:ln>
              <a:solidFill>
                <a:schemeClr val="tx1"/>
              </a:solidFill>
              <a:effectLst/>
              <a:latin typeface="Segoe UI" panose="020B0502040204020203" pitchFamily="34" charset="0"/>
              <a:cs typeface="Segoe UI" panose="020B0502040204020203" pitchFamily="34" charset="0"/>
            </a:endParaRPr>
          </a:p>
          <a:p>
            <a:pPr marL="0" marR="0" lvl="0" indent="0" algn="ctr" defTabSz="914400" rtl="0" eaLnBrk="0" fontAlgn="base" latinLnBrk="0" hangingPunct="0">
              <a:lnSpc>
                <a:spcPct val="100000"/>
              </a:lnSpc>
              <a:spcBef>
                <a:spcPct val="0"/>
              </a:spcBef>
              <a:spcAft>
                <a:spcPct val="0"/>
              </a:spcAft>
              <a:buClrTx/>
              <a:buSzTx/>
              <a:buFontTx/>
              <a:buNone/>
              <a:tabLst/>
            </a:pPr>
            <a:r>
              <a:rPr lang="en-US" altLang="en-US" sz="1400" dirty="0" err="1">
                <a:latin typeface="Lucida Console" panose="020B0609040504020204" pitchFamily="49" charset="0"/>
                <a:cs typeface="Segoe UI" panose="020B0502040204020203" pitchFamily="34" charset="0"/>
              </a:rPr>
              <a:t>val</a:t>
            </a:r>
            <a:r>
              <a:rPr lang="en-US" altLang="en-US" sz="1400" dirty="0">
                <a:latin typeface="Segoe UI" panose="020B0502040204020203" pitchFamily="34" charset="0"/>
                <a:cs typeface="Segoe UI" panose="020B0502040204020203" pitchFamily="34" charset="0"/>
              </a:rPr>
              <a:t> with immutable list = cannot reassign, cannot alter existing content</a:t>
            </a:r>
          </a:p>
          <a:p>
            <a:pPr marL="0" marR="0" lvl="0" indent="0" algn="ctr" defTabSz="914400" rtl="0" eaLnBrk="0" fontAlgn="base" latinLnBrk="0" hangingPunct="0">
              <a:lnSpc>
                <a:spcPct val="100000"/>
              </a:lnSpc>
              <a:spcBef>
                <a:spcPct val="0"/>
              </a:spcBef>
              <a:spcAft>
                <a:spcPct val="0"/>
              </a:spcAft>
              <a:buClrTx/>
              <a:buSzTx/>
              <a:buFontTx/>
              <a:buNone/>
              <a:tabLst/>
            </a:pPr>
            <a:endParaRPr kumimoji="0" lang="en-US" altLang="en-US" sz="1400" b="0" i="0" u="none" strike="noStrike" cap="none" normalizeH="0" baseline="0" dirty="0">
              <a:ln>
                <a:noFill/>
              </a:ln>
              <a:solidFill>
                <a:schemeClr val="tx1"/>
              </a:solidFill>
              <a:effectLst/>
              <a:latin typeface="Segoe UI" panose="020B0502040204020203" pitchFamily="34" charset="0"/>
              <a:cs typeface="Segoe UI" panose="020B0502040204020203" pitchFamily="34" charset="0"/>
            </a:endParaRPr>
          </a:p>
          <a:p>
            <a:pPr marL="0" marR="0" lvl="0" indent="0" algn="ctr" defTabSz="914400" rtl="0" eaLnBrk="0" fontAlgn="base" latinLnBrk="0" hangingPunct="0">
              <a:lnSpc>
                <a:spcPct val="100000"/>
              </a:lnSpc>
              <a:spcBef>
                <a:spcPct val="0"/>
              </a:spcBef>
              <a:spcAft>
                <a:spcPct val="0"/>
              </a:spcAft>
              <a:buClrTx/>
              <a:buSzTx/>
              <a:buFontTx/>
              <a:buNone/>
              <a:tabLst/>
            </a:pPr>
            <a:r>
              <a:rPr lang="en-US" altLang="en-US" sz="1400" dirty="0">
                <a:latin typeface="Lucida Console" panose="020B0609040504020204" pitchFamily="49" charset="0"/>
                <a:cs typeface="Segoe UI" panose="020B0502040204020203" pitchFamily="34" charset="0"/>
              </a:rPr>
              <a:t>var</a:t>
            </a:r>
            <a:r>
              <a:rPr lang="en-US" altLang="en-US" sz="1400" dirty="0">
                <a:latin typeface="Segoe UI" panose="020B0502040204020203" pitchFamily="34" charset="0"/>
                <a:cs typeface="Segoe UI" panose="020B0502040204020203" pitchFamily="34" charset="0"/>
              </a:rPr>
              <a:t> with immutable content = can reassign, cannot alter existing content</a:t>
            </a:r>
            <a:endParaRPr kumimoji="0" lang="en-US" altLang="en-US" sz="1400" b="0" i="0" u="none" strike="noStrike" cap="none" normalizeH="0" baseline="0" dirty="0">
              <a:ln>
                <a:noFill/>
              </a:ln>
              <a:solidFill>
                <a:schemeClr val="tx1"/>
              </a:solidFill>
              <a:effectLst/>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199450380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9ADF61-2343-4150-8592-6E0680070EEA}"/>
              </a:ext>
            </a:extLst>
          </p:cNvPr>
          <p:cNvSpPr>
            <a:spLocks noGrp="1"/>
          </p:cNvSpPr>
          <p:nvPr>
            <p:ph type="title"/>
          </p:nvPr>
        </p:nvSpPr>
        <p:spPr/>
        <p:txBody>
          <a:bodyPr/>
          <a:lstStyle/>
          <a:p>
            <a:r>
              <a:rPr lang="en-SG" dirty="0"/>
              <a:t>Coding nuances that nobody really cares</a:t>
            </a:r>
          </a:p>
        </p:txBody>
      </p:sp>
      <p:sp>
        <p:nvSpPr>
          <p:cNvPr id="3" name="Content Placeholder 2">
            <a:extLst>
              <a:ext uri="{FF2B5EF4-FFF2-40B4-BE49-F238E27FC236}">
                <a16:creationId xmlns:a16="http://schemas.microsoft.com/office/drawing/2014/main" id="{A7912FF4-9187-4E0A-824C-E0D930645EAF}"/>
              </a:ext>
            </a:extLst>
          </p:cNvPr>
          <p:cNvSpPr>
            <a:spLocks noGrp="1"/>
          </p:cNvSpPr>
          <p:nvPr>
            <p:ph idx="1"/>
          </p:nvPr>
        </p:nvSpPr>
        <p:spPr/>
        <p:txBody>
          <a:bodyPr>
            <a:normAutofit/>
          </a:bodyPr>
          <a:lstStyle/>
          <a:p>
            <a:r>
              <a:rPr lang="en-SG" sz="2400" dirty="0"/>
              <a:t>Method or Function?</a:t>
            </a:r>
          </a:p>
          <a:p>
            <a:pPr lvl="1"/>
            <a:r>
              <a:rPr lang="en-SG" sz="2000" dirty="0"/>
              <a:t>A method presumes the existence of an object (i.e. defined within a class), while a function is free and independent.</a:t>
            </a:r>
          </a:p>
          <a:p>
            <a:r>
              <a:rPr lang="en-SG" sz="2400" dirty="0"/>
              <a:t>Parameter or Argument?</a:t>
            </a:r>
          </a:p>
          <a:p>
            <a:pPr lvl="1"/>
            <a:r>
              <a:rPr lang="en-US" sz="2000" dirty="0"/>
              <a:t>A parameter is variable declaration in the function/method definition. When the function/method is called, the arguments are the data you pass into its parameters.</a:t>
            </a:r>
          </a:p>
          <a:p>
            <a:r>
              <a:rPr lang="en-US" sz="2400" dirty="0"/>
              <a:t>Property or Attribute?</a:t>
            </a:r>
          </a:p>
          <a:p>
            <a:pPr lvl="1"/>
            <a:r>
              <a:rPr lang="en-US" sz="2000" dirty="0"/>
              <a:t>A property is something that </a:t>
            </a:r>
            <a:r>
              <a:rPr lang="en-US" sz="2000" dirty="0" err="1"/>
              <a:t>characterises</a:t>
            </a:r>
            <a:r>
              <a:rPr lang="en-US" sz="2000" dirty="0"/>
              <a:t> a class (e.g. age and gender are properties of human) and the property becomes an attribute when it is given a value or description (e.g. age is 20, gender is female)</a:t>
            </a:r>
            <a:endParaRPr lang="en-SG" sz="2000" dirty="0"/>
          </a:p>
        </p:txBody>
      </p:sp>
    </p:spTree>
    <p:extLst>
      <p:ext uri="{BB962C8B-B14F-4D97-AF65-F5344CB8AC3E}">
        <p14:creationId xmlns:p14="http://schemas.microsoft.com/office/powerpoint/2010/main" val="83162195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97268C-0A37-45CF-9EAB-464D9AEBB375}"/>
              </a:ext>
            </a:extLst>
          </p:cNvPr>
          <p:cNvSpPr>
            <a:spLocks noGrp="1"/>
          </p:cNvSpPr>
          <p:nvPr>
            <p:ph type="title"/>
          </p:nvPr>
        </p:nvSpPr>
        <p:spPr/>
        <p:txBody>
          <a:bodyPr/>
          <a:lstStyle/>
          <a:p>
            <a:r>
              <a:rPr lang="en-SG" dirty="0"/>
              <a:t>Gradle</a:t>
            </a:r>
          </a:p>
        </p:txBody>
      </p:sp>
      <p:sp>
        <p:nvSpPr>
          <p:cNvPr id="3" name="Content Placeholder 2">
            <a:extLst>
              <a:ext uri="{FF2B5EF4-FFF2-40B4-BE49-F238E27FC236}">
                <a16:creationId xmlns:a16="http://schemas.microsoft.com/office/drawing/2014/main" id="{AE86A37D-CE0D-4D61-A496-5876950F08FF}"/>
              </a:ext>
            </a:extLst>
          </p:cNvPr>
          <p:cNvSpPr>
            <a:spLocks noGrp="1"/>
          </p:cNvSpPr>
          <p:nvPr>
            <p:ph idx="1"/>
          </p:nvPr>
        </p:nvSpPr>
        <p:spPr/>
        <p:txBody>
          <a:bodyPr>
            <a:normAutofit/>
          </a:bodyPr>
          <a:lstStyle/>
          <a:p>
            <a:r>
              <a:rPr lang="en-US" sz="2400" dirty="0"/>
              <a:t>Automated build system used by Android Studio.</a:t>
            </a:r>
          </a:p>
          <a:p>
            <a:r>
              <a:rPr lang="en-US" sz="2400" dirty="0"/>
              <a:t>Whenever you change code, add a resource, or make other changes to your app, Gradle figures out what has changed and takes the necessary steps to rebuild your app. </a:t>
            </a:r>
          </a:p>
          <a:p>
            <a:r>
              <a:rPr lang="en-US" sz="2400" dirty="0"/>
              <a:t>It also installs your app in the emulator or physical device and controls its execution.</a:t>
            </a:r>
            <a:endParaRPr lang="en-SG" sz="2400" dirty="0"/>
          </a:p>
        </p:txBody>
      </p:sp>
    </p:spTree>
    <p:extLst>
      <p:ext uri="{BB962C8B-B14F-4D97-AF65-F5344CB8AC3E}">
        <p14:creationId xmlns:p14="http://schemas.microsoft.com/office/powerpoint/2010/main" val="1718940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568D77C9-DB67-4CFE-BE9C-F4D90B4DA73C}"/>
              </a:ext>
            </a:extLst>
          </p:cNvPr>
          <p:cNvPicPr>
            <a:picLocks noChangeAspect="1"/>
          </p:cNvPicPr>
          <p:nvPr/>
        </p:nvPicPr>
        <p:blipFill rotWithShape="1">
          <a:blip r:embed="rId2"/>
          <a:srcRect b="4782"/>
          <a:stretch/>
        </p:blipFill>
        <p:spPr>
          <a:xfrm>
            <a:off x="838200" y="1447668"/>
            <a:ext cx="7345915" cy="5045207"/>
          </a:xfrm>
          <a:prstGeom prst="rect">
            <a:avLst/>
          </a:prstGeom>
        </p:spPr>
      </p:pic>
      <p:sp>
        <p:nvSpPr>
          <p:cNvPr id="2" name="Title 1">
            <a:extLst>
              <a:ext uri="{FF2B5EF4-FFF2-40B4-BE49-F238E27FC236}">
                <a16:creationId xmlns:a16="http://schemas.microsoft.com/office/drawing/2014/main" id="{77E8D2FF-D8C6-4DAD-8544-D511A5A60B3C}"/>
              </a:ext>
            </a:extLst>
          </p:cNvPr>
          <p:cNvSpPr>
            <a:spLocks noGrp="1"/>
          </p:cNvSpPr>
          <p:nvPr>
            <p:ph type="title"/>
          </p:nvPr>
        </p:nvSpPr>
        <p:spPr/>
        <p:txBody>
          <a:bodyPr/>
          <a:lstStyle/>
          <a:p>
            <a:r>
              <a:rPr lang="en-SG" dirty="0"/>
              <a:t>Auto Imports</a:t>
            </a:r>
          </a:p>
        </p:txBody>
      </p:sp>
      <p:sp>
        <p:nvSpPr>
          <p:cNvPr id="8" name="Rectangle 7">
            <a:extLst>
              <a:ext uri="{FF2B5EF4-FFF2-40B4-BE49-F238E27FC236}">
                <a16:creationId xmlns:a16="http://schemas.microsoft.com/office/drawing/2014/main" id="{EA2D08F7-D573-4AD6-81FE-5B63C4F8E41D}"/>
              </a:ext>
            </a:extLst>
          </p:cNvPr>
          <p:cNvSpPr/>
          <p:nvPr/>
        </p:nvSpPr>
        <p:spPr>
          <a:xfrm>
            <a:off x="2850205" y="2773231"/>
            <a:ext cx="1935804" cy="407714"/>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Rectangle 8">
            <a:extLst>
              <a:ext uri="{FF2B5EF4-FFF2-40B4-BE49-F238E27FC236}">
                <a16:creationId xmlns:a16="http://schemas.microsoft.com/office/drawing/2014/main" id="{54354F8C-89AC-4D85-BD73-036250E8C213}"/>
              </a:ext>
            </a:extLst>
          </p:cNvPr>
          <p:cNvSpPr/>
          <p:nvPr/>
        </p:nvSpPr>
        <p:spPr>
          <a:xfrm>
            <a:off x="2850205" y="2311701"/>
            <a:ext cx="3035029" cy="1785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2" name="Rectangle 11">
            <a:extLst>
              <a:ext uri="{FF2B5EF4-FFF2-40B4-BE49-F238E27FC236}">
                <a16:creationId xmlns:a16="http://schemas.microsoft.com/office/drawing/2014/main" id="{2B838290-D0F7-4241-9334-28AD1BB35B66}"/>
              </a:ext>
            </a:extLst>
          </p:cNvPr>
          <p:cNvSpPr/>
          <p:nvPr/>
        </p:nvSpPr>
        <p:spPr>
          <a:xfrm>
            <a:off x="2691319" y="5629921"/>
            <a:ext cx="2094689" cy="67360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4" name="TextBox 13">
            <a:extLst>
              <a:ext uri="{FF2B5EF4-FFF2-40B4-BE49-F238E27FC236}">
                <a16:creationId xmlns:a16="http://schemas.microsoft.com/office/drawing/2014/main" id="{8827F79E-5136-4566-BB44-D7B37300CBE7}"/>
              </a:ext>
            </a:extLst>
          </p:cNvPr>
          <p:cNvSpPr txBox="1"/>
          <p:nvPr/>
        </p:nvSpPr>
        <p:spPr>
          <a:xfrm>
            <a:off x="6987705" y="2311701"/>
            <a:ext cx="4254050" cy="2677656"/>
          </a:xfrm>
          <a:prstGeom prst="rect">
            <a:avLst/>
          </a:prstGeom>
          <a:solidFill>
            <a:schemeClr val="accent4"/>
          </a:solidFill>
        </p:spPr>
        <p:txBody>
          <a:bodyPr wrap="square" rtlCol="0">
            <a:spAutoFit/>
          </a:bodyPr>
          <a:lstStyle/>
          <a:p>
            <a:r>
              <a:rPr lang="en-US" sz="1400" dirty="0"/>
              <a:t>It can become a lot of work to remember to add import statements when you use more classes. Fortunately, Android Studio helps you choose the correct imports when you are using classes provided by others.</a:t>
            </a:r>
          </a:p>
          <a:p>
            <a:endParaRPr lang="en-US" sz="1400" dirty="0"/>
          </a:p>
          <a:p>
            <a:r>
              <a:rPr lang="en-US" sz="1400" dirty="0"/>
              <a:t>The </a:t>
            </a:r>
            <a:r>
              <a:rPr lang="en-US" sz="1400" b="1" dirty="0"/>
              <a:t>unambiguous</a:t>
            </a:r>
            <a:r>
              <a:rPr lang="en-US" sz="1400" dirty="0"/>
              <a:t> imports settings tell Android Studio to automatically add an import statement, as long as it can determine which one to use. </a:t>
            </a:r>
          </a:p>
          <a:p>
            <a:endParaRPr lang="en-US" sz="1400" dirty="0"/>
          </a:p>
          <a:p>
            <a:r>
              <a:rPr lang="en-US" sz="1400" dirty="0"/>
              <a:t>The </a:t>
            </a:r>
            <a:r>
              <a:rPr lang="en-US" sz="1400" b="1" dirty="0"/>
              <a:t>optimize</a:t>
            </a:r>
            <a:r>
              <a:rPr lang="en-US" sz="1400" dirty="0"/>
              <a:t> imports settings tell Android Studio to remove any imports that aren't being used by your code.</a:t>
            </a:r>
            <a:endParaRPr lang="en-SG" sz="1400" dirty="0"/>
          </a:p>
        </p:txBody>
      </p:sp>
    </p:spTree>
    <p:extLst>
      <p:ext uri="{BB962C8B-B14F-4D97-AF65-F5344CB8AC3E}">
        <p14:creationId xmlns:p14="http://schemas.microsoft.com/office/powerpoint/2010/main" val="406759750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Lemonade App Flow</a:t>
            </a:r>
          </a:p>
        </p:txBody>
      </p:sp>
      <p:pic>
        <p:nvPicPr>
          <p:cNvPr id="4" name="Picture 3">
            <a:extLst>
              <a:ext uri="{FF2B5EF4-FFF2-40B4-BE49-F238E27FC236}">
                <a16:creationId xmlns:a16="http://schemas.microsoft.com/office/drawing/2014/main" id="{897E06FA-B27D-4692-861A-73E14D6C841E}"/>
              </a:ext>
            </a:extLst>
          </p:cNvPr>
          <p:cNvPicPr>
            <a:picLocks noChangeAspect="1"/>
          </p:cNvPicPr>
          <p:nvPr/>
        </p:nvPicPr>
        <p:blipFill>
          <a:blip r:embed="rId2"/>
          <a:stretch>
            <a:fillRect/>
          </a:stretch>
        </p:blipFill>
        <p:spPr>
          <a:xfrm>
            <a:off x="1429932" y="1753426"/>
            <a:ext cx="998307" cy="1425063"/>
          </a:xfrm>
          <a:prstGeom prst="rect">
            <a:avLst/>
          </a:prstGeom>
        </p:spPr>
      </p:pic>
      <p:pic>
        <p:nvPicPr>
          <p:cNvPr id="6" name="Picture 5">
            <a:extLst>
              <a:ext uri="{FF2B5EF4-FFF2-40B4-BE49-F238E27FC236}">
                <a16:creationId xmlns:a16="http://schemas.microsoft.com/office/drawing/2014/main" id="{1F6AC428-0AB0-4D99-8159-C6E568B34B08}"/>
              </a:ext>
            </a:extLst>
          </p:cNvPr>
          <p:cNvPicPr>
            <a:picLocks noChangeAspect="1"/>
          </p:cNvPicPr>
          <p:nvPr/>
        </p:nvPicPr>
        <p:blipFill>
          <a:blip r:embed="rId3"/>
          <a:stretch>
            <a:fillRect/>
          </a:stretch>
        </p:blipFill>
        <p:spPr>
          <a:xfrm>
            <a:off x="4018278" y="1791528"/>
            <a:ext cx="1295512" cy="1348857"/>
          </a:xfrm>
          <a:prstGeom prst="rect">
            <a:avLst/>
          </a:prstGeom>
        </p:spPr>
      </p:pic>
      <p:pic>
        <p:nvPicPr>
          <p:cNvPr id="8" name="Picture 7">
            <a:extLst>
              <a:ext uri="{FF2B5EF4-FFF2-40B4-BE49-F238E27FC236}">
                <a16:creationId xmlns:a16="http://schemas.microsoft.com/office/drawing/2014/main" id="{DEA33ADC-5600-4FAA-9C03-332493011CEE}"/>
              </a:ext>
            </a:extLst>
          </p:cNvPr>
          <p:cNvPicPr>
            <a:picLocks noChangeAspect="1"/>
          </p:cNvPicPr>
          <p:nvPr/>
        </p:nvPicPr>
        <p:blipFill>
          <a:blip r:embed="rId4"/>
          <a:stretch>
            <a:fillRect/>
          </a:stretch>
        </p:blipFill>
        <p:spPr>
          <a:xfrm>
            <a:off x="6903829" y="1783908"/>
            <a:ext cx="1226926" cy="1394581"/>
          </a:xfrm>
          <a:prstGeom prst="rect">
            <a:avLst/>
          </a:prstGeom>
        </p:spPr>
      </p:pic>
      <p:pic>
        <p:nvPicPr>
          <p:cNvPr id="10" name="Picture 9">
            <a:extLst>
              <a:ext uri="{FF2B5EF4-FFF2-40B4-BE49-F238E27FC236}">
                <a16:creationId xmlns:a16="http://schemas.microsoft.com/office/drawing/2014/main" id="{E8E29C5A-8B4B-4716-BA0A-7594A00FC007}"/>
              </a:ext>
            </a:extLst>
          </p:cNvPr>
          <p:cNvPicPr>
            <a:picLocks noChangeAspect="1"/>
          </p:cNvPicPr>
          <p:nvPr/>
        </p:nvPicPr>
        <p:blipFill>
          <a:blip r:embed="rId5"/>
          <a:stretch>
            <a:fillRect/>
          </a:stretch>
        </p:blipFill>
        <p:spPr>
          <a:xfrm>
            <a:off x="9720794" y="1980801"/>
            <a:ext cx="951274" cy="1145412"/>
          </a:xfrm>
          <a:prstGeom prst="rect">
            <a:avLst/>
          </a:prstGeom>
        </p:spPr>
      </p:pic>
      <p:sp>
        <p:nvSpPr>
          <p:cNvPr id="11" name="Rectangle 10">
            <a:extLst>
              <a:ext uri="{FF2B5EF4-FFF2-40B4-BE49-F238E27FC236}">
                <a16:creationId xmlns:a16="http://schemas.microsoft.com/office/drawing/2014/main" id="{95AAC17D-A1F9-4795-A391-6A4D4D201CF6}"/>
              </a:ext>
            </a:extLst>
          </p:cNvPr>
          <p:cNvSpPr/>
          <p:nvPr/>
        </p:nvSpPr>
        <p:spPr>
          <a:xfrm>
            <a:off x="1089497" y="3503877"/>
            <a:ext cx="1673157" cy="5661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CURRENT STATE: (TO) SELECT</a:t>
            </a:r>
          </a:p>
        </p:txBody>
      </p:sp>
      <p:sp>
        <p:nvSpPr>
          <p:cNvPr id="12" name="Rectangle 11">
            <a:extLst>
              <a:ext uri="{FF2B5EF4-FFF2-40B4-BE49-F238E27FC236}">
                <a16:creationId xmlns:a16="http://schemas.microsoft.com/office/drawing/2014/main" id="{C5183975-4226-409F-B119-8199EEC3D186}"/>
              </a:ext>
            </a:extLst>
          </p:cNvPr>
          <p:cNvSpPr/>
          <p:nvPr/>
        </p:nvSpPr>
        <p:spPr>
          <a:xfrm>
            <a:off x="3829455" y="3503877"/>
            <a:ext cx="1673157" cy="5661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CURRENT STATE: (TO) SQUEEZE</a:t>
            </a:r>
          </a:p>
        </p:txBody>
      </p:sp>
      <p:sp>
        <p:nvSpPr>
          <p:cNvPr id="13" name="Rectangle 12">
            <a:extLst>
              <a:ext uri="{FF2B5EF4-FFF2-40B4-BE49-F238E27FC236}">
                <a16:creationId xmlns:a16="http://schemas.microsoft.com/office/drawing/2014/main" id="{AABF3452-858C-4693-AF80-9BDD8AE127B2}"/>
              </a:ext>
            </a:extLst>
          </p:cNvPr>
          <p:cNvSpPr/>
          <p:nvPr/>
        </p:nvSpPr>
        <p:spPr>
          <a:xfrm>
            <a:off x="6569413" y="3503877"/>
            <a:ext cx="1673157" cy="5661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CURRENT STATE: (TO) DRINK</a:t>
            </a:r>
          </a:p>
        </p:txBody>
      </p:sp>
      <p:sp>
        <p:nvSpPr>
          <p:cNvPr id="14" name="Rectangle 13">
            <a:extLst>
              <a:ext uri="{FF2B5EF4-FFF2-40B4-BE49-F238E27FC236}">
                <a16:creationId xmlns:a16="http://schemas.microsoft.com/office/drawing/2014/main" id="{88D16A09-5592-4450-AD09-A091F1A2B1F0}"/>
              </a:ext>
            </a:extLst>
          </p:cNvPr>
          <p:cNvSpPr/>
          <p:nvPr/>
        </p:nvSpPr>
        <p:spPr>
          <a:xfrm>
            <a:off x="9359852" y="3503877"/>
            <a:ext cx="1673157" cy="5661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CURRENT STATE: (TO) RESTART</a:t>
            </a:r>
          </a:p>
        </p:txBody>
      </p:sp>
      <p:cxnSp>
        <p:nvCxnSpPr>
          <p:cNvPr id="16" name="Straight Arrow Connector 15">
            <a:extLst>
              <a:ext uri="{FF2B5EF4-FFF2-40B4-BE49-F238E27FC236}">
                <a16:creationId xmlns:a16="http://schemas.microsoft.com/office/drawing/2014/main" id="{66BBB330-FE3D-44A0-80DD-2F2FEE411F3C}"/>
              </a:ext>
            </a:extLst>
          </p:cNvPr>
          <p:cNvCxnSpPr>
            <a:stCxn id="4" idx="3"/>
            <a:endCxn id="6" idx="1"/>
          </p:cNvCxnSpPr>
          <p:nvPr/>
        </p:nvCxnSpPr>
        <p:spPr>
          <a:xfrm flipV="1">
            <a:off x="2428239" y="2465957"/>
            <a:ext cx="1590039"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0724F46E-EEB1-48C7-8FD0-B7443BFCBE60}"/>
              </a:ext>
            </a:extLst>
          </p:cNvPr>
          <p:cNvCxnSpPr/>
          <p:nvPr/>
        </p:nvCxnSpPr>
        <p:spPr>
          <a:xfrm flipV="1">
            <a:off x="5300980" y="2482981"/>
            <a:ext cx="1590039"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C9D120D-A855-408A-954E-F6CCEBFC5258}"/>
              </a:ext>
            </a:extLst>
          </p:cNvPr>
          <p:cNvCxnSpPr/>
          <p:nvPr/>
        </p:nvCxnSpPr>
        <p:spPr>
          <a:xfrm flipV="1">
            <a:off x="8130755" y="2465955"/>
            <a:ext cx="1590039"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Rectangle 20">
            <a:extLst>
              <a:ext uri="{FF2B5EF4-FFF2-40B4-BE49-F238E27FC236}">
                <a16:creationId xmlns:a16="http://schemas.microsoft.com/office/drawing/2014/main" id="{FFF7641B-E510-461E-B98C-F686EAF1937A}"/>
              </a:ext>
            </a:extLst>
          </p:cNvPr>
          <p:cNvSpPr/>
          <p:nvPr/>
        </p:nvSpPr>
        <p:spPr>
          <a:xfrm>
            <a:off x="652787" y="5098686"/>
            <a:ext cx="1673157" cy="787654"/>
          </a:xfrm>
          <a:prstGeom prst="rect">
            <a:avLst/>
          </a:prstGeom>
          <a:solidFill>
            <a:srgbClr val="FFF1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STATE: SQUEEZE</a:t>
            </a:r>
          </a:p>
          <a:p>
            <a:pPr algn="ctr"/>
            <a:r>
              <a:rPr lang="en-SG" sz="1400" dirty="0">
                <a:solidFill>
                  <a:schemeClr val="tx1"/>
                </a:solidFill>
              </a:rPr>
              <a:t>squeezeCount = 0</a:t>
            </a:r>
          </a:p>
          <a:p>
            <a:pPr algn="ctr"/>
            <a:r>
              <a:rPr lang="en-SG" sz="1400" dirty="0">
                <a:solidFill>
                  <a:schemeClr val="tx1"/>
                </a:solidFill>
              </a:rPr>
              <a:t>lemonSize = 3</a:t>
            </a:r>
          </a:p>
        </p:txBody>
      </p:sp>
      <p:sp>
        <p:nvSpPr>
          <p:cNvPr id="22" name="Rectangle 21">
            <a:extLst>
              <a:ext uri="{FF2B5EF4-FFF2-40B4-BE49-F238E27FC236}">
                <a16:creationId xmlns:a16="http://schemas.microsoft.com/office/drawing/2014/main" id="{C0C55794-C8CB-4889-ABC1-B4F548786774}"/>
              </a:ext>
            </a:extLst>
          </p:cNvPr>
          <p:cNvSpPr/>
          <p:nvPr/>
        </p:nvSpPr>
        <p:spPr>
          <a:xfrm>
            <a:off x="2921699" y="5213204"/>
            <a:ext cx="1673157" cy="566128"/>
          </a:xfrm>
          <a:prstGeom prst="rect">
            <a:avLst/>
          </a:prstGeom>
          <a:solidFill>
            <a:srgbClr val="FFF1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squeezeCount = 1</a:t>
            </a:r>
          </a:p>
          <a:p>
            <a:pPr algn="ctr"/>
            <a:r>
              <a:rPr lang="en-SG" sz="1400" dirty="0">
                <a:solidFill>
                  <a:schemeClr val="tx1"/>
                </a:solidFill>
              </a:rPr>
              <a:t>lemonSize = 2</a:t>
            </a:r>
          </a:p>
        </p:txBody>
      </p:sp>
      <p:sp>
        <p:nvSpPr>
          <p:cNvPr id="23" name="Rectangle 22">
            <a:extLst>
              <a:ext uri="{FF2B5EF4-FFF2-40B4-BE49-F238E27FC236}">
                <a16:creationId xmlns:a16="http://schemas.microsoft.com/office/drawing/2014/main" id="{96735ADB-98BB-45CF-8538-0192F76513EE}"/>
              </a:ext>
            </a:extLst>
          </p:cNvPr>
          <p:cNvSpPr/>
          <p:nvPr/>
        </p:nvSpPr>
        <p:spPr>
          <a:xfrm>
            <a:off x="5217623" y="5213204"/>
            <a:ext cx="1673157" cy="566128"/>
          </a:xfrm>
          <a:prstGeom prst="rect">
            <a:avLst/>
          </a:prstGeom>
          <a:solidFill>
            <a:srgbClr val="FFF1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squeezeCount = 2</a:t>
            </a:r>
          </a:p>
          <a:p>
            <a:pPr algn="ctr"/>
            <a:r>
              <a:rPr lang="en-SG" sz="1400" dirty="0">
                <a:solidFill>
                  <a:schemeClr val="tx1"/>
                </a:solidFill>
              </a:rPr>
              <a:t>lemonSize = 1</a:t>
            </a:r>
          </a:p>
        </p:txBody>
      </p:sp>
      <p:sp>
        <p:nvSpPr>
          <p:cNvPr id="24" name="Rectangle 23">
            <a:extLst>
              <a:ext uri="{FF2B5EF4-FFF2-40B4-BE49-F238E27FC236}">
                <a16:creationId xmlns:a16="http://schemas.microsoft.com/office/drawing/2014/main" id="{5BA3B667-2144-42BE-98BD-A56C90860D63}"/>
              </a:ext>
            </a:extLst>
          </p:cNvPr>
          <p:cNvSpPr/>
          <p:nvPr/>
        </p:nvSpPr>
        <p:spPr>
          <a:xfrm>
            <a:off x="7571196" y="5224033"/>
            <a:ext cx="1673157" cy="1021123"/>
          </a:xfrm>
          <a:prstGeom prst="rect">
            <a:avLst/>
          </a:prstGeom>
          <a:solidFill>
            <a:srgbClr val="FFF1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squeezeCount = 3</a:t>
            </a:r>
          </a:p>
          <a:p>
            <a:pPr algn="ctr"/>
            <a:r>
              <a:rPr lang="en-SG" sz="1400" dirty="0">
                <a:solidFill>
                  <a:schemeClr val="tx1"/>
                </a:solidFill>
              </a:rPr>
              <a:t>lemonSize = 0</a:t>
            </a:r>
          </a:p>
          <a:p>
            <a:pPr algn="ctr"/>
            <a:r>
              <a:rPr lang="en-SG" sz="1400" dirty="0">
                <a:solidFill>
                  <a:schemeClr val="tx1"/>
                </a:solidFill>
              </a:rPr>
              <a:t>STATE: DRINK</a:t>
            </a:r>
          </a:p>
          <a:p>
            <a:pPr algn="ctr"/>
            <a:r>
              <a:rPr lang="en-SG" sz="1400" dirty="0">
                <a:solidFill>
                  <a:schemeClr val="tx1"/>
                </a:solidFill>
              </a:rPr>
              <a:t>lemonSize = -1</a:t>
            </a:r>
          </a:p>
        </p:txBody>
      </p:sp>
      <p:sp>
        <p:nvSpPr>
          <p:cNvPr id="27" name="TextBox 26">
            <a:extLst>
              <a:ext uri="{FF2B5EF4-FFF2-40B4-BE49-F238E27FC236}">
                <a16:creationId xmlns:a16="http://schemas.microsoft.com/office/drawing/2014/main" id="{02EE8DB4-E3AC-453C-A30B-5399B2710BE8}"/>
              </a:ext>
            </a:extLst>
          </p:cNvPr>
          <p:cNvSpPr txBox="1"/>
          <p:nvPr/>
        </p:nvSpPr>
        <p:spPr>
          <a:xfrm>
            <a:off x="693630" y="4622346"/>
            <a:ext cx="1986066" cy="369332"/>
          </a:xfrm>
          <a:prstGeom prst="rect">
            <a:avLst/>
          </a:prstGeom>
          <a:noFill/>
        </p:spPr>
        <p:txBody>
          <a:bodyPr wrap="square">
            <a:spAutoFit/>
          </a:bodyPr>
          <a:lstStyle/>
          <a:p>
            <a:r>
              <a:rPr lang="en-SG" sz="1800" dirty="0">
                <a:solidFill>
                  <a:schemeClr val="tx1"/>
                </a:solidFill>
              </a:rPr>
              <a:t>If lemonSize == 3,</a:t>
            </a:r>
          </a:p>
        </p:txBody>
      </p:sp>
      <p:sp>
        <p:nvSpPr>
          <p:cNvPr id="28" name="TextBox 27">
            <a:extLst>
              <a:ext uri="{FF2B5EF4-FFF2-40B4-BE49-F238E27FC236}">
                <a16:creationId xmlns:a16="http://schemas.microsoft.com/office/drawing/2014/main" id="{CFA7808A-F80F-4669-B8E2-230F0F0C0136}"/>
              </a:ext>
            </a:extLst>
          </p:cNvPr>
          <p:cNvSpPr txBox="1"/>
          <p:nvPr/>
        </p:nvSpPr>
        <p:spPr>
          <a:xfrm>
            <a:off x="2673954" y="4963763"/>
            <a:ext cx="1127168" cy="307777"/>
          </a:xfrm>
          <a:prstGeom prst="rect">
            <a:avLst/>
          </a:prstGeom>
          <a:solidFill>
            <a:schemeClr val="accent1">
              <a:lumMod val="60000"/>
              <a:lumOff val="40000"/>
            </a:schemeClr>
          </a:solidFill>
        </p:spPr>
        <p:txBody>
          <a:bodyPr wrap="none" rtlCol="0">
            <a:spAutoFit/>
          </a:bodyPr>
          <a:lstStyle/>
          <a:p>
            <a:r>
              <a:rPr lang="en-SG" sz="1400" dirty="0"/>
              <a:t>After 1</a:t>
            </a:r>
            <a:r>
              <a:rPr lang="en-SG" sz="1400" baseline="30000" dirty="0"/>
              <a:t>st</a:t>
            </a:r>
            <a:r>
              <a:rPr lang="en-SG" sz="1400" dirty="0"/>
              <a:t> click</a:t>
            </a:r>
          </a:p>
        </p:txBody>
      </p:sp>
      <p:sp>
        <p:nvSpPr>
          <p:cNvPr id="29" name="TextBox 28">
            <a:extLst>
              <a:ext uri="{FF2B5EF4-FFF2-40B4-BE49-F238E27FC236}">
                <a16:creationId xmlns:a16="http://schemas.microsoft.com/office/drawing/2014/main" id="{D6B15ADD-9DB3-4497-8F0F-FA1A3C03C965}"/>
              </a:ext>
            </a:extLst>
          </p:cNvPr>
          <p:cNvSpPr txBox="1"/>
          <p:nvPr/>
        </p:nvSpPr>
        <p:spPr>
          <a:xfrm>
            <a:off x="5044938" y="4954035"/>
            <a:ext cx="1207062" cy="307777"/>
          </a:xfrm>
          <a:prstGeom prst="rect">
            <a:avLst/>
          </a:prstGeom>
          <a:solidFill>
            <a:schemeClr val="accent1">
              <a:lumMod val="60000"/>
              <a:lumOff val="40000"/>
            </a:schemeClr>
          </a:solidFill>
        </p:spPr>
        <p:txBody>
          <a:bodyPr wrap="none" rtlCol="0">
            <a:spAutoFit/>
          </a:bodyPr>
          <a:lstStyle/>
          <a:p>
            <a:r>
              <a:rPr lang="en-SG" sz="1400" dirty="0"/>
              <a:t>After 2</a:t>
            </a:r>
            <a:r>
              <a:rPr lang="en-SG" sz="1400" baseline="30000" dirty="0"/>
              <a:t>nd</a:t>
            </a:r>
            <a:r>
              <a:rPr lang="en-SG" sz="1400" dirty="0"/>
              <a:t> click</a:t>
            </a:r>
          </a:p>
        </p:txBody>
      </p:sp>
      <p:sp>
        <p:nvSpPr>
          <p:cNvPr id="31" name="TextBox 30">
            <a:extLst>
              <a:ext uri="{FF2B5EF4-FFF2-40B4-BE49-F238E27FC236}">
                <a16:creationId xmlns:a16="http://schemas.microsoft.com/office/drawing/2014/main" id="{1B4A4C2D-3791-4C0E-928D-AAA3E0A29EA7}"/>
              </a:ext>
            </a:extLst>
          </p:cNvPr>
          <p:cNvSpPr txBox="1"/>
          <p:nvPr/>
        </p:nvSpPr>
        <p:spPr>
          <a:xfrm>
            <a:off x="7374219" y="4963763"/>
            <a:ext cx="1184555" cy="307777"/>
          </a:xfrm>
          <a:prstGeom prst="rect">
            <a:avLst/>
          </a:prstGeom>
          <a:solidFill>
            <a:schemeClr val="accent1">
              <a:lumMod val="60000"/>
              <a:lumOff val="40000"/>
            </a:schemeClr>
          </a:solidFill>
        </p:spPr>
        <p:txBody>
          <a:bodyPr wrap="none" rtlCol="0">
            <a:spAutoFit/>
          </a:bodyPr>
          <a:lstStyle/>
          <a:p>
            <a:r>
              <a:rPr lang="en-SG" sz="1400" dirty="0"/>
              <a:t>After 3</a:t>
            </a:r>
            <a:r>
              <a:rPr lang="en-SG" sz="1400" baseline="30000" dirty="0"/>
              <a:t>rd</a:t>
            </a:r>
            <a:r>
              <a:rPr lang="en-SG" sz="1400" dirty="0"/>
              <a:t> click</a:t>
            </a:r>
          </a:p>
        </p:txBody>
      </p:sp>
      <p:cxnSp>
        <p:nvCxnSpPr>
          <p:cNvPr id="33" name="Straight Arrow Connector 32">
            <a:extLst>
              <a:ext uri="{FF2B5EF4-FFF2-40B4-BE49-F238E27FC236}">
                <a16:creationId xmlns:a16="http://schemas.microsoft.com/office/drawing/2014/main" id="{28938FF8-DBE5-490A-B368-6AB4BC9EA9EA}"/>
              </a:ext>
            </a:extLst>
          </p:cNvPr>
          <p:cNvCxnSpPr>
            <a:cxnSpLocks/>
            <a:stCxn id="21" idx="3"/>
            <a:endCxn id="22" idx="1"/>
          </p:cNvCxnSpPr>
          <p:nvPr/>
        </p:nvCxnSpPr>
        <p:spPr>
          <a:xfrm>
            <a:off x="2325944" y="5492513"/>
            <a:ext cx="595755" cy="375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BDD059C8-A236-4DAC-A4A2-8A84800721A7}"/>
              </a:ext>
            </a:extLst>
          </p:cNvPr>
          <p:cNvCxnSpPr>
            <a:cxnSpLocks/>
          </p:cNvCxnSpPr>
          <p:nvPr/>
        </p:nvCxnSpPr>
        <p:spPr>
          <a:xfrm>
            <a:off x="4594856" y="5507098"/>
            <a:ext cx="59575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96D49E97-A289-4A56-A2F5-C3DC6BDC0A57}"/>
              </a:ext>
            </a:extLst>
          </p:cNvPr>
          <p:cNvCxnSpPr>
            <a:cxnSpLocks/>
          </p:cNvCxnSpPr>
          <p:nvPr/>
        </p:nvCxnSpPr>
        <p:spPr>
          <a:xfrm>
            <a:off x="6921537" y="5507098"/>
            <a:ext cx="59575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5CFB611C-3602-4EC2-B5B4-7580549F61BC}"/>
              </a:ext>
            </a:extLst>
          </p:cNvPr>
          <p:cNvSpPr txBox="1"/>
          <p:nvPr/>
        </p:nvSpPr>
        <p:spPr>
          <a:xfrm>
            <a:off x="3833214" y="5775926"/>
            <a:ext cx="2143422" cy="276999"/>
          </a:xfrm>
          <a:prstGeom prst="rect">
            <a:avLst/>
          </a:prstGeom>
          <a:noFill/>
        </p:spPr>
        <p:txBody>
          <a:bodyPr wrap="square">
            <a:spAutoFit/>
          </a:bodyPr>
          <a:lstStyle/>
          <a:p>
            <a:pPr algn="ctr"/>
            <a:r>
              <a:rPr lang="en-SG" sz="1200" b="0" i="0" dirty="0">
                <a:solidFill>
                  <a:srgbClr val="37474F"/>
                </a:solidFill>
                <a:effectLst/>
                <a:latin typeface="Lucida Console" panose="020B0609040504020204" pitchFamily="49" charset="0"/>
              </a:rPr>
              <a:t>clickLemonImage()</a:t>
            </a:r>
            <a:endParaRPr lang="en-SG" sz="1200" dirty="0">
              <a:latin typeface="Lucida Console" panose="020B0609040504020204" pitchFamily="49" charset="0"/>
            </a:endParaRPr>
          </a:p>
        </p:txBody>
      </p:sp>
      <p:sp>
        <p:nvSpPr>
          <p:cNvPr id="43" name="TextBox 42">
            <a:extLst>
              <a:ext uri="{FF2B5EF4-FFF2-40B4-BE49-F238E27FC236}">
                <a16:creationId xmlns:a16="http://schemas.microsoft.com/office/drawing/2014/main" id="{DF8FFB42-9D04-4145-9391-FB1CADE276C9}"/>
              </a:ext>
            </a:extLst>
          </p:cNvPr>
          <p:cNvSpPr txBox="1"/>
          <p:nvPr/>
        </p:nvSpPr>
        <p:spPr>
          <a:xfrm>
            <a:off x="1552111" y="5875784"/>
            <a:ext cx="2143422" cy="276999"/>
          </a:xfrm>
          <a:prstGeom prst="rect">
            <a:avLst/>
          </a:prstGeom>
          <a:noFill/>
        </p:spPr>
        <p:txBody>
          <a:bodyPr wrap="square">
            <a:spAutoFit/>
          </a:bodyPr>
          <a:lstStyle/>
          <a:p>
            <a:pPr algn="ctr"/>
            <a:r>
              <a:rPr lang="en-SG" sz="1200" b="0" i="0" dirty="0">
                <a:solidFill>
                  <a:srgbClr val="37474F"/>
                </a:solidFill>
                <a:effectLst/>
                <a:latin typeface="Lucida Console" panose="020B0609040504020204" pitchFamily="49" charset="0"/>
              </a:rPr>
              <a:t>clickLemonImage()</a:t>
            </a:r>
            <a:endParaRPr lang="en-SG" sz="1200" dirty="0">
              <a:latin typeface="Lucida Console" panose="020B0609040504020204" pitchFamily="49" charset="0"/>
            </a:endParaRPr>
          </a:p>
        </p:txBody>
      </p:sp>
      <p:sp>
        <p:nvSpPr>
          <p:cNvPr id="44" name="TextBox 43">
            <a:extLst>
              <a:ext uri="{FF2B5EF4-FFF2-40B4-BE49-F238E27FC236}">
                <a16:creationId xmlns:a16="http://schemas.microsoft.com/office/drawing/2014/main" id="{CFA386B8-D883-4380-A434-F54FC3CDBD30}"/>
              </a:ext>
            </a:extLst>
          </p:cNvPr>
          <p:cNvSpPr txBox="1"/>
          <p:nvPr/>
        </p:nvSpPr>
        <p:spPr>
          <a:xfrm>
            <a:off x="6159277" y="6235147"/>
            <a:ext cx="2143422" cy="276999"/>
          </a:xfrm>
          <a:prstGeom prst="rect">
            <a:avLst/>
          </a:prstGeom>
          <a:noFill/>
        </p:spPr>
        <p:txBody>
          <a:bodyPr wrap="square">
            <a:spAutoFit/>
          </a:bodyPr>
          <a:lstStyle/>
          <a:p>
            <a:pPr algn="ctr"/>
            <a:r>
              <a:rPr lang="en-SG" sz="1200" b="0" i="0" dirty="0">
                <a:solidFill>
                  <a:srgbClr val="37474F"/>
                </a:solidFill>
                <a:effectLst/>
                <a:latin typeface="Lucida Console" panose="020B0609040504020204" pitchFamily="49" charset="0"/>
              </a:rPr>
              <a:t>clickLemonImage()</a:t>
            </a:r>
            <a:endParaRPr lang="en-SG" sz="1200" dirty="0">
              <a:latin typeface="Lucida Console" panose="020B0609040504020204" pitchFamily="49" charset="0"/>
            </a:endParaRPr>
          </a:p>
        </p:txBody>
      </p:sp>
      <p:cxnSp>
        <p:nvCxnSpPr>
          <p:cNvPr id="48" name="Connector: Elbow 47">
            <a:extLst>
              <a:ext uri="{FF2B5EF4-FFF2-40B4-BE49-F238E27FC236}">
                <a16:creationId xmlns:a16="http://schemas.microsoft.com/office/drawing/2014/main" id="{99113D03-3705-4C88-AE55-0CDD62BB92D6}"/>
              </a:ext>
            </a:extLst>
          </p:cNvPr>
          <p:cNvCxnSpPr>
            <a:cxnSpLocks/>
            <a:stCxn id="24" idx="3"/>
            <a:endCxn id="13" idx="2"/>
          </p:cNvCxnSpPr>
          <p:nvPr/>
        </p:nvCxnSpPr>
        <p:spPr>
          <a:xfrm flipH="1" flipV="1">
            <a:off x="7405992" y="4070005"/>
            <a:ext cx="1838361" cy="1664590"/>
          </a:xfrm>
          <a:prstGeom prst="bentConnector4">
            <a:avLst>
              <a:gd name="adj1" fmla="val -12435"/>
              <a:gd name="adj2" fmla="val 65336"/>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4067956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Adapter</a:t>
            </a:r>
            <a:endParaRPr lang="en-SG" dirty="0"/>
          </a:p>
        </p:txBody>
      </p:sp>
      <p:sp>
        <p:nvSpPr>
          <p:cNvPr id="3" name="Content Placeholder 2"/>
          <p:cNvSpPr>
            <a:spLocks noGrp="1"/>
          </p:cNvSpPr>
          <p:nvPr>
            <p:ph idx="1"/>
          </p:nvPr>
        </p:nvSpPr>
        <p:spPr>
          <a:xfrm>
            <a:off x="838200" y="1601889"/>
            <a:ext cx="10515600" cy="3135481"/>
          </a:xfrm>
        </p:spPr>
        <p:txBody>
          <a:bodyPr>
            <a:normAutofit fontScale="92500" lnSpcReduction="20000"/>
          </a:bodyPr>
          <a:lstStyle/>
          <a:p>
            <a:r>
              <a:rPr lang="en-US" sz="2400" dirty="0"/>
              <a:t>Adapts data into something that can be used by </a:t>
            </a:r>
            <a:r>
              <a:rPr lang="en-US" sz="2400" dirty="0" err="1"/>
              <a:t>RecyclerView</a:t>
            </a:r>
            <a:endParaRPr lang="en-US" sz="2400" dirty="0"/>
          </a:p>
          <a:p>
            <a:r>
              <a:rPr lang="en-US" sz="2400" dirty="0"/>
              <a:t>When the app runs, </a:t>
            </a:r>
            <a:r>
              <a:rPr lang="en-US" sz="2400" dirty="0" err="1"/>
              <a:t>RecyclerView</a:t>
            </a:r>
            <a:r>
              <a:rPr lang="en-US" sz="2400" dirty="0"/>
              <a:t> uses the adapter to figure out how to display the data on the screen</a:t>
            </a:r>
          </a:p>
          <a:p>
            <a:r>
              <a:rPr lang="en-US" sz="2400" dirty="0" err="1"/>
              <a:t>RecyclerView</a:t>
            </a:r>
            <a:r>
              <a:rPr lang="en-US" sz="2400" dirty="0"/>
              <a:t> asks the adapter to create a new list view item for the first data item in your list, and once it has the view, it asks the adapter to provide the data to draw the item</a:t>
            </a:r>
          </a:p>
          <a:p>
            <a:r>
              <a:rPr lang="en-US" sz="2400" dirty="0" err="1"/>
              <a:t>RecyclerView</a:t>
            </a:r>
            <a:r>
              <a:rPr lang="en-US" sz="2400" dirty="0"/>
              <a:t> supports displaying items in different ways, such as a linear list or a grid. Arranging the items is handled by a </a:t>
            </a:r>
            <a:r>
              <a:rPr lang="en-US" sz="2400" dirty="0" err="1"/>
              <a:t>LayoutManager</a:t>
            </a:r>
            <a:r>
              <a:rPr lang="en-US" sz="2400" dirty="0"/>
              <a:t> (e.g. </a:t>
            </a:r>
            <a:r>
              <a:rPr lang="en-US" sz="2400" dirty="0" err="1"/>
              <a:t>LinearLayoutManager</a:t>
            </a:r>
            <a:r>
              <a:rPr lang="en-US" sz="2400" dirty="0"/>
              <a:t>)</a:t>
            </a:r>
          </a:p>
          <a:p>
            <a:pPr lvl="1"/>
            <a:r>
              <a:rPr lang="en-US" sz="2000" dirty="0"/>
              <a:t>e.g. </a:t>
            </a:r>
            <a:r>
              <a:rPr lang="en-US" sz="2200" dirty="0"/>
              <a:t>in </a:t>
            </a:r>
            <a:r>
              <a:rPr lang="en-US" sz="2200" dirty="0" err="1"/>
              <a:t>RecyclerView</a:t>
            </a:r>
            <a:r>
              <a:rPr lang="en-US" sz="2200" dirty="0"/>
              <a:t> element of activity_main.xml, add </a:t>
            </a:r>
            <a:r>
              <a:rPr lang="en-US" sz="1700" dirty="0" err="1">
                <a:latin typeface="Lucida Console" panose="020B0609040504020204" pitchFamily="49" charset="0"/>
              </a:rPr>
              <a:t>app:layoutManager</a:t>
            </a:r>
            <a:r>
              <a:rPr lang="en-US" sz="1700" dirty="0">
                <a:latin typeface="Lucida Console" panose="020B0609040504020204" pitchFamily="49" charset="0"/>
              </a:rPr>
              <a:t>="</a:t>
            </a:r>
            <a:r>
              <a:rPr lang="en-US" sz="1700" dirty="0" err="1">
                <a:latin typeface="Lucida Console" panose="020B0609040504020204" pitchFamily="49" charset="0"/>
              </a:rPr>
              <a:t>LinearLayoutManager</a:t>
            </a:r>
            <a:r>
              <a:rPr lang="en-US" sz="1700" dirty="0">
                <a:latin typeface="Lucida Console" panose="020B0609040504020204" pitchFamily="49" charset="0"/>
              </a:rPr>
              <a:t>“</a:t>
            </a:r>
          </a:p>
          <a:p>
            <a:pPr lvl="1"/>
            <a:r>
              <a:rPr lang="en-US" sz="2200" dirty="0"/>
              <a:t>Can also use </a:t>
            </a:r>
            <a:r>
              <a:rPr lang="en-US" sz="1900" dirty="0" err="1">
                <a:latin typeface="Lucida Console" panose="020B0609040504020204" pitchFamily="49" charset="0"/>
              </a:rPr>
              <a:t>GridLayoutManager</a:t>
            </a:r>
            <a:r>
              <a:rPr lang="en-US" sz="2200" dirty="0"/>
              <a:t> if you want to have more than 1 column</a:t>
            </a:r>
            <a:endParaRPr lang="en-SG" sz="2000" dirty="0"/>
          </a:p>
        </p:txBody>
      </p:sp>
      <p:pic>
        <p:nvPicPr>
          <p:cNvPr id="6" name="Picture 5">
            <a:extLst>
              <a:ext uri="{FF2B5EF4-FFF2-40B4-BE49-F238E27FC236}">
                <a16:creationId xmlns:a16="http://schemas.microsoft.com/office/drawing/2014/main" id="{E81FF9AF-4D22-4081-A2C6-5756EA8849BC}"/>
              </a:ext>
            </a:extLst>
          </p:cNvPr>
          <p:cNvPicPr>
            <a:picLocks noChangeAspect="1"/>
          </p:cNvPicPr>
          <p:nvPr/>
        </p:nvPicPr>
        <p:blipFill>
          <a:blip r:embed="rId2"/>
          <a:stretch>
            <a:fillRect/>
          </a:stretch>
        </p:blipFill>
        <p:spPr>
          <a:xfrm>
            <a:off x="9687910" y="4383087"/>
            <a:ext cx="2187130" cy="2301439"/>
          </a:xfrm>
          <a:prstGeom prst="rect">
            <a:avLst/>
          </a:prstGeom>
        </p:spPr>
      </p:pic>
    </p:spTree>
    <p:extLst>
      <p:ext uri="{BB962C8B-B14F-4D97-AF65-F5344CB8AC3E}">
        <p14:creationId xmlns:p14="http://schemas.microsoft.com/office/powerpoint/2010/main" val="83316426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711200" y="1003300"/>
            <a:ext cx="3009900" cy="510540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3" name="TextBox 2"/>
          <p:cNvSpPr txBox="1"/>
          <p:nvPr/>
        </p:nvSpPr>
        <p:spPr>
          <a:xfrm>
            <a:off x="723900" y="596900"/>
            <a:ext cx="2961708" cy="369332"/>
          </a:xfrm>
          <a:prstGeom prst="rect">
            <a:avLst/>
          </a:prstGeom>
          <a:noFill/>
        </p:spPr>
        <p:txBody>
          <a:bodyPr wrap="none" rtlCol="0">
            <a:spAutoFit/>
          </a:bodyPr>
          <a:lstStyle/>
          <a:p>
            <a:r>
              <a:rPr lang="en-US" dirty="0" err="1"/>
              <a:t>RecyclerView</a:t>
            </a:r>
            <a:r>
              <a:rPr lang="en-US" dirty="0"/>
              <a:t> (UI component)</a:t>
            </a:r>
            <a:endParaRPr lang="en-SG" dirty="0"/>
          </a:p>
        </p:txBody>
      </p:sp>
      <p:sp>
        <p:nvSpPr>
          <p:cNvPr id="4" name="Rectangle 3"/>
          <p:cNvSpPr/>
          <p:nvPr/>
        </p:nvSpPr>
        <p:spPr>
          <a:xfrm>
            <a:off x="1041400" y="13716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dirty="0">
              <a:solidFill>
                <a:schemeClr val="tx1"/>
              </a:solidFill>
            </a:endParaRPr>
          </a:p>
        </p:txBody>
      </p:sp>
      <p:sp>
        <p:nvSpPr>
          <p:cNvPr id="5" name="Rectangle 4"/>
          <p:cNvSpPr/>
          <p:nvPr/>
        </p:nvSpPr>
        <p:spPr>
          <a:xfrm>
            <a:off x="1041400" y="24892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ViewHolder</a:t>
            </a:r>
            <a:endParaRPr lang="en-SG">
              <a:solidFill>
                <a:schemeClr val="tx1"/>
              </a:solidFill>
            </a:endParaRPr>
          </a:p>
        </p:txBody>
      </p:sp>
      <p:sp>
        <p:nvSpPr>
          <p:cNvPr id="6" name="Rectangle 5"/>
          <p:cNvSpPr/>
          <p:nvPr/>
        </p:nvSpPr>
        <p:spPr>
          <a:xfrm>
            <a:off x="1047750" y="36068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ViewHolder</a:t>
            </a:r>
            <a:endParaRPr lang="en-SG">
              <a:solidFill>
                <a:schemeClr val="tx1"/>
              </a:solidFill>
            </a:endParaRPr>
          </a:p>
        </p:txBody>
      </p:sp>
      <p:sp>
        <p:nvSpPr>
          <p:cNvPr id="7" name="Rectangle 6"/>
          <p:cNvSpPr/>
          <p:nvPr/>
        </p:nvSpPr>
        <p:spPr>
          <a:xfrm>
            <a:off x="1047750" y="47244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ViewHolder</a:t>
            </a:r>
            <a:endParaRPr lang="en-SG">
              <a:solidFill>
                <a:schemeClr val="tx1"/>
              </a:solidFill>
            </a:endParaRPr>
          </a:p>
        </p:txBody>
      </p:sp>
      <p:sp>
        <p:nvSpPr>
          <p:cNvPr id="8" name="Rectangle 7"/>
          <p:cNvSpPr/>
          <p:nvPr/>
        </p:nvSpPr>
        <p:spPr>
          <a:xfrm>
            <a:off x="1334247" y="1562785"/>
            <a:ext cx="1763806" cy="63363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rPr>
              <a:t>ListView</a:t>
            </a:r>
            <a:r>
              <a:rPr lang="en-US" dirty="0">
                <a:solidFill>
                  <a:schemeClr val="tx1"/>
                </a:solidFill>
              </a:rPr>
              <a:t> </a:t>
            </a:r>
          </a:p>
          <a:p>
            <a:pPr algn="ctr"/>
            <a:r>
              <a:rPr lang="en-US" dirty="0">
                <a:solidFill>
                  <a:schemeClr val="tx1"/>
                </a:solidFill>
              </a:rPr>
              <a:t>(UI component)</a:t>
            </a:r>
            <a:endParaRPr lang="en-SG" dirty="0">
              <a:solidFill>
                <a:schemeClr val="tx1"/>
              </a:solidFill>
            </a:endParaRPr>
          </a:p>
        </p:txBody>
      </p:sp>
      <p:cxnSp>
        <p:nvCxnSpPr>
          <p:cNvPr id="10" name="Straight Arrow Connector 9"/>
          <p:cNvCxnSpPr>
            <a:cxnSpLocks/>
            <a:stCxn id="4" idx="3"/>
            <a:endCxn id="8" idx="3"/>
          </p:cNvCxnSpPr>
          <p:nvPr/>
        </p:nvCxnSpPr>
        <p:spPr>
          <a:xfrm flipH="1">
            <a:off x="3098053" y="1879600"/>
            <a:ext cx="28014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Rectangle 10"/>
          <p:cNvSpPr/>
          <p:nvPr/>
        </p:nvSpPr>
        <p:spPr>
          <a:xfrm>
            <a:off x="8763000" y="13716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Adapter</a:t>
            </a:r>
            <a:endParaRPr lang="en-SG" dirty="0">
              <a:solidFill>
                <a:schemeClr val="tx1"/>
              </a:solidFill>
            </a:endParaRPr>
          </a:p>
        </p:txBody>
      </p:sp>
      <p:sp>
        <p:nvSpPr>
          <p:cNvPr id="12" name="Rectangle 11"/>
          <p:cNvSpPr/>
          <p:nvPr/>
        </p:nvSpPr>
        <p:spPr>
          <a:xfrm>
            <a:off x="8763000" y="38608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Data Source</a:t>
            </a:r>
          </a:p>
          <a:p>
            <a:pPr algn="ctr"/>
            <a:r>
              <a:rPr lang="en-US" dirty="0">
                <a:solidFill>
                  <a:schemeClr val="tx1"/>
                </a:solidFill>
              </a:rPr>
              <a:t>(Local/Remote)</a:t>
            </a:r>
            <a:endParaRPr lang="en-SG" dirty="0">
              <a:solidFill>
                <a:schemeClr val="tx1"/>
              </a:solidFill>
            </a:endParaRPr>
          </a:p>
        </p:txBody>
      </p:sp>
      <p:cxnSp>
        <p:nvCxnSpPr>
          <p:cNvPr id="18" name="Straight Arrow Connector 17"/>
          <p:cNvCxnSpPr>
            <a:stCxn id="12" idx="0"/>
            <a:endCxn id="11" idx="2"/>
          </p:cNvCxnSpPr>
          <p:nvPr/>
        </p:nvCxnSpPr>
        <p:spPr>
          <a:xfrm flipV="1">
            <a:off x="9931400" y="2387600"/>
            <a:ext cx="0" cy="14732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10394950" y="2862590"/>
            <a:ext cx="1123521" cy="523220"/>
          </a:xfrm>
          <a:prstGeom prst="rect">
            <a:avLst/>
          </a:prstGeom>
          <a:noFill/>
        </p:spPr>
        <p:txBody>
          <a:bodyPr wrap="square" rtlCol="0">
            <a:spAutoFit/>
          </a:bodyPr>
          <a:lstStyle/>
          <a:p>
            <a:r>
              <a:rPr lang="en-US" sz="1400" dirty="0">
                <a:solidFill>
                  <a:schemeClr val="accent1"/>
                </a:solidFill>
              </a:rPr>
              <a:t>Pass data as parameter</a:t>
            </a:r>
            <a:endParaRPr lang="en-SG" sz="1400" dirty="0">
              <a:solidFill>
                <a:schemeClr val="accent1"/>
              </a:solidFill>
            </a:endParaRPr>
          </a:p>
        </p:txBody>
      </p:sp>
      <p:sp>
        <p:nvSpPr>
          <p:cNvPr id="22" name="TextBox 21"/>
          <p:cNvSpPr txBox="1"/>
          <p:nvPr/>
        </p:nvSpPr>
        <p:spPr>
          <a:xfrm>
            <a:off x="3059877" y="1586010"/>
            <a:ext cx="649345" cy="307777"/>
          </a:xfrm>
          <a:prstGeom prst="rect">
            <a:avLst/>
          </a:prstGeom>
          <a:noFill/>
        </p:spPr>
        <p:txBody>
          <a:bodyPr wrap="none" rtlCol="0">
            <a:spAutoFit/>
          </a:bodyPr>
          <a:lstStyle/>
          <a:p>
            <a:pPr algn="ctr"/>
            <a:r>
              <a:rPr lang="en-US" sz="1400" dirty="0">
                <a:solidFill>
                  <a:schemeClr val="accent1"/>
                </a:solidFill>
              </a:rPr>
              <a:t>Wraps</a:t>
            </a:r>
            <a:endParaRPr lang="en-SG" sz="1400" dirty="0">
              <a:solidFill>
                <a:schemeClr val="accent1"/>
              </a:solidFill>
            </a:endParaRPr>
          </a:p>
        </p:txBody>
      </p:sp>
      <p:cxnSp>
        <p:nvCxnSpPr>
          <p:cNvPr id="25" name="Elbow Connector 24"/>
          <p:cNvCxnSpPr/>
          <p:nvPr/>
        </p:nvCxnSpPr>
        <p:spPr>
          <a:xfrm rot="16200000" flipV="1">
            <a:off x="6070600" y="-2489200"/>
            <a:ext cx="12700" cy="7721600"/>
          </a:xfrm>
          <a:prstGeom prst="bentConnector3">
            <a:avLst>
              <a:gd name="adj1" fmla="val 180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TextBox 26"/>
          <p:cNvSpPr txBox="1"/>
          <p:nvPr/>
        </p:nvSpPr>
        <p:spPr>
          <a:xfrm>
            <a:off x="4101680" y="570347"/>
            <a:ext cx="3625172" cy="1169551"/>
          </a:xfrm>
          <a:prstGeom prst="rect">
            <a:avLst/>
          </a:prstGeom>
          <a:noFill/>
        </p:spPr>
        <p:txBody>
          <a:bodyPr wrap="square" rtlCol="0">
            <a:spAutoFit/>
          </a:bodyPr>
          <a:lstStyle/>
          <a:p>
            <a:pPr algn="ctr"/>
            <a:r>
              <a:rPr lang="en-US" sz="1400" dirty="0">
                <a:solidFill>
                  <a:schemeClr val="accent1"/>
                </a:solidFill>
              </a:rPr>
              <a:t>Creates </a:t>
            </a:r>
            <a:r>
              <a:rPr lang="en-US" sz="1400" dirty="0" err="1">
                <a:solidFill>
                  <a:schemeClr val="accent1"/>
                </a:solidFill>
              </a:rPr>
              <a:t>ViewHolder</a:t>
            </a:r>
            <a:r>
              <a:rPr lang="en-US" sz="1400" dirty="0">
                <a:solidFill>
                  <a:schemeClr val="accent1"/>
                </a:solidFill>
              </a:rPr>
              <a:t> to wrap around a View and to set data for the View</a:t>
            </a:r>
          </a:p>
          <a:p>
            <a:pPr algn="ctr"/>
            <a:endParaRPr lang="en-US" sz="1400" dirty="0">
              <a:solidFill>
                <a:schemeClr val="accent1"/>
              </a:solidFill>
            </a:endParaRPr>
          </a:p>
          <a:p>
            <a:pPr algn="ctr"/>
            <a:r>
              <a:rPr lang="en-US" sz="1400" dirty="0">
                <a:solidFill>
                  <a:schemeClr val="accent1"/>
                </a:solidFill>
              </a:rPr>
              <a:t>Once a </a:t>
            </a:r>
            <a:r>
              <a:rPr lang="en-US" sz="1400" dirty="0" err="1">
                <a:solidFill>
                  <a:schemeClr val="accent1"/>
                </a:solidFill>
              </a:rPr>
              <a:t>ViewHolder</a:t>
            </a:r>
            <a:r>
              <a:rPr lang="en-US" sz="1400" dirty="0">
                <a:solidFill>
                  <a:schemeClr val="accent1"/>
                </a:solidFill>
              </a:rPr>
              <a:t> is reused (when it goes out of screen), the adapter will pass it next data</a:t>
            </a:r>
            <a:endParaRPr lang="en-SG" sz="1400" dirty="0">
              <a:solidFill>
                <a:schemeClr val="accent1"/>
              </a:solidFill>
            </a:endParaRPr>
          </a:p>
        </p:txBody>
      </p:sp>
      <p:sp>
        <p:nvSpPr>
          <p:cNvPr id="28" name="Oval 27"/>
          <p:cNvSpPr/>
          <p:nvPr/>
        </p:nvSpPr>
        <p:spPr>
          <a:xfrm>
            <a:off x="9474200" y="2692400"/>
            <a:ext cx="914400" cy="9144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Model</a:t>
            </a:r>
            <a:endParaRPr lang="en-SG" sz="1200" dirty="0"/>
          </a:p>
        </p:txBody>
      </p:sp>
      <p:sp>
        <p:nvSpPr>
          <p:cNvPr id="29" name="TextBox 28"/>
          <p:cNvSpPr txBox="1"/>
          <p:nvPr/>
        </p:nvSpPr>
        <p:spPr>
          <a:xfrm>
            <a:off x="4531879" y="5924034"/>
            <a:ext cx="7431522" cy="646331"/>
          </a:xfrm>
          <a:prstGeom prst="rect">
            <a:avLst/>
          </a:prstGeom>
          <a:noFill/>
        </p:spPr>
        <p:txBody>
          <a:bodyPr wrap="square" rtlCol="0">
            <a:spAutoFit/>
          </a:bodyPr>
          <a:lstStyle/>
          <a:p>
            <a:r>
              <a:rPr lang="en-US" dirty="0"/>
              <a:t>Adapter uses </a:t>
            </a:r>
            <a:r>
              <a:rPr lang="en-US" dirty="0" err="1"/>
              <a:t>ViewHolder</a:t>
            </a:r>
            <a:r>
              <a:rPr lang="en-US" dirty="0"/>
              <a:t> objects as a way to bind (display) data to the UI, in this case the </a:t>
            </a:r>
            <a:r>
              <a:rPr lang="en-US" dirty="0" err="1"/>
              <a:t>ListView</a:t>
            </a:r>
            <a:r>
              <a:rPr lang="en-US" dirty="0"/>
              <a:t> UI component in </a:t>
            </a:r>
            <a:r>
              <a:rPr lang="en-US" dirty="0" err="1"/>
              <a:t>RecyclerView</a:t>
            </a:r>
            <a:endParaRPr lang="en-SG" dirty="0"/>
          </a:p>
        </p:txBody>
      </p:sp>
      <p:sp>
        <p:nvSpPr>
          <p:cNvPr id="26" name="TextBox 25">
            <a:extLst>
              <a:ext uri="{FF2B5EF4-FFF2-40B4-BE49-F238E27FC236}">
                <a16:creationId xmlns:a16="http://schemas.microsoft.com/office/drawing/2014/main" id="{8718EF31-67F8-4DE0-83A5-CE0CEC813D4C}"/>
              </a:ext>
            </a:extLst>
          </p:cNvPr>
          <p:cNvSpPr txBox="1"/>
          <p:nvPr/>
        </p:nvSpPr>
        <p:spPr>
          <a:xfrm>
            <a:off x="823950" y="1020344"/>
            <a:ext cx="1504950" cy="369332"/>
          </a:xfrm>
          <a:prstGeom prst="rect">
            <a:avLst/>
          </a:prstGeom>
          <a:noFill/>
        </p:spPr>
        <p:txBody>
          <a:bodyPr wrap="square">
            <a:spAutoFit/>
          </a:bodyPr>
          <a:lstStyle/>
          <a:p>
            <a:pPr algn="ctr"/>
            <a:r>
              <a:rPr lang="en-US" dirty="0" err="1">
                <a:solidFill>
                  <a:schemeClr val="tx1"/>
                </a:solidFill>
              </a:rPr>
              <a:t>ViewHolder</a:t>
            </a:r>
            <a:endParaRPr lang="en-SG" dirty="0">
              <a:solidFill>
                <a:schemeClr val="tx1"/>
              </a:solidFill>
            </a:endParaRPr>
          </a:p>
        </p:txBody>
      </p:sp>
      <p:sp>
        <p:nvSpPr>
          <p:cNvPr id="43" name="TextBox 42">
            <a:extLst>
              <a:ext uri="{FF2B5EF4-FFF2-40B4-BE49-F238E27FC236}">
                <a16:creationId xmlns:a16="http://schemas.microsoft.com/office/drawing/2014/main" id="{07BAD4ED-20CA-4075-8A77-37FBD3BBF1BA}"/>
              </a:ext>
            </a:extLst>
          </p:cNvPr>
          <p:cNvSpPr txBox="1"/>
          <p:nvPr/>
        </p:nvSpPr>
        <p:spPr>
          <a:xfrm>
            <a:off x="3980551" y="2605799"/>
            <a:ext cx="4325250" cy="1831271"/>
          </a:xfrm>
          <a:prstGeom prst="rect">
            <a:avLst/>
          </a:prstGeom>
          <a:noFill/>
        </p:spPr>
        <p:txBody>
          <a:bodyPr wrap="square" rtlCol="0">
            <a:spAutoFit/>
          </a:bodyPr>
          <a:lstStyle/>
          <a:p>
            <a:pPr>
              <a:spcAft>
                <a:spcPts val="600"/>
              </a:spcAft>
            </a:pPr>
            <a:r>
              <a:rPr lang="en-US" sz="1400" u="sng" dirty="0">
                <a:latin typeface="Segoe UI" panose="020B0502040204020203" pitchFamily="34" charset="0"/>
                <a:cs typeface="Segoe UI" panose="020B0502040204020203" pitchFamily="34" charset="0"/>
              </a:rPr>
              <a:t>Overriding </a:t>
            </a:r>
            <a:r>
              <a:rPr lang="en-US" sz="1400" u="sng" dirty="0" err="1">
                <a:latin typeface="Segoe UI" panose="020B0502040204020203" pitchFamily="34" charset="0"/>
                <a:cs typeface="Segoe UI" panose="020B0502040204020203" pitchFamily="34" charset="0"/>
              </a:rPr>
              <a:t>RecyclerView.Adapter’s</a:t>
            </a:r>
            <a:r>
              <a:rPr lang="en-US" sz="1400" u="sng" dirty="0">
                <a:latin typeface="Segoe UI" panose="020B0502040204020203" pitchFamily="34" charset="0"/>
                <a:cs typeface="Segoe UI" panose="020B0502040204020203" pitchFamily="34" charset="0"/>
              </a:rPr>
              <a:t> methods</a:t>
            </a:r>
          </a:p>
          <a:p>
            <a:pPr marL="342900" indent="-342900">
              <a:spcAft>
                <a:spcPts val="600"/>
              </a:spcAft>
              <a:buAutoNum type="arabicPeriod"/>
            </a:pPr>
            <a:r>
              <a:rPr lang="en-US" sz="1400" dirty="0" err="1">
                <a:latin typeface="Segoe UI" panose="020B0502040204020203" pitchFamily="34" charset="0"/>
                <a:cs typeface="Segoe UI" panose="020B0502040204020203" pitchFamily="34" charset="0"/>
              </a:rPr>
              <a:t>onCreateViewHolder</a:t>
            </a:r>
            <a:r>
              <a:rPr lang="en-US" sz="1400" dirty="0">
                <a:latin typeface="Segoe UI" panose="020B0502040204020203" pitchFamily="34" charset="0"/>
                <a:cs typeface="Segoe UI" panose="020B0502040204020203" pitchFamily="34" charset="0"/>
              </a:rPr>
              <a:t>() </a:t>
            </a:r>
            <a:r>
              <a:rPr lang="en-US" sz="1400" dirty="0">
                <a:latin typeface="Segoe UI" panose="020B0502040204020203" pitchFamily="34" charset="0"/>
                <a:cs typeface="Segoe UI" panose="020B0502040204020203" pitchFamily="34" charset="0"/>
                <a:sym typeface="Wingdings" panose="05000000000000000000" pitchFamily="2" charset="2"/>
              </a:rPr>
              <a:t> Creates and initializes the </a:t>
            </a:r>
            <a:r>
              <a:rPr lang="en-US" sz="1400" dirty="0" err="1">
                <a:latin typeface="Segoe UI" panose="020B0502040204020203" pitchFamily="34" charset="0"/>
                <a:cs typeface="Segoe UI" panose="020B0502040204020203" pitchFamily="34" charset="0"/>
                <a:sym typeface="Wingdings" panose="05000000000000000000" pitchFamily="2" charset="2"/>
              </a:rPr>
              <a:t>ViewHolder</a:t>
            </a:r>
            <a:r>
              <a:rPr lang="en-US" sz="1400" dirty="0">
                <a:latin typeface="Segoe UI" panose="020B0502040204020203" pitchFamily="34" charset="0"/>
                <a:cs typeface="Segoe UI" panose="020B0502040204020203" pitchFamily="34" charset="0"/>
                <a:sym typeface="Wingdings" panose="05000000000000000000" pitchFamily="2" charset="2"/>
              </a:rPr>
              <a:t> and its associated View.</a:t>
            </a:r>
          </a:p>
          <a:p>
            <a:pPr marL="342900" indent="-342900">
              <a:spcAft>
                <a:spcPts val="600"/>
              </a:spcAft>
              <a:buAutoNum type="arabicPeriod"/>
            </a:pPr>
            <a:r>
              <a:rPr lang="en-US" sz="1400" dirty="0" err="1">
                <a:latin typeface="Segoe UI" panose="020B0502040204020203" pitchFamily="34" charset="0"/>
                <a:cs typeface="Segoe UI" panose="020B0502040204020203" pitchFamily="34" charset="0"/>
                <a:sym typeface="Wingdings" panose="05000000000000000000" pitchFamily="2" charset="2"/>
              </a:rPr>
              <a:t>onBindViewHolder</a:t>
            </a:r>
            <a:r>
              <a:rPr lang="en-US" sz="1400" dirty="0">
                <a:latin typeface="Segoe UI" panose="020B0502040204020203" pitchFamily="34" charset="0"/>
                <a:cs typeface="Segoe UI" panose="020B0502040204020203" pitchFamily="34" charset="0"/>
                <a:sym typeface="Wingdings" panose="05000000000000000000" pitchFamily="2" charset="2"/>
              </a:rPr>
              <a:t>()  Fetches the appropriate data and uses the data to fill in the view holder's layout (i.e. </a:t>
            </a:r>
            <a:r>
              <a:rPr lang="en-US" sz="1400" dirty="0" err="1">
                <a:latin typeface="Segoe UI" panose="020B0502040204020203" pitchFamily="34" charset="0"/>
                <a:cs typeface="Segoe UI" panose="020B0502040204020203" pitchFamily="34" charset="0"/>
                <a:sym typeface="Wingdings" panose="05000000000000000000" pitchFamily="2" charset="2"/>
              </a:rPr>
              <a:t>TextView</a:t>
            </a:r>
            <a:r>
              <a:rPr lang="en-US" sz="1400" dirty="0">
                <a:latin typeface="Segoe UI" panose="020B0502040204020203" pitchFamily="34" charset="0"/>
                <a:cs typeface="Segoe UI" panose="020B0502040204020203" pitchFamily="34" charset="0"/>
                <a:sym typeface="Wingdings" panose="05000000000000000000" pitchFamily="2" charset="2"/>
              </a:rPr>
              <a:t>, </a:t>
            </a:r>
            <a:r>
              <a:rPr lang="en-US" sz="1400" dirty="0" err="1">
                <a:latin typeface="Segoe UI" panose="020B0502040204020203" pitchFamily="34" charset="0"/>
                <a:cs typeface="Segoe UI" panose="020B0502040204020203" pitchFamily="34" charset="0"/>
                <a:sym typeface="Wingdings" panose="05000000000000000000" pitchFamily="2" charset="2"/>
              </a:rPr>
              <a:t>ListView</a:t>
            </a:r>
            <a:r>
              <a:rPr lang="en-US" sz="1400" dirty="0">
                <a:latin typeface="Segoe UI" panose="020B0502040204020203" pitchFamily="34" charset="0"/>
                <a:cs typeface="Segoe UI" panose="020B0502040204020203" pitchFamily="34" charset="0"/>
                <a:sym typeface="Wingdings" panose="05000000000000000000" pitchFamily="2" charset="2"/>
              </a:rPr>
              <a:t>, or </a:t>
            </a:r>
            <a:r>
              <a:rPr lang="en-US" sz="1400" dirty="0" err="1">
                <a:latin typeface="Segoe UI" panose="020B0502040204020203" pitchFamily="34" charset="0"/>
                <a:cs typeface="Segoe UI" panose="020B0502040204020203" pitchFamily="34" charset="0"/>
                <a:sym typeface="Wingdings" panose="05000000000000000000" pitchFamily="2" charset="2"/>
              </a:rPr>
              <a:t>ImageView</a:t>
            </a:r>
            <a:r>
              <a:rPr lang="en-US" sz="1400" dirty="0">
                <a:latin typeface="Segoe UI" panose="020B0502040204020203" pitchFamily="34" charset="0"/>
                <a:cs typeface="Segoe UI" panose="020B0502040204020203" pitchFamily="34" charset="0"/>
                <a:sym typeface="Wingdings" panose="05000000000000000000" pitchFamily="2" charset="2"/>
              </a:rPr>
              <a:t>).</a:t>
            </a:r>
          </a:p>
          <a:p>
            <a:pPr marL="342900" indent="-342900">
              <a:spcAft>
                <a:spcPts val="600"/>
              </a:spcAft>
              <a:buAutoNum type="arabicPeriod"/>
            </a:pPr>
            <a:r>
              <a:rPr lang="en-US" sz="1400" dirty="0" err="1">
                <a:latin typeface="Segoe UI" panose="020B0502040204020203" pitchFamily="34" charset="0"/>
                <a:cs typeface="Segoe UI" panose="020B0502040204020203" pitchFamily="34" charset="0"/>
              </a:rPr>
              <a:t>getItemCount</a:t>
            </a:r>
            <a:r>
              <a:rPr lang="en-US" sz="1400" dirty="0">
                <a:latin typeface="Segoe UI" panose="020B0502040204020203" pitchFamily="34" charset="0"/>
                <a:cs typeface="Segoe UI" panose="020B0502040204020203" pitchFamily="34" charset="0"/>
              </a:rPr>
              <a:t>() </a:t>
            </a:r>
            <a:r>
              <a:rPr lang="en-US" sz="1400" dirty="0">
                <a:latin typeface="Segoe UI" panose="020B0502040204020203" pitchFamily="34" charset="0"/>
                <a:cs typeface="Segoe UI" panose="020B0502040204020203" pitchFamily="34" charset="0"/>
                <a:sym typeface="Wingdings" panose="05000000000000000000" pitchFamily="2" charset="2"/>
              </a:rPr>
              <a:t> </a:t>
            </a:r>
            <a:r>
              <a:rPr lang="en-US" sz="1400" dirty="0">
                <a:latin typeface="Segoe UI" panose="020B0502040204020203" pitchFamily="34" charset="0"/>
                <a:cs typeface="Segoe UI" panose="020B0502040204020203" pitchFamily="34" charset="0"/>
              </a:rPr>
              <a:t>Gets the size of the data set</a:t>
            </a:r>
            <a:endParaRPr lang="en-SG" sz="1400" dirty="0">
              <a:latin typeface="Segoe UI" panose="020B0502040204020203" pitchFamily="34" charset="0"/>
              <a:cs typeface="Segoe UI" panose="020B0502040204020203" pitchFamily="34" charset="0"/>
            </a:endParaRPr>
          </a:p>
        </p:txBody>
      </p:sp>
      <p:sp>
        <p:nvSpPr>
          <p:cNvPr id="23" name="Oval 22"/>
          <p:cNvSpPr/>
          <p:nvPr/>
        </p:nvSpPr>
        <p:spPr>
          <a:xfrm>
            <a:off x="7726852" y="570347"/>
            <a:ext cx="914400" cy="9144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View</a:t>
            </a:r>
          </a:p>
          <a:p>
            <a:pPr algn="ctr"/>
            <a:r>
              <a:rPr lang="en-US" sz="1200" dirty="0"/>
              <a:t>Model</a:t>
            </a:r>
            <a:endParaRPr lang="en-SG" sz="1200" dirty="0"/>
          </a:p>
        </p:txBody>
      </p:sp>
      <p:sp>
        <p:nvSpPr>
          <p:cNvPr id="24" name="Oval 23"/>
          <p:cNvSpPr/>
          <p:nvPr/>
        </p:nvSpPr>
        <p:spPr>
          <a:xfrm>
            <a:off x="355600" y="1962812"/>
            <a:ext cx="914400" cy="9144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View</a:t>
            </a:r>
          </a:p>
        </p:txBody>
      </p:sp>
    </p:spTree>
    <p:extLst>
      <p:ext uri="{BB962C8B-B14F-4D97-AF65-F5344CB8AC3E}">
        <p14:creationId xmlns:p14="http://schemas.microsoft.com/office/powerpoint/2010/main" val="39352659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Model vs. </a:t>
            </a:r>
            <a:r>
              <a:rPr lang="en-US" dirty="0" err="1"/>
              <a:t>Datasource</a:t>
            </a:r>
            <a:endParaRPr lang="en-SG" dirty="0"/>
          </a:p>
        </p:txBody>
      </p:sp>
      <p:sp>
        <p:nvSpPr>
          <p:cNvPr id="3" name="Content Placeholder 2"/>
          <p:cNvSpPr>
            <a:spLocks noGrp="1"/>
          </p:cNvSpPr>
          <p:nvPr>
            <p:ph idx="1"/>
          </p:nvPr>
        </p:nvSpPr>
        <p:spPr/>
        <p:txBody>
          <a:bodyPr/>
          <a:lstStyle/>
          <a:p>
            <a:r>
              <a:rPr lang="en-US" dirty="0"/>
              <a:t>Each model represents certain data you want in your app</a:t>
            </a:r>
          </a:p>
          <a:p>
            <a:pPr lvl="1"/>
            <a:r>
              <a:rPr lang="en-US" dirty="0"/>
              <a:t>e.g. Car model, Fruit model, House model</a:t>
            </a:r>
          </a:p>
          <a:p>
            <a:r>
              <a:rPr lang="en-US" dirty="0" err="1"/>
              <a:t>Datasource</a:t>
            </a:r>
            <a:r>
              <a:rPr lang="en-US" dirty="0"/>
              <a:t> is a separate class where you can create methods to handle different types of data models</a:t>
            </a:r>
            <a:endParaRPr lang="en-SG" dirty="0"/>
          </a:p>
        </p:txBody>
      </p:sp>
    </p:spTree>
    <p:extLst>
      <p:ext uri="{BB962C8B-B14F-4D97-AF65-F5344CB8AC3E}">
        <p14:creationId xmlns:p14="http://schemas.microsoft.com/office/powerpoint/2010/main" val="275896998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E8D2FF-D8C6-4DAD-8544-D511A5A60B3C}"/>
              </a:ext>
            </a:extLst>
          </p:cNvPr>
          <p:cNvSpPr>
            <a:spLocks noGrp="1"/>
          </p:cNvSpPr>
          <p:nvPr>
            <p:ph type="title"/>
          </p:nvPr>
        </p:nvSpPr>
        <p:spPr/>
        <p:txBody>
          <a:bodyPr/>
          <a:lstStyle/>
          <a:p>
            <a:r>
              <a:rPr lang="en-SG" dirty="0"/>
              <a:t>Data class (i.e. Model)</a:t>
            </a:r>
          </a:p>
        </p:txBody>
      </p:sp>
      <p:sp>
        <p:nvSpPr>
          <p:cNvPr id="3" name="Content Placeholder 2">
            <a:extLst>
              <a:ext uri="{FF2B5EF4-FFF2-40B4-BE49-F238E27FC236}">
                <a16:creationId xmlns:a16="http://schemas.microsoft.com/office/drawing/2014/main" id="{5EF0258B-01EE-4594-AF88-BE2BEFDF6249}"/>
              </a:ext>
            </a:extLst>
          </p:cNvPr>
          <p:cNvSpPr>
            <a:spLocks noGrp="1"/>
          </p:cNvSpPr>
          <p:nvPr>
            <p:ph idx="1"/>
          </p:nvPr>
        </p:nvSpPr>
        <p:spPr/>
        <p:txBody>
          <a:bodyPr>
            <a:normAutofit/>
          </a:bodyPr>
          <a:lstStyle/>
          <a:p>
            <a:r>
              <a:rPr lang="en-US" sz="2000" dirty="0"/>
              <a:t>You can think of data classes as… classes that will just hold data.</a:t>
            </a:r>
          </a:p>
          <a:p>
            <a:r>
              <a:rPr lang="en-US" sz="2000" dirty="0"/>
              <a:t>Data classes cannot be abstract, open, sealed, or inner.</a:t>
            </a:r>
          </a:p>
          <a:p>
            <a:r>
              <a:rPr lang="en-US" sz="2000" dirty="0"/>
              <a:t>So you won’t usually implement methods (like a normal class does), but Kotlin does generate necessary utility functions for data classes, like getters and setters, </a:t>
            </a:r>
            <a:r>
              <a:rPr lang="en-US" sz="2000" dirty="0" err="1">
                <a:latin typeface="Lucida Console" panose="020B0609040504020204" pitchFamily="49" charset="0"/>
              </a:rPr>
              <a:t>toString</a:t>
            </a:r>
            <a:r>
              <a:rPr lang="en-US" sz="2000" dirty="0">
                <a:latin typeface="Lucida Console" panose="020B0609040504020204" pitchFamily="49" charset="0"/>
              </a:rPr>
              <a:t>()</a:t>
            </a:r>
            <a:r>
              <a:rPr lang="en-US" sz="2000" dirty="0"/>
              <a:t>, </a:t>
            </a:r>
            <a:r>
              <a:rPr lang="en-US" sz="2000" dirty="0">
                <a:latin typeface="Lucida Console" panose="020B0609040504020204" pitchFamily="49" charset="0"/>
              </a:rPr>
              <a:t>equals()</a:t>
            </a:r>
            <a:r>
              <a:rPr lang="en-US" sz="2000" dirty="0"/>
              <a:t>, </a:t>
            </a:r>
            <a:r>
              <a:rPr lang="en-US" sz="2000" dirty="0" err="1">
                <a:latin typeface="Lucida Console" panose="020B0609040504020204" pitchFamily="49" charset="0"/>
              </a:rPr>
              <a:t>hashCode</a:t>
            </a:r>
            <a:r>
              <a:rPr lang="en-US" sz="2000" dirty="0">
                <a:latin typeface="Lucida Console" panose="020B0609040504020204" pitchFamily="49" charset="0"/>
              </a:rPr>
              <a:t>()</a:t>
            </a:r>
          </a:p>
          <a:p>
            <a:r>
              <a:rPr lang="en-US" sz="2000" dirty="0">
                <a:cs typeface="Segoe UI" panose="020B0502040204020203" pitchFamily="34" charset="0"/>
              </a:rPr>
              <a:t>But there is no restriction on implementing methods.</a:t>
            </a:r>
          </a:p>
          <a:p>
            <a:r>
              <a:rPr lang="en-US" sz="2000" dirty="0" err="1">
                <a:cs typeface="Segoe UI" panose="020B0502040204020203" pitchFamily="34" charset="0"/>
              </a:rPr>
              <a:t>Datasource</a:t>
            </a:r>
            <a:r>
              <a:rPr lang="en-US" sz="2000" dirty="0">
                <a:cs typeface="Segoe UI" panose="020B0502040204020203" pitchFamily="34" charset="0"/>
              </a:rPr>
              <a:t> is where you implement methods to handle the data class (i.e. model)</a:t>
            </a:r>
            <a:endParaRPr lang="en-SG" sz="2000" dirty="0">
              <a:cs typeface="Segoe UI" panose="020B0502040204020203" pitchFamily="34" charset="0"/>
            </a:endParaRPr>
          </a:p>
        </p:txBody>
      </p:sp>
    </p:spTree>
    <p:extLst>
      <p:ext uri="{BB962C8B-B14F-4D97-AF65-F5344CB8AC3E}">
        <p14:creationId xmlns:p14="http://schemas.microsoft.com/office/powerpoint/2010/main" val="407925614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9561BB-87FB-4861-A38F-FD8436BE4124}"/>
              </a:ext>
            </a:extLst>
          </p:cNvPr>
          <p:cNvSpPr>
            <a:spLocks noGrp="1"/>
          </p:cNvSpPr>
          <p:nvPr>
            <p:ph type="title"/>
          </p:nvPr>
        </p:nvSpPr>
        <p:spPr/>
        <p:txBody>
          <a:bodyPr/>
          <a:lstStyle/>
          <a:p>
            <a:r>
              <a:rPr lang="en-SG" dirty="0"/>
              <a:t>MVVM</a:t>
            </a:r>
          </a:p>
        </p:txBody>
      </p:sp>
      <p:sp>
        <p:nvSpPr>
          <p:cNvPr id="12" name="TextBox 11">
            <a:extLst>
              <a:ext uri="{FF2B5EF4-FFF2-40B4-BE49-F238E27FC236}">
                <a16:creationId xmlns:a16="http://schemas.microsoft.com/office/drawing/2014/main" id="{80370804-4248-4F54-ADC7-F725952FEC11}"/>
              </a:ext>
            </a:extLst>
          </p:cNvPr>
          <p:cNvSpPr txBox="1"/>
          <p:nvPr/>
        </p:nvSpPr>
        <p:spPr>
          <a:xfrm>
            <a:off x="6737896" y="4289742"/>
            <a:ext cx="5129849" cy="1169551"/>
          </a:xfrm>
          <a:prstGeom prst="rect">
            <a:avLst/>
          </a:prstGeom>
          <a:noFill/>
        </p:spPr>
        <p:txBody>
          <a:bodyPr wrap="square" rtlCol="0">
            <a:spAutoFit/>
          </a:bodyPr>
          <a:lstStyle/>
          <a:p>
            <a:pPr marL="342900" indent="-342900">
              <a:buAutoNum type="arabicPeriod"/>
            </a:pPr>
            <a:r>
              <a:rPr lang="en-SG" sz="1400" dirty="0"/>
              <a:t>Create Model for Data object</a:t>
            </a:r>
          </a:p>
          <a:p>
            <a:pPr marL="342900" indent="-342900">
              <a:buAutoNum type="arabicPeriod"/>
            </a:pPr>
            <a:endParaRPr lang="en-SG" sz="1400" dirty="0"/>
          </a:p>
          <a:p>
            <a:pPr marL="342900" indent="-342900">
              <a:buAutoNum type="arabicPeriod"/>
            </a:pPr>
            <a:r>
              <a:rPr lang="en-SG" sz="1400" dirty="0"/>
              <a:t>Create </a:t>
            </a:r>
            <a:r>
              <a:rPr lang="en-SG" sz="1400" dirty="0" err="1"/>
              <a:t>Datasource</a:t>
            </a:r>
            <a:r>
              <a:rPr lang="en-SG" sz="1400" dirty="0"/>
              <a:t> with methods to handle Data object</a:t>
            </a:r>
          </a:p>
          <a:p>
            <a:pPr marL="342900" indent="-342900">
              <a:buAutoNum type="arabicPeriod"/>
            </a:pPr>
            <a:endParaRPr lang="en-SG" sz="1400" dirty="0"/>
          </a:p>
          <a:p>
            <a:pPr marL="342900" indent="-342900">
              <a:buAutoNum type="arabicPeriod"/>
            </a:pPr>
            <a:r>
              <a:rPr lang="en-SG" sz="1400" dirty="0"/>
              <a:t>Pass in Data object(s) into </a:t>
            </a:r>
            <a:r>
              <a:rPr lang="en-SG" sz="1400" dirty="0" err="1"/>
              <a:t>RecyclerView’s</a:t>
            </a:r>
            <a:r>
              <a:rPr lang="en-SG" sz="1400" dirty="0"/>
              <a:t> </a:t>
            </a:r>
            <a:r>
              <a:rPr lang="en-SG" sz="1400" dirty="0" err="1">
                <a:latin typeface="Lucida Console" panose="020B0609040504020204" pitchFamily="49" charset="0"/>
              </a:rPr>
              <a:t>ItemAdapter</a:t>
            </a:r>
            <a:r>
              <a:rPr lang="en-SG" sz="1400" dirty="0"/>
              <a:t> class</a:t>
            </a:r>
          </a:p>
        </p:txBody>
      </p:sp>
      <p:pic>
        <p:nvPicPr>
          <p:cNvPr id="14" name="Picture 13">
            <a:extLst>
              <a:ext uri="{FF2B5EF4-FFF2-40B4-BE49-F238E27FC236}">
                <a16:creationId xmlns:a16="http://schemas.microsoft.com/office/drawing/2014/main" id="{815CACDC-EF09-4A5D-83D6-B3C00660D440}"/>
              </a:ext>
            </a:extLst>
          </p:cNvPr>
          <p:cNvPicPr>
            <a:picLocks noChangeAspect="1"/>
          </p:cNvPicPr>
          <p:nvPr/>
        </p:nvPicPr>
        <p:blipFill>
          <a:blip r:embed="rId2"/>
          <a:stretch>
            <a:fillRect/>
          </a:stretch>
        </p:blipFill>
        <p:spPr>
          <a:xfrm>
            <a:off x="5378424" y="739984"/>
            <a:ext cx="6489321" cy="1020936"/>
          </a:xfrm>
          <a:prstGeom prst="rect">
            <a:avLst/>
          </a:prstGeom>
        </p:spPr>
      </p:pic>
      <p:pic>
        <p:nvPicPr>
          <p:cNvPr id="16" name="Picture 15">
            <a:extLst>
              <a:ext uri="{FF2B5EF4-FFF2-40B4-BE49-F238E27FC236}">
                <a16:creationId xmlns:a16="http://schemas.microsoft.com/office/drawing/2014/main" id="{525B09EA-7F10-406E-B648-9EEAD5560AA1}"/>
              </a:ext>
            </a:extLst>
          </p:cNvPr>
          <p:cNvPicPr>
            <a:picLocks noChangeAspect="1"/>
          </p:cNvPicPr>
          <p:nvPr/>
        </p:nvPicPr>
        <p:blipFill>
          <a:blip r:embed="rId3"/>
          <a:stretch>
            <a:fillRect/>
          </a:stretch>
        </p:blipFill>
        <p:spPr>
          <a:xfrm>
            <a:off x="952339" y="2038448"/>
            <a:ext cx="6489321" cy="1903534"/>
          </a:xfrm>
          <a:prstGeom prst="rect">
            <a:avLst/>
          </a:prstGeom>
        </p:spPr>
      </p:pic>
      <p:grpSp>
        <p:nvGrpSpPr>
          <p:cNvPr id="8" name="Group 7">
            <a:extLst>
              <a:ext uri="{FF2B5EF4-FFF2-40B4-BE49-F238E27FC236}">
                <a16:creationId xmlns:a16="http://schemas.microsoft.com/office/drawing/2014/main" id="{61AA8592-9D18-47EF-8BB2-6EAAF6DFEE6D}"/>
              </a:ext>
            </a:extLst>
          </p:cNvPr>
          <p:cNvGrpSpPr/>
          <p:nvPr/>
        </p:nvGrpSpPr>
        <p:grpSpPr>
          <a:xfrm>
            <a:off x="952339" y="4182072"/>
            <a:ext cx="5540220" cy="2193823"/>
            <a:chOff x="962067" y="1905795"/>
            <a:chExt cx="5540220" cy="2193823"/>
          </a:xfrm>
        </p:grpSpPr>
        <p:pic>
          <p:nvPicPr>
            <p:cNvPr id="5" name="Picture 4">
              <a:extLst>
                <a:ext uri="{FF2B5EF4-FFF2-40B4-BE49-F238E27FC236}">
                  <a16:creationId xmlns:a16="http://schemas.microsoft.com/office/drawing/2014/main" id="{1393031C-A365-46A4-9974-D5998E708CCA}"/>
                </a:ext>
              </a:extLst>
            </p:cNvPr>
            <p:cNvPicPr>
              <a:picLocks noChangeAspect="1"/>
            </p:cNvPicPr>
            <p:nvPr/>
          </p:nvPicPr>
          <p:blipFill>
            <a:blip r:embed="rId4"/>
            <a:stretch>
              <a:fillRect/>
            </a:stretch>
          </p:blipFill>
          <p:spPr>
            <a:xfrm>
              <a:off x="962067" y="2758382"/>
              <a:ext cx="5540220" cy="1341236"/>
            </a:xfrm>
            <a:prstGeom prst="rect">
              <a:avLst/>
            </a:prstGeom>
          </p:spPr>
        </p:pic>
        <p:pic>
          <p:nvPicPr>
            <p:cNvPr id="7" name="Picture 6">
              <a:extLst>
                <a:ext uri="{FF2B5EF4-FFF2-40B4-BE49-F238E27FC236}">
                  <a16:creationId xmlns:a16="http://schemas.microsoft.com/office/drawing/2014/main" id="{3FBD69DF-55D4-435A-ABB2-C59B0A2C6FA6}"/>
                </a:ext>
              </a:extLst>
            </p:cNvPr>
            <p:cNvPicPr>
              <a:picLocks noChangeAspect="1"/>
            </p:cNvPicPr>
            <p:nvPr/>
          </p:nvPicPr>
          <p:blipFill>
            <a:blip r:embed="rId5"/>
            <a:stretch>
              <a:fillRect/>
            </a:stretch>
          </p:blipFill>
          <p:spPr>
            <a:xfrm>
              <a:off x="962067" y="1905795"/>
              <a:ext cx="4534293" cy="914479"/>
            </a:xfrm>
            <a:prstGeom prst="rect">
              <a:avLst/>
            </a:prstGeom>
          </p:spPr>
        </p:pic>
        <p:sp>
          <p:nvSpPr>
            <p:cNvPr id="3" name="TextBox 2">
              <a:extLst>
                <a:ext uri="{FF2B5EF4-FFF2-40B4-BE49-F238E27FC236}">
                  <a16:creationId xmlns:a16="http://schemas.microsoft.com/office/drawing/2014/main" id="{E8AEC0B7-237C-4BFA-B3D5-32719DB70893}"/>
                </a:ext>
              </a:extLst>
            </p:cNvPr>
            <p:cNvSpPr txBox="1"/>
            <p:nvPr/>
          </p:nvSpPr>
          <p:spPr>
            <a:xfrm>
              <a:off x="5171348" y="2543275"/>
              <a:ext cx="1121141" cy="276999"/>
            </a:xfrm>
            <a:prstGeom prst="rect">
              <a:avLst/>
            </a:prstGeom>
            <a:solidFill>
              <a:schemeClr val="accent4"/>
            </a:solidFill>
          </p:spPr>
          <p:txBody>
            <a:bodyPr wrap="none" rtlCol="0">
              <a:spAutoFit/>
            </a:bodyPr>
            <a:lstStyle/>
            <a:p>
              <a:r>
                <a:rPr lang="en-SG" sz="1200" dirty="0" err="1"/>
                <a:t>MainActivity.kt</a:t>
              </a:r>
              <a:endParaRPr lang="en-SG" sz="1200" dirty="0"/>
            </a:p>
          </p:txBody>
        </p:sp>
      </p:grpSp>
      <p:sp>
        <p:nvSpPr>
          <p:cNvPr id="17" name="TextBox 16">
            <a:extLst>
              <a:ext uri="{FF2B5EF4-FFF2-40B4-BE49-F238E27FC236}">
                <a16:creationId xmlns:a16="http://schemas.microsoft.com/office/drawing/2014/main" id="{10C786AE-AAAD-4ADA-BB0D-DCCFE5F1BE57}"/>
              </a:ext>
            </a:extLst>
          </p:cNvPr>
          <p:cNvSpPr txBox="1"/>
          <p:nvPr/>
        </p:nvSpPr>
        <p:spPr>
          <a:xfrm>
            <a:off x="10875274" y="601484"/>
            <a:ext cx="1093120" cy="276999"/>
          </a:xfrm>
          <a:prstGeom prst="rect">
            <a:avLst/>
          </a:prstGeom>
          <a:solidFill>
            <a:schemeClr val="accent4"/>
          </a:solidFill>
        </p:spPr>
        <p:txBody>
          <a:bodyPr wrap="none" rtlCol="0">
            <a:spAutoFit/>
          </a:bodyPr>
          <a:lstStyle/>
          <a:p>
            <a:r>
              <a:rPr lang="en-SG" sz="1200" dirty="0" err="1"/>
              <a:t>Affirmation.kt</a:t>
            </a:r>
            <a:endParaRPr lang="en-SG" sz="1200" dirty="0"/>
          </a:p>
        </p:txBody>
      </p:sp>
      <p:sp>
        <p:nvSpPr>
          <p:cNvPr id="18" name="TextBox 17">
            <a:extLst>
              <a:ext uri="{FF2B5EF4-FFF2-40B4-BE49-F238E27FC236}">
                <a16:creationId xmlns:a16="http://schemas.microsoft.com/office/drawing/2014/main" id="{D78EEB8A-2CA7-419B-994E-DF11BEDA989D}"/>
              </a:ext>
            </a:extLst>
          </p:cNvPr>
          <p:cNvSpPr txBox="1"/>
          <p:nvPr/>
        </p:nvSpPr>
        <p:spPr>
          <a:xfrm>
            <a:off x="6715629" y="1948064"/>
            <a:ext cx="1050416" cy="276999"/>
          </a:xfrm>
          <a:prstGeom prst="rect">
            <a:avLst/>
          </a:prstGeom>
          <a:solidFill>
            <a:schemeClr val="accent4"/>
          </a:solidFill>
        </p:spPr>
        <p:txBody>
          <a:bodyPr wrap="none" rtlCol="0">
            <a:spAutoFit/>
          </a:bodyPr>
          <a:lstStyle/>
          <a:p>
            <a:r>
              <a:rPr lang="en-SG" sz="1200" dirty="0" err="1"/>
              <a:t>Datasource.kt</a:t>
            </a:r>
            <a:endParaRPr lang="en-SG" sz="1200" dirty="0"/>
          </a:p>
        </p:txBody>
      </p:sp>
    </p:spTree>
    <p:extLst>
      <p:ext uri="{BB962C8B-B14F-4D97-AF65-F5344CB8AC3E}">
        <p14:creationId xmlns:p14="http://schemas.microsoft.com/office/powerpoint/2010/main" val="91758151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BC3E1B2E-4977-48CF-807D-EE6A5C3FC8F2}"/>
              </a:ext>
            </a:extLst>
          </p:cNvPr>
          <p:cNvPicPr>
            <a:picLocks noChangeAspect="1"/>
          </p:cNvPicPr>
          <p:nvPr/>
        </p:nvPicPr>
        <p:blipFill>
          <a:blip r:embed="rId2"/>
          <a:stretch>
            <a:fillRect/>
          </a:stretch>
        </p:blipFill>
        <p:spPr>
          <a:xfrm>
            <a:off x="952339" y="3337073"/>
            <a:ext cx="6197491" cy="3208853"/>
          </a:xfrm>
          <a:prstGeom prst="rect">
            <a:avLst/>
          </a:prstGeom>
        </p:spPr>
      </p:pic>
      <p:sp>
        <p:nvSpPr>
          <p:cNvPr id="2" name="Title 1">
            <a:extLst>
              <a:ext uri="{FF2B5EF4-FFF2-40B4-BE49-F238E27FC236}">
                <a16:creationId xmlns:a16="http://schemas.microsoft.com/office/drawing/2014/main" id="{1C9561BB-87FB-4861-A38F-FD8436BE4124}"/>
              </a:ext>
            </a:extLst>
          </p:cNvPr>
          <p:cNvSpPr>
            <a:spLocks noGrp="1"/>
          </p:cNvSpPr>
          <p:nvPr>
            <p:ph type="title"/>
          </p:nvPr>
        </p:nvSpPr>
        <p:spPr/>
        <p:txBody>
          <a:bodyPr/>
          <a:lstStyle/>
          <a:p>
            <a:r>
              <a:rPr lang="en-SG" dirty="0"/>
              <a:t>MVVM</a:t>
            </a:r>
          </a:p>
        </p:txBody>
      </p:sp>
      <p:pic>
        <p:nvPicPr>
          <p:cNvPr id="11" name="Picture 10">
            <a:extLst>
              <a:ext uri="{FF2B5EF4-FFF2-40B4-BE49-F238E27FC236}">
                <a16:creationId xmlns:a16="http://schemas.microsoft.com/office/drawing/2014/main" id="{C967EAC0-D65F-4274-9B06-D43E0A846EB7}"/>
              </a:ext>
            </a:extLst>
          </p:cNvPr>
          <p:cNvPicPr>
            <a:picLocks noChangeAspect="1"/>
          </p:cNvPicPr>
          <p:nvPr/>
        </p:nvPicPr>
        <p:blipFill rotWithShape="1">
          <a:blip r:embed="rId3"/>
          <a:srcRect b="59737"/>
          <a:stretch/>
        </p:blipFill>
        <p:spPr>
          <a:xfrm>
            <a:off x="952339" y="1417331"/>
            <a:ext cx="8716955" cy="1919742"/>
          </a:xfrm>
          <a:prstGeom prst="rect">
            <a:avLst/>
          </a:prstGeom>
        </p:spPr>
      </p:pic>
      <p:sp>
        <p:nvSpPr>
          <p:cNvPr id="12" name="TextBox 11">
            <a:extLst>
              <a:ext uri="{FF2B5EF4-FFF2-40B4-BE49-F238E27FC236}">
                <a16:creationId xmlns:a16="http://schemas.microsoft.com/office/drawing/2014/main" id="{EE5AF734-F76D-45BA-BA87-18E280D90CE8}"/>
              </a:ext>
            </a:extLst>
          </p:cNvPr>
          <p:cNvSpPr txBox="1"/>
          <p:nvPr/>
        </p:nvSpPr>
        <p:spPr>
          <a:xfrm>
            <a:off x="9223536" y="1927185"/>
            <a:ext cx="1119794" cy="276999"/>
          </a:xfrm>
          <a:prstGeom prst="rect">
            <a:avLst/>
          </a:prstGeom>
          <a:solidFill>
            <a:schemeClr val="accent4"/>
          </a:solidFill>
        </p:spPr>
        <p:txBody>
          <a:bodyPr wrap="none" rtlCol="0">
            <a:spAutoFit/>
          </a:bodyPr>
          <a:lstStyle/>
          <a:p>
            <a:r>
              <a:rPr lang="en-SG" sz="1200" dirty="0" err="1"/>
              <a:t>ItemAdapter.kt</a:t>
            </a:r>
            <a:endParaRPr lang="en-SG" sz="1200" dirty="0"/>
          </a:p>
        </p:txBody>
      </p:sp>
      <p:sp>
        <p:nvSpPr>
          <p:cNvPr id="14" name="TextBox 13">
            <a:extLst>
              <a:ext uri="{FF2B5EF4-FFF2-40B4-BE49-F238E27FC236}">
                <a16:creationId xmlns:a16="http://schemas.microsoft.com/office/drawing/2014/main" id="{003B951C-49F9-4459-8511-0FF2927FB7F8}"/>
              </a:ext>
            </a:extLst>
          </p:cNvPr>
          <p:cNvSpPr txBox="1"/>
          <p:nvPr/>
        </p:nvSpPr>
        <p:spPr>
          <a:xfrm>
            <a:off x="7320874" y="4249002"/>
            <a:ext cx="4871126" cy="1384995"/>
          </a:xfrm>
          <a:prstGeom prst="rect">
            <a:avLst/>
          </a:prstGeom>
          <a:noFill/>
        </p:spPr>
        <p:txBody>
          <a:bodyPr wrap="square">
            <a:spAutoFit/>
          </a:bodyPr>
          <a:lstStyle/>
          <a:p>
            <a:r>
              <a:rPr lang="en-SG" sz="1400" dirty="0"/>
              <a:t>Within </a:t>
            </a:r>
            <a:r>
              <a:rPr lang="en-SG" sz="1400" dirty="0" err="1">
                <a:latin typeface="Lucida Console" panose="020B0609040504020204" pitchFamily="49" charset="0"/>
              </a:rPr>
              <a:t>ItemAdapter</a:t>
            </a:r>
            <a:r>
              <a:rPr lang="en-SG" sz="1400" dirty="0"/>
              <a:t> class, there is a </a:t>
            </a:r>
            <a:r>
              <a:rPr lang="en-SG" sz="1400" dirty="0" err="1">
                <a:latin typeface="Lucida Console" panose="020B0609040504020204" pitchFamily="49" charset="0"/>
              </a:rPr>
              <a:t>ViewHolder</a:t>
            </a:r>
            <a:r>
              <a:rPr lang="en-SG" sz="1400" dirty="0"/>
              <a:t> class, which can hold more than one Views, and overriding methods that handles the </a:t>
            </a:r>
            <a:r>
              <a:rPr lang="en-SG" sz="1400" dirty="0" err="1">
                <a:latin typeface="Lucida Console" panose="020B0609040504020204" pitchFamily="49" charset="0"/>
              </a:rPr>
              <a:t>ViewHolder</a:t>
            </a:r>
            <a:r>
              <a:rPr lang="en-SG" sz="1400" dirty="0"/>
              <a:t>.</a:t>
            </a:r>
          </a:p>
          <a:p>
            <a:pPr marL="800100" lvl="1" indent="-342900">
              <a:buAutoNum type="arabicPeriod"/>
            </a:pPr>
            <a:r>
              <a:rPr lang="en-SG" sz="1400" dirty="0" err="1">
                <a:latin typeface="Lucida Console" panose="020B0609040504020204" pitchFamily="49" charset="0"/>
              </a:rPr>
              <a:t>onCreateViewHolder</a:t>
            </a:r>
            <a:r>
              <a:rPr lang="en-SG" sz="1400" dirty="0">
                <a:latin typeface="Lucida Console" panose="020B0609040504020204" pitchFamily="49" charset="0"/>
              </a:rPr>
              <a:t>()</a:t>
            </a:r>
          </a:p>
          <a:p>
            <a:pPr marL="800100" lvl="1" indent="-342900">
              <a:buAutoNum type="arabicPeriod"/>
            </a:pPr>
            <a:r>
              <a:rPr lang="en-SG" sz="1400" dirty="0" err="1">
                <a:latin typeface="Lucida Console" panose="020B0609040504020204" pitchFamily="49" charset="0"/>
              </a:rPr>
              <a:t>onBindViewHolder</a:t>
            </a:r>
            <a:r>
              <a:rPr lang="en-SG" sz="1400" dirty="0">
                <a:latin typeface="Lucida Console" panose="020B0609040504020204" pitchFamily="49" charset="0"/>
              </a:rPr>
              <a:t>()</a:t>
            </a:r>
          </a:p>
          <a:p>
            <a:pPr marL="800100" lvl="1" indent="-342900">
              <a:buAutoNum type="arabicPeriod"/>
            </a:pPr>
            <a:r>
              <a:rPr lang="en-SG" sz="1400" dirty="0" err="1">
                <a:latin typeface="Lucida Console" panose="020B0609040504020204" pitchFamily="49" charset="0"/>
              </a:rPr>
              <a:t>getItemCount</a:t>
            </a:r>
            <a:r>
              <a:rPr lang="en-SG" sz="1400" dirty="0">
                <a:latin typeface="Lucida Console" panose="020B0609040504020204" pitchFamily="49" charset="0"/>
              </a:rPr>
              <a:t>()</a:t>
            </a:r>
          </a:p>
        </p:txBody>
      </p:sp>
    </p:spTree>
    <p:extLst>
      <p:ext uri="{BB962C8B-B14F-4D97-AF65-F5344CB8AC3E}">
        <p14:creationId xmlns:p14="http://schemas.microsoft.com/office/powerpoint/2010/main" val="240704395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B8A734-5419-4198-A47C-11CB0BB36D3A}"/>
              </a:ext>
            </a:extLst>
          </p:cNvPr>
          <p:cNvSpPr>
            <a:spLocks noGrp="1"/>
          </p:cNvSpPr>
          <p:nvPr>
            <p:ph type="title"/>
          </p:nvPr>
        </p:nvSpPr>
        <p:spPr/>
        <p:txBody>
          <a:bodyPr/>
          <a:lstStyle/>
          <a:p>
            <a:r>
              <a:rPr lang="en-SG" dirty="0"/>
              <a:t>XML</a:t>
            </a:r>
          </a:p>
        </p:txBody>
      </p:sp>
      <p:sp>
        <p:nvSpPr>
          <p:cNvPr id="3" name="Content Placeholder 2">
            <a:extLst>
              <a:ext uri="{FF2B5EF4-FFF2-40B4-BE49-F238E27FC236}">
                <a16:creationId xmlns:a16="http://schemas.microsoft.com/office/drawing/2014/main" id="{D6C30A2D-07CF-45E6-B2C2-AF663AAF6A22}"/>
              </a:ext>
            </a:extLst>
          </p:cNvPr>
          <p:cNvSpPr>
            <a:spLocks noGrp="1"/>
          </p:cNvSpPr>
          <p:nvPr>
            <p:ph idx="1"/>
          </p:nvPr>
        </p:nvSpPr>
        <p:spPr/>
        <p:txBody>
          <a:bodyPr>
            <a:normAutofit/>
          </a:bodyPr>
          <a:lstStyle/>
          <a:p>
            <a:r>
              <a:rPr lang="en-US" sz="2000" dirty="0" err="1"/>
              <a:t>eXtensible</a:t>
            </a:r>
            <a:r>
              <a:rPr lang="en-US" sz="2000" dirty="0"/>
              <a:t> Markup Language</a:t>
            </a:r>
          </a:p>
          <a:p>
            <a:r>
              <a:rPr lang="en-US" sz="2000" dirty="0"/>
              <a:t>A way of describing data using a text-based document</a:t>
            </a:r>
          </a:p>
          <a:p>
            <a:r>
              <a:rPr lang="en-US" sz="2000" dirty="0"/>
              <a:t>Because XML is extensible and very flexible, it's used for many different things, including defining the UI layout of Android apps.</a:t>
            </a:r>
            <a:endParaRPr lang="en-SG" sz="2000" dirty="0"/>
          </a:p>
        </p:txBody>
      </p:sp>
      <p:pic>
        <p:nvPicPr>
          <p:cNvPr id="5" name="Picture 4">
            <a:extLst>
              <a:ext uri="{FF2B5EF4-FFF2-40B4-BE49-F238E27FC236}">
                <a16:creationId xmlns:a16="http://schemas.microsoft.com/office/drawing/2014/main" id="{832B2DE8-BEA8-4A9A-BF3C-2CA3384E3F3F}"/>
              </a:ext>
            </a:extLst>
          </p:cNvPr>
          <p:cNvPicPr>
            <a:picLocks noChangeAspect="1"/>
          </p:cNvPicPr>
          <p:nvPr/>
        </p:nvPicPr>
        <p:blipFill>
          <a:blip r:embed="rId2"/>
          <a:stretch>
            <a:fillRect/>
          </a:stretch>
        </p:blipFill>
        <p:spPr>
          <a:xfrm>
            <a:off x="47922" y="3907993"/>
            <a:ext cx="6416596" cy="2789162"/>
          </a:xfrm>
          <a:prstGeom prst="rect">
            <a:avLst/>
          </a:prstGeom>
        </p:spPr>
      </p:pic>
      <p:pic>
        <p:nvPicPr>
          <p:cNvPr id="7" name="Picture 6">
            <a:extLst>
              <a:ext uri="{FF2B5EF4-FFF2-40B4-BE49-F238E27FC236}">
                <a16:creationId xmlns:a16="http://schemas.microsoft.com/office/drawing/2014/main" id="{322736E4-8219-40B7-BEAE-E0B30040CF8E}"/>
              </a:ext>
            </a:extLst>
          </p:cNvPr>
          <p:cNvPicPr>
            <a:picLocks noChangeAspect="1"/>
          </p:cNvPicPr>
          <p:nvPr/>
        </p:nvPicPr>
        <p:blipFill>
          <a:blip r:embed="rId3"/>
          <a:stretch>
            <a:fillRect/>
          </a:stretch>
        </p:blipFill>
        <p:spPr>
          <a:xfrm>
            <a:off x="6464518" y="4379481"/>
            <a:ext cx="5585944" cy="1371719"/>
          </a:xfrm>
          <a:prstGeom prst="rect">
            <a:avLst/>
          </a:prstGeom>
        </p:spPr>
      </p:pic>
    </p:spTree>
    <p:extLst>
      <p:ext uri="{BB962C8B-B14F-4D97-AF65-F5344CB8AC3E}">
        <p14:creationId xmlns:p14="http://schemas.microsoft.com/office/powerpoint/2010/main" val="359915472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B8A734-5419-4198-A47C-11CB0BB36D3A}"/>
              </a:ext>
            </a:extLst>
          </p:cNvPr>
          <p:cNvSpPr>
            <a:spLocks noGrp="1"/>
          </p:cNvSpPr>
          <p:nvPr>
            <p:ph type="title"/>
          </p:nvPr>
        </p:nvSpPr>
        <p:spPr/>
        <p:txBody>
          <a:bodyPr/>
          <a:lstStyle/>
          <a:p>
            <a:r>
              <a:rPr lang="en-SG" dirty="0"/>
              <a:t>XML</a:t>
            </a:r>
          </a:p>
        </p:txBody>
      </p:sp>
      <p:sp>
        <p:nvSpPr>
          <p:cNvPr id="3" name="Content Placeholder 2">
            <a:extLst>
              <a:ext uri="{FF2B5EF4-FFF2-40B4-BE49-F238E27FC236}">
                <a16:creationId xmlns:a16="http://schemas.microsoft.com/office/drawing/2014/main" id="{D6C30A2D-07CF-45E6-B2C2-AF663AAF6A22}"/>
              </a:ext>
            </a:extLst>
          </p:cNvPr>
          <p:cNvSpPr>
            <a:spLocks noGrp="1"/>
          </p:cNvSpPr>
          <p:nvPr>
            <p:ph idx="1"/>
          </p:nvPr>
        </p:nvSpPr>
        <p:spPr>
          <a:xfrm>
            <a:off x="838200" y="1645174"/>
            <a:ext cx="10515600" cy="4351338"/>
          </a:xfrm>
        </p:spPr>
        <p:txBody>
          <a:bodyPr>
            <a:normAutofit/>
          </a:bodyPr>
          <a:lstStyle/>
          <a:p>
            <a:r>
              <a:rPr lang="en-US" sz="1600" dirty="0"/>
              <a:t>ConstraintLayout tag: </a:t>
            </a:r>
            <a:r>
              <a:rPr lang="en-US" sz="1600" dirty="0">
                <a:latin typeface="Lucida Console" panose="020B0609040504020204" pitchFamily="49" charset="0"/>
              </a:rPr>
              <a:t>&lt;</a:t>
            </a:r>
            <a:r>
              <a:rPr lang="en-SG" sz="1600" b="0" i="0" dirty="0">
                <a:effectLst/>
                <a:latin typeface="Lucida Console" panose="020B0609040504020204" pitchFamily="49" charset="0"/>
              </a:rPr>
              <a:t>androidx.constraintlayout.widget.ConstraintLayout</a:t>
            </a:r>
            <a:r>
              <a:rPr lang="en-SG" sz="1600" dirty="0">
                <a:latin typeface="Lucida Console" panose="020B0609040504020204" pitchFamily="49" charset="0"/>
              </a:rPr>
              <a:t>&gt;</a:t>
            </a:r>
            <a:endParaRPr lang="en-US" sz="1600" dirty="0">
              <a:latin typeface="Lucida Console" panose="020B0609040504020204" pitchFamily="49" charset="0"/>
            </a:endParaRPr>
          </a:p>
          <a:p>
            <a:r>
              <a:rPr lang="en-US" sz="1600" dirty="0"/>
              <a:t>ConstraintLayout is part of Android Jetpack, which contains libraries of code which offers additional functionality on top of the core Android platform. </a:t>
            </a:r>
          </a:p>
          <a:p>
            <a:r>
              <a:rPr lang="en-US" sz="1600" dirty="0"/>
              <a:t>Jetpack has useful functionality you can take advantage of to make building apps easier. You'll recognize this UI component is part of Jetpack because it starts with "</a:t>
            </a:r>
            <a:r>
              <a:rPr lang="en-US" sz="1600" dirty="0" err="1">
                <a:latin typeface="Lucida Console" panose="020B0609040504020204" pitchFamily="49" charset="0"/>
              </a:rPr>
              <a:t>androidx</a:t>
            </a:r>
            <a:r>
              <a:rPr lang="en-US" sz="1600" dirty="0"/>
              <a:t>".</a:t>
            </a:r>
          </a:p>
          <a:p>
            <a:pPr marL="0" indent="0">
              <a:buNone/>
            </a:pPr>
            <a:endParaRPr lang="en-US" sz="2000" dirty="0"/>
          </a:p>
          <a:p>
            <a:pPr marL="0" indent="0">
              <a:buNone/>
            </a:pPr>
            <a:r>
              <a:rPr lang="en-US" sz="1400" dirty="0">
                <a:highlight>
                  <a:srgbClr val="C0C0C0"/>
                </a:highlight>
                <a:latin typeface="Lucida Console" panose="020B0609040504020204" pitchFamily="49" charset="0"/>
              </a:rPr>
              <a:t>&lt;?xml version="1.0" encoding="utf-8"?&gt;</a:t>
            </a:r>
            <a:r>
              <a:rPr lang="en-US" sz="1400" dirty="0"/>
              <a:t>	</a:t>
            </a:r>
            <a:r>
              <a:rPr lang="en-US" sz="1400" dirty="0">
                <a:sym typeface="Wingdings" panose="05000000000000000000" pitchFamily="2" charset="2"/>
              </a:rPr>
              <a:t> indicates that this is an XML file, but not every XML file will have this</a:t>
            </a:r>
            <a:endParaRPr lang="en-US" sz="1400" dirty="0"/>
          </a:p>
          <a:p>
            <a:pPr marL="0" indent="0">
              <a:buNone/>
            </a:pPr>
            <a:r>
              <a:rPr lang="en-US" sz="1400" dirty="0">
                <a:latin typeface="Lucida Console" panose="020B0609040504020204" pitchFamily="49" charset="0"/>
              </a:rPr>
              <a:t>&lt;</a:t>
            </a:r>
            <a:r>
              <a:rPr lang="en-SG" sz="1400" b="0" i="0" dirty="0">
                <a:effectLst/>
                <a:latin typeface="Lucida Console" panose="020B0609040504020204" pitchFamily="49" charset="0"/>
              </a:rPr>
              <a:t>androidx.constraintlayout.widget.ConstraintLayout</a:t>
            </a:r>
            <a:endParaRPr lang="en-SG" sz="1400" dirty="0">
              <a:highlight>
                <a:srgbClr val="FFFF00"/>
              </a:highlight>
              <a:latin typeface="Lucida Console" panose="020B0609040504020204" pitchFamily="49" charset="0"/>
            </a:endParaRPr>
          </a:p>
          <a:p>
            <a:pPr marL="457200" lvl="1" indent="0">
              <a:buNone/>
            </a:pPr>
            <a:r>
              <a:rPr lang="en-SG" sz="1400" dirty="0" err="1">
                <a:highlight>
                  <a:srgbClr val="FFFF00"/>
                </a:highlight>
                <a:latin typeface="Lucida Console" panose="020B0609040504020204" pitchFamily="49" charset="0"/>
              </a:rPr>
              <a:t>xmlns</a:t>
            </a:r>
            <a:r>
              <a:rPr lang="en-SG" sz="1400" dirty="0" err="1">
                <a:latin typeface="Lucida Console" panose="020B0609040504020204" pitchFamily="49" charset="0"/>
              </a:rPr>
              <a:t>:</a:t>
            </a:r>
            <a:r>
              <a:rPr lang="en-SG" sz="1400" dirty="0" err="1">
                <a:highlight>
                  <a:srgbClr val="00FF00"/>
                </a:highlight>
                <a:latin typeface="Lucida Console" panose="020B0609040504020204" pitchFamily="49" charset="0"/>
              </a:rPr>
              <a:t>android</a:t>
            </a:r>
            <a:r>
              <a:rPr lang="en-SG" sz="1400" dirty="0">
                <a:latin typeface="Lucida Console" panose="020B0609040504020204" pitchFamily="49" charset="0"/>
              </a:rPr>
              <a:t>="http://schemas.android.com/</a:t>
            </a:r>
            <a:r>
              <a:rPr lang="en-SG" sz="1400" dirty="0" err="1">
                <a:latin typeface="Lucida Console" panose="020B0609040504020204" pitchFamily="49" charset="0"/>
              </a:rPr>
              <a:t>apk</a:t>
            </a:r>
            <a:r>
              <a:rPr lang="en-SG" sz="1400" dirty="0">
                <a:latin typeface="Lucida Console" panose="020B0609040504020204" pitchFamily="49" charset="0"/>
              </a:rPr>
              <a:t>/res/android"</a:t>
            </a:r>
          </a:p>
          <a:p>
            <a:pPr marL="457200" lvl="1" indent="0">
              <a:buNone/>
            </a:pPr>
            <a:r>
              <a:rPr lang="en-SG" sz="1400" dirty="0" err="1">
                <a:latin typeface="Lucida Console" panose="020B0609040504020204" pitchFamily="49" charset="0"/>
              </a:rPr>
              <a:t>xmlns:app</a:t>
            </a:r>
            <a:r>
              <a:rPr lang="en-SG" sz="1400" dirty="0">
                <a:latin typeface="Lucida Console" panose="020B0609040504020204" pitchFamily="49" charset="0"/>
              </a:rPr>
              <a:t>="http://schemas.android.com/</a:t>
            </a:r>
            <a:r>
              <a:rPr lang="en-SG" sz="1400" dirty="0" err="1">
                <a:latin typeface="Lucida Console" panose="020B0609040504020204" pitchFamily="49" charset="0"/>
              </a:rPr>
              <a:t>apk</a:t>
            </a:r>
            <a:r>
              <a:rPr lang="en-SG" sz="1400" dirty="0">
                <a:latin typeface="Lucida Console" panose="020B0609040504020204" pitchFamily="49" charset="0"/>
              </a:rPr>
              <a:t>/res-auto"</a:t>
            </a:r>
          </a:p>
          <a:p>
            <a:pPr marL="457200" lvl="1" indent="0">
              <a:buNone/>
            </a:pPr>
            <a:r>
              <a:rPr lang="en-SG" sz="1400" dirty="0" err="1">
                <a:latin typeface="Lucida Console" panose="020B0609040504020204" pitchFamily="49" charset="0"/>
              </a:rPr>
              <a:t>xmlns:tools</a:t>
            </a:r>
            <a:r>
              <a:rPr lang="en-SG" sz="1400" dirty="0">
                <a:latin typeface="Lucida Console" panose="020B0609040504020204" pitchFamily="49" charset="0"/>
              </a:rPr>
              <a:t>="http://schemas.android.com/tools"&gt;</a:t>
            </a:r>
          </a:p>
          <a:p>
            <a:pPr marL="457200" lvl="1" indent="0">
              <a:buNone/>
            </a:pPr>
            <a:r>
              <a:rPr lang="en-SG" sz="1400" dirty="0">
                <a:latin typeface="Lucida Console" panose="020B0609040504020204" pitchFamily="49" charset="0"/>
              </a:rPr>
              <a:t>...</a:t>
            </a:r>
          </a:p>
          <a:p>
            <a:pPr marL="0" indent="0">
              <a:buNone/>
            </a:pPr>
            <a:r>
              <a:rPr lang="en-US" sz="1400" dirty="0">
                <a:latin typeface="Lucida Console" panose="020B0609040504020204" pitchFamily="49" charset="0"/>
              </a:rPr>
              <a:t>&lt;/</a:t>
            </a:r>
            <a:r>
              <a:rPr lang="en-SG" sz="1400" b="0" i="0" dirty="0">
                <a:effectLst/>
                <a:latin typeface="Lucida Console" panose="020B0609040504020204" pitchFamily="49" charset="0"/>
              </a:rPr>
              <a:t>androidx.constraintlayout.widget.ConstraintLayout&gt;</a:t>
            </a:r>
            <a:endParaRPr lang="en-SG" sz="1400" dirty="0">
              <a:highlight>
                <a:srgbClr val="FFFF00"/>
              </a:highlight>
              <a:latin typeface="Lucida Console" panose="020B0609040504020204" pitchFamily="49" charset="0"/>
            </a:endParaRPr>
          </a:p>
        </p:txBody>
      </p:sp>
      <p:sp>
        <p:nvSpPr>
          <p:cNvPr id="6" name="TextBox 5">
            <a:extLst>
              <a:ext uri="{FF2B5EF4-FFF2-40B4-BE49-F238E27FC236}">
                <a16:creationId xmlns:a16="http://schemas.microsoft.com/office/drawing/2014/main" id="{94B09F14-FBA2-4CA9-B862-510CBCE82567}"/>
              </a:ext>
            </a:extLst>
          </p:cNvPr>
          <p:cNvSpPr txBox="1"/>
          <p:nvPr/>
        </p:nvSpPr>
        <p:spPr>
          <a:xfrm>
            <a:off x="6648720" y="5084442"/>
            <a:ext cx="5076218" cy="1323439"/>
          </a:xfrm>
          <a:prstGeom prst="rect">
            <a:avLst/>
          </a:prstGeom>
          <a:noFill/>
        </p:spPr>
        <p:txBody>
          <a:bodyPr wrap="square" rtlCol="0">
            <a:spAutoFit/>
          </a:bodyPr>
          <a:lstStyle/>
          <a:p>
            <a:pPr marL="342900" indent="-342900">
              <a:buAutoNum type="arabicPeriod"/>
            </a:pPr>
            <a:r>
              <a:rPr lang="en-SG" sz="1600" dirty="0" err="1">
                <a:highlight>
                  <a:srgbClr val="FFFF00"/>
                </a:highlight>
                <a:latin typeface="Lucida Console" panose="020B0609040504020204" pitchFamily="49" charset="0"/>
              </a:rPr>
              <a:t>xmlns</a:t>
            </a:r>
            <a:r>
              <a:rPr lang="en-SG" sz="1600" dirty="0"/>
              <a:t> stands for XML namespace, and each line defines a schema, or vocab for attributes related to the words.</a:t>
            </a:r>
          </a:p>
          <a:p>
            <a:pPr marL="342900" indent="-342900">
              <a:buAutoNum type="arabicPeriod"/>
            </a:pPr>
            <a:r>
              <a:rPr lang="en-SG" sz="1600" dirty="0">
                <a:highlight>
                  <a:srgbClr val="00FF00"/>
                </a:highlight>
                <a:latin typeface="Lucida Console" panose="020B0609040504020204" pitchFamily="49" charset="0"/>
              </a:rPr>
              <a:t>android</a:t>
            </a:r>
            <a:r>
              <a:rPr lang="en-SG" sz="1600" dirty="0"/>
              <a:t> namespace, for example, marks attributes that are defined by the Android system.</a:t>
            </a:r>
          </a:p>
        </p:txBody>
      </p:sp>
    </p:spTree>
    <p:extLst>
      <p:ext uri="{BB962C8B-B14F-4D97-AF65-F5344CB8AC3E}">
        <p14:creationId xmlns:p14="http://schemas.microsoft.com/office/powerpoint/2010/main" val="141026267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22DF46-D35E-4F8A-90BE-6F8FEE73E338}"/>
              </a:ext>
            </a:extLst>
          </p:cNvPr>
          <p:cNvSpPr>
            <a:spLocks noGrp="1"/>
          </p:cNvSpPr>
          <p:nvPr>
            <p:ph type="title"/>
          </p:nvPr>
        </p:nvSpPr>
        <p:spPr/>
        <p:txBody>
          <a:bodyPr/>
          <a:lstStyle/>
          <a:p>
            <a:r>
              <a:rPr lang="en-SG" dirty="0"/>
              <a:t>XML</a:t>
            </a:r>
          </a:p>
        </p:txBody>
      </p:sp>
      <p:sp>
        <p:nvSpPr>
          <p:cNvPr id="3" name="Content Placeholder 2">
            <a:extLst>
              <a:ext uri="{FF2B5EF4-FFF2-40B4-BE49-F238E27FC236}">
                <a16:creationId xmlns:a16="http://schemas.microsoft.com/office/drawing/2014/main" id="{2AF5FAD8-8FD1-4CFC-A64E-169CEDC5BE34}"/>
              </a:ext>
            </a:extLst>
          </p:cNvPr>
          <p:cNvSpPr>
            <a:spLocks noGrp="1"/>
          </p:cNvSpPr>
          <p:nvPr>
            <p:ph idx="1"/>
          </p:nvPr>
        </p:nvSpPr>
        <p:spPr/>
        <p:txBody>
          <a:bodyPr>
            <a:normAutofit/>
          </a:bodyPr>
          <a:lstStyle/>
          <a:p>
            <a:r>
              <a:rPr lang="en-SG" sz="2000" dirty="0"/>
              <a:t>Padding vs. Margin?</a:t>
            </a:r>
          </a:p>
          <a:p>
            <a:pPr lvl="1"/>
            <a:r>
              <a:rPr lang="en-SG" sz="1800" dirty="0"/>
              <a:t>Padding adds space within the element (e.g. ConstraintLayout), while margin adds space outside the element</a:t>
            </a:r>
          </a:p>
          <a:p>
            <a:r>
              <a:rPr lang="en-US" sz="2000" dirty="0"/>
              <a:t>You cannot use </a:t>
            </a:r>
            <a:r>
              <a:rPr lang="en-US" sz="2000" dirty="0" err="1">
                <a:latin typeface="Lucida Console" panose="020B0609040504020204" pitchFamily="49" charset="0"/>
              </a:rPr>
              <a:t>match_parent</a:t>
            </a:r>
            <a:r>
              <a:rPr lang="en-US" sz="2000" dirty="0"/>
              <a:t> for any view in a ConstraintLayout. Instead use 0dp, which means match constraints.</a:t>
            </a:r>
          </a:p>
          <a:p>
            <a:pPr lvl="1"/>
            <a:endParaRPr lang="en-SG" sz="1800" dirty="0"/>
          </a:p>
        </p:txBody>
      </p:sp>
    </p:spTree>
    <p:extLst>
      <p:ext uri="{BB962C8B-B14F-4D97-AF65-F5344CB8AC3E}">
        <p14:creationId xmlns:p14="http://schemas.microsoft.com/office/powerpoint/2010/main" val="14654903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0E0EA7-832C-4C3F-B1EE-168966D09D16}"/>
              </a:ext>
            </a:extLst>
          </p:cNvPr>
          <p:cNvSpPr>
            <a:spLocks noGrp="1"/>
          </p:cNvSpPr>
          <p:nvPr>
            <p:ph type="title"/>
          </p:nvPr>
        </p:nvSpPr>
        <p:spPr/>
        <p:txBody>
          <a:bodyPr/>
          <a:lstStyle/>
          <a:p>
            <a:r>
              <a:rPr lang="en-SG" dirty="0"/>
              <a:t>Types of Layout (most commonly used)</a:t>
            </a:r>
          </a:p>
        </p:txBody>
      </p:sp>
      <p:sp>
        <p:nvSpPr>
          <p:cNvPr id="3" name="Content Placeholder 2">
            <a:extLst>
              <a:ext uri="{FF2B5EF4-FFF2-40B4-BE49-F238E27FC236}">
                <a16:creationId xmlns:a16="http://schemas.microsoft.com/office/drawing/2014/main" id="{E49695FC-017A-48C3-B49C-814387DBD30A}"/>
              </a:ext>
            </a:extLst>
          </p:cNvPr>
          <p:cNvSpPr>
            <a:spLocks noGrp="1"/>
          </p:cNvSpPr>
          <p:nvPr>
            <p:ph idx="1"/>
          </p:nvPr>
        </p:nvSpPr>
        <p:spPr/>
        <p:txBody>
          <a:bodyPr/>
          <a:lstStyle/>
          <a:p>
            <a:r>
              <a:rPr lang="en-SG" dirty="0"/>
              <a:t>ConstraintLayout</a:t>
            </a:r>
          </a:p>
          <a:p>
            <a:pPr lvl="1"/>
            <a:r>
              <a:rPr lang="en-SG" dirty="0"/>
              <a:t>Ideal and flexible when you want to position multiple child views in a layout</a:t>
            </a:r>
          </a:p>
          <a:p>
            <a:r>
              <a:rPr lang="en-SG" dirty="0" err="1"/>
              <a:t>FrameLayout</a:t>
            </a:r>
            <a:endParaRPr lang="en-SG" dirty="0"/>
          </a:p>
          <a:p>
            <a:pPr lvl="1"/>
            <a:r>
              <a:rPr lang="en-SG" dirty="0"/>
              <a:t>Simpler layout if you just have a single child view (e.g. a single </a:t>
            </a:r>
            <a:r>
              <a:rPr lang="en-SG" dirty="0" err="1"/>
              <a:t>RecyclerView</a:t>
            </a:r>
            <a:r>
              <a:rPr lang="en-SG" dirty="0"/>
              <a:t>)</a:t>
            </a:r>
          </a:p>
          <a:p>
            <a:r>
              <a:rPr lang="en-SG" dirty="0" err="1"/>
              <a:t>LinearLayout</a:t>
            </a:r>
            <a:endParaRPr lang="en-SG" dirty="0"/>
          </a:p>
          <a:p>
            <a:pPr lvl="1"/>
            <a:r>
              <a:rPr lang="en-SG" dirty="0"/>
              <a:t>Aligns all child views into a single direction (i.e. vertically or horizontally)</a:t>
            </a:r>
          </a:p>
          <a:p>
            <a:pPr lvl="1"/>
            <a:r>
              <a:rPr lang="en-SG" dirty="0"/>
              <a:t>Can even add a </a:t>
            </a:r>
            <a:r>
              <a:rPr lang="en-SG" dirty="0" err="1"/>
              <a:t>MaterialCardView</a:t>
            </a:r>
            <a:r>
              <a:rPr lang="en-SG" dirty="0"/>
              <a:t> around the existing </a:t>
            </a:r>
            <a:r>
              <a:rPr lang="en-SG" dirty="0" err="1"/>
              <a:t>LinearLayout</a:t>
            </a:r>
            <a:r>
              <a:rPr lang="en-SG" dirty="0"/>
              <a:t> for better visuals</a:t>
            </a:r>
          </a:p>
        </p:txBody>
      </p:sp>
    </p:spTree>
    <p:extLst>
      <p:ext uri="{BB962C8B-B14F-4D97-AF65-F5344CB8AC3E}">
        <p14:creationId xmlns:p14="http://schemas.microsoft.com/office/powerpoint/2010/main" val="66246011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Display Flow #1</a:t>
            </a:r>
          </a:p>
        </p:txBody>
      </p:sp>
      <p:sp>
        <p:nvSpPr>
          <p:cNvPr id="3" name="Rectangle 2">
            <a:extLst>
              <a:ext uri="{FF2B5EF4-FFF2-40B4-BE49-F238E27FC236}">
                <a16:creationId xmlns:a16="http://schemas.microsoft.com/office/drawing/2014/main" id="{90AFA6DB-EE23-499E-AAF2-6DA7B10F8AAC}"/>
              </a:ext>
            </a:extLst>
          </p:cNvPr>
          <p:cNvSpPr/>
          <p:nvPr/>
        </p:nvSpPr>
        <p:spPr>
          <a:xfrm>
            <a:off x="6966625" y="4635230"/>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3. In the Activity, call the corresponding layout XML</a:t>
            </a:r>
          </a:p>
        </p:txBody>
      </p:sp>
      <p:sp>
        <p:nvSpPr>
          <p:cNvPr id="4" name="Rectangle 3">
            <a:extLst>
              <a:ext uri="{FF2B5EF4-FFF2-40B4-BE49-F238E27FC236}">
                <a16:creationId xmlns:a16="http://schemas.microsoft.com/office/drawing/2014/main" id="{A0EC3749-799A-474F-A2EA-03CBA1425C3A}"/>
              </a:ext>
            </a:extLst>
          </p:cNvPr>
          <p:cNvSpPr/>
          <p:nvPr/>
        </p:nvSpPr>
        <p:spPr>
          <a:xfrm>
            <a:off x="6966628" y="5600194"/>
            <a:ext cx="4484451" cy="68711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4. In the Activity, call the View from the corresponding layout XML</a:t>
            </a:r>
          </a:p>
        </p:txBody>
      </p:sp>
      <p:pic>
        <p:nvPicPr>
          <p:cNvPr id="9" name="Picture 8">
            <a:extLst>
              <a:ext uri="{FF2B5EF4-FFF2-40B4-BE49-F238E27FC236}">
                <a16:creationId xmlns:a16="http://schemas.microsoft.com/office/drawing/2014/main" id="{F43C7D13-E38B-46E9-8C79-C3547BDDAFED}"/>
              </a:ext>
            </a:extLst>
          </p:cNvPr>
          <p:cNvPicPr>
            <a:picLocks noChangeAspect="1"/>
          </p:cNvPicPr>
          <p:nvPr/>
        </p:nvPicPr>
        <p:blipFill>
          <a:blip r:embed="rId2"/>
          <a:stretch>
            <a:fillRect/>
          </a:stretch>
        </p:blipFill>
        <p:spPr>
          <a:xfrm>
            <a:off x="669587" y="4336105"/>
            <a:ext cx="5966298" cy="1765570"/>
          </a:xfrm>
          <a:prstGeom prst="rect">
            <a:avLst/>
          </a:prstGeom>
        </p:spPr>
      </p:pic>
      <p:sp>
        <p:nvSpPr>
          <p:cNvPr id="10" name="Rectangle 9">
            <a:extLst>
              <a:ext uri="{FF2B5EF4-FFF2-40B4-BE49-F238E27FC236}">
                <a16:creationId xmlns:a16="http://schemas.microsoft.com/office/drawing/2014/main" id="{33A62B1A-625C-47CC-8407-EE5472036055}"/>
              </a:ext>
            </a:extLst>
          </p:cNvPr>
          <p:cNvSpPr/>
          <p:nvPr/>
        </p:nvSpPr>
        <p:spPr>
          <a:xfrm>
            <a:off x="1391055" y="5209162"/>
            <a:ext cx="3959158" cy="3034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Rectangle 10">
            <a:extLst>
              <a:ext uri="{FF2B5EF4-FFF2-40B4-BE49-F238E27FC236}">
                <a16:creationId xmlns:a16="http://schemas.microsoft.com/office/drawing/2014/main" id="{6766AF2E-75E8-408E-AC14-31B37F7AC98C}"/>
              </a:ext>
            </a:extLst>
          </p:cNvPr>
          <p:cNvSpPr/>
          <p:nvPr/>
        </p:nvSpPr>
        <p:spPr>
          <a:xfrm>
            <a:off x="1391054" y="5798195"/>
            <a:ext cx="5165387" cy="3034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cxnSp>
        <p:nvCxnSpPr>
          <p:cNvPr id="13" name="Straight Arrow Connector 12">
            <a:extLst>
              <a:ext uri="{FF2B5EF4-FFF2-40B4-BE49-F238E27FC236}">
                <a16:creationId xmlns:a16="http://schemas.microsoft.com/office/drawing/2014/main" id="{062DED30-0593-4F87-8E31-D697FE62BACA}"/>
              </a:ext>
            </a:extLst>
          </p:cNvPr>
          <p:cNvCxnSpPr>
            <a:cxnSpLocks/>
            <a:stCxn id="10" idx="3"/>
            <a:endCxn id="3" idx="1"/>
          </p:cNvCxnSpPr>
          <p:nvPr/>
        </p:nvCxnSpPr>
        <p:spPr>
          <a:xfrm flipV="1">
            <a:off x="5350213" y="4900309"/>
            <a:ext cx="1616412" cy="46059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066FA13D-4221-4E64-A0DC-23A438748BA5}"/>
              </a:ext>
            </a:extLst>
          </p:cNvPr>
          <p:cNvCxnSpPr>
            <a:cxnSpLocks/>
            <a:stCxn id="11" idx="3"/>
            <a:endCxn id="4" idx="1"/>
          </p:cNvCxnSpPr>
          <p:nvPr/>
        </p:nvCxnSpPr>
        <p:spPr>
          <a:xfrm flipV="1">
            <a:off x="6556441" y="5943753"/>
            <a:ext cx="410187" cy="618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pic>
        <p:nvPicPr>
          <p:cNvPr id="21" name="Picture 20">
            <a:extLst>
              <a:ext uri="{FF2B5EF4-FFF2-40B4-BE49-F238E27FC236}">
                <a16:creationId xmlns:a16="http://schemas.microsoft.com/office/drawing/2014/main" id="{D78D8880-C8AD-44BC-BFBF-E8163EC082A9}"/>
              </a:ext>
            </a:extLst>
          </p:cNvPr>
          <p:cNvPicPr>
            <a:picLocks noChangeAspect="1"/>
          </p:cNvPicPr>
          <p:nvPr/>
        </p:nvPicPr>
        <p:blipFill>
          <a:blip r:embed="rId3"/>
          <a:stretch>
            <a:fillRect/>
          </a:stretch>
        </p:blipFill>
        <p:spPr>
          <a:xfrm>
            <a:off x="1050586" y="2695133"/>
            <a:ext cx="4778154" cy="1036410"/>
          </a:xfrm>
          <a:prstGeom prst="rect">
            <a:avLst/>
          </a:prstGeom>
        </p:spPr>
      </p:pic>
      <p:sp>
        <p:nvSpPr>
          <p:cNvPr id="22" name="Rectangle 21">
            <a:extLst>
              <a:ext uri="{FF2B5EF4-FFF2-40B4-BE49-F238E27FC236}">
                <a16:creationId xmlns:a16="http://schemas.microsoft.com/office/drawing/2014/main" id="{9C5AE52F-3D21-442F-BB2F-0235FD94DA90}"/>
              </a:ext>
            </a:extLst>
          </p:cNvPr>
          <p:cNvSpPr/>
          <p:nvPr/>
        </p:nvSpPr>
        <p:spPr>
          <a:xfrm>
            <a:off x="1197438" y="1860996"/>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1. Declare strings in strings.xml</a:t>
            </a:r>
          </a:p>
        </p:txBody>
      </p:sp>
      <p:sp>
        <p:nvSpPr>
          <p:cNvPr id="23" name="Rectangle 22">
            <a:extLst>
              <a:ext uri="{FF2B5EF4-FFF2-40B4-BE49-F238E27FC236}">
                <a16:creationId xmlns:a16="http://schemas.microsoft.com/office/drawing/2014/main" id="{9F0E843B-B07D-4087-991A-A9A1A46B7638}"/>
              </a:ext>
            </a:extLst>
          </p:cNvPr>
          <p:cNvSpPr/>
          <p:nvPr/>
        </p:nvSpPr>
        <p:spPr>
          <a:xfrm>
            <a:off x="7268184" y="1511010"/>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2. In the layout XML, call the declared string</a:t>
            </a:r>
          </a:p>
        </p:txBody>
      </p:sp>
      <p:pic>
        <p:nvPicPr>
          <p:cNvPr id="25" name="Picture 24">
            <a:extLst>
              <a:ext uri="{FF2B5EF4-FFF2-40B4-BE49-F238E27FC236}">
                <a16:creationId xmlns:a16="http://schemas.microsoft.com/office/drawing/2014/main" id="{66E04B80-D5B9-4C79-A0F6-92FD0D7FC358}"/>
              </a:ext>
            </a:extLst>
          </p:cNvPr>
          <p:cNvPicPr>
            <a:picLocks noChangeAspect="1"/>
          </p:cNvPicPr>
          <p:nvPr/>
        </p:nvPicPr>
        <p:blipFill>
          <a:blip r:embed="rId4"/>
          <a:stretch>
            <a:fillRect/>
          </a:stretch>
        </p:blipFill>
        <p:spPr>
          <a:xfrm>
            <a:off x="7268184" y="2247181"/>
            <a:ext cx="4549534" cy="1981372"/>
          </a:xfrm>
          <a:prstGeom prst="rect">
            <a:avLst/>
          </a:prstGeom>
        </p:spPr>
      </p:pic>
      <p:sp>
        <p:nvSpPr>
          <p:cNvPr id="26" name="Rectangle 25">
            <a:extLst>
              <a:ext uri="{FF2B5EF4-FFF2-40B4-BE49-F238E27FC236}">
                <a16:creationId xmlns:a16="http://schemas.microsoft.com/office/drawing/2014/main" id="{BC7EADD3-6428-4008-80C2-EA602E95976A}"/>
              </a:ext>
            </a:extLst>
          </p:cNvPr>
          <p:cNvSpPr/>
          <p:nvPr/>
        </p:nvSpPr>
        <p:spPr>
          <a:xfrm>
            <a:off x="1313233" y="3094160"/>
            <a:ext cx="2655651" cy="203114"/>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7" name="Rectangle 26">
            <a:extLst>
              <a:ext uri="{FF2B5EF4-FFF2-40B4-BE49-F238E27FC236}">
                <a16:creationId xmlns:a16="http://schemas.microsoft.com/office/drawing/2014/main" id="{61900D0C-E657-484D-A1AF-8E967B4DD50D}"/>
              </a:ext>
            </a:extLst>
          </p:cNvPr>
          <p:cNvSpPr/>
          <p:nvPr/>
        </p:nvSpPr>
        <p:spPr>
          <a:xfrm>
            <a:off x="7613517" y="3344720"/>
            <a:ext cx="2182238" cy="22533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cxnSp>
        <p:nvCxnSpPr>
          <p:cNvPr id="28" name="Straight Arrow Connector 27">
            <a:extLst>
              <a:ext uri="{FF2B5EF4-FFF2-40B4-BE49-F238E27FC236}">
                <a16:creationId xmlns:a16="http://schemas.microsoft.com/office/drawing/2014/main" id="{3788D2F7-88D0-4DA4-AB13-CD491C0EDDEE}"/>
              </a:ext>
            </a:extLst>
          </p:cNvPr>
          <p:cNvCxnSpPr>
            <a:cxnSpLocks/>
            <a:stCxn id="22" idx="2"/>
            <a:endCxn id="26" idx="0"/>
          </p:cNvCxnSpPr>
          <p:nvPr/>
        </p:nvCxnSpPr>
        <p:spPr>
          <a:xfrm flipH="1">
            <a:off x="2641059" y="2391153"/>
            <a:ext cx="798605" cy="703007"/>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E2212091-B792-4B1F-8EE4-4CDD11144090}"/>
              </a:ext>
            </a:extLst>
          </p:cNvPr>
          <p:cNvCxnSpPr>
            <a:cxnSpLocks/>
            <a:stCxn id="23" idx="2"/>
            <a:endCxn id="27" idx="0"/>
          </p:cNvCxnSpPr>
          <p:nvPr/>
        </p:nvCxnSpPr>
        <p:spPr>
          <a:xfrm flipH="1">
            <a:off x="8704636" y="2041167"/>
            <a:ext cx="805774" cy="130355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E5EF8051-0921-4FCD-9356-D1B9E0D914C1}"/>
              </a:ext>
            </a:extLst>
          </p:cNvPr>
          <p:cNvSpPr txBox="1"/>
          <p:nvPr/>
        </p:nvSpPr>
        <p:spPr>
          <a:xfrm>
            <a:off x="840236" y="2479148"/>
            <a:ext cx="861005" cy="276999"/>
          </a:xfrm>
          <a:prstGeom prst="rect">
            <a:avLst/>
          </a:prstGeom>
          <a:solidFill>
            <a:schemeClr val="accent4"/>
          </a:solidFill>
        </p:spPr>
        <p:txBody>
          <a:bodyPr wrap="none" rtlCol="0">
            <a:spAutoFit/>
          </a:bodyPr>
          <a:lstStyle/>
          <a:p>
            <a:r>
              <a:rPr lang="en-SG" sz="1200" dirty="0"/>
              <a:t>strings.xml</a:t>
            </a:r>
          </a:p>
        </p:txBody>
      </p:sp>
      <p:sp>
        <p:nvSpPr>
          <p:cNvPr id="38" name="TextBox 37">
            <a:extLst>
              <a:ext uri="{FF2B5EF4-FFF2-40B4-BE49-F238E27FC236}">
                <a16:creationId xmlns:a16="http://schemas.microsoft.com/office/drawing/2014/main" id="{07606D6B-E52A-471E-9949-0CB2F2D2D17C}"/>
              </a:ext>
            </a:extLst>
          </p:cNvPr>
          <p:cNvSpPr txBox="1"/>
          <p:nvPr/>
        </p:nvSpPr>
        <p:spPr>
          <a:xfrm>
            <a:off x="6879166" y="2095441"/>
            <a:ext cx="1305165" cy="276999"/>
          </a:xfrm>
          <a:prstGeom prst="rect">
            <a:avLst/>
          </a:prstGeom>
          <a:solidFill>
            <a:schemeClr val="accent4"/>
          </a:solidFill>
        </p:spPr>
        <p:txBody>
          <a:bodyPr wrap="none" rtlCol="0">
            <a:spAutoFit/>
          </a:bodyPr>
          <a:lstStyle/>
          <a:p>
            <a:r>
              <a:rPr lang="en-SG" sz="1200" dirty="0"/>
              <a:t>activity_main.xml</a:t>
            </a:r>
          </a:p>
        </p:txBody>
      </p:sp>
      <p:sp>
        <p:nvSpPr>
          <p:cNvPr id="39" name="TextBox 38">
            <a:extLst>
              <a:ext uri="{FF2B5EF4-FFF2-40B4-BE49-F238E27FC236}">
                <a16:creationId xmlns:a16="http://schemas.microsoft.com/office/drawing/2014/main" id="{222D721B-6C68-48BB-AD1E-167B5E7E182F}"/>
              </a:ext>
            </a:extLst>
          </p:cNvPr>
          <p:cNvSpPr txBox="1"/>
          <p:nvPr/>
        </p:nvSpPr>
        <p:spPr>
          <a:xfrm>
            <a:off x="398003" y="4148558"/>
            <a:ext cx="1121141" cy="276999"/>
          </a:xfrm>
          <a:prstGeom prst="rect">
            <a:avLst/>
          </a:prstGeom>
          <a:solidFill>
            <a:schemeClr val="accent4"/>
          </a:solidFill>
        </p:spPr>
        <p:txBody>
          <a:bodyPr wrap="none" rtlCol="0">
            <a:spAutoFit/>
          </a:bodyPr>
          <a:lstStyle/>
          <a:p>
            <a:r>
              <a:rPr lang="en-SG" sz="1200" dirty="0" err="1"/>
              <a:t>MainActivity.kt</a:t>
            </a:r>
            <a:endParaRPr lang="en-SG" sz="1200" dirty="0"/>
          </a:p>
        </p:txBody>
      </p:sp>
    </p:spTree>
    <p:extLst>
      <p:ext uri="{BB962C8B-B14F-4D97-AF65-F5344CB8AC3E}">
        <p14:creationId xmlns:p14="http://schemas.microsoft.com/office/powerpoint/2010/main" val="337017401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6068C2A2-500D-418A-83BE-E1970D1C3FC2}"/>
              </a:ext>
            </a:extLst>
          </p:cNvPr>
          <p:cNvPicPr>
            <a:picLocks noChangeAspect="1"/>
          </p:cNvPicPr>
          <p:nvPr/>
        </p:nvPicPr>
        <p:blipFill>
          <a:blip r:embed="rId2"/>
          <a:stretch>
            <a:fillRect/>
          </a:stretch>
        </p:blipFill>
        <p:spPr>
          <a:xfrm>
            <a:off x="990158" y="4933963"/>
            <a:ext cx="5105842" cy="1158340"/>
          </a:xfrm>
          <a:prstGeom prst="rect">
            <a:avLst/>
          </a:prstGeom>
        </p:spPr>
      </p:pic>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Display Flow #1</a:t>
            </a:r>
          </a:p>
        </p:txBody>
      </p:sp>
      <p:pic>
        <p:nvPicPr>
          <p:cNvPr id="6" name="Picture 5">
            <a:extLst>
              <a:ext uri="{FF2B5EF4-FFF2-40B4-BE49-F238E27FC236}">
                <a16:creationId xmlns:a16="http://schemas.microsoft.com/office/drawing/2014/main" id="{2D078DA2-4AA6-4336-9C3C-B20F2B8C7E8E}"/>
              </a:ext>
            </a:extLst>
          </p:cNvPr>
          <p:cNvPicPr>
            <a:picLocks noChangeAspect="1"/>
          </p:cNvPicPr>
          <p:nvPr/>
        </p:nvPicPr>
        <p:blipFill>
          <a:blip r:embed="rId3"/>
          <a:stretch>
            <a:fillRect/>
          </a:stretch>
        </p:blipFill>
        <p:spPr>
          <a:xfrm>
            <a:off x="838199" y="2026786"/>
            <a:ext cx="5883613" cy="1340009"/>
          </a:xfrm>
          <a:prstGeom prst="rect">
            <a:avLst/>
          </a:prstGeom>
        </p:spPr>
      </p:pic>
      <p:sp>
        <p:nvSpPr>
          <p:cNvPr id="24" name="Rectangle 23">
            <a:extLst>
              <a:ext uri="{FF2B5EF4-FFF2-40B4-BE49-F238E27FC236}">
                <a16:creationId xmlns:a16="http://schemas.microsoft.com/office/drawing/2014/main" id="{07AA8566-6980-4F7F-9223-F619DC28F903}"/>
              </a:ext>
            </a:extLst>
          </p:cNvPr>
          <p:cNvSpPr/>
          <p:nvPr/>
        </p:nvSpPr>
        <p:spPr>
          <a:xfrm>
            <a:off x="1196501" y="2493675"/>
            <a:ext cx="2519465" cy="21061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9" name="Rectangle 28">
            <a:extLst>
              <a:ext uri="{FF2B5EF4-FFF2-40B4-BE49-F238E27FC236}">
                <a16:creationId xmlns:a16="http://schemas.microsoft.com/office/drawing/2014/main" id="{0C0C11C8-532B-4C5A-BEE8-18DDB9B68FD8}"/>
              </a:ext>
            </a:extLst>
          </p:cNvPr>
          <p:cNvSpPr/>
          <p:nvPr/>
        </p:nvSpPr>
        <p:spPr>
          <a:xfrm>
            <a:off x="1196501" y="2696790"/>
            <a:ext cx="5525311" cy="21061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30" name="Rectangle 29">
            <a:extLst>
              <a:ext uri="{FF2B5EF4-FFF2-40B4-BE49-F238E27FC236}">
                <a16:creationId xmlns:a16="http://schemas.microsoft.com/office/drawing/2014/main" id="{716C606B-90A7-4A36-BA97-E57A2DB0D5BA}"/>
              </a:ext>
            </a:extLst>
          </p:cNvPr>
          <p:cNvSpPr/>
          <p:nvPr/>
        </p:nvSpPr>
        <p:spPr>
          <a:xfrm>
            <a:off x="1196500" y="2926486"/>
            <a:ext cx="3891066" cy="244689"/>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32" name="Rectangle 31">
            <a:extLst>
              <a:ext uri="{FF2B5EF4-FFF2-40B4-BE49-F238E27FC236}">
                <a16:creationId xmlns:a16="http://schemas.microsoft.com/office/drawing/2014/main" id="{6590E27C-81E2-4ACC-A0BF-A1D8F8914DE6}"/>
              </a:ext>
            </a:extLst>
          </p:cNvPr>
          <p:cNvSpPr/>
          <p:nvPr/>
        </p:nvSpPr>
        <p:spPr>
          <a:xfrm>
            <a:off x="6966623" y="3366795"/>
            <a:ext cx="4484451" cy="87366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3. 2 ways to set text of </a:t>
            </a:r>
            <a:r>
              <a:rPr lang="en-SG" sz="1600" dirty="0" err="1"/>
              <a:t>TextView</a:t>
            </a:r>
            <a:r>
              <a:rPr lang="en-SG" sz="1600" dirty="0"/>
              <a:t>, either pass the string directly into .text property, or set the text by passing the string resource ID into .</a:t>
            </a:r>
            <a:r>
              <a:rPr lang="en-SG" sz="1600" dirty="0" err="1"/>
              <a:t>setText</a:t>
            </a:r>
            <a:r>
              <a:rPr lang="en-SG" sz="1600" dirty="0"/>
              <a:t> method</a:t>
            </a:r>
          </a:p>
        </p:txBody>
      </p:sp>
      <p:sp>
        <p:nvSpPr>
          <p:cNvPr id="33" name="Rectangle 32">
            <a:extLst>
              <a:ext uri="{FF2B5EF4-FFF2-40B4-BE49-F238E27FC236}">
                <a16:creationId xmlns:a16="http://schemas.microsoft.com/office/drawing/2014/main" id="{4A2C861A-2CB1-4AB7-AF95-802A1D3C604C}"/>
              </a:ext>
            </a:extLst>
          </p:cNvPr>
          <p:cNvSpPr/>
          <p:nvPr/>
        </p:nvSpPr>
        <p:spPr>
          <a:xfrm>
            <a:off x="6966624" y="1515234"/>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1. If you are updating a </a:t>
            </a:r>
            <a:r>
              <a:rPr lang="en-SG" sz="1600" dirty="0" err="1"/>
              <a:t>TextView</a:t>
            </a:r>
            <a:r>
              <a:rPr lang="en-SG" sz="1600" dirty="0"/>
              <a:t> in the Activity,</a:t>
            </a:r>
          </a:p>
        </p:txBody>
      </p:sp>
      <p:sp>
        <p:nvSpPr>
          <p:cNvPr id="34" name="Rectangle 33">
            <a:extLst>
              <a:ext uri="{FF2B5EF4-FFF2-40B4-BE49-F238E27FC236}">
                <a16:creationId xmlns:a16="http://schemas.microsoft.com/office/drawing/2014/main" id="{6055FBA9-23F3-485B-948B-D2F92316C6BD}"/>
              </a:ext>
            </a:extLst>
          </p:cNvPr>
          <p:cNvSpPr/>
          <p:nvPr/>
        </p:nvSpPr>
        <p:spPr>
          <a:xfrm>
            <a:off x="6966623" y="2441014"/>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2. Probably use a value from a variable,</a:t>
            </a:r>
          </a:p>
        </p:txBody>
      </p:sp>
      <p:sp>
        <p:nvSpPr>
          <p:cNvPr id="35" name="Rectangle 34">
            <a:extLst>
              <a:ext uri="{FF2B5EF4-FFF2-40B4-BE49-F238E27FC236}">
                <a16:creationId xmlns:a16="http://schemas.microsoft.com/office/drawing/2014/main" id="{F200B97B-FAF8-4F7B-89DF-DDB13CFF2F5D}"/>
              </a:ext>
            </a:extLst>
          </p:cNvPr>
          <p:cNvSpPr/>
          <p:nvPr/>
        </p:nvSpPr>
        <p:spPr>
          <a:xfrm>
            <a:off x="6429983" y="5248054"/>
            <a:ext cx="5089185"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342900" indent="-342900" algn="ctr">
              <a:buAutoNum type="arabicPeriod"/>
            </a:pPr>
            <a:r>
              <a:rPr lang="en-SG" sz="1600" dirty="0"/>
              <a:t>To set an image in the Activity, call the drawable</a:t>
            </a:r>
          </a:p>
          <a:p>
            <a:pPr algn="ctr"/>
            <a:r>
              <a:rPr lang="en-SG" sz="1600" dirty="0"/>
              <a:t>i.e. if there is a dice_2.png, call </a:t>
            </a:r>
            <a:r>
              <a:rPr lang="en-SG" sz="1600" dirty="0">
                <a:latin typeface="Lucida Console" panose="020B0609040504020204" pitchFamily="49" charset="0"/>
              </a:rPr>
              <a:t>R.drawable.dice_2</a:t>
            </a:r>
          </a:p>
        </p:txBody>
      </p:sp>
      <p:sp>
        <p:nvSpPr>
          <p:cNvPr id="36" name="TextBox 35">
            <a:extLst>
              <a:ext uri="{FF2B5EF4-FFF2-40B4-BE49-F238E27FC236}">
                <a16:creationId xmlns:a16="http://schemas.microsoft.com/office/drawing/2014/main" id="{2EB6C195-404A-4692-80BA-9C13A2B36ADB}"/>
              </a:ext>
            </a:extLst>
          </p:cNvPr>
          <p:cNvSpPr txBox="1"/>
          <p:nvPr/>
        </p:nvSpPr>
        <p:spPr>
          <a:xfrm>
            <a:off x="740925" y="1774388"/>
            <a:ext cx="1121141" cy="276999"/>
          </a:xfrm>
          <a:prstGeom prst="rect">
            <a:avLst/>
          </a:prstGeom>
          <a:solidFill>
            <a:schemeClr val="accent4"/>
          </a:solidFill>
        </p:spPr>
        <p:txBody>
          <a:bodyPr wrap="none" rtlCol="0">
            <a:spAutoFit/>
          </a:bodyPr>
          <a:lstStyle/>
          <a:p>
            <a:r>
              <a:rPr lang="en-SG" sz="1200" dirty="0" err="1"/>
              <a:t>MainActivity.kt</a:t>
            </a:r>
            <a:endParaRPr lang="en-SG" sz="1200" dirty="0"/>
          </a:p>
        </p:txBody>
      </p:sp>
      <p:sp>
        <p:nvSpPr>
          <p:cNvPr id="40" name="TextBox 39">
            <a:extLst>
              <a:ext uri="{FF2B5EF4-FFF2-40B4-BE49-F238E27FC236}">
                <a16:creationId xmlns:a16="http://schemas.microsoft.com/office/drawing/2014/main" id="{9105CD62-5B61-411F-A88D-9F1A2A33C5E9}"/>
              </a:ext>
            </a:extLst>
          </p:cNvPr>
          <p:cNvSpPr txBox="1"/>
          <p:nvPr/>
        </p:nvSpPr>
        <p:spPr>
          <a:xfrm>
            <a:off x="740924" y="4657119"/>
            <a:ext cx="1121141" cy="276999"/>
          </a:xfrm>
          <a:prstGeom prst="rect">
            <a:avLst/>
          </a:prstGeom>
          <a:solidFill>
            <a:schemeClr val="accent4"/>
          </a:solidFill>
        </p:spPr>
        <p:txBody>
          <a:bodyPr wrap="none" rtlCol="0">
            <a:spAutoFit/>
          </a:bodyPr>
          <a:lstStyle/>
          <a:p>
            <a:r>
              <a:rPr lang="en-SG" sz="1200" dirty="0" err="1"/>
              <a:t>MainActivity.kt</a:t>
            </a:r>
            <a:endParaRPr lang="en-SG" sz="1200" dirty="0"/>
          </a:p>
        </p:txBody>
      </p:sp>
      <p:sp>
        <p:nvSpPr>
          <p:cNvPr id="41" name="Rectangle 40">
            <a:extLst>
              <a:ext uri="{FF2B5EF4-FFF2-40B4-BE49-F238E27FC236}">
                <a16:creationId xmlns:a16="http://schemas.microsoft.com/office/drawing/2014/main" id="{A8C512CD-C720-454D-B7DD-B784D53ECE4A}"/>
              </a:ext>
            </a:extLst>
          </p:cNvPr>
          <p:cNvSpPr/>
          <p:nvPr/>
        </p:nvSpPr>
        <p:spPr>
          <a:xfrm>
            <a:off x="1301494" y="5708383"/>
            <a:ext cx="3698523" cy="157396"/>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42" name="Rectangle 41">
            <a:extLst>
              <a:ext uri="{FF2B5EF4-FFF2-40B4-BE49-F238E27FC236}">
                <a16:creationId xmlns:a16="http://schemas.microsoft.com/office/drawing/2014/main" id="{90F4FB01-8445-49C7-9CCB-98ACFD9A9E21}"/>
              </a:ext>
            </a:extLst>
          </p:cNvPr>
          <p:cNvSpPr/>
          <p:nvPr/>
        </p:nvSpPr>
        <p:spPr>
          <a:xfrm>
            <a:off x="1301495" y="5526547"/>
            <a:ext cx="4457280" cy="157396"/>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pic>
        <p:nvPicPr>
          <p:cNvPr id="9" name="Picture 8">
            <a:extLst>
              <a:ext uri="{FF2B5EF4-FFF2-40B4-BE49-F238E27FC236}">
                <a16:creationId xmlns:a16="http://schemas.microsoft.com/office/drawing/2014/main" id="{B16F6DFA-CF46-4AEB-BE0C-A6CC34C53E71}"/>
              </a:ext>
            </a:extLst>
          </p:cNvPr>
          <p:cNvPicPr>
            <a:picLocks noChangeAspect="1"/>
          </p:cNvPicPr>
          <p:nvPr/>
        </p:nvPicPr>
        <p:blipFill>
          <a:blip r:embed="rId4"/>
          <a:stretch>
            <a:fillRect/>
          </a:stretch>
        </p:blipFill>
        <p:spPr>
          <a:xfrm>
            <a:off x="1110575" y="3652106"/>
            <a:ext cx="4839119" cy="472481"/>
          </a:xfrm>
          <a:prstGeom prst="rect">
            <a:avLst/>
          </a:prstGeom>
        </p:spPr>
      </p:pic>
    </p:spTree>
    <p:extLst>
      <p:ext uri="{BB962C8B-B14F-4D97-AF65-F5344CB8AC3E}">
        <p14:creationId xmlns:p14="http://schemas.microsoft.com/office/powerpoint/2010/main" val="138693329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EDAE7F-9CD2-49C7-A5BF-876EA531D0FE}"/>
              </a:ext>
            </a:extLst>
          </p:cNvPr>
          <p:cNvSpPr>
            <a:spLocks noGrp="1"/>
          </p:cNvSpPr>
          <p:nvPr>
            <p:ph type="title"/>
          </p:nvPr>
        </p:nvSpPr>
        <p:spPr/>
        <p:txBody>
          <a:bodyPr/>
          <a:lstStyle/>
          <a:p>
            <a:r>
              <a:rPr lang="en-SG" dirty="0"/>
              <a:t>Display Flow #2: View Binding</a:t>
            </a:r>
          </a:p>
        </p:txBody>
      </p:sp>
      <p:sp>
        <p:nvSpPr>
          <p:cNvPr id="3" name="Content Placeholder 2">
            <a:extLst>
              <a:ext uri="{FF2B5EF4-FFF2-40B4-BE49-F238E27FC236}">
                <a16:creationId xmlns:a16="http://schemas.microsoft.com/office/drawing/2014/main" id="{BBBB0B4A-3172-4FAF-9A64-E1090293992B}"/>
              </a:ext>
            </a:extLst>
          </p:cNvPr>
          <p:cNvSpPr>
            <a:spLocks noGrp="1"/>
          </p:cNvSpPr>
          <p:nvPr>
            <p:ph idx="1"/>
          </p:nvPr>
        </p:nvSpPr>
        <p:spPr>
          <a:xfrm>
            <a:off x="838200" y="1825625"/>
            <a:ext cx="7157936" cy="4351338"/>
          </a:xfrm>
        </p:spPr>
        <p:txBody>
          <a:bodyPr>
            <a:normAutofit/>
          </a:bodyPr>
          <a:lstStyle/>
          <a:p>
            <a:pPr marL="457200" indent="-457200">
              <a:buAutoNum type="arabicPeriod"/>
            </a:pPr>
            <a:r>
              <a:rPr lang="en-US" sz="2000" dirty="0"/>
              <a:t>Need to enable view binding for your app in Gradle (module </a:t>
            </a:r>
            <a:r>
              <a:rPr lang="en-US" sz="2000" dirty="0" err="1"/>
              <a:t>build.gradle</a:t>
            </a:r>
            <a:r>
              <a:rPr lang="en-US" sz="2000" dirty="0"/>
              <a:t>) and sync.</a:t>
            </a:r>
            <a:endParaRPr lang="en-SG" sz="2000" dirty="0"/>
          </a:p>
          <a:p>
            <a:pPr marL="457200" indent="-457200">
              <a:buAutoNum type="arabicPeriod"/>
            </a:pPr>
            <a:r>
              <a:rPr lang="en-US" sz="2000" dirty="0"/>
              <a:t>Instead of calling </a:t>
            </a:r>
            <a:r>
              <a:rPr lang="en-US" sz="2000" dirty="0" err="1">
                <a:latin typeface="Lucida Console" panose="020B0609040504020204" pitchFamily="49" charset="0"/>
              </a:rPr>
              <a:t>findViewById</a:t>
            </a:r>
            <a:r>
              <a:rPr lang="en-US" sz="2000" dirty="0">
                <a:latin typeface="Lucida Console" panose="020B0609040504020204" pitchFamily="49" charset="0"/>
              </a:rPr>
              <a:t>()</a:t>
            </a:r>
            <a:r>
              <a:rPr lang="en-US" sz="2000" dirty="0"/>
              <a:t> for each </a:t>
            </a:r>
            <a:r>
              <a:rPr lang="en-US" sz="2000" dirty="0">
                <a:latin typeface="Lucida Console" panose="020B0609040504020204" pitchFamily="49" charset="0"/>
              </a:rPr>
              <a:t>View</a:t>
            </a:r>
            <a:r>
              <a:rPr lang="en-US" sz="2000" dirty="0"/>
              <a:t> in your app, you'll create and initialize a binding object once in the</a:t>
            </a:r>
            <a:r>
              <a:rPr lang="en-SG" sz="2000" dirty="0"/>
              <a:t> Activity.</a:t>
            </a:r>
          </a:p>
        </p:txBody>
      </p:sp>
      <p:pic>
        <p:nvPicPr>
          <p:cNvPr id="5" name="Picture 4">
            <a:extLst>
              <a:ext uri="{FF2B5EF4-FFF2-40B4-BE49-F238E27FC236}">
                <a16:creationId xmlns:a16="http://schemas.microsoft.com/office/drawing/2014/main" id="{57580692-2199-4A8E-9C74-43780982E850}"/>
              </a:ext>
            </a:extLst>
          </p:cNvPr>
          <p:cNvPicPr>
            <a:picLocks noChangeAspect="1"/>
          </p:cNvPicPr>
          <p:nvPr/>
        </p:nvPicPr>
        <p:blipFill>
          <a:blip r:embed="rId2"/>
          <a:stretch>
            <a:fillRect/>
          </a:stretch>
        </p:blipFill>
        <p:spPr>
          <a:xfrm>
            <a:off x="8595309" y="365125"/>
            <a:ext cx="3055885" cy="2834886"/>
          </a:xfrm>
          <a:prstGeom prst="rect">
            <a:avLst/>
          </a:prstGeom>
        </p:spPr>
      </p:pic>
      <p:pic>
        <p:nvPicPr>
          <p:cNvPr id="7" name="Picture 6">
            <a:extLst>
              <a:ext uri="{FF2B5EF4-FFF2-40B4-BE49-F238E27FC236}">
                <a16:creationId xmlns:a16="http://schemas.microsoft.com/office/drawing/2014/main" id="{329C64E1-8CBD-45A2-839F-D93F43633F08}"/>
              </a:ext>
            </a:extLst>
          </p:cNvPr>
          <p:cNvPicPr>
            <a:picLocks noChangeAspect="1"/>
          </p:cNvPicPr>
          <p:nvPr/>
        </p:nvPicPr>
        <p:blipFill>
          <a:blip r:embed="rId3"/>
          <a:stretch>
            <a:fillRect/>
          </a:stretch>
        </p:blipFill>
        <p:spPr>
          <a:xfrm>
            <a:off x="3360901" y="3339970"/>
            <a:ext cx="4761694" cy="3392152"/>
          </a:xfrm>
          <a:prstGeom prst="rect">
            <a:avLst/>
          </a:prstGeom>
        </p:spPr>
      </p:pic>
    </p:spTree>
    <p:extLst>
      <p:ext uri="{BB962C8B-B14F-4D97-AF65-F5344CB8AC3E}">
        <p14:creationId xmlns:p14="http://schemas.microsoft.com/office/powerpoint/2010/main" val="390538756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EDAE7F-9CD2-49C7-A5BF-876EA531D0FE}"/>
              </a:ext>
            </a:extLst>
          </p:cNvPr>
          <p:cNvSpPr>
            <a:spLocks noGrp="1"/>
          </p:cNvSpPr>
          <p:nvPr>
            <p:ph type="title"/>
          </p:nvPr>
        </p:nvSpPr>
        <p:spPr/>
        <p:txBody>
          <a:bodyPr/>
          <a:lstStyle/>
          <a:p>
            <a:r>
              <a:rPr lang="en-SG" dirty="0"/>
              <a:t>Display Flow #2: View Binding</a:t>
            </a:r>
          </a:p>
        </p:txBody>
      </p:sp>
      <p:sp>
        <p:nvSpPr>
          <p:cNvPr id="3" name="Content Placeholder 2">
            <a:extLst>
              <a:ext uri="{FF2B5EF4-FFF2-40B4-BE49-F238E27FC236}">
                <a16:creationId xmlns:a16="http://schemas.microsoft.com/office/drawing/2014/main" id="{BBBB0B4A-3172-4FAF-9A64-E1090293992B}"/>
              </a:ext>
            </a:extLst>
          </p:cNvPr>
          <p:cNvSpPr>
            <a:spLocks noGrp="1"/>
          </p:cNvSpPr>
          <p:nvPr>
            <p:ph idx="1"/>
          </p:nvPr>
        </p:nvSpPr>
        <p:spPr>
          <a:xfrm>
            <a:off x="838200" y="1825624"/>
            <a:ext cx="10251332" cy="3981789"/>
          </a:xfrm>
        </p:spPr>
        <p:txBody>
          <a:bodyPr>
            <a:normAutofit lnSpcReduction="10000"/>
          </a:bodyPr>
          <a:lstStyle/>
          <a:p>
            <a:pPr marL="0" indent="0">
              <a:buNone/>
            </a:pPr>
            <a:r>
              <a:rPr lang="en-SG" sz="2000" u="sng" dirty="0"/>
              <a:t>Without View Binding</a:t>
            </a:r>
          </a:p>
          <a:p>
            <a:pPr marL="0" indent="0">
              <a:buNone/>
            </a:pPr>
            <a:r>
              <a:rPr lang="en-SG" sz="2000" dirty="0"/>
              <a:t>	</a:t>
            </a:r>
            <a:r>
              <a:rPr lang="en-SG" sz="1800" dirty="0" err="1">
                <a:latin typeface="Lucida Console" panose="020B0609040504020204" pitchFamily="49" charset="0"/>
              </a:rPr>
              <a:t>val</a:t>
            </a:r>
            <a:r>
              <a:rPr lang="en-SG" sz="1800" dirty="0">
                <a:latin typeface="Lucida Console" panose="020B0609040504020204" pitchFamily="49" charset="0"/>
              </a:rPr>
              <a:t> action: Button = </a:t>
            </a:r>
            <a:r>
              <a:rPr lang="en-SG" sz="1800" dirty="0" err="1">
                <a:latin typeface="Lucida Console" panose="020B0609040504020204" pitchFamily="49" charset="0"/>
              </a:rPr>
              <a:t>findViewById</a:t>
            </a:r>
            <a:r>
              <a:rPr lang="en-SG" sz="1800" dirty="0">
                <a:latin typeface="Lucida Console" panose="020B0609040504020204" pitchFamily="49" charset="0"/>
              </a:rPr>
              <a:t>(</a:t>
            </a:r>
            <a:r>
              <a:rPr lang="en-SG" sz="1800" dirty="0" err="1">
                <a:latin typeface="Lucida Console" panose="020B0609040504020204" pitchFamily="49" charset="0"/>
              </a:rPr>
              <a:t>R.id.</a:t>
            </a:r>
            <a:r>
              <a:rPr lang="en-SG" sz="1800" dirty="0" err="1">
                <a:highlight>
                  <a:srgbClr val="00FFFF"/>
                </a:highlight>
                <a:latin typeface="Lucida Console" panose="020B0609040504020204" pitchFamily="49" charset="0"/>
              </a:rPr>
              <a:t>button_action</a:t>
            </a:r>
            <a:r>
              <a:rPr lang="en-SG" sz="1800" dirty="0">
                <a:latin typeface="Lucida Console" panose="020B0609040504020204" pitchFamily="49" charset="0"/>
              </a:rPr>
              <a:t>)</a:t>
            </a:r>
          </a:p>
          <a:p>
            <a:pPr marL="0" indent="0">
              <a:buNone/>
            </a:pPr>
            <a:r>
              <a:rPr lang="en-SG" sz="1800" dirty="0">
                <a:latin typeface="Lucida Console" panose="020B0609040504020204" pitchFamily="49" charset="0"/>
              </a:rPr>
              <a:t>	</a:t>
            </a:r>
            <a:r>
              <a:rPr lang="en-SG" sz="1800" dirty="0" err="1">
                <a:latin typeface="Lucida Console" panose="020B0609040504020204" pitchFamily="49" charset="0"/>
              </a:rPr>
              <a:t>action.setOnClickListener</a:t>
            </a:r>
            <a:r>
              <a:rPr lang="en-SG" sz="1800" dirty="0">
                <a:latin typeface="Lucida Console" panose="020B0609040504020204" pitchFamily="49" charset="0"/>
              </a:rPr>
              <a:t>() {…}</a:t>
            </a:r>
          </a:p>
          <a:p>
            <a:pPr marL="0" indent="0">
              <a:buNone/>
            </a:pPr>
            <a:endParaRPr lang="en-SG" sz="1800" dirty="0">
              <a:latin typeface="Lucida Console" panose="020B0609040504020204" pitchFamily="49" charset="0"/>
            </a:endParaRPr>
          </a:p>
          <a:p>
            <a:pPr marL="0" indent="0">
              <a:buNone/>
            </a:pPr>
            <a:r>
              <a:rPr lang="en-SG" sz="1800" dirty="0">
                <a:latin typeface="Lucida Console" panose="020B0609040504020204" pitchFamily="49" charset="0"/>
              </a:rPr>
              <a:t>	</a:t>
            </a:r>
            <a:r>
              <a:rPr lang="en-SG" sz="1800" dirty="0" err="1">
                <a:latin typeface="Lucida Console" panose="020B0609040504020204" pitchFamily="49" charset="0"/>
              </a:rPr>
              <a:t>val</a:t>
            </a:r>
            <a:r>
              <a:rPr lang="en-SG" sz="1800" dirty="0">
                <a:latin typeface="Lucida Console" panose="020B0609040504020204" pitchFamily="49" charset="0"/>
              </a:rPr>
              <a:t> amount: </a:t>
            </a:r>
            <a:r>
              <a:rPr lang="en-SG" sz="1800" dirty="0" err="1">
                <a:latin typeface="Lucida Console" panose="020B0609040504020204" pitchFamily="49" charset="0"/>
              </a:rPr>
              <a:t>TextView</a:t>
            </a:r>
            <a:r>
              <a:rPr lang="en-SG" sz="1800" dirty="0">
                <a:latin typeface="Lucida Console" panose="020B0609040504020204" pitchFamily="49" charset="0"/>
              </a:rPr>
              <a:t> = </a:t>
            </a:r>
            <a:r>
              <a:rPr lang="en-SG" sz="1800" dirty="0" err="1">
                <a:latin typeface="Lucida Console" panose="020B0609040504020204" pitchFamily="49" charset="0"/>
              </a:rPr>
              <a:t>findViewById</a:t>
            </a:r>
            <a:r>
              <a:rPr lang="en-SG" sz="1800" dirty="0">
                <a:latin typeface="Lucida Console" panose="020B0609040504020204" pitchFamily="49" charset="0"/>
              </a:rPr>
              <a:t>(</a:t>
            </a:r>
            <a:r>
              <a:rPr lang="en-SG" sz="1800" dirty="0" err="1">
                <a:latin typeface="Lucida Console" panose="020B0609040504020204" pitchFamily="49" charset="0"/>
              </a:rPr>
              <a:t>R.id.</a:t>
            </a:r>
            <a:r>
              <a:rPr lang="en-SG" sz="1800" dirty="0" err="1">
                <a:highlight>
                  <a:srgbClr val="FFF169"/>
                </a:highlight>
                <a:latin typeface="Lucida Console" panose="020B0609040504020204" pitchFamily="49" charset="0"/>
              </a:rPr>
              <a:t>tip_result</a:t>
            </a:r>
            <a:r>
              <a:rPr lang="en-SG" sz="1800" dirty="0">
                <a:latin typeface="Lucida Console" panose="020B0609040504020204" pitchFamily="49" charset="0"/>
              </a:rPr>
              <a:t>)</a:t>
            </a:r>
          </a:p>
          <a:p>
            <a:pPr marL="0" indent="0">
              <a:buNone/>
            </a:pPr>
            <a:r>
              <a:rPr lang="en-SG" sz="1800" dirty="0">
                <a:latin typeface="Lucida Console" panose="020B0609040504020204" pitchFamily="49" charset="0"/>
              </a:rPr>
              <a:t>	</a:t>
            </a:r>
            <a:r>
              <a:rPr lang="en-SG" sz="1800" dirty="0" err="1">
                <a:latin typeface="Lucida Console" panose="020B0609040504020204" pitchFamily="49" charset="0"/>
              </a:rPr>
              <a:t>amount.text</a:t>
            </a:r>
            <a:r>
              <a:rPr lang="en-SG" sz="1800" dirty="0">
                <a:latin typeface="Lucida Console" panose="020B0609040504020204" pitchFamily="49" charset="0"/>
              </a:rPr>
              <a:t> = getString(</a:t>
            </a:r>
            <a:r>
              <a:rPr lang="en-SG" sz="1800" dirty="0" err="1">
                <a:latin typeface="Lucida Console" panose="020B0609040504020204" pitchFamily="49" charset="0"/>
              </a:rPr>
              <a:t>formatted_tip</a:t>
            </a:r>
            <a:r>
              <a:rPr lang="en-SG" sz="1800" dirty="0">
                <a:latin typeface="Lucida Console" panose="020B0609040504020204" pitchFamily="49" charset="0"/>
              </a:rPr>
              <a:t>)</a:t>
            </a:r>
          </a:p>
          <a:p>
            <a:pPr marL="0" indent="0">
              <a:buNone/>
            </a:pPr>
            <a:endParaRPr lang="en-SG" sz="2000" dirty="0"/>
          </a:p>
          <a:p>
            <a:pPr marL="0" indent="0">
              <a:buNone/>
            </a:pPr>
            <a:r>
              <a:rPr lang="en-SG" sz="2000" u="sng" dirty="0"/>
              <a:t>With View Binding</a:t>
            </a:r>
          </a:p>
          <a:p>
            <a:pPr marL="0" indent="0">
              <a:buNone/>
            </a:pPr>
            <a:r>
              <a:rPr lang="en-SG" sz="2000" dirty="0"/>
              <a:t>	</a:t>
            </a:r>
            <a:r>
              <a:rPr lang="en-SG" sz="1800" dirty="0" err="1">
                <a:latin typeface="Lucida Console" panose="020B0609040504020204" pitchFamily="49" charset="0"/>
              </a:rPr>
              <a:t>binding.</a:t>
            </a:r>
            <a:r>
              <a:rPr lang="en-SG" sz="1800" dirty="0" err="1">
                <a:highlight>
                  <a:srgbClr val="00FFFF"/>
                </a:highlight>
                <a:latin typeface="Lucida Console" panose="020B0609040504020204" pitchFamily="49" charset="0"/>
              </a:rPr>
              <a:t>buttonAction</a:t>
            </a:r>
            <a:r>
              <a:rPr lang="en-SG" sz="1800" dirty="0" err="1">
                <a:latin typeface="Lucida Console" panose="020B0609040504020204" pitchFamily="49" charset="0"/>
              </a:rPr>
              <a:t>.setOnClickListener</a:t>
            </a:r>
            <a:r>
              <a:rPr lang="en-SG" sz="1800" dirty="0">
                <a:latin typeface="Lucida Console" panose="020B0609040504020204" pitchFamily="49" charset="0"/>
              </a:rPr>
              <a:t>() {…}</a:t>
            </a:r>
          </a:p>
          <a:p>
            <a:pPr marL="0" indent="0">
              <a:buNone/>
            </a:pPr>
            <a:endParaRPr lang="en-SG" sz="2000" dirty="0"/>
          </a:p>
          <a:p>
            <a:pPr marL="0" indent="0">
              <a:buNone/>
            </a:pPr>
            <a:r>
              <a:rPr lang="en-SG" sz="2000" dirty="0"/>
              <a:t>	</a:t>
            </a:r>
            <a:r>
              <a:rPr lang="en-SG" sz="1800" dirty="0" err="1">
                <a:latin typeface="Lucida Console" panose="020B0609040504020204" pitchFamily="49" charset="0"/>
              </a:rPr>
              <a:t>binding.</a:t>
            </a:r>
            <a:r>
              <a:rPr lang="en-SG" sz="1800" dirty="0" err="1">
                <a:highlight>
                  <a:srgbClr val="FFF169"/>
                </a:highlight>
                <a:latin typeface="Lucida Console" panose="020B0609040504020204" pitchFamily="49" charset="0"/>
              </a:rPr>
              <a:t>tipResult</a:t>
            </a:r>
            <a:r>
              <a:rPr lang="en-SG" sz="1800" dirty="0" err="1">
                <a:latin typeface="Lucida Console" panose="020B0609040504020204" pitchFamily="49" charset="0"/>
              </a:rPr>
              <a:t>.text</a:t>
            </a:r>
            <a:r>
              <a:rPr lang="en-SG" sz="1800" dirty="0">
                <a:latin typeface="Lucida Console" panose="020B0609040504020204" pitchFamily="49" charset="0"/>
              </a:rPr>
              <a:t> = getString(</a:t>
            </a:r>
            <a:r>
              <a:rPr lang="en-SG" sz="1800" dirty="0" err="1">
                <a:latin typeface="Lucida Console" panose="020B0609040504020204" pitchFamily="49" charset="0"/>
              </a:rPr>
              <a:t>formatted_tip</a:t>
            </a:r>
            <a:r>
              <a:rPr lang="en-SG" sz="1800" dirty="0">
                <a:latin typeface="Lucida Console" panose="020B0609040504020204" pitchFamily="49" charset="0"/>
              </a:rPr>
              <a:t>)</a:t>
            </a:r>
            <a:endParaRPr lang="en-SG" sz="2000" dirty="0">
              <a:latin typeface="Lucida Console" panose="020B0609040504020204" pitchFamily="49" charset="0"/>
            </a:endParaRPr>
          </a:p>
        </p:txBody>
      </p:sp>
    </p:spTree>
    <p:extLst>
      <p:ext uri="{BB962C8B-B14F-4D97-AF65-F5344CB8AC3E}">
        <p14:creationId xmlns:p14="http://schemas.microsoft.com/office/powerpoint/2010/main" val="96870932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EDAE7F-9CD2-49C7-A5BF-876EA531D0FE}"/>
              </a:ext>
            </a:extLst>
          </p:cNvPr>
          <p:cNvSpPr>
            <a:spLocks noGrp="1"/>
          </p:cNvSpPr>
          <p:nvPr>
            <p:ph type="title"/>
          </p:nvPr>
        </p:nvSpPr>
        <p:spPr/>
        <p:txBody>
          <a:bodyPr/>
          <a:lstStyle/>
          <a:p>
            <a:r>
              <a:rPr lang="en-SG" dirty="0"/>
              <a:t>Display Flow #2: View Binding</a:t>
            </a:r>
          </a:p>
        </p:txBody>
      </p:sp>
      <p:sp>
        <p:nvSpPr>
          <p:cNvPr id="3" name="Content Placeholder 2">
            <a:extLst>
              <a:ext uri="{FF2B5EF4-FFF2-40B4-BE49-F238E27FC236}">
                <a16:creationId xmlns:a16="http://schemas.microsoft.com/office/drawing/2014/main" id="{BBBB0B4A-3172-4FAF-9A64-E1090293992B}"/>
              </a:ext>
            </a:extLst>
          </p:cNvPr>
          <p:cNvSpPr>
            <a:spLocks noGrp="1"/>
          </p:cNvSpPr>
          <p:nvPr>
            <p:ph idx="1"/>
          </p:nvPr>
        </p:nvSpPr>
        <p:spPr>
          <a:xfrm>
            <a:off x="838200" y="1825625"/>
            <a:ext cx="10251332" cy="1131584"/>
          </a:xfrm>
        </p:spPr>
        <p:txBody>
          <a:bodyPr>
            <a:normAutofit/>
          </a:bodyPr>
          <a:lstStyle/>
          <a:p>
            <a:pPr marL="457200" indent="-457200">
              <a:buAutoNum type="arabicPeriod"/>
            </a:pPr>
            <a:r>
              <a:rPr lang="en-SG" sz="2000" dirty="0"/>
              <a:t>Before </a:t>
            </a:r>
            <a:r>
              <a:rPr lang="en-SG" sz="2000" dirty="0">
                <a:latin typeface="Lucida Console" panose="020B0609040504020204" pitchFamily="49" charset="0"/>
              </a:rPr>
              <a:t>onCreate()</a:t>
            </a:r>
            <a:r>
              <a:rPr lang="en-SG" sz="2000" dirty="0"/>
              <a:t>, </a:t>
            </a:r>
            <a:r>
              <a:rPr lang="en-SG" sz="2000" dirty="0">
                <a:highlight>
                  <a:srgbClr val="00FF00"/>
                </a:highlight>
              </a:rPr>
              <a:t>create</a:t>
            </a:r>
            <a:r>
              <a:rPr lang="en-SG" sz="2000" dirty="0"/>
              <a:t> a binding object.</a:t>
            </a:r>
          </a:p>
          <a:p>
            <a:pPr marL="457200" indent="-457200">
              <a:buAutoNum type="arabicPeriod"/>
            </a:pPr>
            <a:r>
              <a:rPr lang="en-SG" sz="2000" dirty="0"/>
              <a:t>Within </a:t>
            </a:r>
            <a:r>
              <a:rPr lang="en-SG" sz="2000" dirty="0">
                <a:latin typeface="Lucida Console" panose="020B0609040504020204" pitchFamily="49" charset="0"/>
              </a:rPr>
              <a:t>onCreate()</a:t>
            </a:r>
            <a:r>
              <a:rPr lang="en-SG" sz="2000" dirty="0"/>
              <a:t>, </a:t>
            </a:r>
            <a:r>
              <a:rPr lang="en-SG" sz="2000" dirty="0">
                <a:highlight>
                  <a:srgbClr val="FFFF00"/>
                </a:highlight>
              </a:rPr>
              <a:t>initialise</a:t>
            </a:r>
            <a:r>
              <a:rPr lang="en-SG" sz="2000" dirty="0"/>
              <a:t> the binding object and </a:t>
            </a:r>
            <a:r>
              <a:rPr lang="en-SG" sz="2000" dirty="0">
                <a:highlight>
                  <a:srgbClr val="00FFFF"/>
                </a:highlight>
              </a:rPr>
              <a:t>specify</a:t>
            </a:r>
            <a:r>
              <a:rPr lang="en-SG" sz="2000" dirty="0"/>
              <a:t> the root hierarchy of views in this app, instead of using </a:t>
            </a:r>
            <a:r>
              <a:rPr lang="en-SG" sz="2000" dirty="0">
                <a:latin typeface="Lucida Console" panose="020B0609040504020204" pitchFamily="49" charset="0"/>
              </a:rPr>
              <a:t>R.layout.activity_main</a:t>
            </a:r>
            <a:r>
              <a:rPr lang="en-SG" sz="2000" dirty="0"/>
              <a:t>.</a:t>
            </a:r>
          </a:p>
          <a:p>
            <a:pPr marL="457200" indent="-457200">
              <a:buAutoNum type="arabicPeriod"/>
            </a:pPr>
            <a:endParaRPr lang="en-SG" sz="2000" dirty="0"/>
          </a:p>
          <a:p>
            <a:pPr marL="0" indent="0">
              <a:buNone/>
            </a:pPr>
            <a:endParaRPr lang="en-SG" sz="2000" dirty="0"/>
          </a:p>
        </p:txBody>
      </p:sp>
      <p:pic>
        <p:nvPicPr>
          <p:cNvPr id="6" name="Picture 5">
            <a:extLst>
              <a:ext uri="{FF2B5EF4-FFF2-40B4-BE49-F238E27FC236}">
                <a16:creationId xmlns:a16="http://schemas.microsoft.com/office/drawing/2014/main" id="{4D71B9C9-47C0-43B7-948C-87144FA77A58}"/>
              </a:ext>
            </a:extLst>
          </p:cNvPr>
          <p:cNvPicPr>
            <a:picLocks noChangeAspect="1"/>
          </p:cNvPicPr>
          <p:nvPr/>
        </p:nvPicPr>
        <p:blipFill>
          <a:blip r:embed="rId2"/>
          <a:stretch>
            <a:fillRect/>
          </a:stretch>
        </p:blipFill>
        <p:spPr>
          <a:xfrm>
            <a:off x="838200" y="3408295"/>
            <a:ext cx="10132499" cy="2331024"/>
          </a:xfrm>
          <a:prstGeom prst="rect">
            <a:avLst/>
          </a:prstGeom>
        </p:spPr>
      </p:pic>
      <p:sp>
        <p:nvSpPr>
          <p:cNvPr id="8" name="Rectangle 7">
            <a:extLst>
              <a:ext uri="{FF2B5EF4-FFF2-40B4-BE49-F238E27FC236}">
                <a16:creationId xmlns:a16="http://schemas.microsoft.com/office/drawing/2014/main" id="{B5B4A0C1-9C44-4A4A-9B6E-F33D6A3CAF0E}"/>
              </a:ext>
            </a:extLst>
          </p:cNvPr>
          <p:cNvSpPr/>
          <p:nvPr/>
        </p:nvSpPr>
        <p:spPr>
          <a:xfrm>
            <a:off x="1079770" y="3910520"/>
            <a:ext cx="3998068" cy="243192"/>
          </a:xfrm>
          <a:prstGeom prst="rect">
            <a:avLst/>
          </a:prstGeom>
          <a:solidFill>
            <a:srgbClr val="00FF00">
              <a:alpha val="23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Rectangle 8">
            <a:extLst>
              <a:ext uri="{FF2B5EF4-FFF2-40B4-BE49-F238E27FC236}">
                <a16:creationId xmlns:a16="http://schemas.microsoft.com/office/drawing/2014/main" id="{8B1808D9-586B-46DC-AB70-1F3EC7D7B054}"/>
              </a:ext>
            </a:extLst>
          </p:cNvPr>
          <p:cNvSpPr/>
          <p:nvPr/>
        </p:nvSpPr>
        <p:spPr>
          <a:xfrm>
            <a:off x="1407267" y="4996775"/>
            <a:ext cx="4273685" cy="243192"/>
          </a:xfrm>
          <a:prstGeom prst="rect">
            <a:avLst/>
          </a:prstGeom>
          <a:solidFill>
            <a:srgbClr val="FFFF00">
              <a:alpha val="23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0" name="Rectangle 9">
            <a:extLst>
              <a:ext uri="{FF2B5EF4-FFF2-40B4-BE49-F238E27FC236}">
                <a16:creationId xmlns:a16="http://schemas.microsoft.com/office/drawing/2014/main" id="{3DE19178-B6A3-4C30-9BDF-88E8B6AD028F}"/>
              </a:ext>
            </a:extLst>
          </p:cNvPr>
          <p:cNvSpPr/>
          <p:nvPr/>
        </p:nvSpPr>
        <p:spPr>
          <a:xfrm>
            <a:off x="1407268" y="5447861"/>
            <a:ext cx="2347610" cy="174726"/>
          </a:xfrm>
          <a:prstGeom prst="rect">
            <a:avLst/>
          </a:prstGeom>
          <a:solidFill>
            <a:srgbClr val="00FFFF">
              <a:alpha val="34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272201915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Testing Pyramid</a:t>
            </a:r>
          </a:p>
        </p:txBody>
      </p:sp>
    </p:spTree>
    <p:extLst>
      <p:ext uri="{BB962C8B-B14F-4D97-AF65-F5344CB8AC3E}">
        <p14:creationId xmlns:p14="http://schemas.microsoft.com/office/powerpoint/2010/main" val="354728204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6E8525-26F5-4F75-AB39-AB3E80C0912F}"/>
              </a:ext>
            </a:extLst>
          </p:cNvPr>
          <p:cNvSpPr>
            <a:spLocks noGrp="1"/>
          </p:cNvSpPr>
          <p:nvPr>
            <p:ph type="title"/>
          </p:nvPr>
        </p:nvSpPr>
        <p:spPr/>
        <p:txBody>
          <a:bodyPr/>
          <a:lstStyle/>
          <a:p>
            <a:r>
              <a:rPr lang="en-SG" dirty="0"/>
              <a:t>Automated Testing</a:t>
            </a:r>
          </a:p>
        </p:txBody>
      </p:sp>
      <p:sp>
        <p:nvSpPr>
          <p:cNvPr id="3" name="Content Placeholder 2">
            <a:extLst>
              <a:ext uri="{FF2B5EF4-FFF2-40B4-BE49-F238E27FC236}">
                <a16:creationId xmlns:a16="http://schemas.microsoft.com/office/drawing/2014/main" id="{12495BD3-7FD8-4FFB-88EB-ADE6509A853F}"/>
              </a:ext>
            </a:extLst>
          </p:cNvPr>
          <p:cNvSpPr>
            <a:spLocks noGrp="1"/>
          </p:cNvSpPr>
          <p:nvPr>
            <p:ph idx="1"/>
          </p:nvPr>
        </p:nvSpPr>
        <p:spPr>
          <a:xfrm>
            <a:off x="838200" y="1690688"/>
            <a:ext cx="10515600" cy="4594630"/>
          </a:xfrm>
        </p:spPr>
        <p:txBody>
          <a:bodyPr>
            <a:normAutofit/>
          </a:bodyPr>
          <a:lstStyle/>
          <a:p>
            <a:r>
              <a:rPr lang="en-US" sz="2000" dirty="0"/>
              <a:t>In the </a:t>
            </a:r>
            <a:r>
              <a:rPr lang="en-US" sz="2000" dirty="0">
                <a:latin typeface="Consolas" panose="020B0609020204030204" pitchFamily="49" charset="0"/>
              </a:rPr>
              <a:t>app</a:t>
            </a:r>
            <a:r>
              <a:rPr lang="en-US" sz="2000" dirty="0"/>
              <a:t> &gt; </a:t>
            </a:r>
            <a:r>
              <a:rPr lang="en-US" sz="2000" dirty="0" err="1">
                <a:latin typeface="Consolas" panose="020B0609020204030204" pitchFamily="49" charset="0"/>
              </a:rPr>
              <a:t>src</a:t>
            </a:r>
            <a:r>
              <a:rPr lang="en-US" sz="2000" dirty="0"/>
              <a:t> directory of </a:t>
            </a:r>
            <a:r>
              <a:rPr lang="en-US" sz="2000" i="1" dirty="0"/>
              <a:t>Project Source Files</a:t>
            </a:r>
            <a:r>
              <a:rPr lang="en-US" sz="2000" dirty="0"/>
              <a:t>, or </a:t>
            </a:r>
            <a:r>
              <a:rPr lang="en-US" sz="2000" dirty="0">
                <a:latin typeface="Consolas" panose="020B0609020204030204" pitchFamily="49" charset="0"/>
              </a:rPr>
              <a:t>app</a:t>
            </a:r>
            <a:r>
              <a:rPr lang="en-US" sz="2000" dirty="0"/>
              <a:t> &gt; </a:t>
            </a:r>
            <a:r>
              <a:rPr lang="en-US" sz="2000" dirty="0">
                <a:latin typeface="Consolas" panose="020B0609020204030204" pitchFamily="49" charset="0"/>
              </a:rPr>
              <a:t>java</a:t>
            </a:r>
            <a:r>
              <a:rPr lang="en-US" sz="2000" dirty="0"/>
              <a:t> directory in </a:t>
            </a:r>
            <a:r>
              <a:rPr lang="en-US" sz="2000" i="1" dirty="0"/>
              <a:t>Android</a:t>
            </a:r>
            <a:r>
              <a:rPr lang="en-US" sz="2000" dirty="0"/>
              <a:t> there are the </a:t>
            </a:r>
            <a:r>
              <a:rPr lang="en-US" sz="2000" dirty="0">
                <a:highlight>
                  <a:srgbClr val="00FF00"/>
                </a:highlight>
                <a:latin typeface="Consolas" panose="020B0609020204030204" pitchFamily="49" charset="0"/>
              </a:rPr>
              <a:t>test</a:t>
            </a:r>
            <a:r>
              <a:rPr lang="en-US" sz="2000" dirty="0"/>
              <a:t> and </a:t>
            </a:r>
            <a:r>
              <a:rPr lang="en-US" sz="2000" dirty="0" err="1">
                <a:highlight>
                  <a:srgbClr val="00FFFF"/>
                </a:highlight>
                <a:latin typeface="Consolas" panose="020B0609020204030204" pitchFamily="49" charset="0"/>
              </a:rPr>
              <a:t>androidTest</a:t>
            </a:r>
            <a:r>
              <a:rPr lang="en-US" sz="2000" dirty="0"/>
              <a:t> directories. There are two types of automated tests in Android development: </a:t>
            </a:r>
            <a:r>
              <a:rPr lang="en-US" sz="2000" dirty="0">
                <a:highlight>
                  <a:srgbClr val="00FF00"/>
                </a:highlight>
              </a:rPr>
              <a:t>unit tests</a:t>
            </a:r>
            <a:r>
              <a:rPr lang="en-US" sz="2000" dirty="0"/>
              <a:t> and </a:t>
            </a:r>
            <a:r>
              <a:rPr lang="en-US" sz="2000" dirty="0">
                <a:highlight>
                  <a:srgbClr val="00FFFF"/>
                </a:highlight>
              </a:rPr>
              <a:t>instrumentation tests</a:t>
            </a:r>
            <a:r>
              <a:rPr lang="en-US" sz="2000" dirty="0"/>
              <a:t>. The two directories represent these two categories of tests.</a:t>
            </a:r>
          </a:p>
          <a:p>
            <a:r>
              <a:rPr lang="en-US" sz="2000" dirty="0"/>
              <a:t>Android Studio automatically generates a simple unit test and instrumentation test each time you create a new project. They are just placeholders.</a:t>
            </a:r>
          </a:p>
          <a:p>
            <a:r>
              <a:rPr lang="en-US" sz="2000" dirty="0"/>
              <a:t>In the context of Android Development, </a:t>
            </a:r>
            <a:r>
              <a:rPr lang="en-US" sz="2000" dirty="0">
                <a:highlight>
                  <a:srgbClr val="00FFFF"/>
                </a:highlight>
              </a:rPr>
              <a:t>instrumentation test</a:t>
            </a:r>
            <a:r>
              <a:rPr lang="en-US" sz="2000" dirty="0"/>
              <a:t> is the term for what is, usually, a </a:t>
            </a:r>
            <a:r>
              <a:rPr lang="en-US" sz="2000" dirty="0">
                <a:highlight>
                  <a:srgbClr val="00FFFF"/>
                </a:highlight>
              </a:rPr>
              <a:t>user-interface test (UI test)</a:t>
            </a:r>
            <a:r>
              <a:rPr lang="en-US" sz="2000" dirty="0"/>
              <a:t>.</a:t>
            </a:r>
          </a:p>
          <a:p>
            <a:r>
              <a:rPr lang="en-US" sz="2000" dirty="0"/>
              <a:t>Instrumentation tests let you test parts of an app that depend on activity and fragment lifecycles, and platform APIs and services. Unlike unit tests, UI tests don't test code directly. Instead, they test the user interface to make sure that the correct UI components are displayed and that the user interface behaves as expected when actions are taken within the UI. </a:t>
            </a:r>
          </a:p>
          <a:p>
            <a:r>
              <a:rPr lang="en-US" sz="2000" dirty="0"/>
              <a:t>Creating a test every time you create a new feature in your app reduces your workload later as your app grows.</a:t>
            </a:r>
          </a:p>
          <a:p>
            <a:endParaRPr lang="en-SG" sz="2000" dirty="0"/>
          </a:p>
        </p:txBody>
      </p:sp>
    </p:spTree>
    <p:extLst>
      <p:ext uri="{BB962C8B-B14F-4D97-AF65-F5344CB8AC3E}">
        <p14:creationId xmlns:p14="http://schemas.microsoft.com/office/powerpoint/2010/main" val="93591204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6E8525-26F5-4F75-AB39-AB3E80C0912F}"/>
              </a:ext>
            </a:extLst>
          </p:cNvPr>
          <p:cNvSpPr>
            <a:spLocks noGrp="1"/>
          </p:cNvSpPr>
          <p:nvPr>
            <p:ph type="title"/>
          </p:nvPr>
        </p:nvSpPr>
        <p:spPr/>
        <p:txBody>
          <a:bodyPr/>
          <a:lstStyle/>
          <a:p>
            <a:r>
              <a:rPr lang="en-SG" dirty="0"/>
              <a:t>Automated Testing</a:t>
            </a:r>
          </a:p>
        </p:txBody>
      </p:sp>
      <p:sp>
        <p:nvSpPr>
          <p:cNvPr id="3" name="Content Placeholder 2">
            <a:extLst>
              <a:ext uri="{FF2B5EF4-FFF2-40B4-BE49-F238E27FC236}">
                <a16:creationId xmlns:a16="http://schemas.microsoft.com/office/drawing/2014/main" id="{12495BD3-7FD8-4FFB-88EB-ADE6509A853F}"/>
              </a:ext>
            </a:extLst>
          </p:cNvPr>
          <p:cNvSpPr>
            <a:spLocks noGrp="1"/>
          </p:cNvSpPr>
          <p:nvPr>
            <p:ph idx="1"/>
          </p:nvPr>
        </p:nvSpPr>
        <p:spPr>
          <a:xfrm>
            <a:off x="838200" y="1690688"/>
            <a:ext cx="10515600" cy="4594630"/>
          </a:xfrm>
        </p:spPr>
        <p:txBody>
          <a:bodyPr>
            <a:normAutofit/>
          </a:bodyPr>
          <a:lstStyle/>
          <a:p>
            <a:r>
              <a:rPr lang="en-US" sz="2000" dirty="0"/>
              <a:t>With unit tests, you can test functions, classes, and properties. Local tests are executed on the Java Virtual Machine (JVM), which means they run in a development environment without needing a device or emulator.</a:t>
            </a:r>
          </a:p>
          <a:p>
            <a:r>
              <a:rPr lang="en-US" sz="2000" dirty="0"/>
              <a:t>On the other hand, all instrumentation tests must run on a physical device or emulator. When you run an instrumentation test on Android, what's really happening is that the test code is actually built into its own test APK, just like a regular Android app. The test APK is installed on the device or emulator along with the regular app APK. The test APK then runs its tests against the app APK.</a:t>
            </a:r>
            <a:endParaRPr lang="en-SG" sz="2000" dirty="0"/>
          </a:p>
        </p:txBody>
      </p:sp>
      <p:pic>
        <p:nvPicPr>
          <p:cNvPr id="5" name="Picture 4">
            <a:extLst>
              <a:ext uri="{FF2B5EF4-FFF2-40B4-BE49-F238E27FC236}">
                <a16:creationId xmlns:a16="http://schemas.microsoft.com/office/drawing/2014/main" id="{33F6736C-AFF3-4B4B-BAEB-F02840B77BA0}"/>
              </a:ext>
            </a:extLst>
          </p:cNvPr>
          <p:cNvPicPr>
            <a:picLocks noChangeAspect="1"/>
          </p:cNvPicPr>
          <p:nvPr/>
        </p:nvPicPr>
        <p:blipFill>
          <a:blip r:embed="rId2"/>
          <a:stretch>
            <a:fillRect/>
          </a:stretch>
        </p:blipFill>
        <p:spPr>
          <a:xfrm>
            <a:off x="3238252" y="4326808"/>
            <a:ext cx="5715495" cy="1958510"/>
          </a:xfrm>
          <a:prstGeom prst="rect">
            <a:avLst/>
          </a:prstGeom>
        </p:spPr>
      </p:pic>
      <p:sp>
        <p:nvSpPr>
          <p:cNvPr id="6" name="TextBox 5">
            <a:extLst>
              <a:ext uri="{FF2B5EF4-FFF2-40B4-BE49-F238E27FC236}">
                <a16:creationId xmlns:a16="http://schemas.microsoft.com/office/drawing/2014/main" id="{4A8496FC-3A07-4BE8-B68B-1451A5F0A4FC}"/>
              </a:ext>
            </a:extLst>
          </p:cNvPr>
          <p:cNvSpPr txBox="1"/>
          <p:nvPr/>
        </p:nvSpPr>
        <p:spPr>
          <a:xfrm>
            <a:off x="8081696" y="4188308"/>
            <a:ext cx="1529714" cy="276999"/>
          </a:xfrm>
          <a:prstGeom prst="rect">
            <a:avLst/>
          </a:prstGeom>
          <a:solidFill>
            <a:schemeClr val="accent4"/>
          </a:solidFill>
        </p:spPr>
        <p:txBody>
          <a:bodyPr wrap="none" rtlCol="0">
            <a:spAutoFit/>
          </a:bodyPr>
          <a:lstStyle/>
          <a:p>
            <a:r>
              <a:rPr lang="en-SG" sz="1200" dirty="0" err="1"/>
              <a:t>build.gradle</a:t>
            </a:r>
            <a:r>
              <a:rPr lang="en-SG" sz="1200" dirty="0"/>
              <a:t> (module)</a:t>
            </a:r>
          </a:p>
        </p:txBody>
      </p:sp>
      <p:sp>
        <p:nvSpPr>
          <p:cNvPr id="7" name="Rectangle 6">
            <a:extLst>
              <a:ext uri="{FF2B5EF4-FFF2-40B4-BE49-F238E27FC236}">
                <a16:creationId xmlns:a16="http://schemas.microsoft.com/office/drawing/2014/main" id="{8DD20BDB-859E-470A-AC30-6694C4BA008E}"/>
              </a:ext>
            </a:extLst>
          </p:cNvPr>
          <p:cNvSpPr/>
          <p:nvPr/>
        </p:nvSpPr>
        <p:spPr>
          <a:xfrm>
            <a:off x="3550596" y="5409088"/>
            <a:ext cx="5340486" cy="66097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396232215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6E8525-26F5-4F75-AB39-AB3E80C0912F}"/>
              </a:ext>
            </a:extLst>
          </p:cNvPr>
          <p:cNvSpPr>
            <a:spLocks noGrp="1"/>
          </p:cNvSpPr>
          <p:nvPr>
            <p:ph type="title"/>
          </p:nvPr>
        </p:nvSpPr>
        <p:spPr/>
        <p:txBody>
          <a:bodyPr/>
          <a:lstStyle/>
          <a:p>
            <a:r>
              <a:rPr lang="en-SG" dirty="0"/>
              <a:t>Automated Testing</a:t>
            </a:r>
          </a:p>
        </p:txBody>
      </p:sp>
      <p:sp>
        <p:nvSpPr>
          <p:cNvPr id="3" name="Content Placeholder 2">
            <a:extLst>
              <a:ext uri="{FF2B5EF4-FFF2-40B4-BE49-F238E27FC236}">
                <a16:creationId xmlns:a16="http://schemas.microsoft.com/office/drawing/2014/main" id="{12495BD3-7FD8-4FFB-88EB-ADE6509A853F}"/>
              </a:ext>
            </a:extLst>
          </p:cNvPr>
          <p:cNvSpPr>
            <a:spLocks noGrp="1"/>
          </p:cNvSpPr>
          <p:nvPr>
            <p:ph idx="1"/>
          </p:nvPr>
        </p:nvSpPr>
        <p:spPr>
          <a:xfrm>
            <a:off x="838200" y="1690688"/>
            <a:ext cx="10515600" cy="4594630"/>
          </a:xfrm>
        </p:spPr>
        <p:txBody>
          <a:bodyPr>
            <a:normAutofit/>
          </a:bodyPr>
          <a:lstStyle/>
          <a:p>
            <a:r>
              <a:rPr lang="en-US" sz="2000" dirty="0"/>
              <a:t>By design, test code looks different from the business logic for an application. That's because tests are not supposed to contain logic; they are only supposed to test it. </a:t>
            </a:r>
          </a:p>
          <a:p>
            <a:r>
              <a:rPr lang="en-US" sz="2000" dirty="0"/>
              <a:t>Therefore, tests should not have conditional statements like if or when, or control flow statements like for or while. </a:t>
            </a:r>
          </a:p>
          <a:p>
            <a:r>
              <a:rPr lang="en-US" sz="2000" dirty="0"/>
              <a:t>They should also not manipulate values or conduct any real computation.</a:t>
            </a:r>
            <a:endParaRPr lang="en-SG" sz="2000" dirty="0"/>
          </a:p>
        </p:txBody>
      </p:sp>
    </p:spTree>
    <p:extLst>
      <p:ext uri="{BB962C8B-B14F-4D97-AF65-F5344CB8AC3E}">
        <p14:creationId xmlns:p14="http://schemas.microsoft.com/office/powerpoint/2010/main" val="408474200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Unit Tests</a:t>
            </a:r>
          </a:p>
        </p:txBody>
      </p:sp>
      <p:sp>
        <p:nvSpPr>
          <p:cNvPr id="4" name="TextBox 3">
            <a:extLst>
              <a:ext uri="{FF2B5EF4-FFF2-40B4-BE49-F238E27FC236}">
                <a16:creationId xmlns:a16="http://schemas.microsoft.com/office/drawing/2014/main" id="{41A4C00C-9D1F-47B5-B3CB-9050EF0E4416}"/>
              </a:ext>
            </a:extLst>
          </p:cNvPr>
          <p:cNvSpPr txBox="1"/>
          <p:nvPr/>
        </p:nvSpPr>
        <p:spPr>
          <a:xfrm>
            <a:off x="838200" y="1690688"/>
            <a:ext cx="10515600" cy="2554545"/>
          </a:xfrm>
          <a:prstGeom prst="rect">
            <a:avLst/>
          </a:prstGeom>
          <a:noFill/>
        </p:spPr>
        <p:txBody>
          <a:bodyPr wrap="square" rtlCol="0">
            <a:spAutoFit/>
          </a:bodyPr>
          <a:lstStyle/>
          <a:p>
            <a:r>
              <a:rPr lang="en-US" sz="2000" dirty="0"/>
              <a:t>Test functions must first be annotated with the </a:t>
            </a:r>
            <a:r>
              <a:rPr lang="en-US" sz="2000" dirty="0">
                <a:highlight>
                  <a:srgbClr val="FFFF00"/>
                </a:highlight>
              </a:rPr>
              <a:t>@Test annotation imported from the </a:t>
            </a:r>
            <a:r>
              <a:rPr lang="en-US" sz="2000" dirty="0" err="1">
                <a:highlight>
                  <a:srgbClr val="FFFF00"/>
                </a:highlight>
              </a:rPr>
              <a:t>org.junit.Test</a:t>
            </a:r>
            <a:r>
              <a:rPr lang="en-US" sz="2000" dirty="0"/>
              <a:t> library. You can think of annotation as metadata tags for a piece of code that can change the way the code is compiled. In this case, the @Test annotation lets the compiler know that the following method is a test, which lets it run as such.</a:t>
            </a:r>
          </a:p>
          <a:p>
            <a:endParaRPr lang="en-US" sz="2000" dirty="0"/>
          </a:p>
          <a:p>
            <a:r>
              <a:rPr lang="en-US" sz="2000" dirty="0">
                <a:highlight>
                  <a:srgbClr val="FFFF00"/>
                </a:highlight>
              </a:rPr>
              <a:t>Assertion</a:t>
            </a:r>
            <a:r>
              <a:rPr lang="en-US" sz="2000" dirty="0"/>
              <a:t> methods are the end goal of a unit test. Ultimately, you want to assert that a result obtained from your code is in a particular state. If the state of the result matches the expected state, the test passes. If the state of the result doesn't match the expected state, the test fails.</a:t>
            </a:r>
            <a:endParaRPr lang="en-SG" sz="2000" dirty="0"/>
          </a:p>
        </p:txBody>
      </p:sp>
      <p:pic>
        <p:nvPicPr>
          <p:cNvPr id="6" name="Picture 5">
            <a:extLst>
              <a:ext uri="{FF2B5EF4-FFF2-40B4-BE49-F238E27FC236}">
                <a16:creationId xmlns:a16="http://schemas.microsoft.com/office/drawing/2014/main" id="{97C7CDED-67AA-45B4-9FCB-D9ABA0A81E18}"/>
              </a:ext>
            </a:extLst>
          </p:cNvPr>
          <p:cNvPicPr>
            <a:picLocks noChangeAspect="1"/>
          </p:cNvPicPr>
          <p:nvPr/>
        </p:nvPicPr>
        <p:blipFill>
          <a:blip r:embed="rId2"/>
          <a:stretch>
            <a:fillRect/>
          </a:stretch>
        </p:blipFill>
        <p:spPr>
          <a:xfrm>
            <a:off x="4291518" y="4761689"/>
            <a:ext cx="3296055" cy="1465951"/>
          </a:xfrm>
          <a:prstGeom prst="rect">
            <a:avLst/>
          </a:prstGeom>
        </p:spPr>
      </p:pic>
      <p:sp>
        <p:nvSpPr>
          <p:cNvPr id="7" name="Rectangle 6">
            <a:extLst>
              <a:ext uri="{FF2B5EF4-FFF2-40B4-BE49-F238E27FC236}">
                <a16:creationId xmlns:a16="http://schemas.microsoft.com/office/drawing/2014/main" id="{59197FE1-82B1-4223-8B06-139A63FEE9A2}"/>
              </a:ext>
            </a:extLst>
          </p:cNvPr>
          <p:cNvSpPr/>
          <p:nvPr/>
        </p:nvSpPr>
        <p:spPr>
          <a:xfrm>
            <a:off x="4571999" y="5011409"/>
            <a:ext cx="661481" cy="251255"/>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189213439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7F3BCF-756D-4957-BAA4-DEC81E102FDD}"/>
              </a:ext>
            </a:extLst>
          </p:cNvPr>
          <p:cNvSpPr>
            <a:spLocks noGrp="1"/>
          </p:cNvSpPr>
          <p:nvPr>
            <p:ph type="title"/>
          </p:nvPr>
        </p:nvSpPr>
        <p:spPr/>
        <p:txBody>
          <a:bodyPr/>
          <a:lstStyle/>
          <a:p>
            <a:r>
              <a:rPr lang="en-SG" dirty="0"/>
              <a:t>Instrumentation Tests</a:t>
            </a:r>
          </a:p>
        </p:txBody>
      </p:sp>
      <p:pic>
        <p:nvPicPr>
          <p:cNvPr id="5" name="Picture 4">
            <a:extLst>
              <a:ext uri="{FF2B5EF4-FFF2-40B4-BE49-F238E27FC236}">
                <a16:creationId xmlns:a16="http://schemas.microsoft.com/office/drawing/2014/main" id="{492DB242-0B11-4268-863C-82E044740BDA}"/>
              </a:ext>
            </a:extLst>
          </p:cNvPr>
          <p:cNvPicPr>
            <a:picLocks noChangeAspect="1"/>
          </p:cNvPicPr>
          <p:nvPr/>
        </p:nvPicPr>
        <p:blipFill>
          <a:blip r:embed="rId2"/>
          <a:stretch>
            <a:fillRect/>
          </a:stretch>
        </p:blipFill>
        <p:spPr>
          <a:xfrm>
            <a:off x="838200" y="2894359"/>
            <a:ext cx="3642676" cy="2057578"/>
          </a:xfrm>
          <a:prstGeom prst="rect">
            <a:avLst/>
          </a:prstGeom>
        </p:spPr>
      </p:pic>
      <p:cxnSp>
        <p:nvCxnSpPr>
          <p:cNvPr id="7" name="Straight Arrow Connector 6">
            <a:extLst>
              <a:ext uri="{FF2B5EF4-FFF2-40B4-BE49-F238E27FC236}">
                <a16:creationId xmlns:a16="http://schemas.microsoft.com/office/drawing/2014/main" id="{53DF5DB2-D402-4ECA-8C19-1ECE687B4A29}"/>
              </a:ext>
            </a:extLst>
          </p:cNvPr>
          <p:cNvCxnSpPr/>
          <p:nvPr/>
        </p:nvCxnSpPr>
        <p:spPr>
          <a:xfrm>
            <a:off x="4480876" y="3910517"/>
            <a:ext cx="57490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275D03B-EF4A-47DD-BE51-682156180052}"/>
              </a:ext>
            </a:extLst>
          </p:cNvPr>
          <p:cNvSpPr txBox="1"/>
          <p:nvPr/>
        </p:nvSpPr>
        <p:spPr>
          <a:xfrm>
            <a:off x="5055785" y="3754663"/>
            <a:ext cx="1710725" cy="307777"/>
          </a:xfrm>
          <a:prstGeom prst="rect">
            <a:avLst/>
          </a:prstGeom>
          <a:noFill/>
        </p:spPr>
        <p:txBody>
          <a:bodyPr wrap="none" rtlCol="0">
            <a:spAutoFit/>
          </a:bodyPr>
          <a:lstStyle/>
          <a:p>
            <a:r>
              <a:rPr lang="en-SG" sz="1400" dirty="0"/>
              <a:t>Test suite/Test target</a:t>
            </a:r>
          </a:p>
        </p:txBody>
      </p:sp>
      <p:sp>
        <p:nvSpPr>
          <p:cNvPr id="10" name="TextBox 9">
            <a:extLst>
              <a:ext uri="{FF2B5EF4-FFF2-40B4-BE49-F238E27FC236}">
                <a16:creationId xmlns:a16="http://schemas.microsoft.com/office/drawing/2014/main" id="{BCB91107-BF00-4949-AB9C-A9317D60EDBA}"/>
              </a:ext>
            </a:extLst>
          </p:cNvPr>
          <p:cNvSpPr txBox="1"/>
          <p:nvPr/>
        </p:nvSpPr>
        <p:spPr>
          <a:xfrm>
            <a:off x="5911147" y="1938781"/>
            <a:ext cx="6094378" cy="1600438"/>
          </a:xfrm>
          <a:prstGeom prst="rect">
            <a:avLst/>
          </a:prstGeom>
          <a:solidFill>
            <a:schemeClr val="accent4"/>
          </a:solidFill>
        </p:spPr>
        <p:txBody>
          <a:bodyPr wrap="square">
            <a:spAutoFit/>
          </a:bodyPr>
          <a:lstStyle/>
          <a:p>
            <a:pPr algn="l">
              <a:buFont typeface="Arial" panose="020B0604020202020204" pitchFamily="34" charset="0"/>
              <a:buChar char="•"/>
            </a:pPr>
            <a:r>
              <a:rPr lang="en-US" sz="1400" b="1" i="0" dirty="0">
                <a:effectLst/>
              </a:rPr>
              <a:t>Test Suite</a:t>
            </a:r>
            <a:r>
              <a:rPr lang="en-US" sz="1400" b="0" i="0" dirty="0">
                <a:effectLst/>
              </a:rPr>
              <a:t> - the target that includes all your </a:t>
            </a:r>
            <a:r>
              <a:rPr lang="en-US" sz="1400" b="0" i="1" dirty="0">
                <a:effectLst/>
              </a:rPr>
              <a:t>test cases</a:t>
            </a:r>
            <a:r>
              <a:rPr lang="en-US" sz="1400" b="0" i="0" dirty="0">
                <a:effectLst/>
              </a:rPr>
              <a:t>.</a:t>
            </a:r>
          </a:p>
          <a:p>
            <a:pPr algn="l">
              <a:buFont typeface="Arial" panose="020B0604020202020204" pitchFamily="34" charset="0"/>
              <a:buChar char="•"/>
            </a:pPr>
            <a:r>
              <a:rPr lang="en-US" sz="1400" b="1" i="0" dirty="0">
                <a:effectLst/>
              </a:rPr>
              <a:t>Test Case</a:t>
            </a:r>
            <a:r>
              <a:rPr lang="en-US" sz="1400" b="0" i="0" dirty="0">
                <a:effectLst/>
              </a:rPr>
              <a:t> - a class consisting of individual tests for related functionality (the Lemonade app had just a single test case but larger apps often have many more).</a:t>
            </a:r>
          </a:p>
          <a:p>
            <a:pPr algn="l">
              <a:buFont typeface="Arial" panose="020B0604020202020204" pitchFamily="34" charset="0"/>
              <a:buChar char="•"/>
            </a:pPr>
            <a:r>
              <a:rPr lang="en-US" sz="1400" b="1" i="0" dirty="0">
                <a:effectLst/>
              </a:rPr>
              <a:t>Test</a:t>
            </a:r>
            <a:r>
              <a:rPr lang="en-US" sz="1400" b="0" i="0" dirty="0">
                <a:effectLst/>
              </a:rPr>
              <a:t> - A function that tests one specific thing.</a:t>
            </a:r>
          </a:p>
          <a:p>
            <a:pPr algn="l">
              <a:buFont typeface="Arial" panose="020B0604020202020204" pitchFamily="34" charset="0"/>
              <a:buChar char="•"/>
            </a:pPr>
            <a:endParaRPr lang="en-US" sz="1400" dirty="0"/>
          </a:p>
          <a:p>
            <a:pPr algn="l"/>
            <a:r>
              <a:rPr lang="en-US" sz="1400" b="0" i="0" dirty="0">
                <a:effectLst/>
              </a:rPr>
              <a:t>A test case can have multiple tests, and your project's test suite can have multiple test cases.</a:t>
            </a:r>
          </a:p>
        </p:txBody>
      </p:sp>
      <p:cxnSp>
        <p:nvCxnSpPr>
          <p:cNvPr id="11" name="Straight Arrow Connector 10">
            <a:extLst>
              <a:ext uri="{FF2B5EF4-FFF2-40B4-BE49-F238E27FC236}">
                <a16:creationId xmlns:a16="http://schemas.microsoft.com/office/drawing/2014/main" id="{9F58521D-FB8C-47BC-AC9B-06932125F69C}"/>
              </a:ext>
            </a:extLst>
          </p:cNvPr>
          <p:cNvCxnSpPr>
            <a:cxnSpLocks/>
          </p:cNvCxnSpPr>
          <p:nvPr/>
        </p:nvCxnSpPr>
        <p:spPr>
          <a:xfrm>
            <a:off x="3028212" y="4354747"/>
            <a:ext cx="202757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2E77A45E-0C10-4590-A733-A87F266EE291}"/>
              </a:ext>
            </a:extLst>
          </p:cNvPr>
          <p:cNvSpPr txBox="1"/>
          <p:nvPr/>
        </p:nvSpPr>
        <p:spPr>
          <a:xfrm>
            <a:off x="5055785" y="4198893"/>
            <a:ext cx="3473515" cy="307777"/>
          </a:xfrm>
          <a:prstGeom prst="rect">
            <a:avLst/>
          </a:prstGeom>
          <a:noFill/>
        </p:spPr>
        <p:txBody>
          <a:bodyPr wrap="none" rtlCol="0">
            <a:spAutoFit/>
          </a:bodyPr>
          <a:lstStyle/>
          <a:p>
            <a:r>
              <a:rPr lang="en-SG" sz="1400" dirty="0"/>
              <a:t>Test case (as </a:t>
            </a:r>
            <a:r>
              <a:rPr lang="en-SG" sz="1400" dirty="0" err="1"/>
              <a:t>LemonadeTests</a:t>
            </a:r>
            <a:r>
              <a:rPr lang="en-SG" sz="1400" dirty="0"/>
              <a:t> only has 1 class)</a:t>
            </a:r>
          </a:p>
        </p:txBody>
      </p:sp>
    </p:spTree>
    <p:extLst>
      <p:ext uri="{BB962C8B-B14F-4D97-AF65-F5344CB8AC3E}">
        <p14:creationId xmlns:p14="http://schemas.microsoft.com/office/powerpoint/2010/main" val="45331988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7F3BCF-756D-4957-BAA4-DEC81E102FDD}"/>
              </a:ext>
            </a:extLst>
          </p:cNvPr>
          <p:cNvSpPr>
            <a:spLocks noGrp="1"/>
          </p:cNvSpPr>
          <p:nvPr>
            <p:ph type="title"/>
          </p:nvPr>
        </p:nvSpPr>
        <p:spPr/>
        <p:txBody>
          <a:bodyPr/>
          <a:lstStyle/>
          <a:p>
            <a:r>
              <a:rPr lang="en-SG" dirty="0"/>
              <a:t>Instrumentation Tests</a:t>
            </a:r>
          </a:p>
        </p:txBody>
      </p:sp>
      <p:sp>
        <p:nvSpPr>
          <p:cNvPr id="9" name="TextBox 8">
            <a:extLst>
              <a:ext uri="{FF2B5EF4-FFF2-40B4-BE49-F238E27FC236}">
                <a16:creationId xmlns:a16="http://schemas.microsoft.com/office/drawing/2014/main" id="{164B065C-B36D-47D0-869E-BDA1721DE734}"/>
              </a:ext>
            </a:extLst>
          </p:cNvPr>
          <p:cNvSpPr txBox="1"/>
          <p:nvPr/>
        </p:nvSpPr>
        <p:spPr>
          <a:xfrm>
            <a:off x="838200" y="1690688"/>
            <a:ext cx="10698804" cy="1015663"/>
          </a:xfrm>
          <a:prstGeom prst="rect">
            <a:avLst/>
          </a:prstGeom>
          <a:noFill/>
        </p:spPr>
        <p:txBody>
          <a:bodyPr wrap="square" rtlCol="0">
            <a:spAutoFit/>
          </a:bodyPr>
          <a:lstStyle/>
          <a:p>
            <a:r>
              <a:rPr lang="en-US" sz="2000" dirty="0"/>
              <a:t>Instrumentation tests require an </a:t>
            </a:r>
            <a:r>
              <a:rPr lang="en-US" sz="2000" dirty="0" err="1"/>
              <a:t>InstrumentationTestRunner</a:t>
            </a:r>
            <a:r>
              <a:rPr lang="en-US" sz="2000" dirty="0"/>
              <a:t>, which allows the test to execute on a device or emulator. There are several other instrumentation runners, but for this test we'll use the AndroidJUnit4 test runner. To specify the test runner, we need to annotate the class with @RunWith.</a:t>
            </a:r>
            <a:endParaRPr lang="en-SG" sz="2000" dirty="0"/>
          </a:p>
        </p:txBody>
      </p:sp>
      <p:pic>
        <p:nvPicPr>
          <p:cNvPr id="4" name="Picture 3">
            <a:extLst>
              <a:ext uri="{FF2B5EF4-FFF2-40B4-BE49-F238E27FC236}">
                <a16:creationId xmlns:a16="http://schemas.microsoft.com/office/drawing/2014/main" id="{5928F23A-B012-4489-9F2B-C8CDA36DDDD1}"/>
              </a:ext>
            </a:extLst>
          </p:cNvPr>
          <p:cNvPicPr>
            <a:picLocks noChangeAspect="1"/>
          </p:cNvPicPr>
          <p:nvPr/>
        </p:nvPicPr>
        <p:blipFill>
          <a:blip r:embed="rId2"/>
          <a:stretch>
            <a:fillRect/>
          </a:stretch>
        </p:blipFill>
        <p:spPr>
          <a:xfrm>
            <a:off x="963625" y="2940695"/>
            <a:ext cx="4130398" cy="1691787"/>
          </a:xfrm>
          <a:prstGeom prst="rect">
            <a:avLst/>
          </a:prstGeom>
        </p:spPr>
      </p:pic>
      <p:sp>
        <p:nvSpPr>
          <p:cNvPr id="12" name="TextBox 11">
            <a:extLst>
              <a:ext uri="{FF2B5EF4-FFF2-40B4-BE49-F238E27FC236}">
                <a16:creationId xmlns:a16="http://schemas.microsoft.com/office/drawing/2014/main" id="{E02574AC-92C5-47AE-B47F-7F9FEA48ACFC}"/>
              </a:ext>
            </a:extLst>
          </p:cNvPr>
          <p:cNvSpPr txBox="1"/>
          <p:nvPr/>
        </p:nvSpPr>
        <p:spPr>
          <a:xfrm>
            <a:off x="838200" y="4866826"/>
            <a:ext cx="10698804" cy="707886"/>
          </a:xfrm>
          <a:prstGeom prst="rect">
            <a:avLst/>
          </a:prstGeom>
          <a:noFill/>
        </p:spPr>
        <p:txBody>
          <a:bodyPr wrap="square" rtlCol="0">
            <a:spAutoFit/>
          </a:bodyPr>
          <a:lstStyle/>
          <a:p>
            <a:r>
              <a:rPr lang="en-US" sz="2000"/>
              <a:t>Espresso is a library that comes ready to use with an Android project when created with Android Studio, and lets you interact with UI components through code.</a:t>
            </a:r>
            <a:endParaRPr lang="en-SG" sz="2000" dirty="0"/>
          </a:p>
        </p:txBody>
      </p:sp>
    </p:spTree>
    <p:extLst>
      <p:ext uri="{BB962C8B-B14F-4D97-AF65-F5344CB8AC3E}">
        <p14:creationId xmlns:p14="http://schemas.microsoft.com/office/powerpoint/2010/main" val="414610365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7F3BCF-756D-4957-BAA4-DEC81E102FDD}"/>
              </a:ext>
            </a:extLst>
          </p:cNvPr>
          <p:cNvSpPr>
            <a:spLocks noGrp="1"/>
          </p:cNvSpPr>
          <p:nvPr>
            <p:ph type="title"/>
          </p:nvPr>
        </p:nvSpPr>
        <p:spPr/>
        <p:txBody>
          <a:bodyPr/>
          <a:lstStyle/>
          <a:p>
            <a:r>
              <a:rPr lang="en-SG" dirty="0"/>
              <a:t>Instrumentation Tests (with Espresso)</a:t>
            </a:r>
          </a:p>
        </p:txBody>
      </p:sp>
      <p:sp>
        <p:nvSpPr>
          <p:cNvPr id="8" name="TextBox 7">
            <a:extLst>
              <a:ext uri="{FF2B5EF4-FFF2-40B4-BE49-F238E27FC236}">
                <a16:creationId xmlns:a16="http://schemas.microsoft.com/office/drawing/2014/main" id="{9D537906-6EFD-4611-838C-EF316179784E}"/>
              </a:ext>
            </a:extLst>
          </p:cNvPr>
          <p:cNvSpPr txBox="1"/>
          <p:nvPr/>
        </p:nvSpPr>
        <p:spPr>
          <a:xfrm>
            <a:off x="935476" y="3091471"/>
            <a:ext cx="10183238" cy="3647152"/>
          </a:xfrm>
          <a:prstGeom prst="rect">
            <a:avLst/>
          </a:prstGeom>
          <a:noFill/>
        </p:spPr>
        <p:txBody>
          <a:bodyPr wrap="square">
            <a:spAutoFit/>
          </a:bodyPr>
          <a:lstStyle/>
          <a:p>
            <a:r>
              <a:rPr lang="en-SG" sz="1400" dirty="0">
                <a:solidFill>
                  <a:srgbClr val="FF0000"/>
                </a:solidFill>
                <a:latin typeface="Lucida Console" panose="020B0609040504020204" pitchFamily="49" charset="0"/>
              </a:rPr>
              <a:t>@Test</a:t>
            </a:r>
          </a:p>
          <a:p>
            <a:r>
              <a:rPr lang="en-SG" sz="1400" dirty="0">
                <a:latin typeface="Lucida Console" panose="020B0609040504020204" pitchFamily="49" charset="0"/>
              </a:rPr>
              <a:t>fun calculate_20_percent_tip() {</a:t>
            </a:r>
          </a:p>
          <a:p>
            <a:r>
              <a:rPr lang="en-SG" sz="1050" dirty="0">
                <a:latin typeface="Lucida Console" panose="020B0609040504020204" pitchFamily="49" charset="0"/>
              </a:rPr>
              <a:t>        /* 1. Test </a:t>
            </a:r>
            <a:r>
              <a:rPr lang="en-SG" sz="1050" dirty="0" err="1">
                <a:latin typeface="Lucida Console" panose="020B0609040504020204" pitchFamily="49" charset="0"/>
              </a:rPr>
              <a:t>EditText</a:t>
            </a:r>
            <a:r>
              <a:rPr lang="en-SG" sz="1050" dirty="0">
                <a:latin typeface="Lucida Console" panose="020B0609040504020204" pitchFamily="49" charset="0"/>
              </a:rPr>
              <a:t> element with input */    	</a:t>
            </a:r>
            <a:r>
              <a:rPr lang="en-SG" sz="1050" dirty="0" err="1">
                <a:latin typeface="Lucida Console" panose="020B0609040504020204" pitchFamily="49" charset="0"/>
              </a:rPr>
              <a:t>onView</a:t>
            </a:r>
            <a:r>
              <a:rPr lang="en-SG" sz="1050" dirty="0">
                <a:latin typeface="Lucida Console" panose="020B0609040504020204" pitchFamily="49" charset="0"/>
              </a:rPr>
              <a:t>(</a:t>
            </a:r>
            <a:r>
              <a:rPr lang="en-SG" sz="1050" dirty="0" err="1">
                <a:latin typeface="Lucida Console" panose="020B0609040504020204" pitchFamily="49" charset="0"/>
              </a:rPr>
              <a:t>withId</a:t>
            </a:r>
            <a:r>
              <a:rPr lang="en-SG" sz="1050" dirty="0">
                <a:latin typeface="Lucida Console" panose="020B0609040504020204" pitchFamily="49" charset="0"/>
              </a:rPr>
              <a:t>(</a:t>
            </a:r>
            <a:r>
              <a:rPr lang="en-SG" sz="1050" dirty="0" err="1">
                <a:latin typeface="Lucida Console" panose="020B0609040504020204" pitchFamily="49" charset="0"/>
              </a:rPr>
              <a:t>R.id.new_cost_of_service</a:t>
            </a:r>
            <a:r>
              <a:rPr lang="en-SG" sz="1050" dirty="0">
                <a:latin typeface="Lucida Console" panose="020B0609040504020204" pitchFamily="49" charset="0"/>
              </a:rPr>
              <a:t>)).perform(</a:t>
            </a:r>
            <a:r>
              <a:rPr lang="en-SG" sz="1050" dirty="0" err="1">
                <a:latin typeface="Lucida Console" panose="020B0609040504020204" pitchFamily="49" charset="0"/>
              </a:rPr>
              <a:t>typeText</a:t>
            </a:r>
            <a:r>
              <a:rPr lang="en-SG" sz="1050" dirty="0">
                <a:latin typeface="Lucida Console" panose="020B0609040504020204" pitchFamily="49" charset="0"/>
              </a:rPr>
              <a:t>("50.00")).perform(</a:t>
            </a:r>
            <a:r>
              <a:rPr lang="en-SG" sz="1050" dirty="0" err="1">
                <a:latin typeface="Lucida Console" panose="020B0609040504020204" pitchFamily="49" charset="0"/>
              </a:rPr>
              <a:t>ViewActions.closeSoftKeyboard</a:t>
            </a:r>
            <a:r>
              <a:rPr lang="en-SG" sz="1050" dirty="0">
                <a:latin typeface="Lucida Console" panose="020B0609040504020204" pitchFamily="49" charset="0"/>
              </a:rPr>
              <a:t>())</a:t>
            </a:r>
          </a:p>
          <a:p>
            <a:r>
              <a:rPr lang="en-SG" sz="1050" dirty="0">
                <a:latin typeface="Lucida Console" panose="020B0609040504020204" pitchFamily="49" charset="0"/>
              </a:rPr>
              <a:t>        /* 2. Test click Button element to calculate */</a:t>
            </a:r>
          </a:p>
          <a:p>
            <a:r>
              <a:rPr lang="en-SG" sz="1050" dirty="0">
                <a:latin typeface="Lucida Console" panose="020B0609040504020204" pitchFamily="49" charset="0"/>
              </a:rPr>
              <a:t>        	</a:t>
            </a:r>
            <a:r>
              <a:rPr lang="en-SG" sz="1050" dirty="0" err="1">
                <a:latin typeface="Lucida Console" panose="020B0609040504020204" pitchFamily="49" charset="0"/>
              </a:rPr>
              <a:t>onView</a:t>
            </a:r>
            <a:r>
              <a:rPr lang="en-SG" sz="1050" dirty="0">
                <a:latin typeface="Lucida Console" panose="020B0609040504020204" pitchFamily="49" charset="0"/>
              </a:rPr>
              <a:t>(</a:t>
            </a:r>
            <a:r>
              <a:rPr lang="en-SG" sz="1050" dirty="0" err="1">
                <a:latin typeface="Lucida Console" panose="020B0609040504020204" pitchFamily="49" charset="0"/>
              </a:rPr>
              <a:t>withId</a:t>
            </a:r>
            <a:r>
              <a:rPr lang="en-SG" sz="1050" dirty="0">
                <a:latin typeface="Lucida Console" panose="020B0609040504020204" pitchFamily="49" charset="0"/>
              </a:rPr>
              <a:t>(</a:t>
            </a:r>
            <a:r>
              <a:rPr lang="en-SG" sz="1050" dirty="0" err="1">
                <a:latin typeface="Lucida Console" panose="020B0609040504020204" pitchFamily="49" charset="0"/>
              </a:rPr>
              <a:t>R.id.calculate_button</a:t>
            </a:r>
            <a:r>
              <a:rPr lang="en-SG" sz="1050" dirty="0">
                <a:latin typeface="Lucida Console" panose="020B0609040504020204" pitchFamily="49" charset="0"/>
              </a:rPr>
              <a:t>)).perform(click())</a:t>
            </a:r>
          </a:p>
          <a:p>
            <a:r>
              <a:rPr lang="en-SG" sz="1050" dirty="0">
                <a:latin typeface="Lucida Console" panose="020B0609040504020204" pitchFamily="49" charset="0"/>
              </a:rPr>
              <a:t>        /* 3. Test check if tip amount matches $10 - because 20% of $50 is $10 */</a:t>
            </a:r>
          </a:p>
          <a:p>
            <a:r>
              <a:rPr lang="en-SG" sz="1050" dirty="0">
                <a:latin typeface="Lucida Console" panose="020B0609040504020204" pitchFamily="49" charset="0"/>
              </a:rPr>
              <a:t>        	</a:t>
            </a:r>
            <a:r>
              <a:rPr lang="en-SG" sz="1050" dirty="0" err="1">
                <a:latin typeface="Lucida Console" panose="020B0609040504020204" pitchFamily="49" charset="0"/>
              </a:rPr>
              <a:t>onView</a:t>
            </a:r>
            <a:r>
              <a:rPr lang="en-SG" sz="1050" dirty="0">
                <a:latin typeface="Lucida Console" panose="020B0609040504020204" pitchFamily="49" charset="0"/>
              </a:rPr>
              <a:t>(</a:t>
            </a:r>
            <a:r>
              <a:rPr lang="en-SG" sz="1050" dirty="0" err="1">
                <a:latin typeface="Lucida Console" panose="020B0609040504020204" pitchFamily="49" charset="0"/>
              </a:rPr>
              <a:t>withId</a:t>
            </a:r>
            <a:r>
              <a:rPr lang="en-SG" sz="1050" dirty="0">
                <a:latin typeface="Lucida Console" panose="020B0609040504020204" pitchFamily="49" charset="0"/>
              </a:rPr>
              <a:t>(</a:t>
            </a:r>
            <a:r>
              <a:rPr lang="en-SG" sz="1050" dirty="0" err="1">
                <a:latin typeface="Lucida Console" panose="020B0609040504020204" pitchFamily="49" charset="0"/>
              </a:rPr>
              <a:t>R.id.tip_result</a:t>
            </a:r>
            <a:r>
              <a:rPr lang="en-SG" sz="1050" dirty="0">
                <a:latin typeface="Lucida Console" panose="020B0609040504020204" pitchFamily="49" charset="0"/>
              </a:rPr>
              <a:t>)).check(matches(</a:t>
            </a:r>
            <a:r>
              <a:rPr lang="en-SG" sz="1050" dirty="0" err="1">
                <a:latin typeface="Lucida Console" panose="020B0609040504020204" pitchFamily="49" charset="0"/>
              </a:rPr>
              <a:t>withText</a:t>
            </a:r>
            <a:r>
              <a:rPr lang="en-SG" sz="1050" dirty="0">
                <a:latin typeface="Lucida Console" panose="020B0609040504020204" pitchFamily="49" charset="0"/>
              </a:rPr>
              <a:t>(</a:t>
            </a:r>
            <a:r>
              <a:rPr lang="en-SG" sz="1050" dirty="0" err="1">
                <a:latin typeface="Lucida Console" panose="020B0609040504020204" pitchFamily="49" charset="0"/>
              </a:rPr>
              <a:t>containsString</a:t>
            </a:r>
            <a:r>
              <a:rPr lang="en-SG" sz="1050" dirty="0">
                <a:latin typeface="Lucida Console" panose="020B0609040504020204" pitchFamily="49" charset="0"/>
              </a:rPr>
              <a:t>("$10.00"))))</a:t>
            </a:r>
          </a:p>
          <a:p>
            <a:r>
              <a:rPr lang="en-SG" sz="1400" dirty="0">
                <a:latin typeface="Lucida Console" panose="020B0609040504020204" pitchFamily="49" charset="0"/>
              </a:rPr>
              <a:t>}</a:t>
            </a:r>
          </a:p>
          <a:p>
            <a:endParaRPr lang="en-SG" sz="1400" dirty="0">
              <a:latin typeface="Lucida Console" panose="020B0609040504020204" pitchFamily="49" charset="0"/>
            </a:endParaRPr>
          </a:p>
          <a:p>
            <a:r>
              <a:rPr lang="en-SG" sz="1400" dirty="0">
                <a:solidFill>
                  <a:srgbClr val="FF0000"/>
                </a:solidFill>
                <a:latin typeface="Lucida Console" panose="020B0609040504020204" pitchFamily="49" charset="0"/>
              </a:rPr>
              <a:t>@Test</a:t>
            </a:r>
          </a:p>
          <a:p>
            <a:r>
              <a:rPr lang="en-SG" sz="1400" dirty="0">
                <a:latin typeface="Lucida Console" panose="020B0609040504020204" pitchFamily="49" charset="0"/>
              </a:rPr>
              <a:t>fun calculate_15_percent_tip_roundup() {</a:t>
            </a:r>
          </a:p>
          <a:p>
            <a:r>
              <a:rPr lang="en-SG" sz="1400" dirty="0">
                <a:latin typeface="Lucida Console" panose="020B0609040504020204" pitchFamily="49" charset="0"/>
              </a:rPr>
              <a:t>       </a:t>
            </a:r>
            <a:r>
              <a:rPr lang="en-SG" sz="1200" dirty="0" err="1">
                <a:highlight>
                  <a:srgbClr val="FFF169"/>
                </a:highlight>
                <a:latin typeface="Lucida Console" panose="020B0609040504020204" pitchFamily="49" charset="0"/>
              </a:rPr>
              <a:t>onView</a:t>
            </a:r>
            <a:r>
              <a:rPr lang="en-SG" sz="1200" dirty="0">
                <a:latin typeface="Lucida Console" panose="020B0609040504020204" pitchFamily="49" charset="0"/>
              </a:rPr>
              <a:t>(</a:t>
            </a:r>
            <a:r>
              <a:rPr lang="en-SG" sz="1200" dirty="0" err="1">
                <a:highlight>
                  <a:srgbClr val="FFF169"/>
                </a:highlight>
                <a:latin typeface="Lucida Console" panose="020B0609040504020204" pitchFamily="49" charset="0"/>
              </a:rPr>
              <a:t>withId</a:t>
            </a:r>
            <a:r>
              <a:rPr lang="en-SG" sz="1200" dirty="0">
                <a:latin typeface="Lucida Console" panose="020B0609040504020204" pitchFamily="49" charset="0"/>
              </a:rPr>
              <a:t>(</a:t>
            </a:r>
            <a:r>
              <a:rPr lang="en-SG" sz="1200" dirty="0" err="1">
                <a:latin typeface="Lucida Console" panose="020B0609040504020204" pitchFamily="49" charset="0"/>
              </a:rPr>
              <a:t>R.id.new_cost_of_service</a:t>
            </a:r>
            <a:r>
              <a:rPr lang="en-SG" sz="1200" dirty="0">
                <a:latin typeface="Lucida Console" panose="020B0609040504020204" pitchFamily="49" charset="0"/>
              </a:rPr>
              <a:t>)).perform(</a:t>
            </a:r>
            <a:r>
              <a:rPr lang="en-SG" sz="1200" dirty="0" err="1">
                <a:highlight>
                  <a:srgbClr val="00FFFF"/>
                </a:highlight>
                <a:latin typeface="Lucida Console" panose="020B0609040504020204" pitchFamily="49" charset="0"/>
              </a:rPr>
              <a:t>typeText</a:t>
            </a:r>
            <a:r>
              <a:rPr lang="en-SG" sz="1200" dirty="0">
                <a:latin typeface="Lucida Console" panose="020B0609040504020204" pitchFamily="49" charset="0"/>
              </a:rPr>
              <a:t>("15"))</a:t>
            </a:r>
          </a:p>
          <a:p>
            <a:r>
              <a:rPr lang="en-SG" sz="1200" dirty="0">
                <a:latin typeface="Lucida Console" panose="020B0609040504020204" pitchFamily="49" charset="0"/>
              </a:rPr>
              <a:t>        </a:t>
            </a:r>
            <a:r>
              <a:rPr lang="en-SG" sz="1200" dirty="0" err="1">
                <a:latin typeface="Lucida Console" panose="020B0609040504020204" pitchFamily="49" charset="0"/>
              </a:rPr>
              <a:t>onView</a:t>
            </a:r>
            <a:r>
              <a:rPr lang="en-SG" sz="1200" dirty="0">
                <a:latin typeface="Lucida Console" panose="020B0609040504020204" pitchFamily="49" charset="0"/>
              </a:rPr>
              <a:t>(</a:t>
            </a:r>
            <a:r>
              <a:rPr lang="en-SG" sz="1200" dirty="0" err="1">
                <a:latin typeface="Lucida Console" panose="020B0609040504020204" pitchFamily="49" charset="0"/>
              </a:rPr>
              <a:t>withId</a:t>
            </a:r>
            <a:r>
              <a:rPr lang="en-SG" sz="1200" dirty="0">
                <a:latin typeface="Lucida Console" panose="020B0609040504020204" pitchFamily="49" charset="0"/>
              </a:rPr>
              <a:t>(</a:t>
            </a:r>
            <a:r>
              <a:rPr lang="en-SG" sz="1200" dirty="0" err="1">
                <a:latin typeface="Lucida Console" panose="020B0609040504020204" pitchFamily="49" charset="0"/>
              </a:rPr>
              <a:t>R.id.option_fifteen_percent</a:t>
            </a:r>
            <a:r>
              <a:rPr lang="en-SG" sz="1200" dirty="0">
                <a:latin typeface="Lucida Console" panose="020B0609040504020204" pitchFamily="49" charset="0"/>
              </a:rPr>
              <a:t>)).perform(</a:t>
            </a:r>
            <a:r>
              <a:rPr lang="en-SG" sz="1200" dirty="0">
                <a:highlight>
                  <a:srgbClr val="00FF00"/>
                </a:highlight>
                <a:latin typeface="Lucida Console" panose="020B0609040504020204" pitchFamily="49" charset="0"/>
              </a:rPr>
              <a:t>click</a:t>
            </a:r>
            <a:r>
              <a:rPr lang="en-SG" sz="1200" dirty="0">
                <a:latin typeface="Lucida Console" panose="020B0609040504020204" pitchFamily="49" charset="0"/>
              </a:rPr>
              <a:t>())</a:t>
            </a:r>
          </a:p>
          <a:p>
            <a:r>
              <a:rPr lang="en-SG" sz="1200" dirty="0">
                <a:latin typeface="Lucida Console" panose="020B0609040504020204" pitchFamily="49" charset="0"/>
              </a:rPr>
              <a:t>        </a:t>
            </a:r>
            <a:r>
              <a:rPr lang="en-SG" sz="1200" dirty="0" err="1">
                <a:latin typeface="Lucida Console" panose="020B0609040504020204" pitchFamily="49" charset="0"/>
              </a:rPr>
              <a:t>onView</a:t>
            </a:r>
            <a:r>
              <a:rPr lang="en-SG" sz="1200" dirty="0">
                <a:latin typeface="Lucida Console" panose="020B0609040504020204" pitchFamily="49" charset="0"/>
              </a:rPr>
              <a:t>(</a:t>
            </a:r>
            <a:r>
              <a:rPr lang="en-SG" sz="1200" dirty="0" err="1">
                <a:latin typeface="Lucida Console" panose="020B0609040504020204" pitchFamily="49" charset="0"/>
              </a:rPr>
              <a:t>withId</a:t>
            </a:r>
            <a:r>
              <a:rPr lang="en-SG" sz="1200" dirty="0">
                <a:latin typeface="Lucida Console" panose="020B0609040504020204" pitchFamily="49" charset="0"/>
              </a:rPr>
              <a:t>(</a:t>
            </a:r>
            <a:r>
              <a:rPr lang="en-SG" sz="1200" dirty="0" err="1">
                <a:latin typeface="Lucida Console" panose="020B0609040504020204" pitchFamily="49" charset="0"/>
              </a:rPr>
              <a:t>R.id.round_up_switch</a:t>
            </a:r>
            <a:r>
              <a:rPr lang="en-SG" sz="1200" dirty="0">
                <a:latin typeface="Lucida Console" panose="020B0609040504020204" pitchFamily="49" charset="0"/>
              </a:rPr>
              <a:t>)).perform(click())</a:t>
            </a:r>
          </a:p>
          <a:p>
            <a:r>
              <a:rPr lang="en-SG" sz="1200" dirty="0">
                <a:latin typeface="Lucida Console" panose="020B0609040504020204" pitchFamily="49" charset="0"/>
              </a:rPr>
              <a:t>        </a:t>
            </a:r>
            <a:r>
              <a:rPr lang="en-SG" sz="1200" dirty="0" err="1">
                <a:latin typeface="Lucida Console" panose="020B0609040504020204" pitchFamily="49" charset="0"/>
              </a:rPr>
              <a:t>onView</a:t>
            </a:r>
            <a:r>
              <a:rPr lang="en-SG" sz="1200" dirty="0">
                <a:latin typeface="Lucida Console" panose="020B0609040504020204" pitchFamily="49" charset="0"/>
              </a:rPr>
              <a:t>(</a:t>
            </a:r>
            <a:r>
              <a:rPr lang="en-SG" sz="1200" dirty="0" err="1">
                <a:latin typeface="Lucida Console" panose="020B0609040504020204" pitchFamily="49" charset="0"/>
              </a:rPr>
              <a:t>withId</a:t>
            </a:r>
            <a:r>
              <a:rPr lang="en-SG" sz="1200" dirty="0">
                <a:latin typeface="Lucida Console" panose="020B0609040504020204" pitchFamily="49" charset="0"/>
              </a:rPr>
              <a:t>(</a:t>
            </a:r>
            <a:r>
              <a:rPr lang="en-SG" sz="1200" dirty="0" err="1">
                <a:latin typeface="Lucida Console" panose="020B0609040504020204" pitchFamily="49" charset="0"/>
              </a:rPr>
              <a:t>R.id.calculate_button</a:t>
            </a:r>
            <a:r>
              <a:rPr lang="en-SG" sz="1200" dirty="0">
                <a:latin typeface="Lucida Console" panose="020B0609040504020204" pitchFamily="49" charset="0"/>
              </a:rPr>
              <a:t>)).perform(click())</a:t>
            </a:r>
          </a:p>
          <a:p>
            <a:r>
              <a:rPr lang="en-SG" sz="1200" dirty="0">
                <a:latin typeface="Lucida Console" panose="020B0609040504020204" pitchFamily="49" charset="0"/>
              </a:rPr>
              <a:t>        </a:t>
            </a:r>
            <a:r>
              <a:rPr lang="en-SG" sz="1200" dirty="0" err="1">
                <a:latin typeface="Lucida Console" panose="020B0609040504020204" pitchFamily="49" charset="0"/>
              </a:rPr>
              <a:t>onView</a:t>
            </a:r>
            <a:r>
              <a:rPr lang="en-SG" sz="1200" dirty="0">
                <a:latin typeface="Lucida Console" panose="020B0609040504020204" pitchFamily="49" charset="0"/>
              </a:rPr>
              <a:t>(</a:t>
            </a:r>
            <a:r>
              <a:rPr lang="en-SG" sz="1200" dirty="0" err="1">
                <a:latin typeface="Lucida Console" panose="020B0609040504020204" pitchFamily="49" charset="0"/>
              </a:rPr>
              <a:t>withId</a:t>
            </a:r>
            <a:r>
              <a:rPr lang="en-SG" sz="1200" dirty="0">
                <a:latin typeface="Lucida Console" panose="020B0609040504020204" pitchFamily="49" charset="0"/>
              </a:rPr>
              <a:t>(</a:t>
            </a:r>
            <a:r>
              <a:rPr lang="en-SG" sz="1200" dirty="0" err="1">
                <a:latin typeface="Lucida Console" panose="020B0609040504020204" pitchFamily="49" charset="0"/>
              </a:rPr>
              <a:t>R.id.tip_result</a:t>
            </a:r>
            <a:r>
              <a:rPr lang="en-SG" sz="1200" dirty="0">
                <a:latin typeface="Lucida Console" panose="020B0609040504020204" pitchFamily="49" charset="0"/>
              </a:rPr>
              <a:t>)).check(</a:t>
            </a:r>
            <a:r>
              <a:rPr lang="en-SG" sz="1200" dirty="0">
                <a:highlight>
                  <a:srgbClr val="C0C0C0"/>
                </a:highlight>
                <a:latin typeface="Lucida Console" panose="020B0609040504020204" pitchFamily="49" charset="0"/>
              </a:rPr>
              <a:t>matches</a:t>
            </a:r>
            <a:r>
              <a:rPr lang="en-SG" sz="1200" dirty="0">
                <a:latin typeface="Lucida Console" panose="020B0609040504020204" pitchFamily="49" charset="0"/>
              </a:rPr>
              <a:t>(</a:t>
            </a:r>
            <a:r>
              <a:rPr lang="en-SG" sz="1200" dirty="0" err="1">
                <a:highlight>
                  <a:srgbClr val="FFF169"/>
                </a:highlight>
                <a:latin typeface="Lucida Console" panose="020B0609040504020204" pitchFamily="49" charset="0"/>
              </a:rPr>
              <a:t>withText</a:t>
            </a:r>
            <a:r>
              <a:rPr lang="en-SG" sz="1200" dirty="0">
                <a:latin typeface="Lucida Console" panose="020B0609040504020204" pitchFamily="49" charset="0"/>
              </a:rPr>
              <a:t>(</a:t>
            </a:r>
            <a:r>
              <a:rPr lang="en-SG" sz="1200" dirty="0" err="1">
                <a:highlight>
                  <a:srgbClr val="C0C0C0"/>
                </a:highlight>
                <a:latin typeface="Lucida Console" panose="020B0609040504020204" pitchFamily="49" charset="0"/>
              </a:rPr>
              <a:t>containsString</a:t>
            </a:r>
            <a:r>
              <a:rPr lang="en-SG" sz="1200" dirty="0">
                <a:latin typeface="Lucida Console" panose="020B0609040504020204" pitchFamily="49" charset="0"/>
              </a:rPr>
              <a:t>("$2"))))</a:t>
            </a:r>
            <a:endParaRPr lang="en-SG" sz="1400" dirty="0">
              <a:latin typeface="Lucida Console" panose="020B0609040504020204" pitchFamily="49" charset="0"/>
            </a:endParaRPr>
          </a:p>
          <a:p>
            <a:r>
              <a:rPr lang="en-SG" sz="1400" dirty="0">
                <a:latin typeface="Lucida Console" panose="020B0609040504020204" pitchFamily="49" charset="0"/>
              </a:rPr>
              <a:t>}</a:t>
            </a:r>
          </a:p>
        </p:txBody>
      </p:sp>
      <p:sp>
        <p:nvSpPr>
          <p:cNvPr id="13" name="TextBox 12">
            <a:extLst>
              <a:ext uri="{FF2B5EF4-FFF2-40B4-BE49-F238E27FC236}">
                <a16:creationId xmlns:a16="http://schemas.microsoft.com/office/drawing/2014/main" id="{91DB8B0B-8058-43F6-9811-B7DBBCD3A0E2}"/>
              </a:ext>
            </a:extLst>
          </p:cNvPr>
          <p:cNvSpPr txBox="1"/>
          <p:nvPr/>
        </p:nvSpPr>
        <p:spPr>
          <a:xfrm>
            <a:off x="935476" y="1567260"/>
            <a:ext cx="8071525" cy="1323439"/>
          </a:xfrm>
          <a:prstGeom prst="rect">
            <a:avLst/>
          </a:prstGeom>
          <a:noFill/>
        </p:spPr>
        <p:txBody>
          <a:bodyPr wrap="square">
            <a:spAutoFit/>
          </a:bodyPr>
          <a:lstStyle/>
          <a:p>
            <a:r>
              <a:rPr lang="en-SG" sz="1000" dirty="0">
                <a:latin typeface="Lucida Console" panose="020B0609040504020204" pitchFamily="49" charset="0"/>
              </a:rPr>
              <a:t>import </a:t>
            </a:r>
            <a:r>
              <a:rPr lang="en-SG" sz="1000" dirty="0" err="1">
                <a:latin typeface="Lucida Console" panose="020B0609040504020204" pitchFamily="49" charset="0"/>
              </a:rPr>
              <a:t>androidx.test.espresso.Espresso.</a:t>
            </a:r>
            <a:r>
              <a:rPr lang="en-SG" sz="1000" dirty="0" err="1">
                <a:highlight>
                  <a:srgbClr val="FFFF00"/>
                </a:highlight>
                <a:latin typeface="Lucida Console" panose="020B0609040504020204" pitchFamily="49" charset="0"/>
              </a:rPr>
              <a:t>onView</a:t>
            </a:r>
            <a:endParaRPr lang="en-SG" sz="1000" dirty="0">
              <a:highlight>
                <a:srgbClr val="FFFF00"/>
              </a:highlight>
              <a:latin typeface="Lucida Console" panose="020B0609040504020204" pitchFamily="49" charset="0"/>
            </a:endParaRPr>
          </a:p>
          <a:p>
            <a:r>
              <a:rPr lang="en-SG" sz="1000" dirty="0">
                <a:latin typeface="Lucida Console" panose="020B0609040504020204" pitchFamily="49" charset="0"/>
              </a:rPr>
              <a:t>import </a:t>
            </a:r>
            <a:r>
              <a:rPr lang="en-SG" sz="1000" dirty="0" err="1">
                <a:latin typeface="Lucida Console" panose="020B0609040504020204" pitchFamily="49" charset="0"/>
              </a:rPr>
              <a:t>androidx.test.espresso.action.ViewActions</a:t>
            </a:r>
            <a:endParaRPr lang="en-SG" sz="1000" dirty="0">
              <a:latin typeface="Lucida Console" panose="020B0609040504020204" pitchFamily="49" charset="0"/>
            </a:endParaRPr>
          </a:p>
          <a:p>
            <a:r>
              <a:rPr lang="en-SG" sz="1000" dirty="0">
                <a:latin typeface="Lucida Console" panose="020B0609040504020204" pitchFamily="49" charset="0"/>
              </a:rPr>
              <a:t>import </a:t>
            </a:r>
            <a:r>
              <a:rPr lang="en-SG" sz="1000" dirty="0" err="1">
                <a:latin typeface="Lucida Console" panose="020B0609040504020204" pitchFamily="49" charset="0"/>
              </a:rPr>
              <a:t>androidx.test.espresso.action.ViewActions.</a:t>
            </a:r>
            <a:r>
              <a:rPr lang="en-SG" sz="1000" dirty="0" err="1">
                <a:highlight>
                  <a:srgbClr val="00FF00"/>
                </a:highlight>
                <a:latin typeface="Lucida Console" panose="020B0609040504020204" pitchFamily="49" charset="0"/>
              </a:rPr>
              <a:t>click</a:t>
            </a:r>
            <a:endParaRPr lang="en-SG" sz="1000" dirty="0">
              <a:highlight>
                <a:srgbClr val="00FF00"/>
              </a:highlight>
              <a:latin typeface="Lucida Console" panose="020B0609040504020204" pitchFamily="49" charset="0"/>
            </a:endParaRPr>
          </a:p>
          <a:p>
            <a:r>
              <a:rPr lang="en-SG" sz="1000" dirty="0">
                <a:latin typeface="Lucida Console" panose="020B0609040504020204" pitchFamily="49" charset="0"/>
              </a:rPr>
              <a:t>import </a:t>
            </a:r>
            <a:r>
              <a:rPr lang="en-SG" sz="1000" dirty="0" err="1">
                <a:latin typeface="Lucida Console" panose="020B0609040504020204" pitchFamily="49" charset="0"/>
              </a:rPr>
              <a:t>androidx.test.espresso.action.ViewActions.</a:t>
            </a:r>
            <a:r>
              <a:rPr lang="en-SG" sz="1000" dirty="0" err="1">
                <a:highlight>
                  <a:srgbClr val="00FFFF"/>
                </a:highlight>
                <a:latin typeface="Lucida Console" panose="020B0609040504020204" pitchFamily="49" charset="0"/>
              </a:rPr>
              <a:t>typeText</a:t>
            </a:r>
            <a:endParaRPr lang="en-SG" sz="1000" dirty="0">
              <a:highlight>
                <a:srgbClr val="00FFFF"/>
              </a:highlight>
              <a:latin typeface="Lucida Console" panose="020B0609040504020204" pitchFamily="49" charset="0"/>
            </a:endParaRPr>
          </a:p>
          <a:p>
            <a:r>
              <a:rPr lang="en-SG" sz="1000" dirty="0">
                <a:latin typeface="Lucida Console" panose="020B0609040504020204" pitchFamily="49" charset="0"/>
              </a:rPr>
              <a:t>import </a:t>
            </a:r>
            <a:r>
              <a:rPr lang="en-SG" sz="1000" dirty="0" err="1">
                <a:latin typeface="Lucida Console" panose="020B0609040504020204" pitchFamily="49" charset="0"/>
              </a:rPr>
              <a:t>androidx.test.espresso.assertion.ViewAssertions.</a:t>
            </a:r>
            <a:r>
              <a:rPr lang="en-SG" sz="1000" dirty="0" err="1">
                <a:highlight>
                  <a:srgbClr val="C0C0C0"/>
                </a:highlight>
                <a:latin typeface="Lucida Console" panose="020B0609040504020204" pitchFamily="49" charset="0"/>
              </a:rPr>
              <a:t>matches</a:t>
            </a:r>
            <a:endParaRPr lang="en-SG" sz="1000" dirty="0">
              <a:highlight>
                <a:srgbClr val="C0C0C0"/>
              </a:highlight>
              <a:latin typeface="Lucida Console" panose="020B0609040504020204" pitchFamily="49" charset="0"/>
            </a:endParaRPr>
          </a:p>
          <a:p>
            <a:r>
              <a:rPr lang="en-SG" sz="1000" dirty="0">
                <a:latin typeface="Lucida Console" panose="020B0609040504020204" pitchFamily="49" charset="0"/>
              </a:rPr>
              <a:t>import </a:t>
            </a:r>
            <a:r>
              <a:rPr lang="en-SG" sz="1000" dirty="0" err="1">
                <a:latin typeface="Lucida Console" panose="020B0609040504020204" pitchFamily="49" charset="0"/>
              </a:rPr>
              <a:t>androidx.test.espresso.matcher.ViewMatchers.</a:t>
            </a:r>
            <a:r>
              <a:rPr lang="en-SG" sz="1000" dirty="0" err="1">
                <a:highlight>
                  <a:srgbClr val="FFF169"/>
                </a:highlight>
                <a:latin typeface="Lucida Console" panose="020B0609040504020204" pitchFamily="49" charset="0"/>
              </a:rPr>
              <a:t>withId</a:t>
            </a:r>
            <a:endParaRPr lang="en-SG" sz="1000" dirty="0">
              <a:highlight>
                <a:srgbClr val="FFF169"/>
              </a:highlight>
              <a:latin typeface="Lucida Console" panose="020B0609040504020204" pitchFamily="49" charset="0"/>
            </a:endParaRPr>
          </a:p>
          <a:p>
            <a:r>
              <a:rPr lang="en-SG" sz="1000" dirty="0">
                <a:latin typeface="Lucida Console" panose="020B0609040504020204" pitchFamily="49" charset="0"/>
              </a:rPr>
              <a:t>import </a:t>
            </a:r>
            <a:r>
              <a:rPr lang="en-SG" sz="1000" dirty="0" err="1">
                <a:latin typeface="Lucida Console" panose="020B0609040504020204" pitchFamily="49" charset="0"/>
              </a:rPr>
              <a:t>androidx.test.espresso.matcher.ViewMatchers.</a:t>
            </a:r>
            <a:r>
              <a:rPr lang="en-SG" sz="1000" dirty="0" err="1">
                <a:highlight>
                  <a:srgbClr val="FFF169"/>
                </a:highlight>
                <a:latin typeface="Lucida Console" panose="020B0609040504020204" pitchFamily="49" charset="0"/>
              </a:rPr>
              <a:t>withText</a:t>
            </a:r>
            <a:endParaRPr lang="en-SG" sz="1000" dirty="0">
              <a:highlight>
                <a:srgbClr val="FFF169"/>
              </a:highlight>
              <a:latin typeface="Lucida Console" panose="020B0609040504020204" pitchFamily="49" charset="0"/>
            </a:endParaRPr>
          </a:p>
          <a:p>
            <a:r>
              <a:rPr lang="en-SG" sz="1000" dirty="0">
                <a:latin typeface="Lucida Console" panose="020B0609040504020204" pitchFamily="49" charset="0"/>
              </a:rPr>
              <a:t>import </a:t>
            </a:r>
            <a:r>
              <a:rPr lang="en-SG" sz="1000" dirty="0" err="1">
                <a:latin typeface="Lucida Console" panose="020B0609040504020204" pitchFamily="49" charset="0"/>
              </a:rPr>
              <a:t>org.hamcrest.Matchers.</a:t>
            </a:r>
            <a:r>
              <a:rPr lang="en-SG" sz="1000" dirty="0" err="1">
                <a:highlight>
                  <a:srgbClr val="C0C0C0"/>
                </a:highlight>
                <a:latin typeface="Lucida Console" panose="020B0609040504020204" pitchFamily="49" charset="0"/>
              </a:rPr>
              <a:t>containsString</a:t>
            </a:r>
            <a:endParaRPr lang="en-SG" sz="1000" dirty="0">
              <a:highlight>
                <a:srgbClr val="C0C0C0"/>
              </a:highlight>
              <a:latin typeface="Lucida Console" panose="020B0609040504020204" pitchFamily="49" charset="0"/>
            </a:endParaRPr>
          </a:p>
        </p:txBody>
      </p:sp>
    </p:spTree>
    <p:extLst>
      <p:ext uri="{BB962C8B-B14F-4D97-AF65-F5344CB8AC3E}">
        <p14:creationId xmlns:p14="http://schemas.microsoft.com/office/powerpoint/2010/main" val="91777483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Unit Tests</a:t>
            </a:r>
          </a:p>
        </p:txBody>
      </p:sp>
      <p:pic>
        <p:nvPicPr>
          <p:cNvPr id="5" name="Picture 4">
            <a:extLst>
              <a:ext uri="{FF2B5EF4-FFF2-40B4-BE49-F238E27FC236}">
                <a16:creationId xmlns:a16="http://schemas.microsoft.com/office/drawing/2014/main" id="{9B6D26BB-E483-4C5A-9EFA-81998D17D846}"/>
              </a:ext>
            </a:extLst>
          </p:cNvPr>
          <p:cNvPicPr>
            <a:picLocks noChangeAspect="1"/>
          </p:cNvPicPr>
          <p:nvPr/>
        </p:nvPicPr>
        <p:blipFill>
          <a:blip r:embed="rId2"/>
          <a:stretch>
            <a:fillRect/>
          </a:stretch>
        </p:blipFill>
        <p:spPr>
          <a:xfrm>
            <a:off x="465169" y="1714351"/>
            <a:ext cx="6509563" cy="2545007"/>
          </a:xfrm>
          <a:prstGeom prst="rect">
            <a:avLst/>
          </a:prstGeom>
        </p:spPr>
      </p:pic>
      <p:pic>
        <p:nvPicPr>
          <p:cNvPr id="11" name="Picture 10">
            <a:extLst>
              <a:ext uri="{FF2B5EF4-FFF2-40B4-BE49-F238E27FC236}">
                <a16:creationId xmlns:a16="http://schemas.microsoft.com/office/drawing/2014/main" id="{AB3025D5-4D99-40B2-BC50-59F254D19267}"/>
              </a:ext>
            </a:extLst>
          </p:cNvPr>
          <p:cNvPicPr>
            <a:picLocks noChangeAspect="1"/>
          </p:cNvPicPr>
          <p:nvPr/>
        </p:nvPicPr>
        <p:blipFill>
          <a:blip r:embed="rId3"/>
          <a:stretch>
            <a:fillRect/>
          </a:stretch>
        </p:blipFill>
        <p:spPr>
          <a:xfrm>
            <a:off x="2519463" y="4003883"/>
            <a:ext cx="9484468" cy="2747377"/>
          </a:xfrm>
          <a:prstGeom prst="rect">
            <a:avLst/>
          </a:prstGeom>
        </p:spPr>
      </p:pic>
      <p:sp>
        <p:nvSpPr>
          <p:cNvPr id="12" name="Rectangle 11">
            <a:extLst>
              <a:ext uri="{FF2B5EF4-FFF2-40B4-BE49-F238E27FC236}">
                <a16:creationId xmlns:a16="http://schemas.microsoft.com/office/drawing/2014/main" id="{F124ADF1-792F-46E7-AF5A-83A3D55F2A41}"/>
              </a:ext>
            </a:extLst>
          </p:cNvPr>
          <p:cNvSpPr/>
          <p:nvPr/>
        </p:nvSpPr>
        <p:spPr>
          <a:xfrm>
            <a:off x="4563894" y="2721775"/>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1. Click on the green arrow of the test function you want to run</a:t>
            </a:r>
          </a:p>
        </p:txBody>
      </p:sp>
      <p:sp>
        <p:nvSpPr>
          <p:cNvPr id="13" name="Oval 12">
            <a:extLst>
              <a:ext uri="{FF2B5EF4-FFF2-40B4-BE49-F238E27FC236}">
                <a16:creationId xmlns:a16="http://schemas.microsoft.com/office/drawing/2014/main" id="{BADC2030-DE14-4351-82EF-9B8DED9D4E73}"/>
              </a:ext>
            </a:extLst>
          </p:cNvPr>
          <p:cNvSpPr/>
          <p:nvPr/>
        </p:nvSpPr>
        <p:spPr>
          <a:xfrm>
            <a:off x="2782111" y="2140086"/>
            <a:ext cx="165370" cy="184825"/>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cxnSp>
        <p:nvCxnSpPr>
          <p:cNvPr id="15" name="Straight Arrow Connector 14">
            <a:extLst>
              <a:ext uri="{FF2B5EF4-FFF2-40B4-BE49-F238E27FC236}">
                <a16:creationId xmlns:a16="http://schemas.microsoft.com/office/drawing/2014/main" id="{739A0B9F-2900-492C-9B07-9A792F68EF3E}"/>
              </a:ext>
            </a:extLst>
          </p:cNvPr>
          <p:cNvCxnSpPr>
            <a:stCxn id="13" idx="6"/>
            <a:endCxn id="12" idx="1"/>
          </p:cNvCxnSpPr>
          <p:nvPr/>
        </p:nvCxnSpPr>
        <p:spPr>
          <a:xfrm>
            <a:off x="2947481" y="2232499"/>
            <a:ext cx="1616413" cy="75435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Rectangle 15">
            <a:extLst>
              <a:ext uri="{FF2B5EF4-FFF2-40B4-BE49-F238E27FC236}">
                <a16:creationId xmlns:a16="http://schemas.microsoft.com/office/drawing/2014/main" id="{5CDA389F-323C-46F0-8D34-3D2A4C456453}"/>
              </a:ext>
            </a:extLst>
          </p:cNvPr>
          <p:cNvSpPr/>
          <p:nvPr/>
        </p:nvSpPr>
        <p:spPr>
          <a:xfrm>
            <a:off x="4786009" y="5541464"/>
            <a:ext cx="1945531" cy="530157"/>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7" name="Rectangle 16">
            <a:extLst>
              <a:ext uri="{FF2B5EF4-FFF2-40B4-BE49-F238E27FC236}">
                <a16:creationId xmlns:a16="http://schemas.microsoft.com/office/drawing/2014/main" id="{C3764F66-DB37-41F7-AEF6-16953BB1392A}"/>
              </a:ext>
            </a:extLst>
          </p:cNvPr>
          <p:cNvSpPr/>
          <p:nvPr/>
        </p:nvSpPr>
        <p:spPr>
          <a:xfrm>
            <a:off x="7261697" y="5112492"/>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2. The Run console will appear and if the test is successful, you will see the pop-up dialogue as well</a:t>
            </a:r>
          </a:p>
        </p:txBody>
      </p:sp>
      <p:sp>
        <p:nvSpPr>
          <p:cNvPr id="18" name="Rectangle 17">
            <a:extLst>
              <a:ext uri="{FF2B5EF4-FFF2-40B4-BE49-F238E27FC236}">
                <a16:creationId xmlns:a16="http://schemas.microsoft.com/office/drawing/2014/main" id="{9F9B1EB7-1DE0-44D6-A95B-FEAC76F3B38D}"/>
              </a:ext>
            </a:extLst>
          </p:cNvPr>
          <p:cNvSpPr/>
          <p:nvPr/>
        </p:nvSpPr>
        <p:spPr>
          <a:xfrm>
            <a:off x="6096001" y="6283811"/>
            <a:ext cx="771728" cy="530157"/>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9" name="Rectangle 18">
            <a:extLst>
              <a:ext uri="{FF2B5EF4-FFF2-40B4-BE49-F238E27FC236}">
                <a16:creationId xmlns:a16="http://schemas.microsoft.com/office/drawing/2014/main" id="{7E09CB04-D2D8-4793-896A-850B311033EA}"/>
              </a:ext>
            </a:extLst>
          </p:cNvPr>
          <p:cNvSpPr/>
          <p:nvPr/>
        </p:nvSpPr>
        <p:spPr>
          <a:xfrm>
            <a:off x="4766553" y="4139244"/>
            <a:ext cx="771728" cy="16323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346360828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Unit Tests</a:t>
            </a:r>
          </a:p>
        </p:txBody>
      </p:sp>
      <p:pic>
        <p:nvPicPr>
          <p:cNvPr id="9" name="Picture 8">
            <a:extLst>
              <a:ext uri="{FF2B5EF4-FFF2-40B4-BE49-F238E27FC236}">
                <a16:creationId xmlns:a16="http://schemas.microsoft.com/office/drawing/2014/main" id="{1A1FFFB6-3040-4550-9949-FB8C2F46D5F7}"/>
              </a:ext>
            </a:extLst>
          </p:cNvPr>
          <p:cNvPicPr>
            <a:picLocks noChangeAspect="1"/>
          </p:cNvPicPr>
          <p:nvPr/>
        </p:nvPicPr>
        <p:blipFill>
          <a:blip r:embed="rId2"/>
          <a:stretch>
            <a:fillRect/>
          </a:stretch>
        </p:blipFill>
        <p:spPr>
          <a:xfrm>
            <a:off x="608169" y="1917807"/>
            <a:ext cx="10975662" cy="3022386"/>
          </a:xfrm>
          <a:prstGeom prst="rect">
            <a:avLst/>
          </a:prstGeom>
        </p:spPr>
      </p:pic>
      <p:sp>
        <p:nvSpPr>
          <p:cNvPr id="7" name="Rectangle 6">
            <a:extLst>
              <a:ext uri="{FF2B5EF4-FFF2-40B4-BE49-F238E27FC236}">
                <a16:creationId xmlns:a16="http://schemas.microsoft.com/office/drawing/2014/main" id="{245AD349-34A2-4A32-8447-1E90AD736B4A}"/>
              </a:ext>
            </a:extLst>
          </p:cNvPr>
          <p:cNvSpPr/>
          <p:nvPr/>
        </p:nvSpPr>
        <p:spPr>
          <a:xfrm>
            <a:off x="7320061" y="2670849"/>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3. An example if the test fails</a:t>
            </a:r>
          </a:p>
        </p:txBody>
      </p:sp>
    </p:spTree>
    <p:extLst>
      <p:ext uri="{BB962C8B-B14F-4D97-AF65-F5344CB8AC3E}">
        <p14:creationId xmlns:p14="http://schemas.microsoft.com/office/powerpoint/2010/main" val="183914511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Debugging</a:t>
            </a:r>
          </a:p>
        </p:txBody>
      </p:sp>
      <p:sp>
        <p:nvSpPr>
          <p:cNvPr id="4" name="TextBox 3">
            <a:extLst>
              <a:ext uri="{FF2B5EF4-FFF2-40B4-BE49-F238E27FC236}">
                <a16:creationId xmlns:a16="http://schemas.microsoft.com/office/drawing/2014/main" id="{49C5A307-486B-46CC-A434-1E82E011C7E1}"/>
              </a:ext>
            </a:extLst>
          </p:cNvPr>
          <p:cNvSpPr txBox="1"/>
          <p:nvPr/>
        </p:nvSpPr>
        <p:spPr>
          <a:xfrm>
            <a:off x="838200" y="1522539"/>
            <a:ext cx="10406975" cy="646331"/>
          </a:xfrm>
          <a:prstGeom prst="rect">
            <a:avLst/>
          </a:prstGeom>
          <a:noFill/>
        </p:spPr>
        <p:txBody>
          <a:bodyPr wrap="square">
            <a:spAutoFit/>
          </a:bodyPr>
          <a:lstStyle/>
          <a:p>
            <a:r>
              <a:rPr lang="en-US" b="0" i="0" dirty="0">
                <a:effectLst/>
                <a:ea typeface="Roboto" panose="02000000000000000000" pitchFamily="2" charset="0"/>
              </a:rPr>
              <a:t>The process of fixing bugs is called </a:t>
            </a:r>
            <a:r>
              <a:rPr lang="en-US" b="1" i="0" dirty="0">
                <a:effectLst/>
                <a:ea typeface="Roboto" panose="02000000000000000000" pitchFamily="2" charset="0"/>
              </a:rPr>
              <a:t>debugging</a:t>
            </a:r>
            <a:r>
              <a:rPr lang="en-US" b="0" i="0" dirty="0">
                <a:effectLst/>
                <a:ea typeface="Roboto" panose="02000000000000000000" pitchFamily="2" charset="0"/>
              </a:rPr>
              <a:t>. Logging can be used as a debugging tool. Stack traces can be used to identify and solve bugs. </a:t>
            </a:r>
            <a:r>
              <a:rPr lang="en-US" dirty="0">
                <a:ea typeface="Roboto" panose="02000000000000000000" pitchFamily="2" charset="0"/>
              </a:rPr>
              <a:t>In an Android app, the best practice for logging output is using </a:t>
            </a:r>
            <a:r>
              <a:rPr lang="en-US" dirty="0">
                <a:highlight>
                  <a:srgbClr val="FFFF00"/>
                </a:highlight>
                <a:latin typeface="Lucida Console" panose="020B0609040504020204" pitchFamily="49" charset="0"/>
                <a:ea typeface="Roboto" panose="02000000000000000000" pitchFamily="2" charset="0"/>
              </a:rPr>
              <a:t>Log</a:t>
            </a:r>
            <a:r>
              <a:rPr lang="en-US" dirty="0">
                <a:highlight>
                  <a:srgbClr val="FFFF00"/>
                </a:highlight>
                <a:ea typeface="Roboto" panose="02000000000000000000" pitchFamily="2" charset="0"/>
              </a:rPr>
              <a:t> class</a:t>
            </a:r>
            <a:r>
              <a:rPr lang="en-US" dirty="0">
                <a:ea typeface="Roboto" panose="02000000000000000000" pitchFamily="2" charset="0"/>
              </a:rPr>
              <a:t>.</a:t>
            </a:r>
            <a:endParaRPr lang="en-SG" dirty="0">
              <a:ea typeface="Roboto" panose="02000000000000000000" pitchFamily="2" charset="0"/>
            </a:endParaRPr>
          </a:p>
        </p:txBody>
      </p:sp>
      <p:pic>
        <p:nvPicPr>
          <p:cNvPr id="6" name="Picture 5">
            <a:extLst>
              <a:ext uri="{FF2B5EF4-FFF2-40B4-BE49-F238E27FC236}">
                <a16:creationId xmlns:a16="http://schemas.microsoft.com/office/drawing/2014/main" id="{FBC28D92-9BD1-4059-933C-FBF1777DC19A}"/>
              </a:ext>
            </a:extLst>
          </p:cNvPr>
          <p:cNvPicPr>
            <a:picLocks noChangeAspect="1"/>
          </p:cNvPicPr>
          <p:nvPr/>
        </p:nvPicPr>
        <p:blipFill>
          <a:blip r:embed="rId2"/>
          <a:stretch>
            <a:fillRect/>
          </a:stretch>
        </p:blipFill>
        <p:spPr>
          <a:xfrm>
            <a:off x="1082613" y="2293816"/>
            <a:ext cx="6699909" cy="4404834"/>
          </a:xfrm>
          <a:prstGeom prst="rect">
            <a:avLst/>
          </a:prstGeom>
        </p:spPr>
      </p:pic>
      <p:sp>
        <p:nvSpPr>
          <p:cNvPr id="7" name="Rectangle 6">
            <a:extLst>
              <a:ext uri="{FF2B5EF4-FFF2-40B4-BE49-F238E27FC236}">
                <a16:creationId xmlns:a16="http://schemas.microsoft.com/office/drawing/2014/main" id="{0618C574-E746-439C-847C-002315238DCE}"/>
              </a:ext>
            </a:extLst>
          </p:cNvPr>
          <p:cNvSpPr/>
          <p:nvPr/>
        </p:nvSpPr>
        <p:spPr>
          <a:xfrm>
            <a:off x="3660838" y="2553635"/>
            <a:ext cx="1251627" cy="16038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8" name="Rectangle 7">
            <a:extLst>
              <a:ext uri="{FF2B5EF4-FFF2-40B4-BE49-F238E27FC236}">
                <a16:creationId xmlns:a16="http://schemas.microsoft.com/office/drawing/2014/main" id="{86A9BF0A-30FE-4B04-A72C-2A3273293C9B}"/>
              </a:ext>
            </a:extLst>
          </p:cNvPr>
          <p:cNvSpPr/>
          <p:nvPr/>
        </p:nvSpPr>
        <p:spPr>
          <a:xfrm>
            <a:off x="3881332" y="4153708"/>
            <a:ext cx="1867713" cy="389107"/>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Rectangle 8">
            <a:extLst>
              <a:ext uri="{FF2B5EF4-FFF2-40B4-BE49-F238E27FC236}">
                <a16:creationId xmlns:a16="http://schemas.microsoft.com/office/drawing/2014/main" id="{0B0D9467-45F0-4AF0-A4C6-E198BD9D8D74}"/>
              </a:ext>
            </a:extLst>
          </p:cNvPr>
          <p:cNvSpPr/>
          <p:nvPr/>
        </p:nvSpPr>
        <p:spPr>
          <a:xfrm>
            <a:off x="3660838" y="2818919"/>
            <a:ext cx="1942292" cy="15491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0" name="Rectangle 9">
            <a:extLst>
              <a:ext uri="{FF2B5EF4-FFF2-40B4-BE49-F238E27FC236}">
                <a16:creationId xmlns:a16="http://schemas.microsoft.com/office/drawing/2014/main" id="{D049CBCB-69F7-40B0-AD17-97A6711AE163}"/>
              </a:ext>
            </a:extLst>
          </p:cNvPr>
          <p:cNvSpPr/>
          <p:nvPr/>
        </p:nvSpPr>
        <p:spPr>
          <a:xfrm>
            <a:off x="4085614" y="3733506"/>
            <a:ext cx="515568" cy="15491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Rectangle 10">
            <a:extLst>
              <a:ext uri="{FF2B5EF4-FFF2-40B4-BE49-F238E27FC236}">
                <a16:creationId xmlns:a16="http://schemas.microsoft.com/office/drawing/2014/main" id="{A992222E-1341-4650-B496-6D760AFBEDB3}"/>
              </a:ext>
            </a:extLst>
          </p:cNvPr>
          <p:cNvSpPr/>
          <p:nvPr/>
        </p:nvSpPr>
        <p:spPr>
          <a:xfrm>
            <a:off x="1261351" y="5685523"/>
            <a:ext cx="4147226" cy="15491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2" name="Rectangle 11">
            <a:extLst>
              <a:ext uri="{FF2B5EF4-FFF2-40B4-BE49-F238E27FC236}">
                <a16:creationId xmlns:a16="http://schemas.microsoft.com/office/drawing/2014/main" id="{DF9AC0A5-9EDD-4D34-B727-6951BA23132D}"/>
              </a:ext>
            </a:extLst>
          </p:cNvPr>
          <p:cNvSpPr/>
          <p:nvPr/>
        </p:nvSpPr>
        <p:spPr>
          <a:xfrm>
            <a:off x="3077181" y="6543732"/>
            <a:ext cx="356681" cy="15491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3" name="Rectangle 1">
            <a:extLst>
              <a:ext uri="{FF2B5EF4-FFF2-40B4-BE49-F238E27FC236}">
                <a16:creationId xmlns:a16="http://schemas.microsoft.com/office/drawing/2014/main" id="{6ADD8671-E9BE-4DE9-904B-2818E5B45A7D}"/>
              </a:ext>
            </a:extLst>
          </p:cNvPr>
          <p:cNvSpPr>
            <a:spLocks noChangeArrowheads="1"/>
          </p:cNvSpPr>
          <p:nvPr/>
        </p:nvSpPr>
        <p:spPr bwMode="auto">
          <a:xfrm>
            <a:off x="6727270" y="2526818"/>
            <a:ext cx="5218297" cy="738664"/>
          </a:xfrm>
          <a:prstGeom prst="rect">
            <a:avLst/>
          </a:prstGeom>
          <a:solidFill>
            <a:schemeClr val="accent4"/>
          </a:solidFill>
          <a:ln>
            <a:noFill/>
          </a:ln>
          <a:effec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400" b="0" i="0" u="none" strike="noStrike" cap="none" normalizeH="0" baseline="0" dirty="0">
                <a:ln>
                  <a:noFill/>
                </a:ln>
                <a:solidFill>
                  <a:srgbClr val="212124"/>
                </a:solidFill>
                <a:effectLst/>
                <a:latin typeface="+mn-lt"/>
                <a:ea typeface="Roboto" panose="02000000000000000000" pitchFamily="2" charset="0"/>
              </a:rPr>
              <a:t>The log tag is typically declared outside of the class. Even though this variable is declared outside of </a:t>
            </a:r>
            <a:r>
              <a:rPr kumimoji="0" lang="en-US" altLang="en-US" sz="1400" b="0" i="0" u="none" strike="noStrike" cap="none" normalizeH="0" baseline="0" dirty="0" err="1">
                <a:ln>
                  <a:noFill/>
                </a:ln>
                <a:solidFill>
                  <a:schemeClr val="tx1"/>
                </a:solidFill>
                <a:effectLst/>
                <a:latin typeface="+mn-lt"/>
              </a:rPr>
              <a:t>MainActivity</a:t>
            </a:r>
            <a:r>
              <a:rPr kumimoji="0" lang="en-US" altLang="en-US" sz="1400" b="0" i="0" u="none" strike="noStrike" cap="none" normalizeH="0" baseline="0" dirty="0">
                <a:ln>
                  <a:noFill/>
                </a:ln>
                <a:solidFill>
                  <a:schemeClr val="tx1"/>
                </a:solidFill>
                <a:effectLst/>
                <a:latin typeface="+mn-lt"/>
              </a:rPr>
              <a:t> class</a:t>
            </a:r>
            <a:r>
              <a:rPr kumimoji="0" lang="en-US" altLang="en-US" sz="1400" b="0" i="0" u="none" strike="noStrike" cap="none" normalizeH="0" baseline="0" dirty="0">
                <a:ln>
                  <a:noFill/>
                </a:ln>
                <a:solidFill>
                  <a:srgbClr val="212124"/>
                </a:solidFill>
                <a:effectLst/>
                <a:latin typeface="+mn-lt"/>
                <a:ea typeface="Roboto" panose="02000000000000000000" pitchFamily="2" charset="0"/>
              </a:rPr>
              <a:t>, it's declared as private so that it will only be accessible in </a:t>
            </a:r>
            <a:r>
              <a:rPr kumimoji="0" lang="en-US" altLang="en-US" sz="1400" b="0" i="0" u="none" strike="noStrike" cap="none" normalizeH="0" baseline="0" dirty="0">
                <a:ln>
                  <a:noFill/>
                </a:ln>
                <a:solidFill>
                  <a:schemeClr val="tx1"/>
                </a:solidFill>
                <a:effectLst/>
                <a:latin typeface="+mn-lt"/>
              </a:rPr>
              <a:t>MainActivity.kt</a:t>
            </a:r>
            <a:r>
              <a:rPr kumimoji="0" lang="en-US" altLang="en-US" sz="1400" b="0" i="0" u="none" strike="noStrike" cap="none" normalizeH="0" baseline="0" dirty="0">
                <a:ln>
                  <a:noFill/>
                </a:ln>
                <a:solidFill>
                  <a:srgbClr val="212124"/>
                </a:solidFill>
                <a:effectLst/>
                <a:latin typeface="+mn-lt"/>
                <a:ea typeface="Roboto" panose="02000000000000000000" pitchFamily="2" charset="0"/>
              </a:rPr>
              <a:t>.</a:t>
            </a:r>
            <a:r>
              <a:rPr kumimoji="0" lang="en-US" altLang="en-US" sz="1400" b="0" i="0" u="none" strike="noStrike" cap="none" normalizeH="0" baseline="0" dirty="0">
                <a:ln>
                  <a:noFill/>
                </a:ln>
                <a:solidFill>
                  <a:schemeClr val="tx1"/>
                </a:solidFill>
                <a:effectLst/>
                <a:latin typeface="+mn-lt"/>
              </a:rPr>
              <a:t> </a:t>
            </a:r>
          </a:p>
        </p:txBody>
      </p:sp>
      <p:cxnSp>
        <p:nvCxnSpPr>
          <p:cNvPr id="14" name="Straight Arrow Connector 13">
            <a:extLst>
              <a:ext uri="{FF2B5EF4-FFF2-40B4-BE49-F238E27FC236}">
                <a16:creationId xmlns:a16="http://schemas.microsoft.com/office/drawing/2014/main" id="{2BCD96D0-ED8E-4BDF-BBBD-E1A9B5494999}"/>
              </a:ext>
            </a:extLst>
          </p:cNvPr>
          <p:cNvCxnSpPr>
            <a:cxnSpLocks/>
            <a:stCxn id="9" idx="3"/>
            <a:endCxn id="13" idx="1"/>
          </p:cNvCxnSpPr>
          <p:nvPr/>
        </p:nvCxnSpPr>
        <p:spPr>
          <a:xfrm flipV="1">
            <a:off x="5603130" y="2896150"/>
            <a:ext cx="1124140" cy="228"/>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8557588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Log Levels</a:t>
            </a:r>
          </a:p>
        </p:txBody>
      </p:sp>
      <p:graphicFrame>
        <p:nvGraphicFramePr>
          <p:cNvPr id="3" name="Table 2">
            <a:extLst>
              <a:ext uri="{FF2B5EF4-FFF2-40B4-BE49-F238E27FC236}">
                <a16:creationId xmlns:a16="http://schemas.microsoft.com/office/drawing/2014/main" id="{39D3E40A-085E-4DA3-BA80-76E47A33FA55}"/>
              </a:ext>
            </a:extLst>
          </p:cNvPr>
          <p:cNvGraphicFramePr>
            <a:graphicFrameLocks noGrp="1"/>
          </p:cNvGraphicFramePr>
          <p:nvPr>
            <p:extLst>
              <p:ext uri="{D42A27DB-BD31-4B8C-83A1-F6EECF244321}">
                <p14:modId xmlns:p14="http://schemas.microsoft.com/office/powerpoint/2010/main" val="3504552903"/>
              </p:ext>
            </p:extLst>
          </p:nvPr>
        </p:nvGraphicFramePr>
        <p:xfrm>
          <a:off x="838200" y="1690688"/>
          <a:ext cx="10515600" cy="4970095"/>
        </p:xfrm>
        <a:graphic>
          <a:graphicData uri="http://schemas.openxmlformats.org/drawingml/2006/table">
            <a:tbl>
              <a:tblPr/>
              <a:tblGrid>
                <a:gridCol w="1479599">
                  <a:extLst>
                    <a:ext uri="{9D8B030D-6E8A-4147-A177-3AD203B41FA5}">
                      <a16:colId xmlns:a16="http://schemas.microsoft.com/office/drawing/2014/main" val="166769082"/>
                    </a:ext>
                  </a:extLst>
                </a:gridCol>
                <a:gridCol w="4855100">
                  <a:extLst>
                    <a:ext uri="{9D8B030D-6E8A-4147-A177-3AD203B41FA5}">
                      <a16:colId xmlns:a16="http://schemas.microsoft.com/office/drawing/2014/main" val="1969658036"/>
                    </a:ext>
                  </a:extLst>
                </a:gridCol>
                <a:gridCol w="4180901">
                  <a:extLst>
                    <a:ext uri="{9D8B030D-6E8A-4147-A177-3AD203B41FA5}">
                      <a16:colId xmlns:a16="http://schemas.microsoft.com/office/drawing/2014/main" val="3008813053"/>
                    </a:ext>
                  </a:extLst>
                </a:gridCol>
              </a:tblGrid>
              <a:tr h="98721">
                <a:tc>
                  <a:txBody>
                    <a:bodyPr/>
                    <a:lstStyle/>
                    <a:p>
                      <a:pPr algn="l" fontAlgn="t"/>
                      <a:r>
                        <a:rPr lang="en-SG" sz="1400" b="1">
                          <a:effectLst/>
                        </a:rPr>
                        <a:t>Log level</a:t>
                      </a:r>
                    </a:p>
                  </a:txBody>
                  <a:tcPr marL="15188" marR="15188" marT="15188" marB="15188">
                    <a:lnL>
                      <a:noFill/>
                    </a:lnL>
                    <a:lnR>
                      <a:noFill/>
                    </a:lnR>
                    <a:lnT>
                      <a:noFill/>
                    </a:lnT>
                    <a:lnB w="7620" cap="flat" cmpd="sng" algn="ctr">
                      <a:solidFill>
                        <a:srgbClr val="60A6A2"/>
                      </a:solidFill>
                      <a:prstDash val="solid"/>
                      <a:round/>
                      <a:headEnd type="none" w="med" len="med"/>
                      <a:tailEnd type="none" w="med" len="med"/>
                    </a:lnB>
                    <a:solidFill>
                      <a:srgbClr val="FFFFFF"/>
                    </a:solidFill>
                  </a:tcPr>
                </a:tc>
                <a:tc>
                  <a:txBody>
                    <a:bodyPr/>
                    <a:lstStyle/>
                    <a:p>
                      <a:pPr algn="l" fontAlgn="t"/>
                      <a:r>
                        <a:rPr lang="en-SG" sz="1400" b="1">
                          <a:effectLst/>
                        </a:rPr>
                        <a:t>Use case</a:t>
                      </a:r>
                    </a:p>
                  </a:txBody>
                  <a:tcPr marL="15188" marR="15188" marT="15188" marB="15188">
                    <a:lnL>
                      <a:noFill/>
                    </a:lnL>
                    <a:lnR>
                      <a:noFill/>
                    </a:lnR>
                    <a:lnT>
                      <a:noFill/>
                    </a:lnT>
                    <a:lnB w="7620" cap="flat" cmpd="sng" algn="ctr">
                      <a:solidFill>
                        <a:srgbClr val="A0A8A2"/>
                      </a:solidFill>
                      <a:prstDash val="solid"/>
                      <a:round/>
                      <a:headEnd type="none" w="med" len="med"/>
                      <a:tailEnd type="none" w="med" len="med"/>
                    </a:lnB>
                    <a:solidFill>
                      <a:srgbClr val="FFFFFF"/>
                    </a:solidFill>
                  </a:tcPr>
                </a:tc>
                <a:tc>
                  <a:txBody>
                    <a:bodyPr/>
                    <a:lstStyle/>
                    <a:p>
                      <a:pPr algn="l" fontAlgn="t"/>
                      <a:r>
                        <a:rPr lang="en-SG" sz="1400" b="1" dirty="0">
                          <a:effectLst/>
                        </a:rPr>
                        <a:t>Example</a:t>
                      </a:r>
                    </a:p>
                  </a:txBody>
                  <a:tcPr marL="15188" marR="15188" marT="15188" marB="15188">
                    <a:lnL>
                      <a:noFill/>
                    </a:lnL>
                    <a:lnR>
                      <a:noFill/>
                    </a:lnR>
                    <a:lnT>
                      <a:noFill/>
                    </a:lnT>
                    <a:lnB w="762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1507561344"/>
                  </a:ext>
                </a:extLst>
              </a:tr>
              <a:tr h="440450">
                <a:tc>
                  <a:txBody>
                    <a:bodyPr/>
                    <a:lstStyle/>
                    <a:p>
                      <a:pPr algn="l" fontAlgn="t"/>
                      <a:r>
                        <a:rPr lang="en-SG" sz="1400" dirty="0">
                          <a:effectLst/>
                        </a:rPr>
                        <a:t>ASSERT</a:t>
                      </a:r>
                    </a:p>
                  </a:txBody>
                  <a:tcPr marL="15188" marR="15188" marT="15188" marB="15188">
                    <a:lnL>
                      <a:noFill/>
                    </a:lnL>
                    <a:lnR>
                      <a:noFill/>
                    </a:lnR>
                    <a:lnT w="7620" cap="flat" cmpd="sng" algn="ctr">
                      <a:solidFill>
                        <a:srgbClr val="60A6A2"/>
                      </a:solidFill>
                      <a:prstDash val="solid"/>
                      <a:round/>
                      <a:headEnd type="none" w="med" len="med"/>
                      <a:tailEnd type="none" w="med" len="med"/>
                    </a:lnT>
                    <a:lnB w="7620" cap="flat" cmpd="sng" algn="ctr">
                      <a:solidFill>
                        <a:srgbClr val="60A6A2"/>
                      </a:solidFill>
                      <a:prstDash val="solid"/>
                      <a:round/>
                      <a:headEnd type="none" w="med" len="med"/>
                      <a:tailEnd type="none" w="med" len="med"/>
                    </a:lnB>
                    <a:solidFill>
                      <a:srgbClr val="FFFFFF"/>
                    </a:solidFill>
                  </a:tcPr>
                </a:tc>
                <a:tc>
                  <a:txBody>
                    <a:bodyPr/>
                    <a:lstStyle/>
                    <a:p>
                      <a:pPr algn="l" fontAlgn="t"/>
                      <a:r>
                        <a:rPr lang="en-US" sz="1400" dirty="0">
                          <a:effectLst/>
                        </a:rPr>
                        <a:t>ASSERT logs things that you're certain will never occur.</a:t>
                      </a:r>
                    </a:p>
                  </a:txBody>
                  <a:tcPr marL="15188" marR="15188" marT="15188" marB="15188">
                    <a:lnL>
                      <a:noFill/>
                    </a:lnL>
                    <a:lnR>
                      <a:noFill/>
                    </a:lnR>
                    <a:lnT w="7620" cap="flat" cmpd="sng" algn="ctr">
                      <a:solidFill>
                        <a:srgbClr val="A0A8A2"/>
                      </a:solidFill>
                      <a:prstDash val="solid"/>
                      <a:round/>
                      <a:headEnd type="none" w="med" len="med"/>
                      <a:tailEnd type="none" w="med" len="med"/>
                    </a:lnT>
                    <a:lnB w="7620" cap="flat" cmpd="sng" algn="ctr">
                      <a:solidFill>
                        <a:srgbClr val="A0A8A2"/>
                      </a:solidFill>
                      <a:prstDash val="solid"/>
                      <a:round/>
                      <a:headEnd type="none" w="med" len="med"/>
                      <a:tailEnd type="none" w="med" len="med"/>
                    </a:lnB>
                    <a:solidFill>
                      <a:srgbClr val="FFFFFF"/>
                    </a:solidFill>
                  </a:tcPr>
                </a:tc>
                <a:tc>
                  <a:txBody>
                    <a:bodyPr/>
                    <a:lstStyle/>
                    <a:p>
                      <a:pPr algn="l" fontAlgn="t"/>
                      <a:r>
                        <a:rPr lang="en-US" sz="1400" dirty="0" err="1">
                          <a:effectLst/>
                        </a:rPr>
                        <a:t>Log.wtf</a:t>
                      </a:r>
                      <a:r>
                        <a:rPr lang="en-US" sz="1400" dirty="0">
                          <a:effectLst/>
                        </a:rPr>
                        <a:t>(TAG, “why the heck this even happened?!”)</a:t>
                      </a:r>
                    </a:p>
                  </a:txBody>
                  <a:tcPr marL="15188" marR="15188" marT="15188" marB="15188">
                    <a:lnL>
                      <a:noFill/>
                    </a:lnL>
                    <a:lnR>
                      <a:noFill/>
                    </a:lnR>
                    <a:lnT w="7620" cap="flat" cmpd="sng" algn="ctr">
                      <a:solidFill>
                        <a:srgbClr val="CCCCCC"/>
                      </a:solidFill>
                      <a:prstDash val="solid"/>
                      <a:round/>
                      <a:headEnd type="none" w="med" len="med"/>
                      <a:tailEnd type="none" w="med" len="med"/>
                    </a:lnT>
                    <a:lnB w="762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4013496131"/>
                  </a:ext>
                </a:extLst>
              </a:tr>
              <a:tr h="440450">
                <a:tc>
                  <a:txBody>
                    <a:bodyPr/>
                    <a:lstStyle/>
                    <a:p>
                      <a:pPr algn="l" fontAlgn="t"/>
                      <a:r>
                        <a:rPr lang="en-SG" sz="1400" dirty="0">
                          <a:effectLst/>
                        </a:rPr>
                        <a:t>ERROR</a:t>
                      </a:r>
                    </a:p>
                  </a:txBody>
                  <a:tcPr marL="15188" marR="15188" marT="15188" marB="15188">
                    <a:lnL>
                      <a:noFill/>
                    </a:lnL>
                    <a:lnR>
                      <a:noFill/>
                    </a:lnR>
                    <a:lnT w="7620" cap="flat" cmpd="sng" algn="ctr">
                      <a:solidFill>
                        <a:srgbClr val="60A6A2"/>
                      </a:solidFill>
                      <a:prstDash val="solid"/>
                      <a:round/>
                      <a:headEnd type="none" w="med" len="med"/>
                      <a:tailEnd type="none" w="med" len="med"/>
                    </a:lnT>
                    <a:lnB w="7620" cap="flat" cmpd="sng" algn="ctr">
                      <a:solidFill>
                        <a:srgbClr val="70A2A2"/>
                      </a:solidFill>
                      <a:prstDash val="solid"/>
                      <a:round/>
                      <a:headEnd type="none" w="med" len="med"/>
                      <a:tailEnd type="none" w="med" len="med"/>
                    </a:lnB>
                    <a:solidFill>
                      <a:srgbClr val="FFFFFF"/>
                    </a:solidFill>
                  </a:tcPr>
                </a:tc>
                <a:tc>
                  <a:txBody>
                    <a:bodyPr/>
                    <a:lstStyle/>
                    <a:p>
                      <a:pPr algn="l" fontAlgn="t"/>
                      <a:r>
                        <a:rPr lang="en-US" sz="1400">
                          <a:effectLst/>
                        </a:rPr>
                        <a:t>ERROR logs report that something went seriously wrong, such as the reason why an app crashed.</a:t>
                      </a:r>
                    </a:p>
                  </a:txBody>
                  <a:tcPr marL="15188" marR="15188" marT="15188" marB="15188">
                    <a:lnL>
                      <a:noFill/>
                    </a:lnL>
                    <a:lnR>
                      <a:noFill/>
                    </a:lnR>
                    <a:lnT w="7620" cap="flat" cmpd="sng" algn="ctr">
                      <a:solidFill>
                        <a:srgbClr val="A0A8A2"/>
                      </a:solidFill>
                      <a:prstDash val="solid"/>
                      <a:round/>
                      <a:headEnd type="none" w="med" len="med"/>
                      <a:tailEnd type="none" w="med" len="med"/>
                    </a:lnT>
                    <a:lnB w="7620" cap="flat" cmpd="sng" algn="ctr">
                      <a:solidFill>
                        <a:srgbClr val="D0AEA2"/>
                      </a:solidFill>
                      <a:prstDash val="solid"/>
                      <a:round/>
                      <a:headEnd type="none" w="med" len="med"/>
                      <a:tailEnd type="none" w="med" len="med"/>
                    </a:lnB>
                    <a:solidFill>
                      <a:srgbClr val="FFFFFF"/>
                    </a:solidFill>
                  </a:tcPr>
                </a:tc>
                <a:tc>
                  <a:txBody>
                    <a:bodyPr/>
                    <a:lstStyle/>
                    <a:p>
                      <a:pPr algn="l" fontAlgn="t"/>
                      <a:r>
                        <a:rPr lang="en-US" sz="1400">
                          <a:effectLst/>
                        </a:rPr>
                        <a:t>Log.e(TAG, "The cake was left in the oven for too long and burned.").</a:t>
                      </a:r>
                    </a:p>
                  </a:txBody>
                  <a:tcPr marL="15188" marR="15188" marT="15188" marB="15188">
                    <a:lnL>
                      <a:noFill/>
                    </a:lnL>
                    <a:lnR>
                      <a:noFill/>
                    </a:lnR>
                    <a:lnT w="7620" cap="flat" cmpd="sng" algn="ctr">
                      <a:solidFill>
                        <a:srgbClr val="CCCCCC"/>
                      </a:solidFill>
                      <a:prstDash val="solid"/>
                      <a:round/>
                      <a:headEnd type="none" w="med" len="med"/>
                      <a:tailEnd type="none" w="med" len="med"/>
                    </a:lnT>
                    <a:lnB w="762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3837423793"/>
                  </a:ext>
                </a:extLst>
              </a:tr>
              <a:tr h="1055560">
                <a:tc>
                  <a:txBody>
                    <a:bodyPr/>
                    <a:lstStyle/>
                    <a:p>
                      <a:pPr algn="l" fontAlgn="t"/>
                      <a:r>
                        <a:rPr lang="en-SG" sz="1400">
                          <a:effectLst/>
                        </a:rPr>
                        <a:t>WARN</a:t>
                      </a:r>
                    </a:p>
                  </a:txBody>
                  <a:tcPr marL="15188" marR="15188" marT="15188" marB="15188">
                    <a:lnL>
                      <a:noFill/>
                    </a:lnL>
                    <a:lnR>
                      <a:noFill/>
                    </a:lnR>
                    <a:lnT w="7620" cap="flat" cmpd="sng" algn="ctr">
                      <a:solidFill>
                        <a:srgbClr val="70A2A2"/>
                      </a:solidFill>
                      <a:prstDash val="solid"/>
                      <a:round/>
                      <a:headEnd type="none" w="med" len="med"/>
                      <a:tailEnd type="none" w="med" len="med"/>
                    </a:lnT>
                    <a:lnB w="7620" cap="flat" cmpd="sng" algn="ctr">
                      <a:solidFill>
                        <a:srgbClr val="50BCA2"/>
                      </a:solidFill>
                      <a:prstDash val="solid"/>
                      <a:round/>
                      <a:headEnd type="none" w="med" len="med"/>
                      <a:tailEnd type="none" w="med" len="med"/>
                    </a:lnB>
                    <a:solidFill>
                      <a:srgbClr val="FFFFFF"/>
                    </a:solidFill>
                  </a:tcPr>
                </a:tc>
                <a:tc>
                  <a:txBody>
                    <a:bodyPr/>
                    <a:lstStyle/>
                    <a:p>
                      <a:pPr algn="l" fontAlgn="t"/>
                      <a:r>
                        <a:rPr lang="en-US" sz="1400">
                          <a:effectLst/>
                        </a:rPr>
                        <a:t>WARN logs are less severe than an error but still report something that should be fixed to avoid a more serious error. An example might be if you call a function that's </a:t>
                      </a:r>
                      <a:r>
                        <a:rPr lang="en-US" sz="1400" i="1">
                          <a:effectLst/>
                        </a:rPr>
                        <a:t>deprecated</a:t>
                      </a:r>
                      <a:r>
                        <a:rPr lang="en-US" sz="1400">
                          <a:effectLst/>
                        </a:rPr>
                        <a:t>, meaning that its use is discouraged in favor of a newer alternative.</a:t>
                      </a:r>
                    </a:p>
                  </a:txBody>
                  <a:tcPr marL="15188" marR="15188" marT="15188" marB="15188">
                    <a:lnL>
                      <a:noFill/>
                    </a:lnL>
                    <a:lnR>
                      <a:noFill/>
                    </a:lnR>
                    <a:lnT w="7620" cap="flat" cmpd="sng" algn="ctr">
                      <a:solidFill>
                        <a:srgbClr val="D0AEA2"/>
                      </a:solidFill>
                      <a:prstDash val="solid"/>
                      <a:round/>
                      <a:headEnd type="none" w="med" len="med"/>
                      <a:tailEnd type="none" w="med" len="med"/>
                    </a:lnT>
                    <a:lnB w="7620" cap="flat" cmpd="sng" algn="ctr">
                      <a:solidFill>
                        <a:srgbClr val="70A2A2"/>
                      </a:solidFill>
                      <a:prstDash val="solid"/>
                      <a:round/>
                      <a:headEnd type="none" w="med" len="med"/>
                      <a:tailEnd type="none" w="med" len="med"/>
                    </a:lnB>
                    <a:solidFill>
                      <a:srgbClr val="FFFFFF"/>
                    </a:solidFill>
                  </a:tcPr>
                </a:tc>
                <a:tc>
                  <a:txBody>
                    <a:bodyPr/>
                    <a:lstStyle/>
                    <a:p>
                      <a:pPr algn="l" fontAlgn="t"/>
                      <a:r>
                        <a:rPr lang="en-US" sz="1400">
                          <a:effectLst/>
                        </a:rPr>
                        <a:t>Log.w(TAG, "This oven does not heat evenly. You may want to turn the cake around halfway through to promote even browning.")</a:t>
                      </a:r>
                    </a:p>
                  </a:txBody>
                  <a:tcPr marL="15188" marR="15188" marT="15188" marB="15188">
                    <a:lnL>
                      <a:noFill/>
                    </a:lnL>
                    <a:lnR>
                      <a:noFill/>
                    </a:lnR>
                    <a:lnT w="7620" cap="flat" cmpd="sng" algn="ctr">
                      <a:solidFill>
                        <a:srgbClr val="CCCCCC"/>
                      </a:solidFill>
                      <a:prstDash val="solid"/>
                      <a:round/>
                      <a:headEnd type="none" w="med" len="med"/>
                      <a:tailEnd type="none" w="med" len="med"/>
                    </a:lnT>
                    <a:lnB w="762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3595947420"/>
                  </a:ext>
                </a:extLst>
              </a:tr>
              <a:tr h="440450">
                <a:tc>
                  <a:txBody>
                    <a:bodyPr/>
                    <a:lstStyle/>
                    <a:p>
                      <a:pPr algn="l" fontAlgn="t"/>
                      <a:r>
                        <a:rPr lang="en-SG" sz="1400">
                          <a:effectLst/>
                        </a:rPr>
                        <a:t>INFO</a:t>
                      </a:r>
                    </a:p>
                  </a:txBody>
                  <a:tcPr marL="15188" marR="15188" marT="15188" marB="15188">
                    <a:lnL>
                      <a:noFill/>
                    </a:lnL>
                    <a:lnR>
                      <a:noFill/>
                    </a:lnR>
                    <a:lnT w="7620" cap="flat" cmpd="sng" algn="ctr">
                      <a:solidFill>
                        <a:srgbClr val="50BCA2"/>
                      </a:solidFill>
                      <a:prstDash val="solid"/>
                      <a:round/>
                      <a:headEnd type="none" w="med" len="med"/>
                      <a:tailEnd type="none" w="med" len="med"/>
                    </a:lnT>
                    <a:lnB w="7620" cap="flat" cmpd="sng" algn="ctr">
                      <a:solidFill>
                        <a:srgbClr val="70A2A2"/>
                      </a:solidFill>
                      <a:prstDash val="solid"/>
                      <a:round/>
                      <a:headEnd type="none" w="med" len="med"/>
                      <a:tailEnd type="none" w="med" len="med"/>
                    </a:lnB>
                    <a:solidFill>
                      <a:srgbClr val="FFFFFF"/>
                    </a:solidFill>
                  </a:tcPr>
                </a:tc>
                <a:tc>
                  <a:txBody>
                    <a:bodyPr/>
                    <a:lstStyle/>
                    <a:p>
                      <a:pPr algn="l" fontAlgn="t"/>
                      <a:r>
                        <a:rPr lang="en-US" sz="1400">
                          <a:effectLst/>
                        </a:rPr>
                        <a:t>INFO logs provide useful information, such as an operation being successfully completed.</a:t>
                      </a:r>
                    </a:p>
                  </a:txBody>
                  <a:tcPr marL="15188" marR="15188" marT="15188" marB="15188">
                    <a:lnL>
                      <a:noFill/>
                    </a:lnL>
                    <a:lnR>
                      <a:noFill/>
                    </a:lnR>
                    <a:lnT w="7620" cap="flat" cmpd="sng" algn="ctr">
                      <a:solidFill>
                        <a:srgbClr val="70A2A2"/>
                      </a:solidFill>
                      <a:prstDash val="solid"/>
                      <a:round/>
                      <a:headEnd type="none" w="med" len="med"/>
                      <a:tailEnd type="none" w="med" len="med"/>
                    </a:lnT>
                    <a:lnB w="7620" cap="flat" cmpd="sng" algn="ctr">
                      <a:solidFill>
                        <a:srgbClr val="A0A8A2"/>
                      </a:solidFill>
                      <a:prstDash val="solid"/>
                      <a:round/>
                      <a:headEnd type="none" w="med" len="med"/>
                      <a:tailEnd type="none" w="med" len="med"/>
                    </a:lnB>
                    <a:solidFill>
                      <a:srgbClr val="FFFFFF"/>
                    </a:solidFill>
                  </a:tcPr>
                </a:tc>
                <a:tc>
                  <a:txBody>
                    <a:bodyPr/>
                    <a:lstStyle/>
                    <a:p>
                      <a:pPr algn="l" fontAlgn="t"/>
                      <a:r>
                        <a:rPr lang="en-US" sz="1400">
                          <a:effectLst/>
                        </a:rPr>
                        <a:t>Log.i(TAG, "The cake is ready to be served.").println("The cake has cooled.")</a:t>
                      </a:r>
                    </a:p>
                  </a:txBody>
                  <a:tcPr marL="15188" marR="15188" marT="15188" marB="15188">
                    <a:lnL>
                      <a:noFill/>
                    </a:lnL>
                    <a:lnR>
                      <a:noFill/>
                    </a:lnR>
                    <a:lnT w="7620" cap="flat" cmpd="sng" algn="ctr">
                      <a:solidFill>
                        <a:srgbClr val="CCCCCC"/>
                      </a:solidFill>
                      <a:prstDash val="solid"/>
                      <a:round/>
                      <a:headEnd type="none" w="med" len="med"/>
                      <a:tailEnd type="none" w="med" len="med"/>
                    </a:lnT>
                    <a:lnB w="762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1720222623"/>
                  </a:ext>
                </a:extLst>
              </a:tr>
              <a:tr h="850523">
                <a:tc>
                  <a:txBody>
                    <a:bodyPr/>
                    <a:lstStyle/>
                    <a:p>
                      <a:pPr algn="l" fontAlgn="t"/>
                      <a:r>
                        <a:rPr lang="en-SG" sz="1400">
                          <a:effectLst/>
                        </a:rPr>
                        <a:t>DEBUG</a:t>
                      </a:r>
                    </a:p>
                  </a:txBody>
                  <a:tcPr marL="15188" marR="15188" marT="15188" marB="15188">
                    <a:lnL>
                      <a:noFill/>
                    </a:lnL>
                    <a:lnR>
                      <a:noFill/>
                    </a:lnR>
                    <a:lnT w="7620" cap="flat" cmpd="sng" algn="ctr">
                      <a:solidFill>
                        <a:srgbClr val="70A2A2"/>
                      </a:solidFill>
                      <a:prstDash val="solid"/>
                      <a:round/>
                      <a:headEnd type="none" w="med" len="med"/>
                      <a:tailEnd type="none" w="med" len="med"/>
                    </a:lnT>
                    <a:lnB w="7620" cap="flat" cmpd="sng" algn="ctr">
                      <a:solidFill>
                        <a:srgbClr val="A0BAA2"/>
                      </a:solidFill>
                      <a:prstDash val="solid"/>
                      <a:round/>
                      <a:headEnd type="none" w="med" len="med"/>
                      <a:tailEnd type="none" w="med" len="med"/>
                    </a:lnB>
                    <a:solidFill>
                      <a:srgbClr val="FFFFFF"/>
                    </a:solidFill>
                  </a:tcPr>
                </a:tc>
                <a:tc>
                  <a:txBody>
                    <a:bodyPr/>
                    <a:lstStyle/>
                    <a:p>
                      <a:pPr algn="l" fontAlgn="t"/>
                      <a:r>
                        <a:rPr lang="en-US" sz="1400">
                          <a:effectLst/>
                        </a:rPr>
                        <a:t>DEBUG logs contain information that may be useful when investigating an issue. These logs are not present in release builds such as one you'd publish on the Google Play Store.</a:t>
                      </a:r>
                    </a:p>
                  </a:txBody>
                  <a:tcPr marL="15188" marR="15188" marT="15188" marB="15188">
                    <a:lnL>
                      <a:noFill/>
                    </a:lnL>
                    <a:lnR>
                      <a:noFill/>
                    </a:lnR>
                    <a:lnT w="7620" cap="flat" cmpd="sng" algn="ctr">
                      <a:solidFill>
                        <a:srgbClr val="A0A8A2"/>
                      </a:solidFill>
                      <a:prstDash val="solid"/>
                      <a:round/>
                      <a:headEnd type="none" w="med" len="med"/>
                      <a:tailEnd type="none" w="med" len="med"/>
                    </a:lnT>
                    <a:lnB w="7620" cap="flat" cmpd="sng" algn="ctr">
                      <a:solidFill>
                        <a:srgbClr val="C0A9A2"/>
                      </a:solidFill>
                      <a:prstDash val="solid"/>
                      <a:round/>
                      <a:headEnd type="none" w="med" len="med"/>
                      <a:tailEnd type="none" w="med" len="med"/>
                    </a:lnB>
                    <a:solidFill>
                      <a:srgbClr val="FFFFFF"/>
                    </a:solidFill>
                  </a:tcPr>
                </a:tc>
                <a:tc>
                  <a:txBody>
                    <a:bodyPr/>
                    <a:lstStyle/>
                    <a:p>
                      <a:pPr algn="l" fontAlgn="t"/>
                      <a:r>
                        <a:rPr lang="en-US" sz="1400">
                          <a:effectLst/>
                        </a:rPr>
                        <a:t>Log.d(TAG, "Cake was removed from the oven after 55 minutes. Recipe calls for the cake to be removed after 50 - 60 minutes.")</a:t>
                      </a:r>
                    </a:p>
                  </a:txBody>
                  <a:tcPr marL="15188" marR="15188" marT="15188" marB="15188">
                    <a:lnL>
                      <a:noFill/>
                    </a:lnL>
                    <a:lnR>
                      <a:noFill/>
                    </a:lnR>
                    <a:lnT w="7620" cap="flat" cmpd="sng" algn="ctr">
                      <a:solidFill>
                        <a:srgbClr val="CCCCCC"/>
                      </a:solidFill>
                      <a:prstDash val="solid"/>
                      <a:round/>
                      <a:headEnd type="none" w="med" len="med"/>
                      <a:tailEnd type="none" w="med" len="med"/>
                    </a:lnT>
                    <a:lnB w="762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2272446250"/>
                  </a:ext>
                </a:extLst>
              </a:tr>
              <a:tr h="1465634">
                <a:tc>
                  <a:txBody>
                    <a:bodyPr/>
                    <a:lstStyle/>
                    <a:p>
                      <a:pPr algn="l" fontAlgn="t"/>
                      <a:r>
                        <a:rPr lang="en-SG" sz="1400">
                          <a:effectLst/>
                        </a:rPr>
                        <a:t>VERBOSE</a:t>
                      </a:r>
                    </a:p>
                  </a:txBody>
                  <a:tcPr marL="15188" marR="15188" marT="15188" marB="15188">
                    <a:lnL>
                      <a:noFill/>
                    </a:lnL>
                    <a:lnR>
                      <a:noFill/>
                    </a:lnR>
                    <a:lnT w="7620" cap="flat" cmpd="sng" algn="ctr">
                      <a:solidFill>
                        <a:srgbClr val="A0BAA2"/>
                      </a:solidFill>
                      <a:prstDash val="solid"/>
                      <a:round/>
                      <a:headEnd type="none" w="med" len="med"/>
                      <a:tailEnd type="none" w="med" len="med"/>
                    </a:lnT>
                    <a:lnB w="7620" cap="flat" cmpd="sng" algn="ctr">
                      <a:solidFill>
                        <a:srgbClr val="10BAA2"/>
                      </a:solidFill>
                      <a:prstDash val="solid"/>
                      <a:round/>
                      <a:headEnd type="none" w="med" len="med"/>
                      <a:tailEnd type="none" w="med" len="med"/>
                    </a:lnB>
                    <a:solidFill>
                      <a:srgbClr val="FFFFFF"/>
                    </a:solidFill>
                  </a:tcPr>
                </a:tc>
                <a:tc>
                  <a:txBody>
                    <a:bodyPr/>
                    <a:lstStyle/>
                    <a:p>
                      <a:pPr algn="l" fontAlgn="t"/>
                      <a:r>
                        <a:rPr lang="en-US" sz="1400">
                          <a:effectLst/>
                        </a:rPr>
                        <a:t>As the name implies, verbose is the least specific log level. What's considered a debug log, versus a verbose log, is a bit subjective, but generally, a verbose log is something that can be removed after a feature is implemented, whereas a debug log may still be useful for debugging. These logs are also not included in release builds.</a:t>
                      </a:r>
                    </a:p>
                  </a:txBody>
                  <a:tcPr marL="15188" marR="15188" marT="15188" marB="15188">
                    <a:lnL>
                      <a:noFill/>
                    </a:lnL>
                    <a:lnR>
                      <a:noFill/>
                    </a:lnR>
                    <a:lnT w="7620" cap="flat" cmpd="sng" algn="ctr">
                      <a:solidFill>
                        <a:srgbClr val="C0A9A2"/>
                      </a:solidFill>
                      <a:prstDash val="solid"/>
                      <a:round/>
                      <a:headEnd type="none" w="med" len="med"/>
                      <a:tailEnd type="none" w="med" len="med"/>
                    </a:lnT>
                    <a:lnB w="7620" cap="flat" cmpd="sng" algn="ctr">
                      <a:solidFill>
                        <a:srgbClr val="70A2A2"/>
                      </a:solidFill>
                      <a:prstDash val="solid"/>
                      <a:round/>
                      <a:headEnd type="none" w="med" len="med"/>
                      <a:tailEnd type="none" w="med" len="med"/>
                    </a:lnB>
                    <a:solidFill>
                      <a:srgbClr val="FFFFFF"/>
                    </a:solidFill>
                  </a:tcPr>
                </a:tc>
                <a:tc>
                  <a:txBody>
                    <a:bodyPr/>
                    <a:lstStyle/>
                    <a:p>
                      <a:pPr algn="l" fontAlgn="t"/>
                      <a:r>
                        <a:rPr lang="en-US" sz="1400" dirty="0" err="1">
                          <a:effectLst/>
                        </a:rPr>
                        <a:t>Log.v</a:t>
                      </a:r>
                      <a:r>
                        <a:rPr lang="en-US" sz="1400" dirty="0">
                          <a:effectLst/>
                        </a:rPr>
                        <a:t>(TAG, "Put the mixing bowl on the counter.")</a:t>
                      </a:r>
                      <a:r>
                        <a:rPr lang="en-US" sz="1400" dirty="0" err="1">
                          <a:effectLst/>
                        </a:rPr>
                        <a:t>Log.v</a:t>
                      </a:r>
                      <a:r>
                        <a:rPr lang="en-US" sz="1400" dirty="0">
                          <a:effectLst/>
                        </a:rPr>
                        <a:t>(TAG, "Grabbed the eggs from the refrigerator.")</a:t>
                      </a:r>
                      <a:r>
                        <a:rPr lang="en-US" sz="1400" dirty="0" err="1">
                          <a:effectLst/>
                        </a:rPr>
                        <a:t>Log.v</a:t>
                      </a:r>
                      <a:r>
                        <a:rPr lang="en-US" sz="1400" dirty="0">
                          <a:effectLst/>
                        </a:rPr>
                        <a:t>(TAG, "Plugged in the stand mixer.")</a:t>
                      </a:r>
                    </a:p>
                  </a:txBody>
                  <a:tcPr marL="15188" marR="15188" marT="15188" marB="15188">
                    <a:lnL>
                      <a:noFill/>
                    </a:lnL>
                    <a:lnR>
                      <a:noFill/>
                    </a:lnR>
                    <a:lnT w="7620" cap="flat" cmpd="sng" algn="ctr">
                      <a:solidFill>
                        <a:srgbClr val="CCCCCC"/>
                      </a:solidFill>
                      <a:prstDash val="solid"/>
                      <a:round/>
                      <a:headEnd type="none" w="med" len="med"/>
                      <a:tailEnd type="none" w="med" len="med"/>
                    </a:lnT>
                    <a:lnB w="762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2715028209"/>
                  </a:ext>
                </a:extLst>
              </a:tr>
            </a:tbl>
          </a:graphicData>
        </a:graphic>
      </p:graphicFrame>
      <p:sp>
        <p:nvSpPr>
          <p:cNvPr id="5" name="TextBox 4">
            <a:extLst>
              <a:ext uri="{FF2B5EF4-FFF2-40B4-BE49-F238E27FC236}">
                <a16:creationId xmlns:a16="http://schemas.microsoft.com/office/drawing/2014/main" id="{DA469813-A1C1-4503-81F1-D9C6D6ECEF47}"/>
              </a:ext>
            </a:extLst>
          </p:cNvPr>
          <p:cNvSpPr txBox="1"/>
          <p:nvPr/>
        </p:nvSpPr>
        <p:spPr>
          <a:xfrm>
            <a:off x="6096000" y="557188"/>
            <a:ext cx="5257800" cy="307777"/>
          </a:xfrm>
          <a:prstGeom prst="rect">
            <a:avLst/>
          </a:prstGeom>
          <a:solidFill>
            <a:schemeClr val="accent4"/>
          </a:solidFill>
        </p:spPr>
        <p:txBody>
          <a:bodyPr wrap="square">
            <a:spAutoFit/>
          </a:bodyPr>
          <a:lstStyle/>
          <a:p>
            <a:r>
              <a:rPr lang="en-US" sz="1400" b="0" i="0" dirty="0">
                <a:effectLst/>
              </a:rPr>
              <a:t>Debug and Verbose logs won't impact performance in release builds.</a:t>
            </a:r>
            <a:endParaRPr lang="en-SG" sz="1400" dirty="0"/>
          </a:p>
        </p:txBody>
      </p:sp>
    </p:spTree>
    <p:extLst>
      <p:ext uri="{BB962C8B-B14F-4D97-AF65-F5344CB8AC3E}">
        <p14:creationId xmlns:p14="http://schemas.microsoft.com/office/powerpoint/2010/main" val="326701073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8E556B-5B6F-4633-A2EB-7FE36D45D86C}"/>
              </a:ext>
            </a:extLst>
          </p:cNvPr>
          <p:cNvSpPr>
            <a:spLocks noGrp="1"/>
          </p:cNvSpPr>
          <p:nvPr>
            <p:ph type="title"/>
          </p:nvPr>
        </p:nvSpPr>
        <p:spPr/>
        <p:txBody>
          <a:bodyPr/>
          <a:lstStyle/>
          <a:p>
            <a:r>
              <a:rPr lang="en-SG" dirty="0"/>
              <a:t>What is it??? Too abstract???</a:t>
            </a:r>
          </a:p>
        </p:txBody>
      </p:sp>
      <p:sp>
        <p:nvSpPr>
          <p:cNvPr id="3" name="Content Placeholder 2">
            <a:extLst>
              <a:ext uri="{FF2B5EF4-FFF2-40B4-BE49-F238E27FC236}">
                <a16:creationId xmlns:a16="http://schemas.microsoft.com/office/drawing/2014/main" id="{3623A9E3-951A-43B9-A39D-3EAC2F574922}"/>
              </a:ext>
            </a:extLst>
          </p:cNvPr>
          <p:cNvSpPr>
            <a:spLocks noGrp="1"/>
          </p:cNvSpPr>
          <p:nvPr>
            <p:ph idx="1"/>
          </p:nvPr>
        </p:nvSpPr>
        <p:spPr/>
        <p:txBody>
          <a:bodyPr/>
          <a:lstStyle/>
          <a:p>
            <a:r>
              <a:rPr lang="en-SG" dirty="0"/>
              <a:t>Releasing mobile apps without the right tooling is a complex process</a:t>
            </a:r>
          </a:p>
          <a:p>
            <a:r>
              <a:rPr lang="en-SG" dirty="0"/>
              <a:t>A mobile-focused CI/CD tool considers the unique challenges of building for mobile and has mobile-first features that help you build, test, and deploy mobile apps faster and more efficiently</a:t>
            </a:r>
          </a:p>
        </p:txBody>
      </p:sp>
      <p:pic>
        <p:nvPicPr>
          <p:cNvPr id="5" name="Picture 4">
            <a:extLst>
              <a:ext uri="{FF2B5EF4-FFF2-40B4-BE49-F238E27FC236}">
                <a16:creationId xmlns:a16="http://schemas.microsoft.com/office/drawing/2014/main" id="{314E9E67-3284-4D9A-BE30-A7E239A8DAB2}"/>
              </a:ext>
            </a:extLst>
          </p:cNvPr>
          <p:cNvPicPr>
            <a:picLocks noChangeAspect="1"/>
          </p:cNvPicPr>
          <p:nvPr/>
        </p:nvPicPr>
        <p:blipFill>
          <a:blip r:embed="rId2"/>
          <a:stretch>
            <a:fillRect/>
          </a:stretch>
        </p:blipFill>
        <p:spPr>
          <a:xfrm>
            <a:off x="2068481" y="3899077"/>
            <a:ext cx="8055038" cy="2133785"/>
          </a:xfrm>
          <a:prstGeom prst="rect">
            <a:avLst/>
          </a:prstGeom>
        </p:spPr>
      </p:pic>
    </p:spTree>
    <p:extLst>
      <p:ext uri="{BB962C8B-B14F-4D97-AF65-F5344CB8AC3E}">
        <p14:creationId xmlns:p14="http://schemas.microsoft.com/office/powerpoint/2010/main" val="270321182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EBC8D79-2182-445E-9A49-630601D5D1D1}"/>
              </a:ext>
            </a:extLst>
          </p:cNvPr>
          <p:cNvPicPr>
            <a:picLocks noChangeAspect="1"/>
          </p:cNvPicPr>
          <p:nvPr/>
        </p:nvPicPr>
        <p:blipFill>
          <a:blip r:embed="rId2"/>
          <a:stretch>
            <a:fillRect/>
          </a:stretch>
        </p:blipFill>
        <p:spPr>
          <a:xfrm>
            <a:off x="2182791" y="1192336"/>
            <a:ext cx="7826418" cy="4473328"/>
          </a:xfrm>
          <a:prstGeom prst="rect">
            <a:avLst/>
          </a:prstGeom>
        </p:spPr>
      </p:pic>
    </p:spTree>
    <p:extLst>
      <p:ext uri="{BB962C8B-B14F-4D97-AF65-F5344CB8AC3E}">
        <p14:creationId xmlns:p14="http://schemas.microsoft.com/office/powerpoint/2010/main" val="212147099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68E7847-9FDA-401C-B3F9-95A075E9007B}"/>
              </a:ext>
            </a:extLst>
          </p:cNvPr>
          <p:cNvPicPr>
            <a:picLocks noChangeAspect="1"/>
          </p:cNvPicPr>
          <p:nvPr/>
        </p:nvPicPr>
        <p:blipFill>
          <a:blip r:embed="rId2"/>
          <a:stretch>
            <a:fillRect/>
          </a:stretch>
        </p:blipFill>
        <p:spPr>
          <a:xfrm>
            <a:off x="3142994" y="1874385"/>
            <a:ext cx="5906012" cy="3109229"/>
          </a:xfrm>
          <a:prstGeom prst="rect">
            <a:avLst/>
          </a:prstGeom>
        </p:spPr>
      </p:pic>
    </p:spTree>
    <p:extLst>
      <p:ext uri="{BB962C8B-B14F-4D97-AF65-F5344CB8AC3E}">
        <p14:creationId xmlns:p14="http://schemas.microsoft.com/office/powerpoint/2010/main" val="305388221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68E7847-9FDA-401C-B3F9-95A075E9007B}"/>
              </a:ext>
            </a:extLst>
          </p:cNvPr>
          <p:cNvPicPr>
            <a:picLocks noChangeAspect="1"/>
          </p:cNvPicPr>
          <p:nvPr/>
        </p:nvPicPr>
        <p:blipFill>
          <a:blip r:embed="rId3"/>
          <a:stretch>
            <a:fillRect/>
          </a:stretch>
        </p:blipFill>
        <p:spPr>
          <a:xfrm>
            <a:off x="3142994" y="1874385"/>
            <a:ext cx="5906012" cy="3109229"/>
          </a:xfrm>
          <a:prstGeom prst="rect">
            <a:avLst/>
          </a:prstGeom>
        </p:spPr>
      </p:pic>
    </p:spTree>
    <p:extLst>
      <p:ext uri="{BB962C8B-B14F-4D97-AF65-F5344CB8AC3E}">
        <p14:creationId xmlns:p14="http://schemas.microsoft.com/office/powerpoint/2010/main" val="398411128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7573BF-2ADD-4A4B-BC81-0B801B9F4733}"/>
              </a:ext>
            </a:extLst>
          </p:cNvPr>
          <p:cNvSpPr>
            <a:spLocks noGrp="1"/>
          </p:cNvSpPr>
          <p:nvPr>
            <p:ph type="title"/>
          </p:nvPr>
        </p:nvSpPr>
        <p:spPr/>
        <p:txBody>
          <a:bodyPr/>
          <a:lstStyle/>
          <a:p>
            <a:r>
              <a:rPr lang="en-SG" dirty="0"/>
              <a:t>Different CI/CD Approaches???</a:t>
            </a:r>
          </a:p>
        </p:txBody>
      </p:sp>
      <p:sp>
        <p:nvSpPr>
          <p:cNvPr id="3" name="Content Placeholder 2">
            <a:extLst>
              <a:ext uri="{FF2B5EF4-FFF2-40B4-BE49-F238E27FC236}">
                <a16:creationId xmlns:a16="http://schemas.microsoft.com/office/drawing/2014/main" id="{E7493389-75CB-4628-BE01-11A9182F096D}"/>
              </a:ext>
            </a:extLst>
          </p:cNvPr>
          <p:cNvSpPr>
            <a:spLocks noGrp="1"/>
          </p:cNvSpPr>
          <p:nvPr>
            <p:ph idx="1"/>
          </p:nvPr>
        </p:nvSpPr>
        <p:spPr/>
        <p:txBody>
          <a:bodyPr/>
          <a:lstStyle/>
          <a:p>
            <a:r>
              <a:rPr lang="en-SG" dirty="0"/>
              <a:t>Jenkins</a:t>
            </a:r>
          </a:p>
          <a:p>
            <a:r>
              <a:rPr lang="en-SG" dirty="0"/>
              <a:t>GitHub Actions</a:t>
            </a:r>
          </a:p>
          <a:p>
            <a:r>
              <a:rPr lang="en-SG" dirty="0"/>
              <a:t>Fastlane</a:t>
            </a:r>
          </a:p>
          <a:p>
            <a:r>
              <a:rPr lang="en-SG" dirty="0" err="1"/>
              <a:t>CircleCI</a:t>
            </a:r>
            <a:endParaRPr lang="en-SG" dirty="0"/>
          </a:p>
          <a:p>
            <a:r>
              <a:rPr lang="en-SG" dirty="0"/>
              <a:t>GitLab</a:t>
            </a:r>
          </a:p>
        </p:txBody>
      </p:sp>
    </p:spTree>
    <p:extLst>
      <p:ext uri="{BB962C8B-B14F-4D97-AF65-F5344CB8AC3E}">
        <p14:creationId xmlns:p14="http://schemas.microsoft.com/office/powerpoint/2010/main" val="203811704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More concepts</a:t>
            </a:r>
            <a:endParaRPr lang="en-SG" dirty="0"/>
          </a:p>
        </p:txBody>
      </p:sp>
      <p:sp>
        <p:nvSpPr>
          <p:cNvPr id="3" name="Content Placeholder 2"/>
          <p:cNvSpPr>
            <a:spLocks noGrp="1"/>
          </p:cNvSpPr>
          <p:nvPr>
            <p:ph idx="1"/>
          </p:nvPr>
        </p:nvSpPr>
        <p:spPr/>
        <p:txBody>
          <a:bodyPr/>
          <a:lstStyle/>
          <a:p>
            <a:r>
              <a:rPr lang="en-US" dirty="0"/>
              <a:t>Clean Architecture</a:t>
            </a:r>
          </a:p>
          <a:p>
            <a:r>
              <a:rPr lang="en-US" dirty="0"/>
              <a:t>MVVM Architecture</a:t>
            </a:r>
          </a:p>
          <a:p>
            <a:pPr lvl="1"/>
            <a:r>
              <a:rPr lang="en-US" dirty="0"/>
              <a:t>Single Source of Truth </a:t>
            </a:r>
            <a:r>
              <a:rPr lang="en-US" dirty="0">
                <a:sym typeface="Wingdings" panose="05000000000000000000" pitchFamily="2" charset="2"/>
              </a:rPr>
              <a:t> to implement the repository pattern</a:t>
            </a:r>
            <a:endParaRPr lang="en-US" dirty="0"/>
          </a:p>
          <a:p>
            <a:r>
              <a:rPr lang="en-US" dirty="0"/>
              <a:t>Dependency Injection</a:t>
            </a:r>
          </a:p>
          <a:p>
            <a:r>
              <a:rPr lang="en-US" dirty="0">
                <a:hlinkClick r:id="rId2"/>
              </a:rPr>
              <a:t>https://developer.android.com/topic/architecture#recommended-app-arch</a:t>
            </a:r>
            <a:endParaRPr lang="en-US" dirty="0"/>
          </a:p>
          <a:p>
            <a:r>
              <a:rPr lang="en-US" dirty="0"/>
              <a:t>Data Access Object (DAO)</a:t>
            </a:r>
          </a:p>
          <a:p>
            <a:r>
              <a:rPr lang="en-US" dirty="0"/>
              <a:t>Why need </a:t>
            </a:r>
            <a:r>
              <a:rPr lang="en-US" dirty="0" err="1"/>
              <a:t>contentDescription</a:t>
            </a:r>
            <a:r>
              <a:rPr lang="en-US" dirty="0"/>
              <a:t> for Views???</a:t>
            </a:r>
          </a:p>
        </p:txBody>
      </p:sp>
    </p:spTree>
    <p:extLst>
      <p:ext uri="{BB962C8B-B14F-4D97-AF65-F5344CB8AC3E}">
        <p14:creationId xmlns:p14="http://schemas.microsoft.com/office/powerpoint/2010/main" val="184693874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2325</TotalTime>
  <Words>5272</Words>
  <Application>Microsoft Office PowerPoint</Application>
  <PresentationFormat>Widescreen</PresentationFormat>
  <Paragraphs>475</Paragraphs>
  <Slides>54</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54</vt:i4>
      </vt:variant>
    </vt:vector>
  </HeadingPairs>
  <TitlesOfParts>
    <vt:vector size="61" baseType="lpstr">
      <vt:lpstr>Arial</vt:lpstr>
      <vt:lpstr>Calibri</vt:lpstr>
      <vt:lpstr>Calibri Light</vt:lpstr>
      <vt:lpstr>Consolas</vt:lpstr>
      <vt:lpstr>Lucida Console</vt:lpstr>
      <vt:lpstr>Segoe UI</vt:lpstr>
      <vt:lpstr>Office Theme</vt:lpstr>
      <vt:lpstr>Android Basics in Kotlin</vt:lpstr>
      <vt:lpstr>Vocabulary</vt:lpstr>
      <vt:lpstr>Vocabulary</vt:lpstr>
      <vt:lpstr>Program entry point</vt:lpstr>
      <vt:lpstr>Unit?</vt:lpstr>
      <vt:lpstr>if-else… or when?</vt:lpstr>
      <vt:lpstr>Class Hierarchy / Inheritance</vt:lpstr>
      <vt:lpstr>Class Hierarchy / Inheritance</vt:lpstr>
      <vt:lpstr>Class Hierarchy / Inheritance</vt:lpstr>
      <vt:lpstr>Class Hierarchy / Inheritance</vt:lpstr>
      <vt:lpstr>Abstract? Wtf is that??</vt:lpstr>
      <vt:lpstr>Abstract vs. Open???</vt:lpstr>
      <vt:lpstr>Generics???</vt:lpstr>
      <vt:lpstr>Dynamic String Resources</vt:lpstr>
      <vt:lpstr>With</vt:lpstr>
      <vt:lpstr>Vararg</vt:lpstr>
      <vt:lpstr>Lists</vt:lpstr>
      <vt:lpstr>Coding nuances that nobody really cares</vt:lpstr>
      <vt:lpstr>Gradle</vt:lpstr>
      <vt:lpstr>Auto Imports</vt:lpstr>
      <vt:lpstr>Lemonade App Flow</vt:lpstr>
      <vt:lpstr>Adapter</vt:lpstr>
      <vt:lpstr>PowerPoint Presentation</vt:lpstr>
      <vt:lpstr>Model vs. Datasource</vt:lpstr>
      <vt:lpstr>Data class (i.e. Model)</vt:lpstr>
      <vt:lpstr>MVVM</vt:lpstr>
      <vt:lpstr>MVVM</vt:lpstr>
      <vt:lpstr>XML</vt:lpstr>
      <vt:lpstr>XML</vt:lpstr>
      <vt:lpstr>XML</vt:lpstr>
      <vt:lpstr>Types of Layout (most commonly used)</vt:lpstr>
      <vt:lpstr>Display Flow #1</vt:lpstr>
      <vt:lpstr>Display Flow #1</vt:lpstr>
      <vt:lpstr>Display Flow #2: View Binding</vt:lpstr>
      <vt:lpstr>Display Flow #2: View Binding</vt:lpstr>
      <vt:lpstr>Display Flow #2: View Binding</vt:lpstr>
      <vt:lpstr>Testing Pyramid</vt:lpstr>
      <vt:lpstr>Automated Testing</vt:lpstr>
      <vt:lpstr>Automated Testing</vt:lpstr>
      <vt:lpstr>Automated Testing</vt:lpstr>
      <vt:lpstr>Unit Tests</vt:lpstr>
      <vt:lpstr>Instrumentation Tests</vt:lpstr>
      <vt:lpstr>Instrumentation Tests</vt:lpstr>
      <vt:lpstr>Instrumentation Tests (with Espresso)</vt:lpstr>
      <vt:lpstr>Unit Tests</vt:lpstr>
      <vt:lpstr>Unit Tests</vt:lpstr>
      <vt:lpstr>Debugging</vt:lpstr>
      <vt:lpstr>Log Levels</vt:lpstr>
      <vt:lpstr>What is it??? Too abstract???</vt:lpstr>
      <vt:lpstr>PowerPoint Presentation</vt:lpstr>
      <vt:lpstr>PowerPoint Presentation</vt:lpstr>
      <vt:lpstr>PowerPoint Presentation</vt:lpstr>
      <vt:lpstr>Different CI/CD Approaches???</vt:lpstr>
      <vt:lpstr>More concepts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Android Activity Lifecycle</dc:title>
  <dc:creator>DSTA Devt 01</dc:creator>
  <cp:lastModifiedBy>Corliss Chua</cp:lastModifiedBy>
  <cp:revision>396</cp:revision>
  <dcterms:created xsi:type="dcterms:W3CDTF">2022-05-30T08:41:58Z</dcterms:created>
  <dcterms:modified xsi:type="dcterms:W3CDTF">2022-06-24T16:37:42Z</dcterms:modified>
</cp:coreProperties>
</file>