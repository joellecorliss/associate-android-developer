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6" r:id="rId2"/>
    <p:sldId id="262" r:id="rId3"/>
    <p:sldId id="263" r:id="rId4"/>
    <p:sldId id="272" r:id="rId5"/>
    <p:sldId id="273" r:id="rId6"/>
    <p:sldId id="281" r:id="rId7"/>
    <p:sldId id="275" r:id="rId8"/>
    <p:sldId id="276" r:id="rId9"/>
    <p:sldId id="294" r:id="rId10"/>
    <p:sldId id="295" r:id="rId11"/>
    <p:sldId id="290" r:id="rId12"/>
    <p:sldId id="291" r:id="rId13"/>
    <p:sldId id="274" r:id="rId14"/>
    <p:sldId id="288" r:id="rId15"/>
    <p:sldId id="293" r:id="rId16"/>
    <p:sldId id="306" r:id="rId17"/>
    <p:sldId id="305" r:id="rId18"/>
    <p:sldId id="310" r:id="rId19"/>
    <p:sldId id="312" r:id="rId20"/>
    <p:sldId id="311" r:id="rId21"/>
    <p:sldId id="259" r:id="rId22"/>
    <p:sldId id="279" r:id="rId23"/>
    <p:sldId id="278" r:id="rId24"/>
    <p:sldId id="287" r:id="rId25"/>
    <p:sldId id="257" r:id="rId26"/>
    <p:sldId id="258" r:id="rId27"/>
    <p:sldId id="260" r:id="rId28"/>
    <p:sldId id="307" r:id="rId29"/>
    <p:sldId id="292" r:id="rId30"/>
    <p:sldId id="304" r:id="rId31"/>
    <p:sldId id="296" r:id="rId32"/>
    <p:sldId id="297" r:id="rId33"/>
    <p:sldId id="298" r:id="rId34"/>
    <p:sldId id="308" r:id="rId35"/>
    <p:sldId id="277" r:id="rId36"/>
    <p:sldId id="280" r:id="rId37"/>
    <p:sldId id="299" r:id="rId38"/>
    <p:sldId id="300" r:id="rId39"/>
    <p:sldId id="301" r:id="rId40"/>
    <p:sldId id="284" r:id="rId41"/>
    <p:sldId id="264" r:id="rId42"/>
    <p:sldId id="271" r:id="rId43"/>
    <p:sldId id="309" r:id="rId44"/>
    <p:sldId id="265" r:id="rId45"/>
    <p:sldId id="289" r:id="rId46"/>
    <p:sldId id="302" r:id="rId47"/>
    <p:sldId id="303" r:id="rId48"/>
    <p:sldId id="283" r:id="rId49"/>
    <p:sldId id="282" r:id="rId50"/>
    <p:sldId id="285" r:id="rId51"/>
    <p:sldId id="286" r:id="rId52"/>
    <p:sldId id="267" r:id="rId53"/>
    <p:sldId id="268" r:id="rId54"/>
    <p:sldId id="269" r:id="rId55"/>
    <p:sldId id="270" r:id="rId56"/>
    <p:sldId id="266" r:id="rId57"/>
    <p:sldId id="261"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 id="272"/>
            <p14:sldId id="273"/>
            <p14:sldId id="281"/>
            <p14:sldId id="275"/>
            <p14:sldId id="276"/>
            <p14:sldId id="294"/>
            <p14:sldId id="295"/>
            <p14:sldId id="290"/>
            <p14:sldId id="291"/>
            <p14:sldId id="274"/>
            <p14:sldId id="288"/>
            <p14:sldId id="293"/>
            <p14:sldId id="306"/>
            <p14:sldId id="305"/>
            <p14:sldId id="310"/>
            <p14:sldId id="312"/>
            <p14:sldId id="311"/>
            <p14:sldId id="259"/>
          </p14:sldIdLst>
        </p14:section>
        <p14:section name="Gradle" id="{8862B42C-AB28-4740-92D7-08BBDECDF7E4}">
          <p14:sldIdLst>
            <p14:sldId id="279"/>
          </p14:sldIdLst>
        </p14:section>
        <p14:section name="Android Studio" id="{A5880AA5-B5CC-4094-8340-7A2E235FF0C1}">
          <p14:sldIdLst>
            <p14:sldId id="278"/>
            <p14:sldId id="287"/>
          </p14:sldIdLst>
        </p14:section>
        <p14:section name="Adapter &gt; ViewHolder &gt; RecyclerView" id="{ED2873D2-7274-4F37-9EA1-29B6BCF376E0}">
          <p14:sldIdLst>
            <p14:sldId id="257"/>
            <p14:sldId id="258"/>
            <p14:sldId id="260"/>
            <p14:sldId id="307"/>
            <p14:sldId id="292"/>
            <p14:sldId id="304"/>
          </p14:sldIdLst>
        </p14:section>
        <p14:section name="Resources &gt; Layout &gt; Activity" id="{075AA403-EAF5-4876-A8D8-FA1693109801}">
          <p14:sldIdLst>
            <p14:sldId id="296"/>
            <p14:sldId id="297"/>
            <p14:sldId id="298"/>
            <p14:sldId id="308"/>
            <p14:sldId id="277"/>
            <p14:sldId id="280"/>
            <p14:sldId id="299"/>
            <p14:sldId id="300"/>
            <p14:sldId id="301"/>
          </p14:sldIdLst>
        </p14:section>
        <p14:section name="All About Testing and Debugging" id="{1760EBF3-D43D-40CE-8F81-D3B0E7B48B84}">
          <p14:sldIdLst>
            <p14:sldId id="284"/>
            <p14:sldId id="264"/>
            <p14:sldId id="271"/>
            <p14:sldId id="309"/>
            <p14:sldId id="265"/>
            <p14:sldId id="289"/>
            <p14:sldId id="302"/>
            <p14:sldId id="303"/>
            <p14:sldId id="283"/>
            <p14:sldId id="282"/>
            <p14:sldId id="285"/>
            <p14:sldId id="286"/>
          </p14:sldIdLst>
        </p14:section>
        <p14:section name="CI/CD" id="{E6169A93-43D0-47AB-A84E-FB0E09D06245}">
          <p14:sldIdLst>
            <p14:sldId id="267"/>
            <p14:sldId id="268"/>
            <p14:sldId id="269"/>
            <p14:sldId id="270"/>
            <p14:sldId id="266"/>
            <p14:sldId id="261"/>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orliss Chua" initials="CC" lastIdx="1" clrIdx="0">
    <p:extLst>
      <p:ext uri="{19B8F6BF-5375-455C-9EA6-DF929625EA0E}">
        <p15:presenceInfo xmlns:p15="http://schemas.microsoft.com/office/powerpoint/2012/main" userId="3166d17b198545c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169"/>
    <a:srgbClr val="00FFFF"/>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25/6/2022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26</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55</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25/6/2022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25/6/2022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25/6/2022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25/6/2022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25/6/2022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25/6/2022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25/6/2022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25/6/2022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25/6/2022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25/6/2022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25/6/2022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25/6/2022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p>
          <a:p>
            <a:r>
              <a:rPr lang="en-US" sz="2000" dirty="0"/>
              <a:t>To organize Views, you put them in a container. A </a:t>
            </a:r>
            <a:r>
              <a:rPr lang="en-US" sz="2000" dirty="0" err="1">
                <a:highlight>
                  <a:srgbClr val="FFFF00"/>
                </a:highlight>
              </a:rPr>
              <a:t>ViewGroup</a:t>
            </a:r>
            <a:r>
              <a:rPr lang="en-US" sz="2000" dirty="0"/>
              <a:t> is a container that </a:t>
            </a:r>
            <a:r>
              <a:rPr lang="en-US" sz="2000" dirty="0">
                <a:highlight>
                  <a:srgbClr val="FFFF00"/>
                </a:highlight>
              </a:rPr>
              <a:t>View</a:t>
            </a:r>
            <a:r>
              <a:rPr lang="en-US" sz="2000" dirty="0"/>
              <a:t> objects can sit in, and is responsible for arranging the Views inside it. One kind of </a:t>
            </a:r>
            <a:r>
              <a:rPr lang="en-US" sz="2000" dirty="0" err="1"/>
              <a:t>ViewGroup</a:t>
            </a:r>
            <a:r>
              <a:rPr lang="en-US" sz="2000" dirty="0"/>
              <a:t> is a </a:t>
            </a:r>
            <a:r>
              <a:rPr lang="en-US" sz="2000" dirty="0">
                <a:highlight>
                  <a:srgbClr val="FFFF00"/>
                </a:highlight>
                <a:latin typeface="Consolas" panose="020B0609020204030204" pitchFamily="49" charset="0"/>
              </a:rPr>
              <a:t>ConstraintLayout</a:t>
            </a:r>
            <a:r>
              <a:rPr lang="en-US" sz="2000" dirty="0"/>
              <a:t>, which helps you arrange the Views inside it in a flexible way. </a:t>
            </a:r>
            <a:r>
              <a:rPr lang="en-US" sz="2000" dirty="0">
                <a:highlight>
                  <a:srgbClr val="FFFF00"/>
                </a:highlight>
              </a:rPr>
              <a:t>Views need to be constrained horizontally and vertically within a </a:t>
            </a:r>
            <a:r>
              <a:rPr lang="en-US" sz="2000" dirty="0">
                <a:highlight>
                  <a:srgbClr val="FFFF00"/>
                </a:highlight>
                <a:latin typeface="Consolas" panose="020B0609020204030204" pitchFamily="49" charset="0"/>
              </a:rPr>
              <a:t>ConstraintLayout</a:t>
            </a:r>
            <a:r>
              <a:rPr lang="en-US" sz="2000" dirty="0"/>
              <a:t>.</a:t>
            </a:r>
          </a:p>
          <a:p>
            <a:r>
              <a:rPr lang="en-US" sz="2000" dirty="0" err="1">
                <a:highlight>
                  <a:srgbClr val="FFFF00"/>
                </a:highlight>
              </a:rPr>
              <a:t>dp</a:t>
            </a:r>
            <a:r>
              <a:rPr lang="en-US" sz="2000" dirty="0"/>
              <a:t> is a unit of measure for distances on the screen, </a:t>
            </a:r>
            <a:r>
              <a:rPr lang="en-US" sz="2000" dirty="0" err="1">
                <a:highlight>
                  <a:srgbClr val="FFFF00"/>
                </a:highlight>
              </a:rPr>
              <a:t>sp</a:t>
            </a:r>
            <a:r>
              <a:rPr lang="en-US" sz="2000" dirty="0"/>
              <a:t> is a unit of measure for the font size.</a:t>
            </a:r>
          </a:p>
          <a:p>
            <a:r>
              <a:rPr lang="en-US" sz="2000" dirty="0"/>
              <a:t>In Android, a graphic that can be drawn to the screen is generally referred to as a </a:t>
            </a:r>
            <a:r>
              <a:rPr lang="en-US" sz="2000" dirty="0">
                <a:highlight>
                  <a:srgbClr val="FFFF00"/>
                </a:highlight>
              </a:rPr>
              <a:t>drawable</a:t>
            </a:r>
            <a:r>
              <a:rPr lang="en-US" sz="2000" dirty="0"/>
              <a:t>.</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property, the superclass method or property must be marked with the </a:t>
            </a:r>
            <a:r>
              <a:rPr lang="en-SG" sz="1600" dirty="0">
                <a:highlight>
                  <a:srgbClr val="00FFFF"/>
                </a:highlight>
                <a:latin typeface="Lucida Console" panose="020B0609040504020204" pitchFamily="49" charset="0"/>
              </a:rPr>
              <a:t>open</a:t>
            </a:r>
            <a:r>
              <a:rPr lang="en-SG" sz="1600" dirty="0"/>
              <a:t> modifier, and the overriding method or property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199" y="1527244"/>
            <a:ext cx="6798013" cy="4965632"/>
          </a:xfrm>
        </p:spPr>
        <p:txBody>
          <a:bodyPr>
            <a:normAutofit fontScale="92500" lnSpcReduction="10000"/>
          </a:bodyPr>
          <a:lstStyle/>
          <a:p>
            <a:pPr marL="0" indent="0">
              <a:buNone/>
            </a:pPr>
            <a:r>
              <a:rPr lang="en-US" sz="1200" dirty="0">
                <a:highlight>
                  <a:srgbClr val="FFFF00"/>
                </a:highlight>
                <a:latin typeface="Lucida Console" panose="020B0609040504020204" pitchFamily="49" charset="0"/>
              </a:rPr>
              <a:t>abstract</a:t>
            </a:r>
            <a:r>
              <a:rPr lang="en-US" sz="1200" dirty="0">
                <a:latin typeface="Lucida Console" panose="020B0609040504020204" pitchFamily="49" charset="0"/>
              </a:rPr>
              <a:t> class Dwelling(private var </a:t>
            </a:r>
            <a:r>
              <a:rPr lang="en-US" sz="1200" dirty="0">
                <a:highlight>
                  <a:srgbClr val="00FF00"/>
                </a:highlight>
                <a:latin typeface="Lucida Console" panose="020B0609040504020204" pitchFamily="49" charset="0"/>
              </a:rPr>
              <a:t>residents</a:t>
            </a:r>
            <a:r>
              <a:rPr lang="en-US" sz="1200" dirty="0">
                <a:latin typeface="Lucida Console" panose="020B0609040504020204" pitchFamily="49" charset="0"/>
              </a:rPr>
              <a:t>: Int)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Int</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Double</a:t>
            </a:r>
          </a:p>
          <a:p>
            <a:pPr marL="0" indent="0">
              <a:buNone/>
            </a:pPr>
            <a:r>
              <a:rPr lang="en-US" sz="1200" dirty="0">
                <a:latin typeface="Lucida Console" panose="020B0609040504020204" pitchFamily="49" charset="0"/>
              </a:rPr>
              <a:t>	fun </a:t>
            </a:r>
            <a:r>
              <a:rPr lang="en-US" sz="1200" dirty="0" err="1">
                <a:latin typeface="Lucida Console" panose="020B0609040504020204" pitchFamily="49" charset="0"/>
              </a:rPr>
              <a:t>hasRoom</a:t>
            </a:r>
            <a:r>
              <a:rPr lang="en-US" sz="1200" dirty="0">
                <a:latin typeface="Lucida Console" panose="020B0609040504020204" pitchFamily="49" charset="0"/>
              </a:rPr>
              <a:t>()</a:t>
            </a:r>
            <a:r>
              <a:rPr lang="en-US" sz="1200" dirty="0">
                <a:highlight>
                  <a:srgbClr val="C0C0C0"/>
                </a:highlight>
                <a:latin typeface="Lucida Console" panose="020B0609040504020204" pitchFamily="49" charset="0"/>
              </a:rPr>
              <a:t>: Boolean</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capacity &lt; residents</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Int, </a:t>
            </a:r>
            <a:r>
              <a:rPr lang="en-US" sz="1200" dirty="0" err="1">
                <a:highlight>
                  <a:srgbClr val="FFF169"/>
                </a:highlight>
                <a:latin typeface="Lucida Console" panose="020B0609040504020204" pitchFamily="49" charset="0"/>
              </a:rPr>
              <a:t>val</a:t>
            </a:r>
            <a:r>
              <a:rPr lang="en-US" sz="1200" dirty="0">
                <a:highlight>
                  <a:srgbClr val="FFF169"/>
                </a:highlight>
                <a:latin typeface="Lucida Console" panose="020B0609040504020204" pitchFamily="49" charset="0"/>
              </a:rPr>
              <a:t> length: Double</a:t>
            </a:r>
            <a:r>
              <a:rPr lang="en-US" sz="1200" dirty="0">
                <a:latin typeface="Lucida Console" panose="020B0609040504020204" pitchFamily="49" charset="0"/>
              </a:rPr>
              <a:t>) : Dwelling(</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a:t>
            </a:r>
            <a:r>
              <a:rPr lang="en-US" sz="1200" dirty="0">
                <a:highlight>
                  <a:srgbClr val="FFF169"/>
                </a:highlight>
                <a:latin typeface="Lucida Console" panose="020B0609040504020204" pitchFamily="49" charset="0"/>
              </a:rPr>
              <a:t>length * length</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 6</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cabin =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3</a:t>
            </a:r>
            <a:r>
              <a:rPr lang="en-US" sz="1200" dirty="0">
                <a:latin typeface="Lucida Console" panose="020B0609040504020204" pitchFamily="49" charset="0"/>
              </a:rPr>
              <a:t>, </a:t>
            </a:r>
            <a:r>
              <a:rPr lang="en-US" sz="1200" dirty="0">
                <a:highlight>
                  <a:srgbClr val="FFF169"/>
                </a:highlight>
                <a:latin typeface="Lucida Console" panose="020B0609040504020204" pitchFamily="49" charset="0"/>
              </a:rPr>
              <a:t>40.0</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println(“${</a:t>
            </a:r>
            <a:r>
              <a:rPr lang="en-US" sz="1200" dirty="0" err="1">
                <a:latin typeface="Lucida Console" panose="020B0609040504020204" pitchFamily="49" charset="0"/>
              </a:rPr>
              <a:t>cabin.hasRoom</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804362" y="1398988"/>
            <a:ext cx="5076218" cy="5016758"/>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US" sz="1600" dirty="0"/>
              <a:t>When extending from a superclass, you must </a:t>
            </a:r>
            <a:r>
              <a:rPr lang="en-US" sz="1600" dirty="0">
                <a:highlight>
                  <a:srgbClr val="00FF00"/>
                </a:highlight>
              </a:rPr>
              <a:t>pass in the required parameters expected by the superclass</a:t>
            </a:r>
            <a:r>
              <a:rPr lang="en-US" sz="1600" dirty="0"/>
              <a:t>.</a:t>
            </a:r>
          </a:p>
          <a:p>
            <a:pPr marL="342900" indent="-342900">
              <a:buAutoNum type="arabicPeriod"/>
            </a:pPr>
            <a:endParaRPr lang="en-US" sz="1600" dirty="0"/>
          </a:p>
          <a:p>
            <a:pPr marL="342900" indent="-342900">
              <a:buAutoNum type="arabicPeriod"/>
            </a:pPr>
            <a:r>
              <a:rPr lang="en-US" sz="1600" dirty="0"/>
              <a:t>If the </a:t>
            </a:r>
            <a:r>
              <a:rPr lang="en-US" sz="1600" dirty="0">
                <a:highlight>
                  <a:srgbClr val="C0C0C0"/>
                </a:highlight>
              </a:rPr>
              <a:t>return type</a:t>
            </a:r>
            <a:r>
              <a:rPr lang="en-US" sz="1600" dirty="0"/>
              <a:t> is not specified when supposed to, it will show an error of ‘</a:t>
            </a:r>
            <a:r>
              <a:rPr lang="en-US" sz="1600" dirty="0">
                <a:latin typeface="Lucida Console" panose="020B0609040504020204" pitchFamily="49" charset="0"/>
              </a:rPr>
              <a:t>Type mismatch: inferred type is &lt;return type&gt; but Unit was expected</a:t>
            </a:r>
            <a:r>
              <a:rPr lang="en-US" sz="1600" dirty="0"/>
              <a:t>’</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subclasses</a:t>
            </a:r>
            <a:r>
              <a:rPr lang="en-US" sz="1600" dirty="0"/>
              <a:t> are allowed.</a:t>
            </a:r>
            <a:endParaRPr lang="en-SG" sz="1600" dirty="0"/>
          </a:p>
        </p:txBody>
      </p:sp>
      <p:cxnSp>
        <p:nvCxnSpPr>
          <p:cNvPr id="8" name="Connector: Elbow 7">
            <a:extLst>
              <a:ext uri="{FF2B5EF4-FFF2-40B4-BE49-F238E27FC236}">
                <a16:creationId xmlns:a16="http://schemas.microsoft.com/office/drawing/2014/main" id="{F1066A3E-545D-43C7-BC7C-A17588248E26}"/>
              </a:ext>
            </a:extLst>
          </p:cNvPr>
          <p:cNvCxnSpPr>
            <a:cxnSpLocks/>
          </p:cNvCxnSpPr>
          <p:nvPr/>
        </p:nvCxnSpPr>
        <p:spPr>
          <a:xfrm rot="5400000" flipH="1" flipV="1">
            <a:off x="4510119" y="1663937"/>
            <a:ext cx="12700" cy="391295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064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526913" y="1770435"/>
            <a:ext cx="7323307" cy="4965632"/>
          </a:xfrm>
        </p:spPr>
        <p:txBody>
          <a:bodyPr>
            <a:normAutofit/>
          </a:bodyPr>
          <a:lstStyle/>
          <a:p>
            <a:pPr marL="0" indent="0">
              <a:buNone/>
            </a:pPr>
            <a:r>
              <a:rPr lang="en-US" sz="1000" dirty="0">
                <a:highlight>
                  <a:srgbClr val="FFFF00"/>
                </a:highlight>
                <a:latin typeface="Lucida Console" panose="020B0609040504020204" pitchFamily="49" charset="0"/>
              </a:rPr>
              <a:t>open</a:t>
            </a:r>
            <a:r>
              <a:rPr lang="en-US" sz="1000" dirty="0">
                <a:latin typeface="Lucida Console" panose="020B0609040504020204" pitchFamily="49" charset="0"/>
              </a:rPr>
              <a:t> class </a:t>
            </a:r>
            <a:r>
              <a:rPr lang="en-US" sz="1000" dirty="0" err="1">
                <a:latin typeface="Lucida Console" panose="020B0609040504020204" pitchFamily="49" charset="0"/>
              </a:rPr>
              <a:t>RoundHut</a:t>
            </a:r>
            <a:r>
              <a:rPr lang="en-US" sz="1000" dirty="0">
                <a:latin typeface="Lucida Console" panose="020B0609040504020204" pitchFamily="49" charset="0"/>
              </a:rPr>
              <a:t>(people: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radius: Double</a:t>
            </a:r>
            <a:r>
              <a:rPr lang="en-US" sz="1000" dirty="0">
                <a:latin typeface="Lucida Console" panose="020B0609040504020204" pitchFamily="49" charset="0"/>
              </a:rPr>
              <a:t>) : Dwelling(residents)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Int = 6</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return PI * radius * radius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	</a:t>
            </a:r>
          </a:p>
          <a:p>
            <a:pPr marL="0" indent="0">
              <a:buNone/>
            </a:pPr>
            <a:r>
              <a:rPr lang="en-US" sz="1000" dirty="0">
                <a:highlight>
                  <a:srgbClr val="FFFF00"/>
                </a:highlight>
                <a:latin typeface="Lucida Console" panose="020B0609040504020204" pitchFamily="49" charset="0"/>
              </a:rPr>
              <a:t>class</a:t>
            </a:r>
            <a:r>
              <a:rPr lang="en-US" sz="1000" dirty="0">
                <a:latin typeface="Lucida Console" panose="020B0609040504020204" pitchFamily="49" charset="0"/>
              </a:rPr>
              <a:t> RoundTower(people: Int, radius: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floors: Int = 2</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(people, radius)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 6</a:t>
            </a:r>
          </a:p>
          <a:p>
            <a:pPr marL="0" indent="0">
              <a:buNone/>
            </a:pPr>
            <a:r>
              <a:rPr lang="en-US" sz="1000" dirty="0">
                <a:latin typeface="Lucida Console" panose="020B0609040504020204" pitchFamily="49" charset="0"/>
              </a:rPr>
              <a:t>	override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PI * radius * radius * floors</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 OR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a:t>
            </a:r>
            <a:r>
              <a:rPr lang="en-US" sz="1000" dirty="0" err="1">
                <a:highlight>
                  <a:srgbClr val="00FF00"/>
                </a:highlight>
                <a:latin typeface="Lucida Console" panose="020B0609040504020204" pitchFamily="49" charset="0"/>
              </a:rPr>
              <a:t>super.floorArea</a:t>
            </a:r>
            <a:r>
              <a:rPr lang="en-US" sz="1000" dirty="0">
                <a:highlight>
                  <a:srgbClr val="00FF00"/>
                </a:highlight>
                <a:latin typeface="Lucida Console" panose="020B0609040504020204" pitchFamily="49" charset="0"/>
              </a:rPr>
              <a:t>() * floors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a:t>
            </a:r>
          </a:p>
          <a:p>
            <a:pPr marL="0" indent="0">
              <a:buNone/>
            </a:pPr>
            <a:endParaRPr lang="en-US" sz="1000" dirty="0">
              <a:latin typeface="Lucida Console" panose="020B0609040504020204" pitchFamily="49" charset="0"/>
            </a:endParaRPr>
          </a:p>
          <a:p>
            <a:pPr marL="0" indent="0">
              <a:buNone/>
            </a:pPr>
            <a:r>
              <a:rPr lang="en-US" sz="1000" dirty="0">
                <a:latin typeface="Lucida Console" panose="020B0609040504020204" pitchFamily="49" charset="0"/>
              </a:rPr>
              <a:t>fun main() {</a:t>
            </a:r>
            <a:br>
              <a:rPr lang="en-US" sz="1000" dirty="0">
                <a:latin typeface="Lucida Console" panose="020B0609040504020204" pitchFamily="49" charset="0"/>
              </a:rPr>
            </a:b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roundHut</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(3, 40.0)</a:t>
            </a:r>
          </a:p>
          <a:p>
            <a:pPr marL="0" indent="0">
              <a:buNone/>
            </a:pP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roundTower</a:t>
            </a:r>
            <a:r>
              <a:rPr lang="en-US" sz="1000" dirty="0">
                <a:latin typeface="Lucida Console" panose="020B0609040504020204" pitchFamily="49" charset="0"/>
              </a:rPr>
              <a:t> = RoundTower(3, 15.5)</a:t>
            </a:r>
          </a:p>
          <a:p>
            <a:pPr marL="0" indent="0">
              <a:buNone/>
            </a:pPr>
            <a:r>
              <a:rPr lang="en-US" sz="1000" dirty="0">
                <a:latin typeface="Lucida Console" panose="020B0609040504020204" pitchFamily="49" charset="0"/>
              </a:rPr>
              <a:t>}</a:t>
            </a:r>
            <a:endParaRPr lang="en-SG" sz="10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765452" y="2117505"/>
            <a:ext cx="5076218" cy="4524315"/>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 (In this case, </a:t>
            </a:r>
            <a:r>
              <a:rPr lang="en-SG" sz="1600" dirty="0" err="1"/>
              <a:t>RoundHut</a:t>
            </a:r>
            <a:r>
              <a:rPr lang="en-SG" sz="1600" dirty="0"/>
              <a:t> uses </a:t>
            </a:r>
            <a:r>
              <a:rPr lang="en-SG" sz="1600" dirty="0">
                <a:highlight>
                  <a:srgbClr val="FFFF00"/>
                </a:highlight>
                <a:latin typeface="Lucida Console" panose="020B0609040504020204" pitchFamily="49" charset="0"/>
              </a:rPr>
              <a:t>open</a:t>
            </a:r>
            <a:r>
              <a:rPr lang="en-SG" sz="1600" dirty="0"/>
              <a:t> because it makes sense that I can instantiate a </a:t>
            </a:r>
            <a:r>
              <a:rPr lang="en-SG" sz="1600" dirty="0" err="1"/>
              <a:t>RoundHut</a:t>
            </a:r>
            <a:r>
              <a:rPr lang="en-SG" sz="1600" dirty="0"/>
              <a:t> object)</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sub-subclasses</a:t>
            </a:r>
            <a:r>
              <a:rPr lang="en-US" sz="1600" dirty="0"/>
              <a:t> are allowed too.</a:t>
            </a:r>
          </a:p>
          <a:p>
            <a:pPr marL="342900" indent="-342900">
              <a:buAutoNum type="arabicPeriod"/>
            </a:pPr>
            <a:endParaRPr lang="en-US" sz="1600" dirty="0"/>
          </a:p>
          <a:p>
            <a:pPr marL="342900" indent="-342900">
              <a:buAutoNum type="arabicPeriod"/>
            </a:pPr>
            <a:r>
              <a:rPr lang="en-US" sz="1600" dirty="0"/>
              <a:t>Can use the </a:t>
            </a:r>
            <a:r>
              <a:rPr lang="en-US" sz="1600" dirty="0">
                <a:highlight>
                  <a:srgbClr val="00FF00"/>
                </a:highlight>
                <a:latin typeface="Lucida Console" panose="020B0609040504020204" pitchFamily="49" charset="0"/>
              </a:rPr>
              <a:t>super</a:t>
            </a:r>
            <a:r>
              <a:rPr lang="en-US" sz="1600" dirty="0"/>
              <a:t> keyword in the subclass for whatever you need from the superclass to avoid repetitive implementation.</a:t>
            </a:r>
            <a:endParaRPr lang="en-SG" sz="1600" dirty="0"/>
          </a:p>
        </p:txBody>
      </p:sp>
    </p:spTree>
    <p:extLst>
      <p:ext uri="{BB962C8B-B14F-4D97-AF65-F5344CB8AC3E}">
        <p14:creationId xmlns:p14="http://schemas.microsoft.com/office/powerpoint/2010/main" val="2253805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Wtf is that??</a:t>
            </a:r>
          </a:p>
        </p:txBody>
      </p:sp>
      <p:sp>
        <p:nvSpPr>
          <p:cNvPr id="3" name="Content Placeholder 2">
            <a:extLst>
              <a:ext uri="{FF2B5EF4-FFF2-40B4-BE49-F238E27FC236}">
                <a16:creationId xmlns:a16="http://schemas.microsoft.com/office/drawing/2014/main" id="{07872F3D-ED3D-4EEB-9792-88BD6D22154F}"/>
              </a:ext>
            </a:extLst>
          </p:cNvPr>
          <p:cNvSpPr>
            <a:spLocks noGrp="1"/>
          </p:cNvSpPr>
          <p:nvPr>
            <p:ph idx="1"/>
          </p:nvPr>
        </p:nvSpPr>
        <p:spPr>
          <a:xfrm>
            <a:off x="838200" y="1821046"/>
            <a:ext cx="10515600" cy="4591354"/>
          </a:xfrm>
        </p:spPr>
        <p:txBody>
          <a:bodyPr>
            <a:normAutofit/>
          </a:bodyPr>
          <a:lstStyle/>
          <a:p>
            <a:pPr marL="0" indent="0">
              <a:buNone/>
            </a:pPr>
            <a:r>
              <a:rPr lang="en-SG" sz="1800" dirty="0"/>
              <a:t>You define a class as abstract when that class should not be instantiated on its own, and therefore cannot create an instance from it.</a:t>
            </a:r>
          </a:p>
          <a:p>
            <a:pPr marL="0" indent="0">
              <a:buNone/>
            </a:pPr>
            <a:endParaRPr lang="en-SG" sz="1800" dirty="0"/>
          </a:p>
          <a:p>
            <a:pPr marL="0" indent="0">
              <a:buNone/>
            </a:pPr>
            <a:r>
              <a:rPr lang="en-SG" sz="1800" dirty="0"/>
              <a:t>For example… an Animal class. Doesn’t make sense to create an Animal object when there are so many different animals and they do different things and have different attributes. Makes more sense to have a Cat or Dog subclass that extends from an Animal class.</a:t>
            </a:r>
          </a:p>
          <a:p>
            <a:pPr marL="0" indent="0">
              <a:buNone/>
            </a:pPr>
            <a:endParaRPr lang="en-SG" sz="1800" dirty="0"/>
          </a:p>
          <a:p>
            <a:pPr marL="0" indent="0">
              <a:buNone/>
            </a:pPr>
            <a:r>
              <a:rPr lang="en-SG" sz="1800" dirty="0"/>
              <a:t>You define a method in an abstract class as abstract when that method should not be implemented in the class. So if you determine that method to be abstract, you just need to declare the function, without the body (i.e. must remove the curly brackets).</a:t>
            </a:r>
          </a:p>
          <a:p>
            <a:pPr marL="0" indent="0">
              <a:buNone/>
            </a:pPr>
            <a:endParaRPr lang="en-SG" sz="1800" dirty="0"/>
          </a:p>
          <a:p>
            <a:pPr marL="0" indent="0">
              <a:buNone/>
            </a:pPr>
            <a:r>
              <a:rPr lang="en-SG" sz="1800" dirty="0"/>
              <a:t>Properties/Fields can also be abstract. Properties/Fields in an abstract class must be abstract or initialised.</a:t>
            </a:r>
          </a:p>
        </p:txBody>
      </p:sp>
    </p:spTree>
    <p:extLst>
      <p:ext uri="{BB962C8B-B14F-4D97-AF65-F5344CB8AC3E}">
        <p14:creationId xmlns:p14="http://schemas.microsoft.com/office/powerpoint/2010/main" val="33737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vs. Open???</a:t>
            </a:r>
          </a:p>
        </p:txBody>
      </p:sp>
      <p:pic>
        <p:nvPicPr>
          <p:cNvPr id="7" name="Picture 6">
            <a:extLst>
              <a:ext uri="{FF2B5EF4-FFF2-40B4-BE49-F238E27FC236}">
                <a16:creationId xmlns:a16="http://schemas.microsoft.com/office/drawing/2014/main" id="{8E0EE820-CE03-4106-A4B5-9827CE257941}"/>
              </a:ext>
            </a:extLst>
          </p:cNvPr>
          <p:cNvPicPr>
            <a:picLocks noChangeAspect="1"/>
          </p:cNvPicPr>
          <p:nvPr/>
        </p:nvPicPr>
        <p:blipFill>
          <a:blip r:embed="rId2"/>
          <a:stretch>
            <a:fillRect/>
          </a:stretch>
        </p:blipFill>
        <p:spPr>
          <a:xfrm>
            <a:off x="838200" y="3042742"/>
            <a:ext cx="3167610" cy="1408799"/>
          </a:xfrm>
          <a:prstGeom prst="rect">
            <a:avLst/>
          </a:prstGeom>
        </p:spPr>
      </p:pic>
      <p:pic>
        <p:nvPicPr>
          <p:cNvPr id="9" name="Picture 8">
            <a:extLst>
              <a:ext uri="{FF2B5EF4-FFF2-40B4-BE49-F238E27FC236}">
                <a16:creationId xmlns:a16="http://schemas.microsoft.com/office/drawing/2014/main" id="{03EB7FAF-345C-4AD3-808A-7E1A96554C3E}"/>
              </a:ext>
            </a:extLst>
          </p:cNvPr>
          <p:cNvPicPr>
            <a:picLocks noChangeAspect="1"/>
          </p:cNvPicPr>
          <p:nvPr/>
        </p:nvPicPr>
        <p:blipFill>
          <a:blip r:embed="rId3"/>
          <a:stretch>
            <a:fillRect/>
          </a:stretch>
        </p:blipFill>
        <p:spPr>
          <a:xfrm>
            <a:off x="838200" y="1758786"/>
            <a:ext cx="3110411" cy="914299"/>
          </a:xfrm>
          <a:prstGeom prst="rect">
            <a:avLst/>
          </a:prstGeom>
        </p:spPr>
      </p:pic>
      <p:pic>
        <p:nvPicPr>
          <p:cNvPr id="11" name="Picture 10">
            <a:extLst>
              <a:ext uri="{FF2B5EF4-FFF2-40B4-BE49-F238E27FC236}">
                <a16:creationId xmlns:a16="http://schemas.microsoft.com/office/drawing/2014/main" id="{12A7120A-940A-4C7B-B138-21220E09C124}"/>
              </a:ext>
            </a:extLst>
          </p:cNvPr>
          <p:cNvPicPr>
            <a:picLocks noChangeAspect="1"/>
          </p:cNvPicPr>
          <p:nvPr/>
        </p:nvPicPr>
        <p:blipFill>
          <a:blip r:embed="rId4"/>
          <a:stretch>
            <a:fillRect/>
          </a:stretch>
        </p:blipFill>
        <p:spPr>
          <a:xfrm>
            <a:off x="8428628" y="1758786"/>
            <a:ext cx="3302928" cy="3160866"/>
          </a:xfrm>
          <a:prstGeom prst="rect">
            <a:avLst/>
          </a:prstGeom>
        </p:spPr>
      </p:pic>
      <p:sp>
        <p:nvSpPr>
          <p:cNvPr id="6" name="TextBox 5">
            <a:extLst>
              <a:ext uri="{FF2B5EF4-FFF2-40B4-BE49-F238E27FC236}">
                <a16:creationId xmlns:a16="http://schemas.microsoft.com/office/drawing/2014/main" id="{007FFEAD-C09C-48E9-9247-FE52921AE6B6}"/>
              </a:ext>
            </a:extLst>
          </p:cNvPr>
          <p:cNvSpPr txBox="1"/>
          <p:nvPr/>
        </p:nvSpPr>
        <p:spPr>
          <a:xfrm>
            <a:off x="838200" y="5064750"/>
            <a:ext cx="10515600" cy="1477328"/>
          </a:xfrm>
          <a:prstGeom prst="rect">
            <a:avLst/>
          </a:prstGeom>
          <a:noFill/>
        </p:spPr>
        <p:txBody>
          <a:bodyPr wrap="square" rtlCol="0">
            <a:spAutoFit/>
          </a:bodyPr>
          <a:lstStyle/>
          <a:p>
            <a:r>
              <a:rPr lang="en-SG" dirty="0"/>
              <a:t>So…. All three codes work. What does the difference? You can instantiate an Animal object on the right because it has the open modifier.</a:t>
            </a:r>
          </a:p>
          <a:p>
            <a:endParaRPr lang="en-SG" dirty="0"/>
          </a:p>
          <a:p>
            <a:r>
              <a:rPr lang="en-SG" dirty="0"/>
              <a:t>With abstract methods, your subclass has to inherit. But with open methods, your subclass doesn’t have to inherit. And by default, if your subclass doesn’t inherit, your subclass can still call the superclass method.</a:t>
            </a:r>
          </a:p>
        </p:txBody>
      </p:sp>
      <p:pic>
        <p:nvPicPr>
          <p:cNvPr id="10" name="Picture 9">
            <a:extLst>
              <a:ext uri="{FF2B5EF4-FFF2-40B4-BE49-F238E27FC236}">
                <a16:creationId xmlns:a16="http://schemas.microsoft.com/office/drawing/2014/main" id="{13D6D014-4BC1-43A9-A48C-B4ABCB619730}"/>
              </a:ext>
            </a:extLst>
          </p:cNvPr>
          <p:cNvPicPr>
            <a:picLocks noChangeAspect="1"/>
          </p:cNvPicPr>
          <p:nvPr/>
        </p:nvPicPr>
        <p:blipFill>
          <a:blip r:embed="rId5"/>
          <a:stretch>
            <a:fillRect/>
          </a:stretch>
        </p:blipFill>
        <p:spPr>
          <a:xfrm>
            <a:off x="4490516" y="1758786"/>
            <a:ext cx="3396207" cy="2692574"/>
          </a:xfrm>
          <a:prstGeom prst="rect">
            <a:avLst/>
          </a:prstGeom>
        </p:spPr>
      </p:pic>
      <p:sp>
        <p:nvSpPr>
          <p:cNvPr id="12" name="Rectangle 11">
            <a:extLst>
              <a:ext uri="{FF2B5EF4-FFF2-40B4-BE49-F238E27FC236}">
                <a16:creationId xmlns:a16="http://schemas.microsoft.com/office/drawing/2014/main" id="{F14B54C1-EDB3-4394-8A1E-8F0DBEF2EE20}"/>
              </a:ext>
            </a:extLst>
          </p:cNvPr>
          <p:cNvSpPr/>
          <p:nvPr/>
        </p:nvSpPr>
        <p:spPr>
          <a:xfrm>
            <a:off x="1215957" y="2071990"/>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2">
            <a:extLst>
              <a:ext uri="{FF2B5EF4-FFF2-40B4-BE49-F238E27FC236}">
                <a16:creationId xmlns:a16="http://schemas.microsoft.com/office/drawing/2014/main" id="{A3A9E2DB-9AB3-4C5D-A9AD-543C6763FC24}"/>
              </a:ext>
            </a:extLst>
          </p:cNvPr>
          <p:cNvSpPr/>
          <p:nvPr/>
        </p:nvSpPr>
        <p:spPr>
          <a:xfrm>
            <a:off x="4894257" y="2084611"/>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9257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E8C1F-7DEB-451C-B334-9E4E55F4DACF}"/>
              </a:ext>
            </a:extLst>
          </p:cNvPr>
          <p:cNvSpPr>
            <a:spLocks noGrp="1"/>
          </p:cNvSpPr>
          <p:nvPr>
            <p:ph type="title"/>
          </p:nvPr>
        </p:nvSpPr>
        <p:spPr/>
        <p:txBody>
          <a:bodyPr/>
          <a:lstStyle/>
          <a:p>
            <a:r>
              <a:rPr lang="en-SG" dirty="0"/>
              <a:t>Dynamic String Resources</a:t>
            </a:r>
          </a:p>
        </p:txBody>
      </p:sp>
      <p:sp>
        <p:nvSpPr>
          <p:cNvPr id="3" name="Content Placeholder 2">
            <a:extLst>
              <a:ext uri="{FF2B5EF4-FFF2-40B4-BE49-F238E27FC236}">
                <a16:creationId xmlns:a16="http://schemas.microsoft.com/office/drawing/2014/main" id="{147E30CB-94D1-4A47-AB76-55D6FF4B1781}"/>
              </a:ext>
            </a:extLst>
          </p:cNvPr>
          <p:cNvSpPr>
            <a:spLocks noGrp="1"/>
          </p:cNvSpPr>
          <p:nvPr>
            <p:ph idx="1"/>
          </p:nvPr>
        </p:nvSpPr>
        <p:spPr>
          <a:xfrm>
            <a:off x="838200" y="1825625"/>
            <a:ext cx="10515600" cy="460375"/>
          </a:xfrm>
        </p:spPr>
        <p:txBody>
          <a:bodyPr>
            <a:normAutofit/>
          </a:bodyPr>
          <a:lstStyle/>
          <a:p>
            <a:pPr marL="0" indent="0">
              <a:buNone/>
            </a:pPr>
            <a:r>
              <a:rPr lang="en-SG" sz="1800" dirty="0"/>
              <a:t>You can also declare dynamic string resources, with special characters.</a:t>
            </a:r>
          </a:p>
        </p:txBody>
      </p:sp>
      <p:pic>
        <p:nvPicPr>
          <p:cNvPr id="5" name="Picture 4">
            <a:extLst>
              <a:ext uri="{FF2B5EF4-FFF2-40B4-BE49-F238E27FC236}">
                <a16:creationId xmlns:a16="http://schemas.microsoft.com/office/drawing/2014/main" id="{7A71A3F8-A0DE-4F1C-8855-6C14B189272D}"/>
              </a:ext>
            </a:extLst>
          </p:cNvPr>
          <p:cNvPicPr>
            <a:picLocks noChangeAspect="1"/>
          </p:cNvPicPr>
          <p:nvPr/>
        </p:nvPicPr>
        <p:blipFill>
          <a:blip r:embed="rId2"/>
          <a:stretch>
            <a:fillRect/>
          </a:stretch>
        </p:blipFill>
        <p:spPr>
          <a:xfrm>
            <a:off x="838200" y="2771739"/>
            <a:ext cx="6817468" cy="427333"/>
          </a:xfrm>
          <a:prstGeom prst="rect">
            <a:avLst/>
          </a:prstGeom>
        </p:spPr>
      </p:pic>
      <p:sp>
        <p:nvSpPr>
          <p:cNvPr id="6" name="TextBox 5">
            <a:extLst>
              <a:ext uri="{FF2B5EF4-FFF2-40B4-BE49-F238E27FC236}">
                <a16:creationId xmlns:a16="http://schemas.microsoft.com/office/drawing/2014/main" id="{9BBCEC99-80BC-4A88-9220-2EA8A2088F9F}"/>
              </a:ext>
            </a:extLst>
          </p:cNvPr>
          <p:cNvSpPr txBox="1"/>
          <p:nvPr/>
        </p:nvSpPr>
        <p:spPr>
          <a:xfrm>
            <a:off x="737312" y="2571920"/>
            <a:ext cx="872355" cy="276999"/>
          </a:xfrm>
          <a:prstGeom prst="rect">
            <a:avLst/>
          </a:prstGeom>
          <a:solidFill>
            <a:schemeClr val="accent4"/>
          </a:solidFill>
        </p:spPr>
        <p:txBody>
          <a:bodyPr wrap="none" rtlCol="0">
            <a:spAutoFit/>
          </a:bodyPr>
          <a:lstStyle/>
          <a:p>
            <a:r>
              <a:rPr lang="en-SG" sz="1200" dirty="0"/>
              <a:t>strings.xml</a:t>
            </a:r>
          </a:p>
        </p:txBody>
      </p:sp>
      <p:pic>
        <p:nvPicPr>
          <p:cNvPr id="8" name="Picture 7">
            <a:extLst>
              <a:ext uri="{FF2B5EF4-FFF2-40B4-BE49-F238E27FC236}">
                <a16:creationId xmlns:a16="http://schemas.microsoft.com/office/drawing/2014/main" id="{DC092560-C475-454E-B0BF-F113E71D1951}"/>
              </a:ext>
            </a:extLst>
          </p:cNvPr>
          <p:cNvPicPr>
            <a:picLocks noChangeAspect="1"/>
          </p:cNvPicPr>
          <p:nvPr/>
        </p:nvPicPr>
        <p:blipFill>
          <a:blip r:embed="rId3"/>
          <a:stretch>
            <a:fillRect/>
          </a:stretch>
        </p:blipFill>
        <p:spPr>
          <a:xfrm>
            <a:off x="838200" y="3629675"/>
            <a:ext cx="8208524" cy="410426"/>
          </a:xfrm>
          <a:prstGeom prst="rect">
            <a:avLst/>
          </a:prstGeom>
        </p:spPr>
      </p:pic>
      <p:sp>
        <p:nvSpPr>
          <p:cNvPr id="9" name="TextBox 8">
            <a:extLst>
              <a:ext uri="{FF2B5EF4-FFF2-40B4-BE49-F238E27FC236}">
                <a16:creationId xmlns:a16="http://schemas.microsoft.com/office/drawing/2014/main" id="{68D9B52E-FB2B-49D2-B83E-F5C3216F398E}"/>
              </a:ext>
            </a:extLst>
          </p:cNvPr>
          <p:cNvSpPr txBox="1"/>
          <p:nvPr/>
        </p:nvSpPr>
        <p:spPr>
          <a:xfrm>
            <a:off x="737312" y="3387777"/>
            <a:ext cx="1121141" cy="276999"/>
          </a:xfrm>
          <a:prstGeom prst="rect">
            <a:avLst/>
          </a:prstGeom>
          <a:solidFill>
            <a:schemeClr val="accent4"/>
          </a:solidFill>
        </p:spPr>
        <p:txBody>
          <a:bodyPr wrap="none" rtlCol="0">
            <a:spAutoFit/>
          </a:bodyPr>
          <a:lstStyle/>
          <a:p>
            <a:r>
              <a:rPr lang="en-SG" sz="1200" dirty="0"/>
              <a:t>MainActivity.kt</a:t>
            </a:r>
          </a:p>
        </p:txBody>
      </p:sp>
      <p:sp>
        <p:nvSpPr>
          <p:cNvPr id="10" name="Content Placeholder 2">
            <a:extLst>
              <a:ext uri="{FF2B5EF4-FFF2-40B4-BE49-F238E27FC236}">
                <a16:creationId xmlns:a16="http://schemas.microsoft.com/office/drawing/2014/main" id="{26D428FF-653F-4450-AFFF-07F7E1438B7C}"/>
              </a:ext>
            </a:extLst>
          </p:cNvPr>
          <p:cNvSpPr txBox="1">
            <a:spLocks/>
          </p:cNvSpPr>
          <p:nvPr/>
        </p:nvSpPr>
        <p:spPr>
          <a:xfrm>
            <a:off x="838200" y="4445470"/>
            <a:ext cx="10515600" cy="924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When declaring the string resource, each argument is numbered in the order it appears (1, 2, etc.) and has a letter to identify the type (</a:t>
            </a:r>
            <a:r>
              <a:rPr lang="en-US" sz="1800" dirty="0">
                <a:highlight>
                  <a:srgbClr val="FFFF00"/>
                </a:highlight>
              </a:rPr>
              <a:t>d</a:t>
            </a:r>
            <a:r>
              <a:rPr lang="en-US" sz="1800" dirty="0"/>
              <a:t> for decimal number, </a:t>
            </a:r>
            <a:r>
              <a:rPr lang="en-US" sz="1800" dirty="0">
                <a:highlight>
                  <a:srgbClr val="FFFF00"/>
                </a:highlight>
              </a:rPr>
              <a:t>s</a:t>
            </a:r>
            <a:r>
              <a:rPr lang="en-US" sz="1800" dirty="0"/>
              <a:t> for string, etc.). Arguments of the correct type can be passed into the call to </a:t>
            </a:r>
            <a:r>
              <a:rPr lang="en-US" sz="1800" dirty="0">
                <a:latin typeface="Lucida Console" panose="020B0609040504020204" pitchFamily="49" charset="0"/>
              </a:rPr>
              <a:t>getString()</a:t>
            </a:r>
            <a:r>
              <a:rPr lang="en-US" sz="1800" dirty="0"/>
              <a:t>.</a:t>
            </a:r>
            <a:endParaRPr lang="en-SG" sz="1800" dirty="0"/>
          </a:p>
        </p:txBody>
      </p:sp>
    </p:spTree>
    <p:extLst>
      <p:ext uri="{BB962C8B-B14F-4D97-AF65-F5344CB8AC3E}">
        <p14:creationId xmlns:p14="http://schemas.microsoft.com/office/powerpoint/2010/main" val="2323577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31DA-8E9E-48AA-A0C6-9253AA46BD1D}"/>
              </a:ext>
            </a:extLst>
          </p:cNvPr>
          <p:cNvSpPr>
            <a:spLocks noGrp="1"/>
          </p:cNvSpPr>
          <p:nvPr>
            <p:ph type="title"/>
          </p:nvPr>
        </p:nvSpPr>
        <p:spPr/>
        <p:txBody>
          <a:bodyPr/>
          <a:lstStyle/>
          <a:p>
            <a:r>
              <a:rPr lang="en-SG" dirty="0"/>
              <a:t>With</a:t>
            </a:r>
          </a:p>
        </p:txBody>
      </p:sp>
      <p:sp>
        <p:nvSpPr>
          <p:cNvPr id="5" name="Rectangle 1">
            <a:extLst>
              <a:ext uri="{FF2B5EF4-FFF2-40B4-BE49-F238E27FC236}">
                <a16:creationId xmlns:a16="http://schemas.microsoft.com/office/drawing/2014/main" id="{52979DE2-EB75-4889-827D-1459994C12A1}"/>
              </a:ext>
            </a:extLst>
          </p:cNvPr>
          <p:cNvSpPr txBox="1">
            <a:spLocks noChangeArrowheads="1"/>
          </p:cNvSpPr>
          <p:nvPr/>
        </p:nvSpPr>
        <p:spPr bwMode="auto">
          <a:xfrm>
            <a:off x="6665914" y="3447296"/>
            <a:ext cx="409086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lnSpc>
                <a:spcPct val="100000"/>
              </a:lnSpc>
              <a:spcBef>
                <a:spcPct val="0"/>
              </a:spcBef>
              <a:spcAft>
                <a:spcPct val="0"/>
              </a:spcAft>
              <a:buFontTx/>
              <a:buNone/>
            </a:pPr>
            <a:r>
              <a:rPr lang="en-US" altLang="en-US" sz="1200">
                <a:latin typeface="Lucida Console" panose="020B0609040504020204" pitchFamily="49" charset="0"/>
                <a:ea typeface="var(--devsite-code-font-family)"/>
              </a:rPr>
              <a:t>with(squareCabin) {</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println("\nSquare Cabin\n============")</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println("Capacity: ${capacity}")</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println("Material: ${buildingMaterial}")</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println("Has room? ${hasRoom()}")</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a:t>
            </a:r>
            <a:r>
              <a:rPr lang="en-US" altLang="en-US" sz="1200">
                <a:latin typeface="Lucida Console" panose="020B0609040504020204" pitchFamily="49" charset="0"/>
              </a:rPr>
              <a:t> </a:t>
            </a:r>
            <a:endParaRPr lang="en-US" altLang="en-US" sz="1200" dirty="0">
              <a:latin typeface="Lucida Console" panose="020B0609040504020204" pitchFamily="49" charset="0"/>
            </a:endParaRPr>
          </a:p>
        </p:txBody>
      </p:sp>
      <p:sp>
        <p:nvSpPr>
          <p:cNvPr id="7" name="Rectangle 3">
            <a:extLst>
              <a:ext uri="{FF2B5EF4-FFF2-40B4-BE49-F238E27FC236}">
                <a16:creationId xmlns:a16="http://schemas.microsoft.com/office/drawing/2014/main" id="{FACB5103-476B-470F-9A54-AF8543C6F9C9}"/>
              </a:ext>
            </a:extLst>
          </p:cNvPr>
          <p:cNvSpPr>
            <a:spLocks noGrp="1" noChangeArrowheads="1"/>
          </p:cNvSpPr>
          <p:nvPr>
            <p:ph idx="1"/>
          </p:nvPr>
        </p:nvSpPr>
        <p:spPr bwMode="auto">
          <a:xfrm>
            <a:off x="838200" y="3447296"/>
            <a:ext cx="5257801"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nSquare</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 Cabin\n============")</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println("Capacity: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squareCabin.capacity</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println("Material: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squareCabin.buildingMaterial</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println("Has room?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squareCabin.hasRoom</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r>
              <a:rPr kumimoji="0" lang="en-US" altLang="en-US" sz="1200" b="0" i="0" u="none" strike="noStrike" cap="none" normalizeH="0" baseline="0" dirty="0">
                <a:ln>
                  <a:noFill/>
                </a:ln>
                <a:solidFill>
                  <a:schemeClr val="tx1"/>
                </a:solidFill>
                <a:effectLst/>
                <a:latin typeface="Lucida Console" panose="020B0609040504020204" pitchFamily="49" charset="0"/>
              </a:rPr>
              <a:t> </a:t>
            </a:r>
          </a:p>
        </p:txBody>
      </p:sp>
      <p:sp>
        <p:nvSpPr>
          <p:cNvPr id="8" name="Content Placeholder 2">
            <a:extLst>
              <a:ext uri="{FF2B5EF4-FFF2-40B4-BE49-F238E27FC236}">
                <a16:creationId xmlns:a16="http://schemas.microsoft.com/office/drawing/2014/main" id="{112A39FC-D924-4FDB-95E7-3ED6A92366B3}"/>
              </a:ext>
            </a:extLst>
          </p:cNvPr>
          <p:cNvSpPr txBox="1">
            <a:spLocks/>
          </p:cNvSpPr>
          <p:nvPr/>
        </p:nvSpPr>
        <p:spPr>
          <a:xfrm>
            <a:off x="838200" y="1825625"/>
            <a:ext cx="10515600" cy="460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G" sz="1800" dirty="0"/>
              <a:t>Don’t have to repeat the instance name, especially when it has many methods or attributes.</a:t>
            </a:r>
          </a:p>
        </p:txBody>
      </p:sp>
    </p:spTree>
    <p:extLst>
      <p:ext uri="{BB962C8B-B14F-4D97-AF65-F5344CB8AC3E}">
        <p14:creationId xmlns:p14="http://schemas.microsoft.com/office/powerpoint/2010/main" val="3841037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1B943-AE6F-4C22-B12D-915929D31655}"/>
              </a:ext>
            </a:extLst>
          </p:cNvPr>
          <p:cNvSpPr>
            <a:spLocks noGrp="1"/>
          </p:cNvSpPr>
          <p:nvPr>
            <p:ph type="title"/>
          </p:nvPr>
        </p:nvSpPr>
        <p:spPr/>
        <p:txBody>
          <a:bodyPr/>
          <a:lstStyle/>
          <a:p>
            <a:r>
              <a:rPr lang="en-SG" dirty="0"/>
              <a:t>Vararg</a:t>
            </a:r>
          </a:p>
        </p:txBody>
      </p:sp>
      <p:sp>
        <p:nvSpPr>
          <p:cNvPr id="3" name="Content Placeholder 2">
            <a:extLst>
              <a:ext uri="{FF2B5EF4-FFF2-40B4-BE49-F238E27FC236}">
                <a16:creationId xmlns:a16="http://schemas.microsoft.com/office/drawing/2014/main" id="{305AE893-0364-4585-A97E-8FE167382ADA}"/>
              </a:ext>
            </a:extLst>
          </p:cNvPr>
          <p:cNvSpPr>
            <a:spLocks noGrp="1"/>
          </p:cNvSpPr>
          <p:nvPr>
            <p:ph idx="1"/>
          </p:nvPr>
        </p:nvSpPr>
        <p:spPr/>
        <p:txBody>
          <a:bodyPr/>
          <a:lstStyle/>
          <a:p>
            <a:pPr marL="0" indent="0">
              <a:buNone/>
            </a:pPr>
            <a:r>
              <a:rPr lang="en-SG" sz="2400" u="sng" dirty="0"/>
              <a:t>Instead of </a:t>
            </a:r>
          </a:p>
          <a:p>
            <a:pPr marL="0" indent="0">
              <a:buNone/>
            </a:pPr>
            <a:r>
              <a:rPr lang="nn-NO" sz="1400" dirty="0">
                <a:latin typeface="Lucida Console" panose="020B0609040504020204" pitchFamily="49" charset="0"/>
              </a:rPr>
              <a:t>class Vegetables(val toppings: List&lt;String&gt;)</a:t>
            </a:r>
            <a:endParaRPr lang="en-SG" sz="1400" dirty="0">
              <a:latin typeface="Lucida Console" panose="020B0609040504020204" pitchFamily="49" charset="0"/>
            </a:endParaRPr>
          </a:p>
          <a:p>
            <a:pPr marL="0" indent="0">
              <a:buNone/>
            </a:pPr>
            <a:r>
              <a:rPr lang="nn-NO" sz="1400" dirty="0">
                <a:latin typeface="Lucida Console" panose="020B0609040504020204" pitchFamily="49" charset="0"/>
              </a:rPr>
              <a:t>val vegetables = </a:t>
            </a:r>
            <a:r>
              <a:rPr lang="en-SG" sz="1400" dirty="0">
                <a:latin typeface="Lucida Console" panose="020B0609040504020204" pitchFamily="49" charset="0"/>
              </a:rPr>
              <a:t>Vegetables(listOf("Cabbage", "Sprouts", "Onion"))</a:t>
            </a:r>
          </a:p>
          <a:p>
            <a:pPr marL="0" indent="0">
              <a:buNone/>
            </a:pPr>
            <a:endParaRPr lang="en-SG" dirty="0"/>
          </a:p>
          <a:p>
            <a:pPr marL="0" indent="0">
              <a:buNone/>
            </a:pPr>
            <a:r>
              <a:rPr lang="en-SG" sz="2400" u="sng" dirty="0"/>
              <a:t>You can use the </a:t>
            </a:r>
            <a:r>
              <a:rPr lang="en-SG" sz="2400" u="sng" dirty="0">
                <a:latin typeface="Lucida Console" panose="020B0609040504020204" pitchFamily="49" charset="0"/>
              </a:rPr>
              <a:t>vararg</a:t>
            </a:r>
            <a:r>
              <a:rPr lang="en-SG" sz="2400" u="sng" dirty="0"/>
              <a:t> modifier to pass variable number of arguments</a:t>
            </a:r>
            <a:r>
              <a:rPr lang="en-SG" u="sng" dirty="0"/>
              <a:t> </a:t>
            </a:r>
          </a:p>
          <a:p>
            <a:pPr marL="0" indent="0">
              <a:buNone/>
            </a:pPr>
            <a:r>
              <a:rPr lang="nn-NO" sz="1400" dirty="0">
                <a:latin typeface="Lucida Console" panose="020B0609040504020204" pitchFamily="49" charset="0"/>
              </a:rPr>
              <a:t>class Vegetables(</a:t>
            </a:r>
            <a:r>
              <a:rPr lang="nn-NO" sz="1400" dirty="0">
                <a:highlight>
                  <a:srgbClr val="FFFF00"/>
                </a:highlight>
                <a:latin typeface="Lucida Console" panose="020B0609040504020204" pitchFamily="49" charset="0"/>
              </a:rPr>
              <a:t>vararg</a:t>
            </a:r>
            <a:r>
              <a:rPr lang="nn-NO" sz="1400" dirty="0">
                <a:latin typeface="Lucida Console" panose="020B0609040504020204" pitchFamily="49" charset="0"/>
              </a:rPr>
              <a:t> val toppings: String)</a:t>
            </a:r>
          </a:p>
          <a:p>
            <a:pPr marL="0" indent="0">
              <a:buNone/>
            </a:pPr>
            <a:r>
              <a:rPr lang="nn-NO" sz="1400" dirty="0">
                <a:latin typeface="Lucida Console" panose="020B0609040504020204" pitchFamily="49" charset="0"/>
              </a:rPr>
              <a:t>val vegetables = Vegetables("Cabbage", "Sprouts", "Onion")</a:t>
            </a:r>
            <a:endParaRPr lang="en-SG" sz="1400" dirty="0">
              <a:latin typeface="Lucida Console" panose="020B0609040504020204" pitchFamily="49" charset="0"/>
            </a:endParaRPr>
          </a:p>
        </p:txBody>
      </p:sp>
    </p:spTree>
    <p:extLst>
      <p:ext uri="{BB962C8B-B14F-4D97-AF65-F5344CB8AC3E}">
        <p14:creationId xmlns:p14="http://schemas.microsoft.com/office/powerpoint/2010/main" val="1236694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785B9-7C9F-4431-8CD6-472679A60FCE}"/>
              </a:ext>
            </a:extLst>
          </p:cNvPr>
          <p:cNvSpPr>
            <a:spLocks noGrp="1"/>
          </p:cNvSpPr>
          <p:nvPr>
            <p:ph type="title"/>
          </p:nvPr>
        </p:nvSpPr>
        <p:spPr/>
        <p:txBody>
          <a:bodyPr/>
          <a:lstStyle/>
          <a:p>
            <a:r>
              <a:rPr lang="en-SG" dirty="0"/>
              <a:t>Lists</a:t>
            </a:r>
          </a:p>
        </p:txBody>
      </p:sp>
      <p:sp>
        <p:nvSpPr>
          <p:cNvPr id="3" name="Content Placeholder 2">
            <a:extLst>
              <a:ext uri="{FF2B5EF4-FFF2-40B4-BE49-F238E27FC236}">
                <a16:creationId xmlns:a16="http://schemas.microsoft.com/office/drawing/2014/main" id="{42FCFF4D-FA19-4F6E-81D8-1794A16E0D41}"/>
              </a:ext>
            </a:extLst>
          </p:cNvPr>
          <p:cNvSpPr>
            <a:spLocks noGrp="1"/>
          </p:cNvSpPr>
          <p:nvPr>
            <p:ph idx="1"/>
          </p:nvPr>
        </p:nvSpPr>
        <p:spPr>
          <a:xfrm>
            <a:off x="838200" y="1690688"/>
            <a:ext cx="10515600" cy="4351338"/>
          </a:xfrm>
        </p:spPr>
        <p:txBody>
          <a:bodyPr>
            <a:normAutofit/>
          </a:bodyPr>
          <a:lstStyle/>
          <a:p>
            <a:r>
              <a:rPr lang="en-SG" sz="2400" dirty="0">
                <a:latin typeface="Lucida Console" panose="020B0609040504020204" pitchFamily="49" charset="0"/>
              </a:rPr>
              <a:t>List = listOf&lt;…&gt;(…)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reversed()</a:t>
            </a:r>
          </a:p>
          <a:p>
            <a:pPr lvl="2"/>
            <a:r>
              <a:rPr lang="en-SG" sz="1400" dirty="0">
                <a:latin typeface="Lucida Console" panose="020B0609040504020204" pitchFamily="49" charset="0"/>
              </a:rPr>
              <a:t>sorted()</a:t>
            </a:r>
          </a:p>
          <a:p>
            <a:pPr lvl="2"/>
            <a:r>
              <a:rPr lang="en-SG" sz="1400" dirty="0">
                <a:latin typeface="Lucida Console" panose="020B0609040504020204" pitchFamily="49" charset="0"/>
              </a:rPr>
              <a:t>first()</a:t>
            </a:r>
          </a:p>
          <a:p>
            <a:pPr lvl="2"/>
            <a:r>
              <a:rPr lang="en-SG" sz="1400" dirty="0">
                <a:latin typeface="Lucida Console" panose="020B0609040504020204" pitchFamily="49" charset="0"/>
              </a:rPr>
              <a:t>last()</a:t>
            </a:r>
          </a:p>
          <a:p>
            <a:pPr lvl="2"/>
            <a:r>
              <a:rPr lang="en-SG" sz="1400" dirty="0">
                <a:latin typeface="Lucida Console" panose="020B0609040504020204" pitchFamily="49" charset="0"/>
              </a:rPr>
              <a:t>contains()</a:t>
            </a:r>
          </a:p>
          <a:p>
            <a:r>
              <a:rPr lang="en-SG" sz="2400" dirty="0">
                <a:latin typeface="Lucida Console" panose="020B0609040504020204" pitchFamily="49" charset="0"/>
              </a:rPr>
              <a:t>MutableList = </a:t>
            </a:r>
            <a:r>
              <a:rPr lang="en-SG" sz="2400" dirty="0" err="1">
                <a:latin typeface="Lucida Console" panose="020B0609040504020204" pitchFamily="49" charset="0"/>
              </a:rPr>
              <a:t>mutableListOf</a:t>
            </a:r>
            <a:r>
              <a:rPr lang="en-SG" sz="2400" dirty="0">
                <a:latin typeface="Lucida Console" panose="020B0609040504020204" pitchFamily="49" charset="0"/>
              </a:rPr>
              <a:t>&lt;…&gt;(…)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add()</a:t>
            </a:r>
          </a:p>
          <a:p>
            <a:pPr lvl="2"/>
            <a:r>
              <a:rPr lang="en-SG" sz="1400" dirty="0" err="1">
                <a:latin typeface="Lucida Console" panose="020B0609040504020204" pitchFamily="49" charset="0"/>
              </a:rPr>
              <a:t>addAll</a:t>
            </a:r>
            <a:r>
              <a:rPr lang="en-SG" sz="1400" dirty="0">
                <a:latin typeface="Lucida Console" panose="020B0609040504020204" pitchFamily="49" charset="0"/>
              </a:rPr>
              <a:t>()</a:t>
            </a:r>
          </a:p>
          <a:p>
            <a:pPr lvl="2"/>
            <a:r>
              <a:rPr lang="en-SG" sz="1400" dirty="0">
                <a:latin typeface="Lucida Console" panose="020B0609040504020204" pitchFamily="49" charset="0"/>
              </a:rPr>
              <a:t>remove()</a:t>
            </a:r>
          </a:p>
          <a:p>
            <a:pPr lvl="2"/>
            <a:r>
              <a:rPr lang="en-SG" sz="1400" dirty="0" err="1">
                <a:latin typeface="Lucida Console" panose="020B0609040504020204" pitchFamily="49" charset="0"/>
              </a:rPr>
              <a:t>removeAt</a:t>
            </a:r>
            <a:r>
              <a:rPr lang="en-SG" sz="1400" dirty="0">
                <a:latin typeface="Lucida Console" panose="020B0609040504020204" pitchFamily="49" charset="0"/>
              </a:rPr>
              <a:t>()</a:t>
            </a:r>
          </a:p>
          <a:p>
            <a:pPr lvl="2"/>
            <a:r>
              <a:rPr lang="en-SG" sz="1400" dirty="0">
                <a:latin typeface="Lucida Console" panose="020B0609040504020204" pitchFamily="49" charset="0"/>
              </a:rPr>
              <a:t>clear()</a:t>
            </a:r>
          </a:p>
          <a:p>
            <a:pPr lvl="2"/>
            <a:r>
              <a:rPr lang="en-SG" sz="1400" dirty="0" err="1">
                <a:latin typeface="Lucida Console" panose="020B0609040504020204" pitchFamily="49" charset="0"/>
              </a:rPr>
              <a:t>isEmpty</a:t>
            </a:r>
            <a:r>
              <a:rPr lang="en-SG" sz="1400" dirty="0">
                <a:latin typeface="Lucida Console" panose="020B0609040504020204" pitchFamily="49" charset="0"/>
              </a:rPr>
              <a:t>()</a:t>
            </a:r>
          </a:p>
          <a:p>
            <a:pPr lvl="2"/>
            <a:endParaRPr lang="en-SG" sz="1400" dirty="0">
              <a:latin typeface="Lucida Console" panose="020B0609040504020204" pitchFamily="49" charset="0"/>
            </a:endParaRPr>
          </a:p>
          <a:p>
            <a:endParaRPr lang="en-SG" sz="1800" dirty="0">
              <a:latin typeface="Lucida Console" panose="020B0609040504020204" pitchFamily="49" charset="0"/>
            </a:endParaRPr>
          </a:p>
        </p:txBody>
      </p:sp>
      <p:sp>
        <p:nvSpPr>
          <p:cNvPr id="4" name="Rectangle 1">
            <a:extLst>
              <a:ext uri="{FF2B5EF4-FFF2-40B4-BE49-F238E27FC236}">
                <a16:creationId xmlns:a16="http://schemas.microsoft.com/office/drawing/2014/main" id="{9186565B-74B1-42F1-8641-7AE218AD5B35}"/>
              </a:ext>
            </a:extLst>
          </p:cNvPr>
          <p:cNvSpPr>
            <a:spLocks noChangeArrowheads="1"/>
          </p:cNvSpPr>
          <p:nvPr/>
        </p:nvSpPr>
        <p:spPr bwMode="auto">
          <a:xfrm>
            <a:off x="6264613" y="1091491"/>
            <a:ext cx="5546387" cy="1077218"/>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&lt;String&gt;()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Segoe UI" panose="020B0502040204020203" pitchFamily="34" charset="0"/>
                <a:ea typeface="var(--devsite-code-font-family)"/>
                <a:cs typeface="Segoe UI" panose="020B0502040204020203" pitchFamily="34" charset="0"/>
              </a:rPr>
              <a:t>is the same as</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MutableList&lt;String&gt;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a:t>
            </a:r>
            <a:r>
              <a:rPr kumimoji="0" lang="en-US" altLang="en-US" sz="1400" b="0" i="0" u="none" strike="noStrike" cap="none" normalizeH="0" baseline="0" dirty="0">
                <a:ln>
                  <a:noFill/>
                </a:ln>
                <a:solidFill>
                  <a:schemeClr val="tx1"/>
                </a:solidFill>
                <a:effectLst/>
                <a:latin typeface="Lucida Console" panose="020B0609040504020204" pitchFamily="49" charset="0"/>
              </a:rPr>
              <a:t> </a:t>
            </a:r>
          </a:p>
        </p:txBody>
      </p:sp>
      <p:sp>
        <p:nvSpPr>
          <p:cNvPr id="6" name="Rectangle 1">
            <a:extLst>
              <a:ext uri="{FF2B5EF4-FFF2-40B4-BE49-F238E27FC236}">
                <a16:creationId xmlns:a16="http://schemas.microsoft.com/office/drawing/2014/main" id="{43785030-FBE1-41DC-A94D-FE83C33DCC1D}"/>
              </a:ext>
            </a:extLst>
          </p:cNvPr>
          <p:cNvSpPr>
            <a:spLocks noChangeArrowheads="1"/>
          </p:cNvSpPr>
          <p:nvPr/>
        </p:nvSpPr>
        <p:spPr bwMode="auto">
          <a:xfrm>
            <a:off x="5894962" y="4486787"/>
            <a:ext cx="6071681" cy="2154436"/>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How does the </a:t>
            </a:r>
            <a:r>
              <a:rPr kumimoji="0" lang="en-US" altLang="en-US" sz="1400" b="1" i="0" u="none" strike="noStrike" cap="none" normalizeH="0" baseline="0" dirty="0" err="1">
                <a:ln>
                  <a:noFill/>
                </a:ln>
                <a:solidFill>
                  <a:schemeClr val="tx1"/>
                </a:solidFill>
                <a:effectLst/>
                <a:latin typeface="Lucida Console" panose="020B0609040504020204" pitchFamily="49" charset="0"/>
                <a:ea typeface="var(--devsite-code-font-family)"/>
                <a:cs typeface="Segoe UI" panose="020B0502040204020203" pitchFamily="34" charset="0"/>
              </a:rPr>
              <a:t>val</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and </a:t>
            </a:r>
            <a:r>
              <a:rPr kumimoji="0" lang="en-US" altLang="en-US" sz="1400" b="1" i="0" u="none" strike="noStrike" cap="none" normalizeH="0" baseline="0" dirty="0">
                <a:ln>
                  <a:noFill/>
                </a:ln>
                <a:solidFill>
                  <a:schemeClr val="tx1"/>
                </a:solidFill>
                <a:effectLst/>
                <a:latin typeface="Lucida Console" panose="020B0609040504020204" pitchFamily="49" charset="0"/>
                <a:ea typeface="var(--devsite-code-font-family)"/>
                <a:cs typeface="Segoe UI" panose="020B0502040204020203" pitchFamily="34" charset="0"/>
              </a:rPr>
              <a:t>var</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keyword affect lists/mutable list?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t>
            </a:r>
            <a:r>
              <a:rPr kumimoji="0" lang="en-US" altLang="en-US" sz="1400" b="0" i="0" u="none" strike="noStrike" cap="none" normalizeH="0" baseline="0" dirty="0" err="1">
                <a:ln>
                  <a:noFill/>
                </a:ln>
                <a:solidFill>
                  <a:schemeClr val="tx1"/>
                </a:solidFill>
                <a:effectLst/>
                <a:latin typeface="Lucida Console" panose="020B0609040504020204" pitchFamily="49" charset="0"/>
                <a:cs typeface="Segoe UI" panose="020B0502040204020203" pitchFamily="34" charset="0"/>
              </a:rPr>
              <a:t>al</a:t>
            </a:r>
            <a:r>
              <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rPr>
              <a:t> with mutable list = cannot reassign variable with a new valu</a:t>
            </a:r>
            <a:r>
              <a:rPr lang="en-US" altLang="en-US" sz="1400" dirty="0">
                <a:latin typeface="Segoe UI" panose="020B0502040204020203" pitchFamily="34" charset="0"/>
                <a:cs typeface="Segoe UI" panose="020B0502040204020203" pitchFamily="34" charset="0"/>
              </a:rPr>
              <a:t>e, but can alter existing content of variable</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mutable list = can reassign, can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val</a:t>
            </a:r>
            <a:r>
              <a:rPr lang="en-US" altLang="en-US" sz="1400" dirty="0">
                <a:latin typeface="Segoe UI" panose="020B0502040204020203" pitchFamily="34" charset="0"/>
                <a:cs typeface="Segoe UI" panose="020B0502040204020203" pitchFamily="34" charset="0"/>
              </a:rPr>
              <a:t> with immutable list = cannot reassign, cannot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immutable content = can reassign, cannot alter existing content</a:t>
            </a: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994503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Lambda Expressions (or lambdas in short)</a:t>
            </a:r>
          </a:p>
        </p:txBody>
      </p:sp>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lstStyle/>
          <a:p>
            <a:pPr marL="0" indent="0">
              <a:buNone/>
            </a:pPr>
            <a:r>
              <a:rPr lang="en-SG" u="sng" dirty="0"/>
              <a:t>Normal function</a:t>
            </a:r>
          </a:p>
          <a:p>
            <a:pPr marL="0" indent="0">
              <a:buNone/>
            </a:pPr>
            <a:r>
              <a:rPr lang="en-SG" sz="1400" dirty="0">
                <a:latin typeface="Lucida Console" panose="020B0609040504020204" pitchFamily="49" charset="0"/>
              </a:rPr>
              <a:t>fun triple(</a:t>
            </a:r>
            <a:r>
              <a:rPr lang="en-SG" sz="1400" dirty="0" err="1">
                <a:latin typeface="Lucida Console" panose="020B0609040504020204" pitchFamily="49" charset="0"/>
              </a:rPr>
              <a:t>val</a:t>
            </a:r>
            <a:r>
              <a:rPr lang="en-SG" sz="1400" dirty="0">
                <a:latin typeface="Lucida Console" panose="020B0609040504020204" pitchFamily="49" charset="0"/>
              </a:rPr>
              <a:t> a: Int) {</a:t>
            </a:r>
          </a:p>
          <a:p>
            <a:pPr marL="0" indent="0">
              <a:buNone/>
            </a:pPr>
            <a:r>
              <a:rPr lang="en-SG" sz="1400" dirty="0">
                <a:latin typeface="Lucida Console" panose="020B0609040504020204" pitchFamily="49" charset="0"/>
              </a:rPr>
              <a:t>	return a*3	</a:t>
            </a:r>
          </a:p>
          <a:p>
            <a:pPr marL="0" indent="0">
              <a:buNone/>
            </a:pPr>
            <a:r>
              <a:rPr lang="en-SG" sz="1400" dirty="0">
                <a:latin typeface="Lucida Console" panose="020B0609040504020204" pitchFamily="49" charset="0"/>
              </a:rPr>
              <a:t>}</a:t>
            </a:r>
          </a:p>
          <a:p>
            <a:pPr marL="0" indent="0">
              <a:buNone/>
            </a:pPr>
            <a:endParaRPr lang="en-SG" dirty="0"/>
          </a:p>
          <a:p>
            <a:pPr marL="0" indent="0">
              <a:buNone/>
            </a:pPr>
            <a:r>
              <a:rPr lang="en-SG" u="sng" dirty="0"/>
              <a:t>Lambda</a:t>
            </a:r>
          </a:p>
          <a:p>
            <a:pPr marL="0" indent="0">
              <a:buNone/>
            </a:pPr>
            <a:r>
              <a:rPr lang="en-SG" sz="1400" dirty="0" err="1">
                <a:latin typeface="Lucida Console" panose="020B0609040504020204" pitchFamily="49" charset="0"/>
              </a:rPr>
              <a:t>val</a:t>
            </a:r>
            <a:r>
              <a:rPr lang="en-SG" sz="1400" dirty="0">
                <a:latin typeface="Lucida Console" panose="020B0609040504020204" pitchFamily="49" charset="0"/>
              </a:rPr>
              <a:t> triple: (Int) -&gt; Int = { a: Int -&gt; a*3 }</a:t>
            </a:r>
          </a:p>
          <a:p>
            <a:pPr marL="0" indent="0">
              <a:buNone/>
            </a:pPr>
            <a:r>
              <a:rPr lang="en-SG" sz="1400" dirty="0" err="1">
                <a:latin typeface="Lucida Console" panose="020B0609040504020204" pitchFamily="49" charset="0"/>
              </a:rPr>
              <a:t>val</a:t>
            </a:r>
            <a:r>
              <a:rPr lang="en-SG" sz="1400" dirty="0">
                <a:latin typeface="Lucida Console" panose="020B0609040504020204" pitchFamily="49" charset="0"/>
              </a:rPr>
              <a:t> triple: (Int) -&gt; Int = { it*3 } </a:t>
            </a:r>
          </a:p>
        </p:txBody>
      </p:sp>
    </p:spTree>
    <p:extLst>
      <p:ext uri="{BB962C8B-B14F-4D97-AF65-F5344CB8AC3E}">
        <p14:creationId xmlns:p14="http://schemas.microsoft.com/office/powerpoint/2010/main" val="3637480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lstStyle/>
          <a:p>
            <a:pPr marL="0" indent="0">
              <a:buNone/>
            </a:pPr>
            <a:r>
              <a:rPr lang="en-SG" u="sng" dirty="0"/>
              <a:t>Normal function</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(object: </a:t>
            </a:r>
            <a:r>
              <a:rPr lang="en-SG" sz="1400" dirty="0" err="1">
                <a:latin typeface="Lucida Console" panose="020B0609040504020204" pitchFamily="49" charset="0"/>
              </a:rPr>
              <a:t>View.onClickListener</a:t>
            </a:r>
            <a:r>
              <a:rPr lang="en-SG" sz="1400" dirty="0">
                <a:latin typeface="Lucida Console" panose="020B0609040504020204" pitchFamily="49" charset="0"/>
              </a:rPr>
              <a:t> {</a:t>
            </a:r>
          </a:p>
          <a:p>
            <a:pPr marL="0" indent="0">
              <a:buNone/>
            </a:pPr>
            <a:r>
              <a:rPr lang="en-SG" sz="1400" dirty="0">
                <a:latin typeface="Lucida Console" panose="020B0609040504020204" pitchFamily="49" charset="0"/>
              </a:rPr>
              <a:t>	override fun </a:t>
            </a:r>
            <a:r>
              <a:rPr lang="en-SG" sz="1400" dirty="0" err="1">
                <a:latin typeface="Lucida Console" panose="020B0609040504020204" pitchFamily="49" charset="0"/>
              </a:rPr>
              <a:t>onClick</a:t>
            </a:r>
            <a:r>
              <a:rPr lang="en-SG" sz="1400" dirty="0">
                <a:latin typeface="Lucida Console" panose="020B0609040504020204" pitchFamily="49" charset="0"/>
              </a:rPr>
              <a:t>(view: View?) {</a:t>
            </a:r>
          </a:p>
          <a:p>
            <a:pPr marL="0" indent="0">
              <a:buNone/>
            </a:pP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a:t>
            </a:r>
          </a:p>
          <a:p>
            <a:pPr marL="0" indent="0">
              <a:buNone/>
            </a:pPr>
            <a:r>
              <a:rPr lang="en-SG" sz="1400" dirty="0">
                <a:latin typeface="Lucida Console" panose="020B0609040504020204" pitchFamily="49" charset="0"/>
              </a:rPr>
              <a:t>	}</a:t>
            </a:r>
          </a:p>
          <a:p>
            <a:pPr marL="0" indent="0">
              <a:buNone/>
            </a:pPr>
            <a:r>
              <a:rPr lang="en-SG" sz="1400" dirty="0">
                <a:latin typeface="Lucida Console" panose="020B0609040504020204" pitchFamily="49" charset="0"/>
              </a:rPr>
              <a:t>})</a:t>
            </a:r>
          </a:p>
          <a:p>
            <a:pPr marL="0" indent="0">
              <a:buNone/>
            </a:pPr>
            <a:endParaRPr lang="en-SG" dirty="0"/>
          </a:p>
          <a:p>
            <a:pPr marL="0" indent="0">
              <a:buNone/>
            </a:pPr>
            <a:r>
              <a:rPr lang="en-SG" u="sng" dirty="0"/>
              <a:t>Lambda</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 </a:t>
            </a:r>
            <a:r>
              <a:rPr lang="en-SG" sz="1400" dirty="0">
                <a:highlight>
                  <a:srgbClr val="FFFF00"/>
                </a:highlight>
                <a:latin typeface="Lucida Console" panose="020B0609040504020204" pitchFamily="49" charset="0"/>
              </a:rPr>
              <a:t>view</a:t>
            </a: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 }</a:t>
            </a:r>
          </a:p>
          <a:p>
            <a:pPr marL="0" indent="0">
              <a:buNone/>
            </a:pPr>
            <a:r>
              <a:rPr lang="en-SG" sz="1400" dirty="0" err="1">
                <a:latin typeface="Lucida Console" panose="020B0609040504020204" pitchFamily="49" charset="0"/>
              </a:rPr>
              <a:t>calculateButton</a:t>
            </a:r>
            <a:r>
              <a:rPr lang="en-SG" sz="1400" dirty="0">
                <a:latin typeface="Lucida Console" panose="020B0609040504020204" pitchFamily="49" charset="0"/>
              </a:rPr>
              <a:t>. </a:t>
            </a:r>
            <a:r>
              <a:rPr lang="en-SG" sz="1400" dirty="0" err="1">
                <a:latin typeface="Lucida Console" panose="020B0609040504020204" pitchFamily="49" charset="0"/>
              </a:rPr>
              <a:t>setOnClickListener</a:t>
            </a: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 }</a:t>
            </a:r>
          </a:p>
          <a:p>
            <a:pPr marL="0" indent="0">
              <a:buNone/>
            </a:pPr>
            <a:r>
              <a:rPr lang="en-SG" sz="1400" dirty="0" err="1">
                <a:latin typeface="Lucida Console" panose="020B0609040504020204" pitchFamily="49" charset="0"/>
              </a:rPr>
              <a:t>costOfServiceEditText.setOnKeyListener</a:t>
            </a:r>
            <a:r>
              <a:rPr lang="en-SG" sz="1400" dirty="0">
                <a:latin typeface="Lucida Console" panose="020B0609040504020204" pitchFamily="49" charset="0"/>
              </a:rPr>
              <a:t> { view, </a:t>
            </a:r>
            <a:r>
              <a:rPr lang="en-SG" sz="1400" dirty="0" err="1">
                <a:latin typeface="Lucida Console" panose="020B0609040504020204" pitchFamily="49" charset="0"/>
              </a:rPr>
              <a:t>keyCode</a:t>
            </a:r>
            <a:r>
              <a:rPr lang="en-SG" sz="1400" dirty="0">
                <a:latin typeface="Lucida Console" panose="020B0609040504020204" pitchFamily="49" charset="0"/>
              </a:rPr>
              <a:t>, </a:t>
            </a:r>
            <a:r>
              <a:rPr lang="en-SG" sz="1400" dirty="0">
                <a:highlight>
                  <a:srgbClr val="FFFF00"/>
                </a:highlight>
                <a:latin typeface="Lucida Console" panose="020B0609040504020204" pitchFamily="49" charset="0"/>
              </a:rPr>
              <a:t>_</a:t>
            </a:r>
            <a:r>
              <a:rPr lang="en-SG" sz="1400" dirty="0">
                <a:latin typeface="Lucida Console" panose="020B0609040504020204" pitchFamily="49" charset="0"/>
              </a:rPr>
              <a:t> -&gt; </a:t>
            </a:r>
            <a:r>
              <a:rPr lang="en-SG" sz="1400" dirty="0" err="1">
                <a:latin typeface="Lucida Console" panose="020B0609040504020204" pitchFamily="49" charset="0"/>
              </a:rPr>
              <a:t>handleKeyEvent</a:t>
            </a:r>
            <a:r>
              <a:rPr lang="en-SG" sz="1400" dirty="0">
                <a:latin typeface="Lucida Console" panose="020B0609040504020204" pitchFamily="49" charset="0"/>
              </a:rPr>
              <a:t>(view, </a:t>
            </a:r>
            <a:r>
              <a:rPr lang="en-SG" sz="1400" dirty="0" err="1">
                <a:latin typeface="Lucida Console" panose="020B0609040504020204" pitchFamily="49" charset="0"/>
              </a:rPr>
              <a:t>keyCode</a:t>
            </a:r>
            <a:r>
              <a:rPr lang="en-SG" sz="1400" dirty="0">
                <a:latin typeface="Lucida Console" panose="020B0609040504020204" pitchFamily="49" charset="0"/>
              </a:rPr>
              <a:t>) }</a:t>
            </a:r>
          </a:p>
          <a:p>
            <a:pPr marL="0" indent="0">
              <a:buNone/>
            </a:pPr>
            <a:endParaRPr lang="en-SG" sz="1400" dirty="0">
              <a:latin typeface="Lucida Console" panose="020B0609040504020204" pitchFamily="49" charset="0"/>
            </a:endParaRPr>
          </a:p>
        </p:txBody>
      </p:sp>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Lambda Expressions (or lambdas in short)</a:t>
            </a:r>
          </a:p>
        </p:txBody>
      </p:sp>
      <p:sp>
        <p:nvSpPr>
          <p:cNvPr id="5" name="TextBox 4">
            <a:extLst>
              <a:ext uri="{FF2B5EF4-FFF2-40B4-BE49-F238E27FC236}">
                <a16:creationId xmlns:a16="http://schemas.microsoft.com/office/drawing/2014/main" id="{522D4431-E334-452B-B10C-7717E3CE5A7E}"/>
              </a:ext>
            </a:extLst>
          </p:cNvPr>
          <p:cNvSpPr txBox="1"/>
          <p:nvPr/>
        </p:nvSpPr>
        <p:spPr>
          <a:xfrm>
            <a:off x="7486242" y="4640094"/>
            <a:ext cx="4511203" cy="584775"/>
          </a:xfrm>
          <a:prstGeom prst="rect">
            <a:avLst/>
          </a:prstGeom>
          <a:solidFill>
            <a:schemeClr val="accent4"/>
          </a:solidFill>
        </p:spPr>
        <p:txBody>
          <a:bodyPr wrap="square" rtlCol="0">
            <a:spAutoFit/>
          </a:bodyPr>
          <a:lstStyle/>
          <a:p>
            <a:r>
              <a:rPr lang="en-SG" sz="1600" dirty="0"/>
              <a:t>Since the view parameter isn’t used in the lambda, it can be omitted.</a:t>
            </a:r>
          </a:p>
        </p:txBody>
      </p:sp>
      <p:sp>
        <p:nvSpPr>
          <p:cNvPr id="23" name="TextBox 22">
            <a:extLst>
              <a:ext uri="{FF2B5EF4-FFF2-40B4-BE49-F238E27FC236}">
                <a16:creationId xmlns:a16="http://schemas.microsoft.com/office/drawing/2014/main" id="{19E2ACA9-8F19-4B6D-AD6E-C6ABCD6F2ABC}"/>
              </a:ext>
            </a:extLst>
          </p:cNvPr>
          <p:cNvSpPr txBox="1"/>
          <p:nvPr/>
        </p:nvSpPr>
        <p:spPr>
          <a:xfrm>
            <a:off x="7486242" y="5942568"/>
            <a:ext cx="4429325" cy="738664"/>
          </a:xfrm>
          <a:prstGeom prst="rect">
            <a:avLst/>
          </a:prstGeom>
          <a:solidFill>
            <a:schemeClr val="accent4"/>
          </a:solidFill>
        </p:spPr>
        <p:txBody>
          <a:bodyPr wrap="square">
            <a:spAutoFit/>
          </a:bodyPr>
          <a:lstStyle/>
          <a:p>
            <a:r>
              <a:rPr lang="en-US" sz="1400" dirty="0"/>
              <a:t>If you don't use a lambda parameter in the function body, you can name it _ to make your code more readable and less cluttered. This code has the same behavior.</a:t>
            </a:r>
            <a:endParaRPr lang="en-SG" sz="1400" dirty="0"/>
          </a:p>
        </p:txBody>
      </p:sp>
    </p:spTree>
    <p:extLst>
      <p:ext uri="{BB962C8B-B14F-4D97-AF65-F5344CB8AC3E}">
        <p14:creationId xmlns:p14="http://schemas.microsoft.com/office/powerpoint/2010/main" val="869607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Higher-order Functions</a:t>
            </a:r>
          </a:p>
        </p:txBody>
      </p:sp>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normAutofit/>
          </a:bodyPr>
          <a:lstStyle/>
          <a:p>
            <a:r>
              <a:rPr lang="en-SG" sz="2400" dirty="0"/>
              <a:t>Passing a function/lambda into another function, or returning a function from another function</a:t>
            </a:r>
            <a:endParaRPr lang="en-SG" sz="1800" dirty="0"/>
          </a:p>
        </p:txBody>
      </p:sp>
    </p:spTree>
    <p:extLst>
      <p:ext uri="{BB962C8B-B14F-4D97-AF65-F5344CB8AC3E}">
        <p14:creationId xmlns:p14="http://schemas.microsoft.com/office/powerpoint/2010/main" val="19682866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p>
          <a:p>
            <a:r>
              <a:rPr lang="en-US" sz="2400" dirty="0"/>
              <a:t>Property or Attribute?</a:t>
            </a:r>
          </a:p>
          <a:p>
            <a:pPr lvl="1"/>
            <a:r>
              <a:rPr lang="en-US" sz="2000" dirty="0"/>
              <a:t>A property is something that </a:t>
            </a:r>
            <a:r>
              <a:rPr lang="en-US" sz="2000" dirty="0" err="1"/>
              <a:t>characterises</a:t>
            </a:r>
            <a:r>
              <a:rPr lang="en-US" sz="2000" dirty="0"/>
              <a:t> a class (e.g. age and gender are properties of human) and the property becomes an attribute when it is given a value or description (e.g. age is 20, gender is female)</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normAutofit/>
          </a:bodyPr>
          <a:lstStyle/>
          <a:p>
            <a:r>
              <a:rPr lang="en-US" sz="2400" dirty="0"/>
              <a:t>Automated build system used by Android Studio.</a:t>
            </a:r>
          </a:p>
          <a:p>
            <a:r>
              <a:rPr lang="en-US" sz="2400" dirty="0"/>
              <a:t>Whenever you change code, add a resource, or make other changes to your app, Gradle figures out what has changed and takes the necessary steps to rebuild your app. </a:t>
            </a:r>
          </a:p>
          <a:p>
            <a:r>
              <a:rPr lang="en-US" sz="2400" dirty="0"/>
              <a:t>It also installs your app in the emulator or physical device and controls its execution.</a:t>
            </a:r>
            <a:endParaRPr lang="en-SG" sz="2400" dirty="0"/>
          </a:p>
        </p:txBody>
      </p:sp>
    </p:spTree>
    <p:extLst>
      <p:ext uri="{BB962C8B-B14F-4D97-AF65-F5344CB8AC3E}">
        <p14:creationId xmlns:p14="http://schemas.microsoft.com/office/powerpoint/2010/main" val="171894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Lemonade App Flow</a:t>
            </a:r>
          </a:p>
        </p:txBody>
      </p:sp>
      <p:pic>
        <p:nvPicPr>
          <p:cNvPr id="4" name="Picture 3">
            <a:extLst>
              <a:ext uri="{FF2B5EF4-FFF2-40B4-BE49-F238E27FC236}">
                <a16:creationId xmlns:a16="http://schemas.microsoft.com/office/drawing/2014/main" id="{897E06FA-B27D-4692-861A-73E14D6C841E}"/>
              </a:ext>
            </a:extLst>
          </p:cNvPr>
          <p:cNvPicPr>
            <a:picLocks noChangeAspect="1"/>
          </p:cNvPicPr>
          <p:nvPr/>
        </p:nvPicPr>
        <p:blipFill>
          <a:blip r:embed="rId2"/>
          <a:stretch>
            <a:fillRect/>
          </a:stretch>
        </p:blipFill>
        <p:spPr>
          <a:xfrm>
            <a:off x="1429932" y="1753426"/>
            <a:ext cx="998307" cy="1425063"/>
          </a:xfrm>
          <a:prstGeom prst="rect">
            <a:avLst/>
          </a:prstGeom>
        </p:spPr>
      </p:pic>
      <p:pic>
        <p:nvPicPr>
          <p:cNvPr id="6" name="Picture 5">
            <a:extLst>
              <a:ext uri="{FF2B5EF4-FFF2-40B4-BE49-F238E27FC236}">
                <a16:creationId xmlns:a16="http://schemas.microsoft.com/office/drawing/2014/main" id="{1F6AC428-0AB0-4D99-8159-C6E568B34B08}"/>
              </a:ext>
            </a:extLst>
          </p:cNvPr>
          <p:cNvPicPr>
            <a:picLocks noChangeAspect="1"/>
          </p:cNvPicPr>
          <p:nvPr/>
        </p:nvPicPr>
        <p:blipFill>
          <a:blip r:embed="rId3"/>
          <a:stretch>
            <a:fillRect/>
          </a:stretch>
        </p:blipFill>
        <p:spPr>
          <a:xfrm>
            <a:off x="4018278" y="1791528"/>
            <a:ext cx="1295512" cy="1348857"/>
          </a:xfrm>
          <a:prstGeom prst="rect">
            <a:avLst/>
          </a:prstGeom>
        </p:spPr>
      </p:pic>
      <p:pic>
        <p:nvPicPr>
          <p:cNvPr id="8" name="Picture 7">
            <a:extLst>
              <a:ext uri="{FF2B5EF4-FFF2-40B4-BE49-F238E27FC236}">
                <a16:creationId xmlns:a16="http://schemas.microsoft.com/office/drawing/2014/main" id="{DEA33ADC-5600-4FAA-9C03-332493011CEE}"/>
              </a:ext>
            </a:extLst>
          </p:cNvPr>
          <p:cNvPicPr>
            <a:picLocks noChangeAspect="1"/>
          </p:cNvPicPr>
          <p:nvPr/>
        </p:nvPicPr>
        <p:blipFill>
          <a:blip r:embed="rId4"/>
          <a:stretch>
            <a:fillRect/>
          </a:stretch>
        </p:blipFill>
        <p:spPr>
          <a:xfrm>
            <a:off x="6903829" y="1783908"/>
            <a:ext cx="1226926" cy="1394581"/>
          </a:xfrm>
          <a:prstGeom prst="rect">
            <a:avLst/>
          </a:prstGeom>
        </p:spPr>
      </p:pic>
      <p:pic>
        <p:nvPicPr>
          <p:cNvPr id="10" name="Picture 9">
            <a:extLst>
              <a:ext uri="{FF2B5EF4-FFF2-40B4-BE49-F238E27FC236}">
                <a16:creationId xmlns:a16="http://schemas.microsoft.com/office/drawing/2014/main" id="{E8E29C5A-8B4B-4716-BA0A-7594A00FC007}"/>
              </a:ext>
            </a:extLst>
          </p:cNvPr>
          <p:cNvPicPr>
            <a:picLocks noChangeAspect="1"/>
          </p:cNvPicPr>
          <p:nvPr/>
        </p:nvPicPr>
        <p:blipFill>
          <a:blip r:embed="rId5"/>
          <a:stretch>
            <a:fillRect/>
          </a:stretch>
        </p:blipFill>
        <p:spPr>
          <a:xfrm>
            <a:off x="9720794" y="1980801"/>
            <a:ext cx="951274" cy="1145412"/>
          </a:xfrm>
          <a:prstGeom prst="rect">
            <a:avLst/>
          </a:prstGeom>
        </p:spPr>
      </p:pic>
      <p:sp>
        <p:nvSpPr>
          <p:cNvPr id="11" name="Rectangle 10">
            <a:extLst>
              <a:ext uri="{FF2B5EF4-FFF2-40B4-BE49-F238E27FC236}">
                <a16:creationId xmlns:a16="http://schemas.microsoft.com/office/drawing/2014/main" id="{95AAC17D-A1F9-4795-A391-6A4D4D201CF6}"/>
              </a:ext>
            </a:extLst>
          </p:cNvPr>
          <p:cNvSpPr/>
          <p:nvPr/>
        </p:nvSpPr>
        <p:spPr>
          <a:xfrm>
            <a:off x="1089497"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SELECT</a:t>
            </a:r>
          </a:p>
        </p:txBody>
      </p:sp>
      <p:sp>
        <p:nvSpPr>
          <p:cNvPr id="12" name="Rectangle 11">
            <a:extLst>
              <a:ext uri="{FF2B5EF4-FFF2-40B4-BE49-F238E27FC236}">
                <a16:creationId xmlns:a16="http://schemas.microsoft.com/office/drawing/2014/main" id="{C5183975-4226-409F-B119-8199EEC3D186}"/>
              </a:ext>
            </a:extLst>
          </p:cNvPr>
          <p:cNvSpPr/>
          <p:nvPr/>
        </p:nvSpPr>
        <p:spPr>
          <a:xfrm>
            <a:off x="3829455"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SQUEEZE</a:t>
            </a:r>
          </a:p>
        </p:txBody>
      </p:sp>
      <p:sp>
        <p:nvSpPr>
          <p:cNvPr id="13" name="Rectangle 12">
            <a:extLst>
              <a:ext uri="{FF2B5EF4-FFF2-40B4-BE49-F238E27FC236}">
                <a16:creationId xmlns:a16="http://schemas.microsoft.com/office/drawing/2014/main" id="{AABF3452-858C-4693-AF80-9BDD8AE127B2}"/>
              </a:ext>
            </a:extLst>
          </p:cNvPr>
          <p:cNvSpPr/>
          <p:nvPr/>
        </p:nvSpPr>
        <p:spPr>
          <a:xfrm>
            <a:off x="6569413"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DRINK</a:t>
            </a:r>
          </a:p>
        </p:txBody>
      </p:sp>
      <p:sp>
        <p:nvSpPr>
          <p:cNvPr id="14" name="Rectangle 13">
            <a:extLst>
              <a:ext uri="{FF2B5EF4-FFF2-40B4-BE49-F238E27FC236}">
                <a16:creationId xmlns:a16="http://schemas.microsoft.com/office/drawing/2014/main" id="{88D16A09-5592-4450-AD09-A091F1A2B1F0}"/>
              </a:ext>
            </a:extLst>
          </p:cNvPr>
          <p:cNvSpPr/>
          <p:nvPr/>
        </p:nvSpPr>
        <p:spPr>
          <a:xfrm>
            <a:off x="9359852"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RESTART</a:t>
            </a:r>
          </a:p>
        </p:txBody>
      </p:sp>
      <p:cxnSp>
        <p:nvCxnSpPr>
          <p:cNvPr id="16" name="Straight Arrow Connector 15">
            <a:extLst>
              <a:ext uri="{FF2B5EF4-FFF2-40B4-BE49-F238E27FC236}">
                <a16:creationId xmlns:a16="http://schemas.microsoft.com/office/drawing/2014/main" id="{66BBB330-FE3D-44A0-80DD-2F2FEE411F3C}"/>
              </a:ext>
            </a:extLst>
          </p:cNvPr>
          <p:cNvCxnSpPr>
            <a:stCxn id="4" idx="3"/>
            <a:endCxn id="6" idx="1"/>
          </p:cNvCxnSpPr>
          <p:nvPr/>
        </p:nvCxnSpPr>
        <p:spPr>
          <a:xfrm flipV="1">
            <a:off x="2428239" y="2465957"/>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724F46E-EEB1-48C7-8FD0-B7443BFCBE60}"/>
              </a:ext>
            </a:extLst>
          </p:cNvPr>
          <p:cNvCxnSpPr/>
          <p:nvPr/>
        </p:nvCxnSpPr>
        <p:spPr>
          <a:xfrm flipV="1">
            <a:off x="5300980" y="2482981"/>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9D120D-A855-408A-954E-F6CCEBFC5258}"/>
              </a:ext>
            </a:extLst>
          </p:cNvPr>
          <p:cNvCxnSpPr/>
          <p:nvPr/>
        </p:nvCxnSpPr>
        <p:spPr>
          <a:xfrm flipV="1">
            <a:off x="8130755" y="2465955"/>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FFF7641B-E510-461E-B98C-F686EAF1937A}"/>
              </a:ext>
            </a:extLst>
          </p:cNvPr>
          <p:cNvSpPr/>
          <p:nvPr/>
        </p:nvSpPr>
        <p:spPr>
          <a:xfrm>
            <a:off x="652787" y="5098686"/>
            <a:ext cx="1673157" cy="787654"/>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STATE: SQUEEZE</a:t>
            </a:r>
          </a:p>
          <a:p>
            <a:pPr algn="ctr"/>
            <a:r>
              <a:rPr lang="en-SG" sz="1400" dirty="0">
                <a:solidFill>
                  <a:schemeClr val="tx1"/>
                </a:solidFill>
              </a:rPr>
              <a:t>squeezeCount = 0</a:t>
            </a:r>
          </a:p>
          <a:p>
            <a:pPr algn="ctr"/>
            <a:r>
              <a:rPr lang="en-SG" sz="1400" dirty="0">
                <a:solidFill>
                  <a:schemeClr val="tx1"/>
                </a:solidFill>
              </a:rPr>
              <a:t>lemonSize = 3</a:t>
            </a:r>
          </a:p>
        </p:txBody>
      </p:sp>
      <p:sp>
        <p:nvSpPr>
          <p:cNvPr id="22" name="Rectangle 21">
            <a:extLst>
              <a:ext uri="{FF2B5EF4-FFF2-40B4-BE49-F238E27FC236}">
                <a16:creationId xmlns:a16="http://schemas.microsoft.com/office/drawing/2014/main" id="{C0C55794-C8CB-4889-ABC1-B4F548786774}"/>
              </a:ext>
            </a:extLst>
          </p:cNvPr>
          <p:cNvSpPr/>
          <p:nvPr/>
        </p:nvSpPr>
        <p:spPr>
          <a:xfrm>
            <a:off x="2921699"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1</a:t>
            </a:r>
          </a:p>
          <a:p>
            <a:pPr algn="ctr"/>
            <a:r>
              <a:rPr lang="en-SG" sz="1400" dirty="0">
                <a:solidFill>
                  <a:schemeClr val="tx1"/>
                </a:solidFill>
              </a:rPr>
              <a:t>lemonSize = 2</a:t>
            </a:r>
          </a:p>
        </p:txBody>
      </p:sp>
      <p:sp>
        <p:nvSpPr>
          <p:cNvPr id="23" name="Rectangle 22">
            <a:extLst>
              <a:ext uri="{FF2B5EF4-FFF2-40B4-BE49-F238E27FC236}">
                <a16:creationId xmlns:a16="http://schemas.microsoft.com/office/drawing/2014/main" id="{96735ADB-98BB-45CF-8538-0192F76513EE}"/>
              </a:ext>
            </a:extLst>
          </p:cNvPr>
          <p:cNvSpPr/>
          <p:nvPr/>
        </p:nvSpPr>
        <p:spPr>
          <a:xfrm>
            <a:off x="5217623"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2</a:t>
            </a:r>
          </a:p>
          <a:p>
            <a:pPr algn="ctr"/>
            <a:r>
              <a:rPr lang="en-SG" sz="1400" dirty="0">
                <a:solidFill>
                  <a:schemeClr val="tx1"/>
                </a:solidFill>
              </a:rPr>
              <a:t>lemonSize = 1</a:t>
            </a:r>
          </a:p>
        </p:txBody>
      </p:sp>
      <p:sp>
        <p:nvSpPr>
          <p:cNvPr id="24" name="Rectangle 23">
            <a:extLst>
              <a:ext uri="{FF2B5EF4-FFF2-40B4-BE49-F238E27FC236}">
                <a16:creationId xmlns:a16="http://schemas.microsoft.com/office/drawing/2014/main" id="{5BA3B667-2144-42BE-98BD-A56C90860D63}"/>
              </a:ext>
            </a:extLst>
          </p:cNvPr>
          <p:cNvSpPr/>
          <p:nvPr/>
        </p:nvSpPr>
        <p:spPr>
          <a:xfrm>
            <a:off x="7571196" y="5224033"/>
            <a:ext cx="1673157" cy="1021123"/>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3</a:t>
            </a:r>
          </a:p>
          <a:p>
            <a:pPr algn="ctr"/>
            <a:r>
              <a:rPr lang="en-SG" sz="1400" dirty="0">
                <a:solidFill>
                  <a:schemeClr val="tx1"/>
                </a:solidFill>
              </a:rPr>
              <a:t>lemonSize = 0</a:t>
            </a:r>
          </a:p>
          <a:p>
            <a:pPr algn="ctr"/>
            <a:r>
              <a:rPr lang="en-SG" sz="1400" dirty="0">
                <a:solidFill>
                  <a:schemeClr val="tx1"/>
                </a:solidFill>
              </a:rPr>
              <a:t>STATE: DRINK</a:t>
            </a:r>
          </a:p>
          <a:p>
            <a:pPr algn="ctr"/>
            <a:r>
              <a:rPr lang="en-SG" sz="1400" dirty="0">
                <a:solidFill>
                  <a:schemeClr val="tx1"/>
                </a:solidFill>
              </a:rPr>
              <a:t>lemonSize = -1</a:t>
            </a:r>
          </a:p>
        </p:txBody>
      </p:sp>
      <p:sp>
        <p:nvSpPr>
          <p:cNvPr id="27" name="TextBox 26">
            <a:extLst>
              <a:ext uri="{FF2B5EF4-FFF2-40B4-BE49-F238E27FC236}">
                <a16:creationId xmlns:a16="http://schemas.microsoft.com/office/drawing/2014/main" id="{02EE8DB4-E3AC-453C-A30B-5399B2710BE8}"/>
              </a:ext>
            </a:extLst>
          </p:cNvPr>
          <p:cNvSpPr txBox="1"/>
          <p:nvPr/>
        </p:nvSpPr>
        <p:spPr>
          <a:xfrm>
            <a:off x="693630" y="4622346"/>
            <a:ext cx="1986066" cy="369332"/>
          </a:xfrm>
          <a:prstGeom prst="rect">
            <a:avLst/>
          </a:prstGeom>
          <a:noFill/>
        </p:spPr>
        <p:txBody>
          <a:bodyPr wrap="square">
            <a:spAutoFit/>
          </a:bodyPr>
          <a:lstStyle/>
          <a:p>
            <a:r>
              <a:rPr lang="en-SG" sz="1800" dirty="0">
                <a:solidFill>
                  <a:schemeClr val="tx1"/>
                </a:solidFill>
              </a:rPr>
              <a:t>If lemonSize == 3,</a:t>
            </a:r>
          </a:p>
        </p:txBody>
      </p:sp>
      <p:sp>
        <p:nvSpPr>
          <p:cNvPr id="28" name="TextBox 27">
            <a:extLst>
              <a:ext uri="{FF2B5EF4-FFF2-40B4-BE49-F238E27FC236}">
                <a16:creationId xmlns:a16="http://schemas.microsoft.com/office/drawing/2014/main" id="{CFA7808A-F80F-4669-B8E2-230F0F0C0136}"/>
              </a:ext>
            </a:extLst>
          </p:cNvPr>
          <p:cNvSpPr txBox="1"/>
          <p:nvPr/>
        </p:nvSpPr>
        <p:spPr>
          <a:xfrm>
            <a:off x="2673954" y="4963763"/>
            <a:ext cx="1127168" cy="307777"/>
          </a:xfrm>
          <a:prstGeom prst="rect">
            <a:avLst/>
          </a:prstGeom>
          <a:solidFill>
            <a:schemeClr val="accent1">
              <a:lumMod val="60000"/>
              <a:lumOff val="40000"/>
            </a:schemeClr>
          </a:solidFill>
        </p:spPr>
        <p:txBody>
          <a:bodyPr wrap="none" rtlCol="0">
            <a:spAutoFit/>
          </a:bodyPr>
          <a:lstStyle/>
          <a:p>
            <a:r>
              <a:rPr lang="en-SG" sz="1400" dirty="0"/>
              <a:t>After 1</a:t>
            </a:r>
            <a:r>
              <a:rPr lang="en-SG" sz="1400" baseline="30000" dirty="0"/>
              <a:t>st</a:t>
            </a:r>
            <a:r>
              <a:rPr lang="en-SG" sz="1400" dirty="0"/>
              <a:t> click</a:t>
            </a:r>
          </a:p>
        </p:txBody>
      </p:sp>
      <p:sp>
        <p:nvSpPr>
          <p:cNvPr id="29" name="TextBox 28">
            <a:extLst>
              <a:ext uri="{FF2B5EF4-FFF2-40B4-BE49-F238E27FC236}">
                <a16:creationId xmlns:a16="http://schemas.microsoft.com/office/drawing/2014/main" id="{D6B15ADD-9DB3-4497-8F0F-FA1A3C03C965}"/>
              </a:ext>
            </a:extLst>
          </p:cNvPr>
          <p:cNvSpPr txBox="1"/>
          <p:nvPr/>
        </p:nvSpPr>
        <p:spPr>
          <a:xfrm>
            <a:off x="5044938" y="4954035"/>
            <a:ext cx="1207062" cy="307777"/>
          </a:xfrm>
          <a:prstGeom prst="rect">
            <a:avLst/>
          </a:prstGeom>
          <a:solidFill>
            <a:schemeClr val="accent1">
              <a:lumMod val="60000"/>
              <a:lumOff val="40000"/>
            </a:schemeClr>
          </a:solidFill>
        </p:spPr>
        <p:txBody>
          <a:bodyPr wrap="none" rtlCol="0">
            <a:spAutoFit/>
          </a:bodyPr>
          <a:lstStyle/>
          <a:p>
            <a:r>
              <a:rPr lang="en-SG" sz="1400" dirty="0"/>
              <a:t>After 2</a:t>
            </a:r>
            <a:r>
              <a:rPr lang="en-SG" sz="1400" baseline="30000" dirty="0"/>
              <a:t>nd</a:t>
            </a:r>
            <a:r>
              <a:rPr lang="en-SG" sz="1400" dirty="0"/>
              <a:t> click</a:t>
            </a:r>
          </a:p>
        </p:txBody>
      </p:sp>
      <p:sp>
        <p:nvSpPr>
          <p:cNvPr id="31" name="TextBox 30">
            <a:extLst>
              <a:ext uri="{FF2B5EF4-FFF2-40B4-BE49-F238E27FC236}">
                <a16:creationId xmlns:a16="http://schemas.microsoft.com/office/drawing/2014/main" id="{1B4A4C2D-3791-4C0E-928D-AAA3E0A29EA7}"/>
              </a:ext>
            </a:extLst>
          </p:cNvPr>
          <p:cNvSpPr txBox="1"/>
          <p:nvPr/>
        </p:nvSpPr>
        <p:spPr>
          <a:xfrm>
            <a:off x="7374219" y="4963763"/>
            <a:ext cx="1184555" cy="307777"/>
          </a:xfrm>
          <a:prstGeom prst="rect">
            <a:avLst/>
          </a:prstGeom>
          <a:solidFill>
            <a:schemeClr val="accent1">
              <a:lumMod val="60000"/>
              <a:lumOff val="40000"/>
            </a:schemeClr>
          </a:solidFill>
        </p:spPr>
        <p:txBody>
          <a:bodyPr wrap="none" rtlCol="0">
            <a:spAutoFit/>
          </a:bodyPr>
          <a:lstStyle/>
          <a:p>
            <a:r>
              <a:rPr lang="en-SG" sz="1400" dirty="0"/>
              <a:t>After 3</a:t>
            </a:r>
            <a:r>
              <a:rPr lang="en-SG" sz="1400" baseline="30000" dirty="0"/>
              <a:t>rd</a:t>
            </a:r>
            <a:r>
              <a:rPr lang="en-SG" sz="1400" dirty="0"/>
              <a:t> click</a:t>
            </a:r>
          </a:p>
        </p:txBody>
      </p:sp>
      <p:cxnSp>
        <p:nvCxnSpPr>
          <p:cNvPr id="33" name="Straight Arrow Connector 32">
            <a:extLst>
              <a:ext uri="{FF2B5EF4-FFF2-40B4-BE49-F238E27FC236}">
                <a16:creationId xmlns:a16="http://schemas.microsoft.com/office/drawing/2014/main" id="{28938FF8-DBE5-490A-B368-6AB4BC9EA9EA}"/>
              </a:ext>
            </a:extLst>
          </p:cNvPr>
          <p:cNvCxnSpPr>
            <a:cxnSpLocks/>
            <a:stCxn id="21" idx="3"/>
            <a:endCxn id="22" idx="1"/>
          </p:cNvCxnSpPr>
          <p:nvPr/>
        </p:nvCxnSpPr>
        <p:spPr>
          <a:xfrm>
            <a:off x="2325944" y="5492513"/>
            <a:ext cx="595755" cy="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D059C8-A236-4DAC-A4A2-8A84800721A7}"/>
              </a:ext>
            </a:extLst>
          </p:cNvPr>
          <p:cNvCxnSpPr>
            <a:cxnSpLocks/>
          </p:cNvCxnSpPr>
          <p:nvPr/>
        </p:nvCxnSpPr>
        <p:spPr>
          <a:xfrm>
            <a:off x="4594856"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D49E97-A289-4A56-A2F5-C3DC6BDC0A57}"/>
              </a:ext>
            </a:extLst>
          </p:cNvPr>
          <p:cNvCxnSpPr>
            <a:cxnSpLocks/>
          </p:cNvCxnSpPr>
          <p:nvPr/>
        </p:nvCxnSpPr>
        <p:spPr>
          <a:xfrm>
            <a:off x="6921537"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CFB611C-3602-4EC2-B5B4-7580549F61BC}"/>
              </a:ext>
            </a:extLst>
          </p:cNvPr>
          <p:cNvSpPr txBox="1"/>
          <p:nvPr/>
        </p:nvSpPr>
        <p:spPr>
          <a:xfrm>
            <a:off x="3833214" y="5775926"/>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3" name="TextBox 42">
            <a:extLst>
              <a:ext uri="{FF2B5EF4-FFF2-40B4-BE49-F238E27FC236}">
                <a16:creationId xmlns:a16="http://schemas.microsoft.com/office/drawing/2014/main" id="{DF8FFB42-9D04-4145-9391-FB1CADE276C9}"/>
              </a:ext>
            </a:extLst>
          </p:cNvPr>
          <p:cNvSpPr txBox="1"/>
          <p:nvPr/>
        </p:nvSpPr>
        <p:spPr>
          <a:xfrm>
            <a:off x="1552111" y="5875784"/>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4" name="TextBox 43">
            <a:extLst>
              <a:ext uri="{FF2B5EF4-FFF2-40B4-BE49-F238E27FC236}">
                <a16:creationId xmlns:a16="http://schemas.microsoft.com/office/drawing/2014/main" id="{CFA386B8-D883-4380-A434-F54FC3CDBD30}"/>
              </a:ext>
            </a:extLst>
          </p:cNvPr>
          <p:cNvSpPr txBox="1"/>
          <p:nvPr/>
        </p:nvSpPr>
        <p:spPr>
          <a:xfrm>
            <a:off x="6159277" y="6235147"/>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cxnSp>
        <p:nvCxnSpPr>
          <p:cNvPr id="48" name="Connector: Elbow 47">
            <a:extLst>
              <a:ext uri="{FF2B5EF4-FFF2-40B4-BE49-F238E27FC236}">
                <a16:creationId xmlns:a16="http://schemas.microsoft.com/office/drawing/2014/main" id="{99113D03-3705-4C88-AE55-0CDD62BB92D6}"/>
              </a:ext>
            </a:extLst>
          </p:cNvPr>
          <p:cNvCxnSpPr>
            <a:cxnSpLocks/>
            <a:stCxn id="24" idx="3"/>
            <a:endCxn id="13" idx="2"/>
          </p:cNvCxnSpPr>
          <p:nvPr/>
        </p:nvCxnSpPr>
        <p:spPr>
          <a:xfrm flipH="1" flipV="1">
            <a:off x="7405992" y="4070005"/>
            <a:ext cx="1838361" cy="1664590"/>
          </a:xfrm>
          <a:prstGeom prst="bentConnector4">
            <a:avLst>
              <a:gd name="adj1" fmla="val -12435"/>
              <a:gd name="adj2" fmla="val 653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6795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601889"/>
            <a:ext cx="10515600" cy="3135481"/>
          </a:xfrm>
        </p:spPr>
        <p:txBody>
          <a:bodyPr>
            <a:normAutofit fontScale="92500" lnSpcReduction="20000"/>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p>
          <a:p>
            <a:r>
              <a:rPr lang="en-US" sz="2400" dirty="0" err="1"/>
              <a:t>RecyclerView</a:t>
            </a:r>
            <a:r>
              <a:rPr lang="en-US" sz="2400" dirty="0"/>
              <a:t> supports displaying items in different ways, such as a linear list or a grid. Arranging the items is handled by a </a:t>
            </a:r>
            <a:r>
              <a:rPr lang="en-US" sz="2400" dirty="0" err="1"/>
              <a:t>LayoutManager</a:t>
            </a:r>
            <a:r>
              <a:rPr lang="en-US" sz="2400" dirty="0"/>
              <a:t> (e.g. </a:t>
            </a:r>
            <a:r>
              <a:rPr lang="en-US" sz="2400" dirty="0" err="1"/>
              <a:t>LinearLayoutManager</a:t>
            </a:r>
            <a:r>
              <a:rPr lang="en-US" sz="2400" dirty="0"/>
              <a:t>)</a:t>
            </a:r>
          </a:p>
          <a:p>
            <a:pPr lvl="1"/>
            <a:r>
              <a:rPr lang="en-US" sz="2000" dirty="0"/>
              <a:t>e.g. </a:t>
            </a:r>
            <a:r>
              <a:rPr lang="en-US" sz="2200" dirty="0"/>
              <a:t>in </a:t>
            </a:r>
            <a:r>
              <a:rPr lang="en-US" sz="2200" dirty="0" err="1"/>
              <a:t>RecyclerView</a:t>
            </a:r>
            <a:r>
              <a:rPr lang="en-US" sz="2200" dirty="0"/>
              <a:t> element of activity_main.xml, add </a:t>
            </a:r>
            <a:r>
              <a:rPr lang="en-US" sz="1700" dirty="0" err="1">
                <a:latin typeface="Lucida Console" panose="020B0609040504020204" pitchFamily="49" charset="0"/>
              </a:rPr>
              <a:t>app:layoutManager</a:t>
            </a:r>
            <a:r>
              <a:rPr lang="en-US" sz="1700" dirty="0">
                <a:latin typeface="Lucida Console" panose="020B0609040504020204" pitchFamily="49" charset="0"/>
              </a:rPr>
              <a:t>="</a:t>
            </a:r>
            <a:r>
              <a:rPr lang="en-US" sz="1700" dirty="0" err="1">
                <a:latin typeface="Lucida Console" panose="020B0609040504020204" pitchFamily="49" charset="0"/>
              </a:rPr>
              <a:t>LinearLayoutManager</a:t>
            </a:r>
            <a:r>
              <a:rPr lang="en-US" sz="1700" dirty="0">
                <a:latin typeface="Lucida Console" panose="020B0609040504020204" pitchFamily="49" charset="0"/>
              </a:rPr>
              <a:t>“</a:t>
            </a:r>
          </a:p>
          <a:p>
            <a:pPr lvl="1"/>
            <a:r>
              <a:rPr lang="en-US" sz="2200" dirty="0"/>
              <a:t>Can also use </a:t>
            </a:r>
            <a:r>
              <a:rPr lang="en-US" sz="1900" dirty="0" err="1">
                <a:latin typeface="Lucida Console" panose="020B0609040504020204" pitchFamily="49" charset="0"/>
              </a:rPr>
              <a:t>GridLayoutManager</a:t>
            </a:r>
            <a:r>
              <a:rPr lang="en-US" sz="2200" dirty="0"/>
              <a:t> if you want to have more than 1 column</a:t>
            </a:r>
            <a:endParaRPr lang="en-SG" sz="2000" dirty="0"/>
          </a:p>
        </p:txBody>
      </p:sp>
      <p:pic>
        <p:nvPicPr>
          <p:cNvPr id="6" name="Picture 5">
            <a:extLst>
              <a:ext uri="{FF2B5EF4-FFF2-40B4-BE49-F238E27FC236}">
                <a16:creationId xmlns:a16="http://schemas.microsoft.com/office/drawing/2014/main" id="{E81FF9AF-4D22-4081-A2C6-5756EA8849BC}"/>
              </a:ext>
            </a:extLst>
          </p:cNvPr>
          <p:cNvPicPr>
            <a:picLocks noChangeAspect="1"/>
          </p:cNvPicPr>
          <p:nvPr/>
        </p:nvPicPr>
        <p:blipFill>
          <a:blip r:embed="rId2"/>
          <a:stretch>
            <a:fillRect/>
          </a:stretch>
        </p:blipFill>
        <p:spPr>
          <a:xfrm>
            <a:off x="9687910" y="4383087"/>
            <a:ext cx="2187130" cy="2301439"/>
          </a:xfrm>
          <a:prstGeom prst="rect">
            <a:avLst/>
          </a:prstGeom>
        </p:spPr>
      </p:pic>
    </p:spTree>
    <p:extLst>
      <p:ext uri="{BB962C8B-B14F-4D97-AF65-F5344CB8AC3E}">
        <p14:creationId xmlns:p14="http://schemas.microsoft.com/office/powerpoint/2010/main" val="8331642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methods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Data class (i.e. Model)</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000" dirty="0"/>
              <a:t>You can think of data classes as… classes that will just hold data.</a:t>
            </a:r>
          </a:p>
          <a:p>
            <a:r>
              <a:rPr lang="en-US" sz="2000" dirty="0"/>
              <a:t>Data classes cannot be abstract, open, sealed, or inner.</a:t>
            </a:r>
          </a:p>
          <a:p>
            <a:r>
              <a:rPr lang="en-US" sz="2000" dirty="0"/>
              <a:t>So you won’t usually implement methods (like a normal class does), but Kotlin does generate necessary utility functions for data classes, like getters and setters, </a:t>
            </a:r>
            <a:r>
              <a:rPr lang="en-US" sz="2000" dirty="0" err="1">
                <a:latin typeface="Lucida Console" panose="020B0609040504020204" pitchFamily="49" charset="0"/>
              </a:rPr>
              <a:t>toString</a:t>
            </a:r>
            <a:r>
              <a:rPr lang="en-US" sz="2000" dirty="0">
                <a:latin typeface="Lucida Console" panose="020B0609040504020204" pitchFamily="49" charset="0"/>
              </a:rPr>
              <a:t>()</a:t>
            </a:r>
            <a:r>
              <a:rPr lang="en-US" sz="2000" dirty="0"/>
              <a:t>, </a:t>
            </a:r>
            <a:r>
              <a:rPr lang="en-US" sz="2000" dirty="0">
                <a:latin typeface="Lucida Console" panose="020B0609040504020204" pitchFamily="49" charset="0"/>
              </a:rPr>
              <a:t>equals()</a:t>
            </a:r>
            <a:r>
              <a:rPr lang="en-US" sz="2000" dirty="0"/>
              <a:t>, </a:t>
            </a:r>
            <a:r>
              <a:rPr lang="en-US" sz="2000" dirty="0" err="1">
                <a:latin typeface="Lucida Console" panose="020B0609040504020204" pitchFamily="49" charset="0"/>
              </a:rPr>
              <a:t>hashCode</a:t>
            </a:r>
            <a:r>
              <a:rPr lang="en-US" sz="2000" dirty="0">
                <a:latin typeface="Lucida Console" panose="020B0609040504020204" pitchFamily="49" charset="0"/>
              </a:rPr>
              <a:t>()</a:t>
            </a:r>
          </a:p>
          <a:p>
            <a:r>
              <a:rPr lang="en-US" sz="2000" dirty="0">
                <a:cs typeface="Segoe UI" panose="020B0502040204020203" pitchFamily="34" charset="0"/>
              </a:rPr>
              <a:t>But there is no restriction on implementing methods.</a:t>
            </a:r>
          </a:p>
          <a:p>
            <a:r>
              <a:rPr lang="en-US" sz="2000" dirty="0" err="1">
                <a:cs typeface="Segoe UI" panose="020B0502040204020203" pitchFamily="34" charset="0"/>
              </a:rPr>
              <a:t>Datasource</a:t>
            </a:r>
            <a:r>
              <a:rPr lang="en-US" sz="2000" dirty="0">
                <a:cs typeface="Segoe UI" panose="020B0502040204020203" pitchFamily="34" charset="0"/>
              </a:rPr>
              <a:t> is where you implement methods to handle the data class (i.e. model)</a:t>
            </a:r>
            <a:endParaRPr lang="en-SG" sz="2000" dirty="0">
              <a:cs typeface="Segoe UI" panose="020B0502040204020203" pitchFamily="34" charset="0"/>
            </a:endParaRPr>
          </a:p>
        </p:txBody>
      </p:sp>
    </p:spTree>
    <p:extLst>
      <p:ext uri="{BB962C8B-B14F-4D97-AF65-F5344CB8AC3E}">
        <p14:creationId xmlns:p14="http://schemas.microsoft.com/office/powerpoint/2010/main" val="40792561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sp>
        <p:nvSpPr>
          <p:cNvPr id="12" name="TextBox 11">
            <a:extLst>
              <a:ext uri="{FF2B5EF4-FFF2-40B4-BE49-F238E27FC236}">
                <a16:creationId xmlns:a16="http://schemas.microsoft.com/office/drawing/2014/main" id="{80370804-4248-4F54-ADC7-F725952FEC11}"/>
              </a:ext>
            </a:extLst>
          </p:cNvPr>
          <p:cNvSpPr txBox="1"/>
          <p:nvPr/>
        </p:nvSpPr>
        <p:spPr>
          <a:xfrm>
            <a:off x="6737896" y="4289742"/>
            <a:ext cx="5129849" cy="1169551"/>
          </a:xfrm>
          <a:prstGeom prst="rect">
            <a:avLst/>
          </a:prstGeom>
          <a:noFill/>
        </p:spPr>
        <p:txBody>
          <a:bodyPr wrap="square" rtlCol="0">
            <a:spAutoFit/>
          </a:bodyPr>
          <a:lstStyle/>
          <a:p>
            <a:pPr marL="342900" indent="-342900">
              <a:buAutoNum type="arabicPeriod"/>
            </a:pPr>
            <a:r>
              <a:rPr lang="en-SG" sz="1400" dirty="0"/>
              <a:t>Create Model for Data object</a:t>
            </a:r>
          </a:p>
          <a:p>
            <a:pPr marL="342900" indent="-342900">
              <a:buAutoNum type="arabicPeriod"/>
            </a:pPr>
            <a:endParaRPr lang="en-SG" sz="1400" dirty="0"/>
          </a:p>
          <a:p>
            <a:pPr marL="342900" indent="-342900">
              <a:buAutoNum type="arabicPeriod"/>
            </a:pPr>
            <a:r>
              <a:rPr lang="en-SG" sz="1400" dirty="0"/>
              <a:t>Create </a:t>
            </a:r>
            <a:r>
              <a:rPr lang="en-SG" sz="1400" dirty="0" err="1"/>
              <a:t>Datasource</a:t>
            </a:r>
            <a:r>
              <a:rPr lang="en-SG" sz="1400" dirty="0"/>
              <a:t> with methods to handle Data object</a:t>
            </a:r>
          </a:p>
          <a:p>
            <a:pPr marL="342900" indent="-342900">
              <a:buAutoNum type="arabicPeriod"/>
            </a:pPr>
            <a:endParaRPr lang="en-SG" sz="1400" dirty="0"/>
          </a:p>
          <a:p>
            <a:pPr marL="342900" indent="-342900">
              <a:buAutoNum type="arabicPeriod"/>
            </a:pPr>
            <a:r>
              <a:rPr lang="en-SG" sz="1400" dirty="0"/>
              <a:t>Pass in Data object(s) into </a:t>
            </a:r>
            <a:r>
              <a:rPr lang="en-SG" sz="1400" dirty="0" err="1"/>
              <a:t>RecyclerView’s</a:t>
            </a:r>
            <a:r>
              <a:rPr lang="en-SG" sz="1400" dirty="0"/>
              <a:t> </a:t>
            </a:r>
            <a:r>
              <a:rPr lang="en-SG" sz="1400" dirty="0" err="1">
                <a:latin typeface="Lucida Console" panose="020B0609040504020204" pitchFamily="49" charset="0"/>
              </a:rPr>
              <a:t>ItemAdapter</a:t>
            </a:r>
            <a:r>
              <a:rPr lang="en-SG" sz="1400" dirty="0"/>
              <a:t> class</a:t>
            </a:r>
          </a:p>
        </p:txBody>
      </p:sp>
      <p:pic>
        <p:nvPicPr>
          <p:cNvPr id="14" name="Picture 13">
            <a:extLst>
              <a:ext uri="{FF2B5EF4-FFF2-40B4-BE49-F238E27FC236}">
                <a16:creationId xmlns:a16="http://schemas.microsoft.com/office/drawing/2014/main" id="{815CACDC-EF09-4A5D-83D6-B3C00660D440}"/>
              </a:ext>
            </a:extLst>
          </p:cNvPr>
          <p:cNvPicPr>
            <a:picLocks noChangeAspect="1"/>
          </p:cNvPicPr>
          <p:nvPr/>
        </p:nvPicPr>
        <p:blipFill>
          <a:blip r:embed="rId2"/>
          <a:stretch>
            <a:fillRect/>
          </a:stretch>
        </p:blipFill>
        <p:spPr>
          <a:xfrm>
            <a:off x="5378424" y="739984"/>
            <a:ext cx="6489321" cy="1020936"/>
          </a:xfrm>
          <a:prstGeom prst="rect">
            <a:avLst/>
          </a:prstGeom>
        </p:spPr>
      </p:pic>
      <p:pic>
        <p:nvPicPr>
          <p:cNvPr id="16" name="Picture 15">
            <a:extLst>
              <a:ext uri="{FF2B5EF4-FFF2-40B4-BE49-F238E27FC236}">
                <a16:creationId xmlns:a16="http://schemas.microsoft.com/office/drawing/2014/main" id="{525B09EA-7F10-406E-B648-9EEAD5560AA1}"/>
              </a:ext>
            </a:extLst>
          </p:cNvPr>
          <p:cNvPicPr>
            <a:picLocks noChangeAspect="1"/>
          </p:cNvPicPr>
          <p:nvPr/>
        </p:nvPicPr>
        <p:blipFill>
          <a:blip r:embed="rId3"/>
          <a:stretch>
            <a:fillRect/>
          </a:stretch>
        </p:blipFill>
        <p:spPr>
          <a:xfrm>
            <a:off x="952339" y="2038448"/>
            <a:ext cx="6489321" cy="1903534"/>
          </a:xfrm>
          <a:prstGeom prst="rect">
            <a:avLst/>
          </a:prstGeom>
        </p:spPr>
      </p:pic>
      <p:grpSp>
        <p:nvGrpSpPr>
          <p:cNvPr id="8" name="Group 7">
            <a:extLst>
              <a:ext uri="{FF2B5EF4-FFF2-40B4-BE49-F238E27FC236}">
                <a16:creationId xmlns:a16="http://schemas.microsoft.com/office/drawing/2014/main" id="{61AA8592-9D18-47EF-8BB2-6EAAF6DFEE6D}"/>
              </a:ext>
            </a:extLst>
          </p:cNvPr>
          <p:cNvGrpSpPr/>
          <p:nvPr/>
        </p:nvGrpSpPr>
        <p:grpSpPr>
          <a:xfrm>
            <a:off x="952339" y="4182072"/>
            <a:ext cx="5540220" cy="2193823"/>
            <a:chOff x="962067" y="1905795"/>
            <a:chExt cx="5540220" cy="2193823"/>
          </a:xfrm>
        </p:grpSpPr>
        <p:pic>
          <p:nvPicPr>
            <p:cNvPr id="5" name="Picture 4">
              <a:extLst>
                <a:ext uri="{FF2B5EF4-FFF2-40B4-BE49-F238E27FC236}">
                  <a16:creationId xmlns:a16="http://schemas.microsoft.com/office/drawing/2014/main" id="{1393031C-A365-46A4-9974-D5998E708CCA}"/>
                </a:ext>
              </a:extLst>
            </p:cNvPr>
            <p:cNvPicPr>
              <a:picLocks noChangeAspect="1"/>
            </p:cNvPicPr>
            <p:nvPr/>
          </p:nvPicPr>
          <p:blipFill>
            <a:blip r:embed="rId4"/>
            <a:stretch>
              <a:fillRect/>
            </a:stretch>
          </p:blipFill>
          <p:spPr>
            <a:xfrm>
              <a:off x="962067" y="2758382"/>
              <a:ext cx="5540220" cy="1341236"/>
            </a:xfrm>
            <a:prstGeom prst="rect">
              <a:avLst/>
            </a:prstGeom>
          </p:spPr>
        </p:pic>
        <p:pic>
          <p:nvPicPr>
            <p:cNvPr id="7" name="Picture 6">
              <a:extLst>
                <a:ext uri="{FF2B5EF4-FFF2-40B4-BE49-F238E27FC236}">
                  <a16:creationId xmlns:a16="http://schemas.microsoft.com/office/drawing/2014/main" id="{3FBD69DF-55D4-435A-ABB2-C59B0A2C6FA6}"/>
                </a:ext>
              </a:extLst>
            </p:cNvPr>
            <p:cNvPicPr>
              <a:picLocks noChangeAspect="1"/>
            </p:cNvPicPr>
            <p:nvPr/>
          </p:nvPicPr>
          <p:blipFill>
            <a:blip r:embed="rId5"/>
            <a:stretch>
              <a:fillRect/>
            </a:stretch>
          </p:blipFill>
          <p:spPr>
            <a:xfrm>
              <a:off x="962067" y="1905795"/>
              <a:ext cx="4534293" cy="914479"/>
            </a:xfrm>
            <a:prstGeom prst="rect">
              <a:avLst/>
            </a:prstGeom>
          </p:spPr>
        </p:pic>
        <p:sp>
          <p:nvSpPr>
            <p:cNvPr id="3" name="TextBox 2">
              <a:extLst>
                <a:ext uri="{FF2B5EF4-FFF2-40B4-BE49-F238E27FC236}">
                  <a16:creationId xmlns:a16="http://schemas.microsoft.com/office/drawing/2014/main" id="{E8AEC0B7-237C-4BFA-B3D5-32719DB70893}"/>
                </a:ext>
              </a:extLst>
            </p:cNvPr>
            <p:cNvSpPr txBox="1"/>
            <p:nvPr/>
          </p:nvSpPr>
          <p:spPr>
            <a:xfrm>
              <a:off x="5171348" y="2543275"/>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grpSp>
      <p:sp>
        <p:nvSpPr>
          <p:cNvPr id="17" name="TextBox 16">
            <a:extLst>
              <a:ext uri="{FF2B5EF4-FFF2-40B4-BE49-F238E27FC236}">
                <a16:creationId xmlns:a16="http://schemas.microsoft.com/office/drawing/2014/main" id="{10C786AE-AAAD-4ADA-BB0D-DCCFE5F1BE57}"/>
              </a:ext>
            </a:extLst>
          </p:cNvPr>
          <p:cNvSpPr txBox="1"/>
          <p:nvPr/>
        </p:nvSpPr>
        <p:spPr>
          <a:xfrm>
            <a:off x="10875274" y="601484"/>
            <a:ext cx="1093120" cy="276999"/>
          </a:xfrm>
          <a:prstGeom prst="rect">
            <a:avLst/>
          </a:prstGeom>
          <a:solidFill>
            <a:schemeClr val="accent4"/>
          </a:solidFill>
        </p:spPr>
        <p:txBody>
          <a:bodyPr wrap="none" rtlCol="0">
            <a:spAutoFit/>
          </a:bodyPr>
          <a:lstStyle/>
          <a:p>
            <a:r>
              <a:rPr lang="en-SG" sz="1200" dirty="0" err="1"/>
              <a:t>Affirmation.kt</a:t>
            </a:r>
            <a:endParaRPr lang="en-SG" sz="1200" dirty="0"/>
          </a:p>
        </p:txBody>
      </p:sp>
      <p:sp>
        <p:nvSpPr>
          <p:cNvPr id="18" name="TextBox 17">
            <a:extLst>
              <a:ext uri="{FF2B5EF4-FFF2-40B4-BE49-F238E27FC236}">
                <a16:creationId xmlns:a16="http://schemas.microsoft.com/office/drawing/2014/main" id="{D78EEB8A-2CA7-419B-994E-DF11BEDA989D}"/>
              </a:ext>
            </a:extLst>
          </p:cNvPr>
          <p:cNvSpPr txBox="1"/>
          <p:nvPr/>
        </p:nvSpPr>
        <p:spPr>
          <a:xfrm>
            <a:off x="6715629" y="1948064"/>
            <a:ext cx="1050416" cy="276999"/>
          </a:xfrm>
          <a:prstGeom prst="rect">
            <a:avLst/>
          </a:prstGeom>
          <a:solidFill>
            <a:schemeClr val="accent4"/>
          </a:solidFill>
        </p:spPr>
        <p:txBody>
          <a:bodyPr wrap="none" rtlCol="0">
            <a:spAutoFit/>
          </a:bodyPr>
          <a:lstStyle/>
          <a:p>
            <a:r>
              <a:rPr lang="en-SG" sz="1200" dirty="0" err="1"/>
              <a:t>Datasource.kt</a:t>
            </a:r>
            <a:endParaRPr lang="en-SG" sz="1200" dirty="0"/>
          </a:p>
        </p:txBody>
      </p:sp>
    </p:spTree>
    <p:extLst>
      <p:ext uri="{BB962C8B-B14F-4D97-AF65-F5344CB8AC3E}">
        <p14:creationId xmlns:p14="http://schemas.microsoft.com/office/powerpoint/2010/main" val="9175815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C3E1B2E-4977-48CF-807D-EE6A5C3FC8F2}"/>
              </a:ext>
            </a:extLst>
          </p:cNvPr>
          <p:cNvPicPr>
            <a:picLocks noChangeAspect="1"/>
          </p:cNvPicPr>
          <p:nvPr/>
        </p:nvPicPr>
        <p:blipFill>
          <a:blip r:embed="rId2"/>
          <a:stretch>
            <a:fillRect/>
          </a:stretch>
        </p:blipFill>
        <p:spPr>
          <a:xfrm>
            <a:off x="952339" y="3337073"/>
            <a:ext cx="6197491" cy="3208853"/>
          </a:xfrm>
          <a:prstGeom prst="rect">
            <a:avLst/>
          </a:prstGeom>
        </p:spPr>
      </p:pic>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pic>
        <p:nvPicPr>
          <p:cNvPr id="11" name="Picture 10">
            <a:extLst>
              <a:ext uri="{FF2B5EF4-FFF2-40B4-BE49-F238E27FC236}">
                <a16:creationId xmlns:a16="http://schemas.microsoft.com/office/drawing/2014/main" id="{C967EAC0-D65F-4274-9B06-D43E0A846EB7}"/>
              </a:ext>
            </a:extLst>
          </p:cNvPr>
          <p:cNvPicPr>
            <a:picLocks noChangeAspect="1"/>
          </p:cNvPicPr>
          <p:nvPr/>
        </p:nvPicPr>
        <p:blipFill rotWithShape="1">
          <a:blip r:embed="rId3"/>
          <a:srcRect b="59737"/>
          <a:stretch/>
        </p:blipFill>
        <p:spPr>
          <a:xfrm>
            <a:off x="952339" y="1417331"/>
            <a:ext cx="8716955" cy="1919742"/>
          </a:xfrm>
          <a:prstGeom prst="rect">
            <a:avLst/>
          </a:prstGeom>
        </p:spPr>
      </p:pic>
      <p:sp>
        <p:nvSpPr>
          <p:cNvPr id="12" name="TextBox 11">
            <a:extLst>
              <a:ext uri="{FF2B5EF4-FFF2-40B4-BE49-F238E27FC236}">
                <a16:creationId xmlns:a16="http://schemas.microsoft.com/office/drawing/2014/main" id="{EE5AF734-F76D-45BA-BA87-18E280D90CE8}"/>
              </a:ext>
            </a:extLst>
          </p:cNvPr>
          <p:cNvSpPr txBox="1"/>
          <p:nvPr/>
        </p:nvSpPr>
        <p:spPr>
          <a:xfrm>
            <a:off x="9223536" y="1927185"/>
            <a:ext cx="1119794" cy="276999"/>
          </a:xfrm>
          <a:prstGeom prst="rect">
            <a:avLst/>
          </a:prstGeom>
          <a:solidFill>
            <a:schemeClr val="accent4"/>
          </a:solidFill>
        </p:spPr>
        <p:txBody>
          <a:bodyPr wrap="none" rtlCol="0">
            <a:spAutoFit/>
          </a:bodyPr>
          <a:lstStyle/>
          <a:p>
            <a:r>
              <a:rPr lang="en-SG" sz="1200" dirty="0" err="1"/>
              <a:t>ItemAdapter.kt</a:t>
            </a:r>
            <a:endParaRPr lang="en-SG" sz="1200" dirty="0"/>
          </a:p>
        </p:txBody>
      </p:sp>
      <p:sp>
        <p:nvSpPr>
          <p:cNvPr id="14" name="TextBox 13">
            <a:extLst>
              <a:ext uri="{FF2B5EF4-FFF2-40B4-BE49-F238E27FC236}">
                <a16:creationId xmlns:a16="http://schemas.microsoft.com/office/drawing/2014/main" id="{003B951C-49F9-4459-8511-0FF2927FB7F8}"/>
              </a:ext>
            </a:extLst>
          </p:cNvPr>
          <p:cNvSpPr txBox="1"/>
          <p:nvPr/>
        </p:nvSpPr>
        <p:spPr>
          <a:xfrm>
            <a:off x="7320874" y="4249002"/>
            <a:ext cx="4871126" cy="1384995"/>
          </a:xfrm>
          <a:prstGeom prst="rect">
            <a:avLst/>
          </a:prstGeom>
          <a:noFill/>
        </p:spPr>
        <p:txBody>
          <a:bodyPr wrap="square">
            <a:spAutoFit/>
          </a:bodyPr>
          <a:lstStyle/>
          <a:p>
            <a:r>
              <a:rPr lang="en-SG" sz="1400" dirty="0"/>
              <a:t>Within </a:t>
            </a:r>
            <a:r>
              <a:rPr lang="en-SG" sz="1400" dirty="0" err="1">
                <a:latin typeface="Lucida Console" panose="020B0609040504020204" pitchFamily="49" charset="0"/>
              </a:rPr>
              <a:t>ItemAdapter</a:t>
            </a:r>
            <a:r>
              <a:rPr lang="en-SG" sz="1400" dirty="0"/>
              <a:t> class, there is a </a:t>
            </a:r>
            <a:r>
              <a:rPr lang="en-SG" sz="1400" dirty="0" err="1">
                <a:latin typeface="Lucida Console" panose="020B0609040504020204" pitchFamily="49" charset="0"/>
              </a:rPr>
              <a:t>ViewHolder</a:t>
            </a:r>
            <a:r>
              <a:rPr lang="en-SG" sz="1400" dirty="0"/>
              <a:t> class, which can hold more than one Views, and overriding methods that handles the </a:t>
            </a:r>
            <a:r>
              <a:rPr lang="en-SG" sz="1400" dirty="0" err="1">
                <a:latin typeface="Lucida Console" panose="020B0609040504020204" pitchFamily="49" charset="0"/>
              </a:rPr>
              <a:t>ViewHolder</a:t>
            </a:r>
            <a:r>
              <a:rPr lang="en-SG" sz="1400" dirty="0"/>
              <a:t>.</a:t>
            </a:r>
          </a:p>
          <a:p>
            <a:pPr marL="800100" lvl="1" indent="-342900">
              <a:buAutoNum type="arabicPeriod"/>
            </a:pPr>
            <a:r>
              <a:rPr lang="en-SG" sz="1400" dirty="0" err="1">
                <a:latin typeface="Lucida Console" panose="020B0609040504020204" pitchFamily="49" charset="0"/>
              </a:rPr>
              <a:t>onCreateViewHolder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onBindViewHolder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getItemCount</a:t>
            </a:r>
            <a:r>
              <a:rPr lang="en-SG" sz="1400" dirty="0">
                <a:latin typeface="Lucida Console" panose="020B0609040504020204" pitchFamily="49" charset="0"/>
              </a:rPr>
              <a:t>()</a:t>
            </a:r>
          </a:p>
        </p:txBody>
      </p:sp>
    </p:spTree>
    <p:extLst>
      <p:ext uri="{BB962C8B-B14F-4D97-AF65-F5344CB8AC3E}">
        <p14:creationId xmlns:p14="http://schemas.microsoft.com/office/powerpoint/2010/main" val="24070439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p:txBody>
          <a:bodyPr>
            <a:normAutofit/>
          </a:bodyPr>
          <a:lstStyle/>
          <a:p>
            <a:r>
              <a:rPr lang="en-US" sz="2000" dirty="0" err="1"/>
              <a:t>eXtensible</a:t>
            </a:r>
            <a:r>
              <a:rPr lang="en-US" sz="2000" dirty="0"/>
              <a:t> Markup Language</a:t>
            </a:r>
          </a:p>
          <a:p>
            <a:r>
              <a:rPr lang="en-US" sz="2000" dirty="0"/>
              <a:t>A way of describing data using a text-based document</a:t>
            </a:r>
          </a:p>
          <a:p>
            <a:r>
              <a:rPr lang="en-US" sz="2000" dirty="0"/>
              <a:t>Because XML is extensible and very flexible, it's used for many different things, including defining the UI layout of Android apps.</a:t>
            </a:r>
            <a:endParaRPr lang="en-SG" sz="2000" dirty="0"/>
          </a:p>
        </p:txBody>
      </p:sp>
      <p:pic>
        <p:nvPicPr>
          <p:cNvPr id="5" name="Picture 4">
            <a:extLst>
              <a:ext uri="{FF2B5EF4-FFF2-40B4-BE49-F238E27FC236}">
                <a16:creationId xmlns:a16="http://schemas.microsoft.com/office/drawing/2014/main" id="{832B2DE8-BEA8-4A9A-BF3C-2CA3384E3F3F}"/>
              </a:ext>
            </a:extLst>
          </p:cNvPr>
          <p:cNvPicPr>
            <a:picLocks noChangeAspect="1"/>
          </p:cNvPicPr>
          <p:nvPr/>
        </p:nvPicPr>
        <p:blipFill>
          <a:blip r:embed="rId2"/>
          <a:stretch>
            <a:fillRect/>
          </a:stretch>
        </p:blipFill>
        <p:spPr>
          <a:xfrm>
            <a:off x="47922" y="3907993"/>
            <a:ext cx="6416596" cy="2789162"/>
          </a:xfrm>
          <a:prstGeom prst="rect">
            <a:avLst/>
          </a:prstGeom>
        </p:spPr>
      </p:pic>
      <p:pic>
        <p:nvPicPr>
          <p:cNvPr id="7" name="Picture 6">
            <a:extLst>
              <a:ext uri="{FF2B5EF4-FFF2-40B4-BE49-F238E27FC236}">
                <a16:creationId xmlns:a16="http://schemas.microsoft.com/office/drawing/2014/main" id="{322736E4-8219-40B7-BEAE-E0B30040CF8E}"/>
              </a:ext>
            </a:extLst>
          </p:cNvPr>
          <p:cNvPicPr>
            <a:picLocks noChangeAspect="1"/>
          </p:cNvPicPr>
          <p:nvPr/>
        </p:nvPicPr>
        <p:blipFill>
          <a:blip r:embed="rId3"/>
          <a:stretch>
            <a:fillRect/>
          </a:stretch>
        </p:blipFill>
        <p:spPr>
          <a:xfrm>
            <a:off x="6464518" y="4379481"/>
            <a:ext cx="5585944" cy="1371719"/>
          </a:xfrm>
          <a:prstGeom prst="rect">
            <a:avLst/>
          </a:prstGeom>
        </p:spPr>
      </p:pic>
    </p:spTree>
    <p:extLst>
      <p:ext uri="{BB962C8B-B14F-4D97-AF65-F5344CB8AC3E}">
        <p14:creationId xmlns:p14="http://schemas.microsoft.com/office/powerpoint/2010/main" val="35991547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a:xfrm>
            <a:off x="838200" y="1645174"/>
            <a:ext cx="10515600" cy="4351338"/>
          </a:xfrm>
        </p:spPr>
        <p:txBody>
          <a:bodyPr>
            <a:normAutofit/>
          </a:bodyPr>
          <a:lstStyle/>
          <a:p>
            <a:r>
              <a:rPr lang="en-US" sz="1600" dirty="0"/>
              <a:t>ConstraintLayout tag: </a:t>
            </a:r>
            <a:r>
              <a:rPr lang="en-US" sz="1600" dirty="0">
                <a:latin typeface="Lucida Console" panose="020B0609040504020204" pitchFamily="49" charset="0"/>
              </a:rPr>
              <a:t>&lt;</a:t>
            </a:r>
            <a:r>
              <a:rPr lang="en-SG" sz="1600" b="0" i="0" dirty="0">
                <a:effectLst/>
                <a:latin typeface="Lucida Console" panose="020B0609040504020204" pitchFamily="49" charset="0"/>
              </a:rPr>
              <a:t>androidx.constraintlayout.widget.ConstraintLayout</a:t>
            </a:r>
            <a:r>
              <a:rPr lang="en-SG" sz="1600" dirty="0">
                <a:latin typeface="Lucida Console" panose="020B0609040504020204" pitchFamily="49" charset="0"/>
              </a:rPr>
              <a:t>&gt;</a:t>
            </a:r>
            <a:endParaRPr lang="en-US" sz="1600" dirty="0">
              <a:latin typeface="Lucida Console" panose="020B0609040504020204" pitchFamily="49" charset="0"/>
            </a:endParaRPr>
          </a:p>
          <a:p>
            <a:r>
              <a:rPr lang="en-US" sz="1600" dirty="0"/>
              <a:t>ConstraintLayout is part of Android Jetpack, which contains libraries of code which offers additional functionality on top of the core Android platform. </a:t>
            </a:r>
          </a:p>
          <a:p>
            <a:r>
              <a:rPr lang="en-US" sz="1600" dirty="0"/>
              <a:t>Jetpack has useful functionality you can take advantage of to make building apps easier. You'll recognize this UI component is part of Jetpack because it starts with "</a:t>
            </a:r>
            <a:r>
              <a:rPr lang="en-US" sz="1600" dirty="0" err="1">
                <a:latin typeface="Lucida Console" panose="020B0609040504020204" pitchFamily="49" charset="0"/>
              </a:rPr>
              <a:t>androidx</a:t>
            </a:r>
            <a:r>
              <a:rPr lang="en-US" sz="1600" dirty="0"/>
              <a:t>".</a:t>
            </a:r>
          </a:p>
          <a:p>
            <a:pPr marL="0" indent="0">
              <a:buNone/>
            </a:pPr>
            <a:endParaRPr lang="en-US" sz="2000" dirty="0"/>
          </a:p>
          <a:p>
            <a:pPr marL="0" indent="0">
              <a:buNone/>
            </a:pPr>
            <a:r>
              <a:rPr lang="en-US" sz="1400" dirty="0">
                <a:highlight>
                  <a:srgbClr val="C0C0C0"/>
                </a:highlight>
                <a:latin typeface="Lucida Console" panose="020B0609040504020204" pitchFamily="49" charset="0"/>
              </a:rPr>
              <a:t>&lt;?xml version="1.0" encoding="utf-8"?&gt;</a:t>
            </a:r>
            <a:r>
              <a:rPr lang="en-US" sz="1400" dirty="0"/>
              <a:t>	</a:t>
            </a:r>
            <a:r>
              <a:rPr lang="en-US" sz="1400" dirty="0">
                <a:sym typeface="Wingdings" panose="05000000000000000000" pitchFamily="2" charset="2"/>
              </a:rPr>
              <a:t> indicates that this is an XML file, but not every XML file will have this</a:t>
            </a:r>
            <a:endParaRPr lang="en-US" sz="1400" dirty="0"/>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a:t>
            </a:r>
            <a:endParaRPr lang="en-SG" sz="1400" dirty="0">
              <a:highlight>
                <a:srgbClr val="FFFF00"/>
              </a:highlight>
              <a:latin typeface="Lucida Console" panose="020B0609040504020204" pitchFamily="49" charset="0"/>
            </a:endParaRPr>
          </a:p>
          <a:p>
            <a:pPr marL="457200" lvl="1" indent="0">
              <a:buNone/>
            </a:pPr>
            <a:r>
              <a:rPr lang="en-SG" sz="1400" dirty="0" err="1">
                <a:highlight>
                  <a:srgbClr val="FFFF00"/>
                </a:highlight>
                <a:latin typeface="Lucida Console" panose="020B0609040504020204" pitchFamily="49" charset="0"/>
              </a:rPr>
              <a:t>xmlns</a:t>
            </a:r>
            <a:r>
              <a:rPr lang="en-SG" sz="1400" dirty="0" err="1">
                <a:latin typeface="Lucida Console" panose="020B0609040504020204" pitchFamily="49" charset="0"/>
              </a:rPr>
              <a:t>:</a:t>
            </a:r>
            <a:r>
              <a:rPr lang="en-SG" sz="1400" dirty="0" err="1">
                <a:highlight>
                  <a:srgbClr val="00FF00"/>
                </a:highlight>
                <a:latin typeface="Lucida Console" panose="020B0609040504020204" pitchFamily="49" charset="0"/>
              </a:rPr>
              <a:t>android</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/res/android"</a:t>
            </a:r>
          </a:p>
          <a:p>
            <a:pPr marL="457200" lvl="1" indent="0">
              <a:buNone/>
            </a:pPr>
            <a:r>
              <a:rPr lang="en-SG" sz="1400" dirty="0" err="1">
                <a:latin typeface="Lucida Console" panose="020B0609040504020204" pitchFamily="49" charset="0"/>
              </a:rPr>
              <a:t>xmlns:app</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/res-auto"</a:t>
            </a:r>
          </a:p>
          <a:p>
            <a:pPr marL="457200" lvl="1" indent="0">
              <a:buNone/>
            </a:pPr>
            <a:r>
              <a:rPr lang="en-SG" sz="1400" dirty="0" err="1">
                <a:latin typeface="Lucida Console" panose="020B0609040504020204" pitchFamily="49" charset="0"/>
              </a:rPr>
              <a:t>xmlns:tools</a:t>
            </a:r>
            <a:r>
              <a:rPr lang="en-SG" sz="1400" dirty="0">
                <a:latin typeface="Lucida Console" panose="020B0609040504020204" pitchFamily="49" charset="0"/>
              </a:rPr>
              <a:t>="http://schemas.android.com/tools"&gt;</a:t>
            </a:r>
          </a:p>
          <a:p>
            <a:pPr marL="457200" lvl="1" indent="0">
              <a:buNone/>
            </a:pPr>
            <a:r>
              <a:rPr lang="en-SG" sz="1400" dirty="0">
                <a:latin typeface="Lucida Console" panose="020B0609040504020204" pitchFamily="49" charset="0"/>
              </a:rPr>
              <a:t>...</a:t>
            </a:r>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androidx.constraintlayout.widget.ConstraintLayout&gt;</a:t>
            </a:r>
            <a:endParaRPr lang="en-SG" sz="1400" dirty="0">
              <a:highlight>
                <a:srgbClr val="FFFF00"/>
              </a:highlight>
              <a:latin typeface="Lucida Console" panose="020B0609040504020204" pitchFamily="49" charset="0"/>
            </a:endParaRPr>
          </a:p>
        </p:txBody>
      </p:sp>
      <p:sp>
        <p:nvSpPr>
          <p:cNvPr id="6" name="TextBox 5">
            <a:extLst>
              <a:ext uri="{FF2B5EF4-FFF2-40B4-BE49-F238E27FC236}">
                <a16:creationId xmlns:a16="http://schemas.microsoft.com/office/drawing/2014/main" id="{94B09F14-FBA2-4CA9-B862-510CBCE82567}"/>
              </a:ext>
            </a:extLst>
          </p:cNvPr>
          <p:cNvSpPr txBox="1"/>
          <p:nvPr/>
        </p:nvSpPr>
        <p:spPr>
          <a:xfrm>
            <a:off x="6648720" y="5084442"/>
            <a:ext cx="5076218" cy="1323439"/>
          </a:xfrm>
          <a:prstGeom prst="rect">
            <a:avLst/>
          </a:prstGeom>
          <a:noFill/>
        </p:spPr>
        <p:txBody>
          <a:bodyPr wrap="square" rtlCol="0">
            <a:spAutoFit/>
          </a:bodyPr>
          <a:lstStyle/>
          <a:p>
            <a:pPr marL="342900" indent="-342900">
              <a:buAutoNum type="arabicPeriod"/>
            </a:pPr>
            <a:r>
              <a:rPr lang="en-SG" sz="1600" dirty="0" err="1">
                <a:highlight>
                  <a:srgbClr val="FFFF00"/>
                </a:highlight>
                <a:latin typeface="Lucida Console" panose="020B0609040504020204" pitchFamily="49" charset="0"/>
              </a:rPr>
              <a:t>xmlns</a:t>
            </a:r>
            <a:r>
              <a:rPr lang="en-SG" sz="1600" dirty="0"/>
              <a:t> stands for XML namespace, and each line defines a schema, or vocab for attributes related to the words.</a:t>
            </a:r>
          </a:p>
          <a:p>
            <a:pPr marL="342900" indent="-342900">
              <a:buAutoNum type="arabicPeriod"/>
            </a:pPr>
            <a:r>
              <a:rPr lang="en-SG" sz="1600" dirty="0">
                <a:highlight>
                  <a:srgbClr val="00FF00"/>
                </a:highlight>
                <a:latin typeface="Lucida Console" panose="020B0609040504020204" pitchFamily="49" charset="0"/>
              </a:rPr>
              <a:t>android</a:t>
            </a:r>
            <a:r>
              <a:rPr lang="en-SG" sz="1600" dirty="0"/>
              <a:t> namespace, for example, marks attributes that are defined by the Android system.</a:t>
            </a:r>
          </a:p>
        </p:txBody>
      </p:sp>
    </p:spTree>
    <p:extLst>
      <p:ext uri="{BB962C8B-B14F-4D97-AF65-F5344CB8AC3E}">
        <p14:creationId xmlns:p14="http://schemas.microsoft.com/office/powerpoint/2010/main" val="14102626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2DF46-D35E-4F8A-90BE-6F8FEE73E338}"/>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2AF5FAD8-8FD1-4CFC-A64E-169CEDC5BE34}"/>
              </a:ext>
            </a:extLst>
          </p:cNvPr>
          <p:cNvSpPr>
            <a:spLocks noGrp="1"/>
          </p:cNvSpPr>
          <p:nvPr>
            <p:ph idx="1"/>
          </p:nvPr>
        </p:nvSpPr>
        <p:spPr/>
        <p:txBody>
          <a:bodyPr>
            <a:normAutofit/>
          </a:bodyPr>
          <a:lstStyle/>
          <a:p>
            <a:r>
              <a:rPr lang="en-SG" sz="2000" dirty="0"/>
              <a:t>Padding vs. Margin?</a:t>
            </a:r>
          </a:p>
          <a:p>
            <a:pPr lvl="1"/>
            <a:r>
              <a:rPr lang="en-SG" sz="1800" dirty="0"/>
              <a:t>Padding adds space within the element (e.g. ConstraintLayout), while margin adds space outside the element</a:t>
            </a:r>
          </a:p>
          <a:p>
            <a:r>
              <a:rPr lang="en-US" sz="2000" dirty="0"/>
              <a:t>You cannot use </a:t>
            </a:r>
            <a:r>
              <a:rPr lang="en-US" sz="2000" dirty="0" err="1">
                <a:latin typeface="Lucida Console" panose="020B0609040504020204" pitchFamily="49" charset="0"/>
              </a:rPr>
              <a:t>match_parent</a:t>
            </a:r>
            <a:r>
              <a:rPr lang="en-US" sz="2000" dirty="0"/>
              <a:t> for any view in a ConstraintLayout. Instead use 0dp, which means match constraints.</a:t>
            </a:r>
          </a:p>
          <a:p>
            <a:pPr lvl="1"/>
            <a:endParaRPr lang="en-SG" sz="1800" dirty="0"/>
          </a:p>
        </p:txBody>
      </p:sp>
    </p:spTree>
    <p:extLst>
      <p:ext uri="{BB962C8B-B14F-4D97-AF65-F5344CB8AC3E}">
        <p14:creationId xmlns:p14="http://schemas.microsoft.com/office/powerpoint/2010/main" val="1465490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E0EA7-832C-4C3F-B1EE-168966D09D16}"/>
              </a:ext>
            </a:extLst>
          </p:cNvPr>
          <p:cNvSpPr>
            <a:spLocks noGrp="1"/>
          </p:cNvSpPr>
          <p:nvPr>
            <p:ph type="title"/>
          </p:nvPr>
        </p:nvSpPr>
        <p:spPr/>
        <p:txBody>
          <a:bodyPr/>
          <a:lstStyle/>
          <a:p>
            <a:r>
              <a:rPr lang="en-SG" dirty="0"/>
              <a:t>Types of Layout (most commonly used)</a:t>
            </a:r>
          </a:p>
        </p:txBody>
      </p:sp>
      <p:sp>
        <p:nvSpPr>
          <p:cNvPr id="3" name="Content Placeholder 2">
            <a:extLst>
              <a:ext uri="{FF2B5EF4-FFF2-40B4-BE49-F238E27FC236}">
                <a16:creationId xmlns:a16="http://schemas.microsoft.com/office/drawing/2014/main" id="{E49695FC-017A-48C3-B49C-814387DBD30A}"/>
              </a:ext>
            </a:extLst>
          </p:cNvPr>
          <p:cNvSpPr>
            <a:spLocks noGrp="1"/>
          </p:cNvSpPr>
          <p:nvPr>
            <p:ph idx="1"/>
          </p:nvPr>
        </p:nvSpPr>
        <p:spPr/>
        <p:txBody>
          <a:bodyPr/>
          <a:lstStyle/>
          <a:p>
            <a:r>
              <a:rPr lang="en-SG" dirty="0"/>
              <a:t>ConstraintLayout</a:t>
            </a:r>
          </a:p>
          <a:p>
            <a:pPr lvl="1"/>
            <a:r>
              <a:rPr lang="en-SG" dirty="0"/>
              <a:t>Ideal and flexible when you want to position multiple child views in a layout</a:t>
            </a:r>
          </a:p>
          <a:p>
            <a:r>
              <a:rPr lang="en-SG" dirty="0" err="1"/>
              <a:t>FrameLayout</a:t>
            </a:r>
            <a:endParaRPr lang="en-SG" dirty="0"/>
          </a:p>
          <a:p>
            <a:pPr lvl="1"/>
            <a:r>
              <a:rPr lang="en-SG" dirty="0"/>
              <a:t>Simpler layout if you just have a single child view (e.g. a single </a:t>
            </a:r>
            <a:r>
              <a:rPr lang="en-SG" dirty="0" err="1"/>
              <a:t>RecyclerView</a:t>
            </a:r>
            <a:r>
              <a:rPr lang="en-SG" dirty="0"/>
              <a:t>)</a:t>
            </a:r>
          </a:p>
          <a:p>
            <a:r>
              <a:rPr lang="en-SG" dirty="0" err="1"/>
              <a:t>LinearLayout</a:t>
            </a:r>
            <a:endParaRPr lang="en-SG" dirty="0"/>
          </a:p>
          <a:p>
            <a:pPr lvl="1"/>
            <a:r>
              <a:rPr lang="en-SG" dirty="0"/>
              <a:t>Aligns all child views into a single direction (i.e. vertically or horizontally)</a:t>
            </a:r>
          </a:p>
          <a:p>
            <a:pPr lvl="1"/>
            <a:r>
              <a:rPr lang="en-SG" dirty="0"/>
              <a:t>Can even add a </a:t>
            </a:r>
            <a:r>
              <a:rPr lang="en-SG" dirty="0" err="1"/>
              <a:t>MaterialCardView</a:t>
            </a:r>
            <a:r>
              <a:rPr lang="en-SG" dirty="0"/>
              <a:t> around the existing </a:t>
            </a:r>
            <a:r>
              <a:rPr lang="en-SG" dirty="0" err="1"/>
              <a:t>LinearLayout</a:t>
            </a:r>
            <a:r>
              <a:rPr lang="en-SG" dirty="0"/>
              <a:t> for better visuals</a:t>
            </a:r>
          </a:p>
        </p:txBody>
      </p:sp>
    </p:spTree>
    <p:extLst>
      <p:ext uri="{BB962C8B-B14F-4D97-AF65-F5344CB8AC3E}">
        <p14:creationId xmlns:p14="http://schemas.microsoft.com/office/powerpoint/2010/main" val="6624601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7268184" y="151101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7268184" y="2247181"/>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613517" y="3344720"/>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7" idx="0"/>
          </p:cNvCxnSpPr>
          <p:nvPr/>
        </p:nvCxnSpPr>
        <p:spPr>
          <a:xfrm flipH="1">
            <a:off x="8704636" y="2041167"/>
            <a:ext cx="805774" cy="13035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879166" y="2095441"/>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Tree>
    <p:extLst>
      <p:ext uri="{BB962C8B-B14F-4D97-AF65-F5344CB8AC3E}">
        <p14:creationId xmlns:p14="http://schemas.microsoft.com/office/powerpoint/2010/main" val="33701740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366795"/>
            <a:ext cx="4484451" cy="873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2 ways to set text of </a:t>
            </a:r>
            <a:r>
              <a:rPr lang="en-SG" sz="1600" dirty="0" err="1"/>
              <a:t>TextView</a:t>
            </a:r>
            <a:r>
              <a:rPr lang="en-SG" sz="1600" dirty="0"/>
              <a:t>, either pass the string directly into .text property, or set the text by passing the string resource ID into .</a:t>
            </a:r>
            <a:r>
              <a:rPr lang="en-SG" sz="1600" dirty="0" err="1"/>
              <a:t>setText</a:t>
            </a:r>
            <a:r>
              <a:rPr lang="en-SG" sz="1600" dirty="0"/>
              <a:t> method</a:t>
            </a:r>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44101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9" name="Picture 8">
            <a:extLst>
              <a:ext uri="{FF2B5EF4-FFF2-40B4-BE49-F238E27FC236}">
                <a16:creationId xmlns:a16="http://schemas.microsoft.com/office/drawing/2014/main" id="{B16F6DFA-CF46-4AEB-BE0C-A6CC34C53E71}"/>
              </a:ext>
            </a:extLst>
          </p:cNvPr>
          <p:cNvPicPr>
            <a:picLocks noChangeAspect="1"/>
          </p:cNvPicPr>
          <p:nvPr/>
        </p:nvPicPr>
        <p:blipFill>
          <a:blip r:embed="rId4"/>
          <a:stretch>
            <a:fillRect/>
          </a:stretch>
        </p:blipFill>
        <p:spPr>
          <a:xfrm>
            <a:off x="1110575" y="3652106"/>
            <a:ext cx="4839119" cy="472481"/>
          </a:xfrm>
          <a:prstGeom prst="rect">
            <a:avLst/>
          </a:prstGeom>
        </p:spPr>
      </p:pic>
    </p:spTree>
    <p:extLst>
      <p:ext uri="{BB962C8B-B14F-4D97-AF65-F5344CB8AC3E}">
        <p14:creationId xmlns:p14="http://schemas.microsoft.com/office/powerpoint/2010/main" val="13869332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7157936" cy="4351338"/>
          </a:xfrm>
        </p:spPr>
        <p:txBody>
          <a:bodyPr>
            <a:normAutofit/>
          </a:bodyPr>
          <a:lstStyle/>
          <a:p>
            <a:pPr marL="457200" indent="-457200">
              <a:buAutoNum type="arabicPeriod"/>
            </a:pPr>
            <a:r>
              <a:rPr lang="en-US" sz="2000" dirty="0"/>
              <a:t>Need to enable view binding for your app in Gradle (module </a:t>
            </a:r>
            <a:r>
              <a:rPr lang="en-US" sz="2000" dirty="0" err="1"/>
              <a:t>build.gradle</a:t>
            </a:r>
            <a:r>
              <a:rPr lang="en-US" sz="2000" dirty="0"/>
              <a:t>) and sync.</a:t>
            </a:r>
            <a:endParaRPr lang="en-SG" sz="2000" dirty="0"/>
          </a:p>
          <a:p>
            <a:pPr marL="457200" indent="-457200">
              <a:buAutoNum type="arabicPeriod"/>
            </a:pPr>
            <a:r>
              <a:rPr lang="en-US" sz="2000" dirty="0"/>
              <a:t>Instead of calling </a:t>
            </a:r>
            <a:r>
              <a:rPr lang="en-US" sz="2000" dirty="0" err="1">
                <a:latin typeface="Lucida Console" panose="020B0609040504020204" pitchFamily="49" charset="0"/>
              </a:rPr>
              <a:t>findViewById</a:t>
            </a:r>
            <a:r>
              <a:rPr lang="en-US" sz="2000" dirty="0">
                <a:latin typeface="Lucida Console" panose="020B0609040504020204" pitchFamily="49" charset="0"/>
              </a:rPr>
              <a:t>()</a:t>
            </a:r>
            <a:r>
              <a:rPr lang="en-US" sz="2000" dirty="0"/>
              <a:t> for each </a:t>
            </a:r>
            <a:r>
              <a:rPr lang="en-US" sz="2000" dirty="0">
                <a:latin typeface="Lucida Console" panose="020B0609040504020204" pitchFamily="49" charset="0"/>
              </a:rPr>
              <a:t>View</a:t>
            </a:r>
            <a:r>
              <a:rPr lang="en-US" sz="2000" dirty="0"/>
              <a:t> in your app, you'll create and initialize a binding object once in the</a:t>
            </a:r>
            <a:r>
              <a:rPr lang="en-SG" sz="2000" dirty="0"/>
              <a:t> Activity.</a:t>
            </a:r>
          </a:p>
        </p:txBody>
      </p:sp>
      <p:pic>
        <p:nvPicPr>
          <p:cNvPr id="5" name="Picture 4">
            <a:extLst>
              <a:ext uri="{FF2B5EF4-FFF2-40B4-BE49-F238E27FC236}">
                <a16:creationId xmlns:a16="http://schemas.microsoft.com/office/drawing/2014/main" id="{57580692-2199-4A8E-9C74-43780982E850}"/>
              </a:ext>
            </a:extLst>
          </p:cNvPr>
          <p:cNvPicPr>
            <a:picLocks noChangeAspect="1"/>
          </p:cNvPicPr>
          <p:nvPr/>
        </p:nvPicPr>
        <p:blipFill>
          <a:blip r:embed="rId2"/>
          <a:stretch>
            <a:fillRect/>
          </a:stretch>
        </p:blipFill>
        <p:spPr>
          <a:xfrm>
            <a:off x="8595309" y="365125"/>
            <a:ext cx="3055885" cy="2834886"/>
          </a:xfrm>
          <a:prstGeom prst="rect">
            <a:avLst/>
          </a:prstGeom>
        </p:spPr>
      </p:pic>
      <p:pic>
        <p:nvPicPr>
          <p:cNvPr id="7" name="Picture 6">
            <a:extLst>
              <a:ext uri="{FF2B5EF4-FFF2-40B4-BE49-F238E27FC236}">
                <a16:creationId xmlns:a16="http://schemas.microsoft.com/office/drawing/2014/main" id="{329C64E1-8CBD-45A2-839F-D93F43633F08}"/>
              </a:ext>
            </a:extLst>
          </p:cNvPr>
          <p:cNvPicPr>
            <a:picLocks noChangeAspect="1"/>
          </p:cNvPicPr>
          <p:nvPr/>
        </p:nvPicPr>
        <p:blipFill>
          <a:blip r:embed="rId3"/>
          <a:stretch>
            <a:fillRect/>
          </a:stretch>
        </p:blipFill>
        <p:spPr>
          <a:xfrm>
            <a:off x="3360901" y="3339970"/>
            <a:ext cx="4761694" cy="3392152"/>
          </a:xfrm>
          <a:prstGeom prst="rect">
            <a:avLst/>
          </a:prstGeom>
        </p:spPr>
      </p:pic>
    </p:spTree>
    <p:extLst>
      <p:ext uri="{BB962C8B-B14F-4D97-AF65-F5344CB8AC3E}">
        <p14:creationId xmlns:p14="http://schemas.microsoft.com/office/powerpoint/2010/main" val="39053875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4"/>
            <a:ext cx="10251332" cy="3981789"/>
          </a:xfrm>
        </p:spPr>
        <p:txBody>
          <a:bodyPr>
            <a:normAutofit lnSpcReduction="10000"/>
          </a:bodyPr>
          <a:lstStyle/>
          <a:p>
            <a:pPr marL="0" indent="0">
              <a:buNone/>
            </a:pPr>
            <a:r>
              <a:rPr lang="en-SG" sz="2000" u="sng" dirty="0"/>
              <a:t>Without View Binding</a:t>
            </a:r>
          </a:p>
          <a:p>
            <a:pPr marL="0" indent="0">
              <a:buNone/>
            </a:pPr>
            <a:r>
              <a:rPr lang="en-SG" sz="2000" dirty="0"/>
              <a:t>	</a:t>
            </a:r>
            <a:r>
              <a:rPr lang="en-SG" sz="1800" dirty="0" err="1">
                <a:latin typeface="Lucida Console" panose="020B0609040504020204" pitchFamily="49" charset="0"/>
              </a:rPr>
              <a:t>val</a:t>
            </a:r>
            <a:r>
              <a:rPr lang="en-SG" sz="1800" dirty="0">
                <a:latin typeface="Lucida Console" panose="020B0609040504020204" pitchFamily="49" charset="0"/>
              </a:rPr>
              <a:t> action: Button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00FFFF"/>
                </a:highlight>
                <a:latin typeface="Lucida Console" panose="020B0609040504020204" pitchFamily="49" charset="0"/>
              </a:rPr>
              <a:t>button_action</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action.setOnClickListener</a:t>
            </a:r>
            <a:r>
              <a:rPr lang="en-SG" sz="1800" dirty="0">
                <a:latin typeface="Lucida Console" panose="020B0609040504020204" pitchFamily="49" charset="0"/>
              </a:rPr>
              <a:t>() {…}</a:t>
            </a:r>
          </a:p>
          <a:p>
            <a:pPr marL="0" indent="0">
              <a:buNone/>
            </a:pPr>
            <a:endParaRPr lang="en-SG" sz="1800" dirty="0">
              <a:latin typeface="Lucida Console" panose="020B0609040504020204" pitchFamily="49" charset="0"/>
            </a:endParaRP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val</a:t>
            </a:r>
            <a:r>
              <a:rPr lang="en-SG" sz="1800" dirty="0">
                <a:latin typeface="Lucida Console" panose="020B0609040504020204" pitchFamily="49" charset="0"/>
              </a:rPr>
              <a:t> amount: </a:t>
            </a:r>
            <a:r>
              <a:rPr lang="en-SG" sz="1800" dirty="0" err="1">
                <a:latin typeface="Lucida Console" panose="020B0609040504020204" pitchFamily="49" charset="0"/>
              </a:rPr>
              <a:t>TextView</a:t>
            </a:r>
            <a:r>
              <a:rPr lang="en-SG" sz="1800" dirty="0">
                <a:latin typeface="Lucida Console" panose="020B0609040504020204" pitchFamily="49" charset="0"/>
              </a:rPr>
              <a:t>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FFF169"/>
                </a:highlight>
                <a:latin typeface="Lucida Console" panose="020B0609040504020204" pitchFamily="49" charset="0"/>
              </a:rPr>
              <a:t>tip_result</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amount.text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p>
          <a:p>
            <a:pPr marL="0" indent="0">
              <a:buNone/>
            </a:pPr>
            <a:endParaRPr lang="en-SG" sz="2000" dirty="0"/>
          </a:p>
          <a:p>
            <a:pPr marL="0" indent="0">
              <a:buNone/>
            </a:pPr>
            <a:r>
              <a:rPr lang="en-SG" sz="2000" u="sng" dirty="0"/>
              <a:t>With View Binding</a:t>
            </a:r>
          </a:p>
          <a:p>
            <a:pPr marL="0" indent="0">
              <a:buNone/>
            </a:pPr>
            <a:r>
              <a:rPr lang="en-SG" sz="2000" dirty="0"/>
              <a:t>	</a:t>
            </a:r>
            <a:r>
              <a:rPr lang="en-SG" sz="1800" dirty="0" err="1">
                <a:latin typeface="Lucida Console" panose="020B0609040504020204" pitchFamily="49" charset="0"/>
              </a:rPr>
              <a:t>binding.</a:t>
            </a:r>
            <a:r>
              <a:rPr lang="en-SG" sz="1800" dirty="0" err="1">
                <a:highlight>
                  <a:srgbClr val="00FFFF"/>
                </a:highlight>
                <a:latin typeface="Lucida Console" panose="020B0609040504020204" pitchFamily="49" charset="0"/>
              </a:rPr>
              <a:t>buttonAction</a:t>
            </a:r>
            <a:r>
              <a:rPr lang="en-SG" sz="1800" dirty="0" err="1">
                <a:latin typeface="Lucida Console" panose="020B0609040504020204" pitchFamily="49" charset="0"/>
              </a:rPr>
              <a:t>.setOnClickListener</a:t>
            </a:r>
            <a:r>
              <a:rPr lang="en-SG" sz="1800" dirty="0">
                <a:latin typeface="Lucida Console" panose="020B0609040504020204" pitchFamily="49" charset="0"/>
              </a:rPr>
              <a:t>() {…}</a:t>
            </a:r>
          </a:p>
          <a:p>
            <a:pPr marL="0" indent="0">
              <a:buNone/>
            </a:pPr>
            <a:endParaRPr lang="en-SG" sz="2000" dirty="0"/>
          </a:p>
          <a:p>
            <a:pPr marL="0" indent="0">
              <a:buNone/>
            </a:pPr>
            <a:r>
              <a:rPr lang="en-SG" sz="2000" dirty="0"/>
              <a:t>	</a:t>
            </a:r>
            <a:r>
              <a:rPr lang="en-SG" sz="1800" dirty="0" err="1">
                <a:latin typeface="Lucida Console" panose="020B0609040504020204" pitchFamily="49" charset="0"/>
              </a:rPr>
              <a:t>binding.</a:t>
            </a:r>
            <a:r>
              <a:rPr lang="en-SG" sz="1800" dirty="0" err="1">
                <a:highlight>
                  <a:srgbClr val="FFF169"/>
                </a:highlight>
                <a:latin typeface="Lucida Console" panose="020B0609040504020204" pitchFamily="49" charset="0"/>
              </a:rPr>
              <a:t>tipResult</a:t>
            </a:r>
            <a:r>
              <a:rPr lang="en-SG" sz="1800" dirty="0" err="1">
                <a:latin typeface="Lucida Console" panose="020B0609040504020204" pitchFamily="49" charset="0"/>
              </a:rPr>
              <a: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endParaRPr lang="en-SG" sz="2000" dirty="0">
              <a:latin typeface="Lucida Console" panose="020B0609040504020204" pitchFamily="49" charset="0"/>
            </a:endParaRPr>
          </a:p>
        </p:txBody>
      </p:sp>
    </p:spTree>
    <p:extLst>
      <p:ext uri="{BB962C8B-B14F-4D97-AF65-F5344CB8AC3E}">
        <p14:creationId xmlns:p14="http://schemas.microsoft.com/office/powerpoint/2010/main" val="9687093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10251332" cy="1131584"/>
          </a:xfrm>
        </p:spPr>
        <p:txBody>
          <a:bodyPr>
            <a:normAutofit/>
          </a:bodyPr>
          <a:lstStyle/>
          <a:p>
            <a:pPr marL="457200" indent="-457200">
              <a:buAutoNum type="arabicPeriod"/>
            </a:pPr>
            <a:r>
              <a:rPr lang="en-SG" sz="2000" dirty="0"/>
              <a:t>Before </a:t>
            </a:r>
            <a:r>
              <a:rPr lang="en-SG" sz="2000" dirty="0">
                <a:latin typeface="Lucida Console" panose="020B0609040504020204" pitchFamily="49" charset="0"/>
              </a:rPr>
              <a:t>onCreate()</a:t>
            </a:r>
            <a:r>
              <a:rPr lang="en-SG" sz="2000" dirty="0"/>
              <a:t>, </a:t>
            </a:r>
            <a:r>
              <a:rPr lang="en-SG" sz="2000" dirty="0">
                <a:highlight>
                  <a:srgbClr val="00FF00"/>
                </a:highlight>
              </a:rPr>
              <a:t>create</a:t>
            </a:r>
            <a:r>
              <a:rPr lang="en-SG" sz="2000" dirty="0"/>
              <a:t> a binding object.</a:t>
            </a:r>
          </a:p>
          <a:p>
            <a:pPr marL="457200" indent="-457200">
              <a:buAutoNum type="arabicPeriod"/>
            </a:pPr>
            <a:r>
              <a:rPr lang="en-SG" sz="2000" dirty="0"/>
              <a:t>Within </a:t>
            </a:r>
            <a:r>
              <a:rPr lang="en-SG" sz="2000" dirty="0">
                <a:latin typeface="Lucida Console" panose="020B0609040504020204" pitchFamily="49" charset="0"/>
              </a:rPr>
              <a:t>onCreate()</a:t>
            </a:r>
            <a:r>
              <a:rPr lang="en-SG" sz="2000" dirty="0"/>
              <a:t>, </a:t>
            </a:r>
            <a:r>
              <a:rPr lang="en-SG" sz="2000" dirty="0">
                <a:highlight>
                  <a:srgbClr val="FFFF00"/>
                </a:highlight>
              </a:rPr>
              <a:t>initialise</a:t>
            </a:r>
            <a:r>
              <a:rPr lang="en-SG" sz="2000" dirty="0"/>
              <a:t> the binding object and </a:t>
            </a:r>
            <a:r>
              <a:rPr lang="en-SG" sz="2000" dirty="0">
                <a:highlight>
                  <a:srgbClr val="00FFFF"/>
                </a:highlight>
              </a:rPr>
              <a:t>specify</a:t>
            </a:r>
            <a:r>
              <a:rPr lang="en-SG" sz="2000" dirty="0"/>
              <a:t> the root hierarchy of views in this app, instead of using </a:t>
            </a:r>
            <a:r>
              <a:rPr lang="en-SG" sz="2000" dirty="0">
                <a:latin typeface="Lucida Console" panose="020B0609040504020204" pitchFamily="49" charset="0"/>
              </a:rPr>
              <a:t>R.layout.activity_main</a:t>
            </a:r>
            <a:r>
              <a:rPr lang="en-SG" sz="2000" dirty="0"/>
              <a:t>.</a:t>
            </a:r>
          </a:p>
          <a:p>
            <a:pPr marL="457200" indent="-457200">
              <a:buAutoNum type="arabicPeriod"/>
            </a:pPr>
            <a:endParaRPr lang="en-SG" sz="2000" dirty="0"/>
          </a:p>
          <a:p>
            <a:pPr marL="0" indent="0">
              <a:buNone/>
            </a:pPr>
            <a:endParaRPr lang="en-SG" sz="2000" dirty="0"/>
          </a:p>
        </p:txBody>
      </p:sp>
      <p:pic>
        <p:nvPicPr>
          <p:cNvPr id="6" name="Picture 5">
            <a:extLst>
              <a:ext uri="{FF2B5EF4-FFF2-40B4-BE49-F238E27FC236}">
                <a16:creationId xmlns:a16="http://schemas.microsoft.com/office/drawing/2014/main" id="{4D71B9C9-47C0-43B7-948C-87144FA77A58}"/>
              </a:ext>
            </a:extLst>
          </p:cNvPr>
          <p:cNvPicPr>
            <a:picLocks noChangeAspect="1"/>
          </p:cNvPicPr>
          <p:nvPr/>
        </p:nvPicPr>
        <p:blipFill>
          <a:blip r:embed="rId2"/>
          <a:stretch>
            <a:fillRect/>
          </a:stretch>
        </p:blipFill>
        <p:spPr>
          <a:xfrm>
            <a:off x="838200" y="3408295"/>
            <a:ext cx="10132499" cy="2331024"/>
          </a:xfrm>
          <a:prstGeom prst="rect">
            <a:avLst/>
          </a:prstGeom>
        </p:spPr>
      </p:pic>
      <p:sp>
        <p:nvSpPr>
          <p:cNvPr id="8" name="Rectangle 7">
            <a:extLst>
              <a:ext uri="{FF2B5EF4-FFF2-40B4-BE49-F238E27FC236}">
                <a16:creationId xmlns:a16="http://schemas.microsoft.com/office/drawing/2014/main" id="{B5B4A0C1-9C44-4A4A-9B6E-F33D6A3CAF0E}"/>
              </a:ext>
            </a:extLst>
          </p:cNvPr>
          <p:cNvSpPr/>
          <p:nvPr/>
        </p:nvSpPr>
        <p:spPr>
          <a:xfrm>
            <a:off x="1079770" y="3910520"/>
            <a:ext cx="3998068" cy="243192"/>
          </a:xfrm>
          <a:prstGeom prst="rect">
            <a:avLst/>
          </a:prstGeom>
          <a:solidFill>
            <a:srgbClr val="00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1808D9-586B-46DC-AB70-1F3EC7D7B054}"/>
              </a:ext>
            </a:extLst>
          </p:cNvPr>
          <p:cNvSpPr/>
          <p:nvPr/>
        </p:nvSpPr>
        <p:spPr>
          <a:xfrm>
            <a:off x="1407267" y="4996775"/>
            <a:ext cx="4273685" cy="243192"/>
          </a:xfrm>
          <a:prstGeom prst="rect">
            <a:avLst/>
          </a:prstGeom>
          <a:solidFill>
            <a:srgbClr val="FF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3DE19178-B6A3-4C30-9BDF-88E8B6AD028F}"/>
              </a:ext>
            </a:extLst>
          </p:cNvPr>
          <p:cNvSpPr/>
          <p:nvPr/>
        </p:nvSpPr>
        <p:spPr>
          <a:xfrm>
            <a:off x="1407268" y="5447861"/>
            <a:ext cx="2347610" cy="174726"/>
          </a:xfrm>
          <a:prstGeom prst="rect">
            <a:avLst/>
          </a:prstGeom>
          <a:solidFill>
            <a:srgbClr val="00FFFF">
              <a:alpha val="3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220191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(JVM),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By design, test code looks different from the business logic for an application. That's because tests are not supposed to contain logic; they are only supposed to test it. </a:t>
            </a:r>
          </a:p>
          <a:p>
            <a:r>
              <a:rPr lang="en-US" sz="2000" dirty="0"/>
              <a:t>Therefore, tests should not have conditional statements like if or when, or control flow statements like for or while. </a:t>
            </a:r>
          </a:p>
          <a:p>
            <a:r>
              <a:rPr lang="en-US" sz="2000" dirty="0"/>
              <a:t>They should also not manipulate values or conduct any real computation.</a:t>
            </a:r>
            <a:endParaRPr lang="en-SG" sz="2000" dirty="0"/>
          </a:p>
        </p:txBody>
      </p:sp>
    </p:spTree>
    <p:extLst>
      <p:ext uri="{BB962C8B-B14F-4D97-AF65-F5344CB8AC3E}">
        <p14:creationId xmlns:p14="http://schemas.microsoft.com/office/powerpoint/2010/main" val="40847420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pic>
        <p:nvPicPr>
          <p:cNvPr id="5" name="Picture 4">
            <a:extLst>
              <a:ext uri="{FF2B5EF4-FFF2-40B4-BE49-F238E27FC236}">
                <a16:creationId xmlns:a16="http://schemas.microsoft.com/office/drawing/2014/main" id="{492DB242-0B11-4268-863C-82E044740BDA}"/>
              </a:ext>
            </a:extLst>
          </p:cNvPr>
          <p:cNvPicPr>
            <a:picLocks noChangeAspect="1"/>
          </p:cNvPicPr>
          <p:nvPr/>
        </p:nvPicPr>
        <p:blipFill>
          <a:blip r:embed="rId2"/>
          <a:stretch>
            <a:fillRect/>
          </a:stretch>
        </p:blipFill>
        <p:spPr>
          <a:xfrm>
            <a:off x="838200" y="2894359"/>
            <a:ext cx="3642676" cy="2057578"/>
          </a:xfrm>
          <a:prstGeom prst="rect">
            <a:avLst/>
          </a:prstGeom>
        </p:spPr>
      </p:pic>
      <p:cxnSp>
        <p:nvCxnSpPr>
          <p:cNvPr id="7" name="Straight Arrow Connector 6">
            <a:extLst>
              <a:ext uri="{FF2B5EF4-FFF2-40B4-BE49-F238E27FC236}">
                <a16:creationId xmlns:a16="http://schemas.microsoft.com/office/drawing/2014/main" id="{53DF5DB2-D402-4ECA-8C19-1ECE687B4A29}"/>
              </a:ext>
            </a:extLst>
          </p:cNvPr>
          <p:cNvCxnSpPr/>
          <p:nvPr/>
        </p:nvCxnSpPr>
        <p:spPr>
          <a:xfrm>
            <a:off x="4480876" y="3910517"/>
            <a:ext cx="5749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275D03B-EF4A-47DD-BE51-682156180052}"/>
              </a:ext>
            </a:extLst>
          </p:cNvPr>
          <p:cNvSpPr txBox="1"/>
          <p:nvPr/>
        </p:nvSpPr>
        <p:spPr>
          <a:xfrm>
            <a:off x="5055785" y="3754663"/>
            <a:ext cx="1710725" cy="307777"/>
          </a:xfrm>
          <a:prstGeom prst="rect">
            <a:avLst/>
          </a:prstGeom>
          <a:noFill/>
        </p:spPr>
        <p:txBody>
          <a:bodyPr wrap="none" rtlCol="0">
            <a:spAutoFit/>
          </a:bodyPr>
          <a:lstStyle/>
          <a:p>
            <a:r>
              <a:rPr lang="en-SG" sz="1400" dirty="0"/>
              <a:t>Test suite/Test target</a:t>
            </a:r>
          </a:p>
        </p:txBody>
      </p:sp>
      <p:sp>
        <p:nvSpPr>
          <p:cNvPr id="10" name="TextBox 9">
            <a:extLst>
              <a:ext uri="{FF2B5EF4-FFF2-40B4-BE49-F238E27FC236}">
                <a16:creationId xmlns:a16="http://schemas.microsoft.com/office/drawing/2014/main" id="{BCB91107-BF00-4949-AB9C-A9317D60EDBA}"/>
              </a:ext>
            </a:extLst>
          </p:cNvPr>
          <p:cNvSpPr txBox="1"/>
          <p:nvPr/>
        </p:nvSpPr>
        <p:spPr>
          <a:xfrm>
            <a:off x="5911147" y="1938781"/>
            <a:ext cx="6094378" cy="1600438"/>
          </a:xfrm>
          <a:prstGeom prst="rect">
            <a:avLst/>
          </a:prstGeom>
          <a:solidFill>
            <a:schemeClr val="accent4"/>
          </a:solidFill>
        </p:spPr>
        <p:txBody>
          <a:bodyPr wrap="square">
            <a:spAutoFit/>
          </a:bodyPr>
          <a:lstStyle/>
          <a:p>
            <a:pPr algn="l">
              <a:buFont typeface="Arial" panose="020B0604020202020204" pitchFamily="34" charset="0"/>
              <a:buChar char="•"/>
            </a:pPr>
            <a:r>
              <a:rPr lang="en-US" sz="1400" b="1" i="0" dirty="0">
                <a:effectLst/>
              </a:rPr>
              <a:t>Test Suite</a:t>
            </a:r>
            <a:r>
              <a:rPr lang="en-US" sz="1400" b="0" i="0" dirty="0">
                <a:effectLst/>
              </a:rPr>
              <a:t> - the target that includes all your </a:t>
            </a:r>
            <a:r>
              <a:rPr lang="en-US" sz="1400" b="0" i="1" dirty="0">
                <a:effectLst/>
              </a:rPr>
              <a:t>test cases</a:t>
            </a:r>
            <a:r>
              <a:rPr lang="en-US" sz="1400" b="0" i="0" dirty="0">
                <a:effectLst/>
              </a:rPr>
              <a:t>.</a:t>
            </a:r>
          </a:p>
          <a:p>
            <a:pPr algn="l">
              <a:buFont typeface="Arial" panose="020B0604020202020204" pitchFamily="34" charset="0"/>
              <a:buChar char="•"/>
            </a:pPr>
            <a:r>
              <a:rPr lang="en-US" sz="1400" b="1" i="0" dirty="0">
                <a:effectLst/>
              </a:rPr>
              <a:t>Test Case</a:t>
            </a:r>
            <a:r>
              <a:rPr lang="en-US" sz="1400" b="0" i="0" dirty="0">
                <a:effectLst/>
              </a:rPr>
              <a:t> - a class consisting of individual tests for related functionality (the Lemonade app had just a single test case but larger apps often have many more).</a:t>
            </a:r>
          </a:p>
          <a:p>
            <a:pPr algn="l">
              <a:buFont typeface="Arial" panose="020B0604020202020204" pitchFamily="34" charset="0"/>
              <a:buChar char="•"/>
            </a:pPr>
            <a:r>
              <a:rPr lang="en-US" sz="1400" b="1" i="0" dirty="0">
                <a:effectLst/>
              </a:rPr>
              <a:t>Test</a:t>
            </a:r>
            <a:r>
              <a:rPr lang="en-US" sz="1400" b="0" i="0" dirty="0">
                <a:effectLst/>
              </a:rPr>
              <a:t> - A function that tests one specific thing.</a:t>
            </a:r>
          </a:p>
          <a:p>
            <a:pPr algn="l">
              <a:buFont typeface="Arial" panose="020B0604020202020204" pitchFamily="34" charset="0"/>
              <a:buChar char="•"/>
            </a:pPr>
            <a:endParaRPr lang="en-US" sz="1400" dirty="0"/>
          </a:p>
          <a:p>
            <a:pPr algn="l"/>
            <a:r>
              <a:rPr lang="en-US" sz="1400" b="0" i="0" dirty="0">
                <a:effectLst/>
              </a:rPr>
              <a:t>A test case can have multiple tests, and your project's test suite can have multiple test cases.</a:t>
            </a:r>
          </a:p>
        </p:txBody>
      </p:sp>
      <p:cxnSp>
        <p:nvCxnSpPr>
          <p:cNvPr id="11" name="Straight Arrow Connector 10">
            <a:extLst>
              <a:ext uri="{FF2B5EF4-FFF2-40B4-BE49-F238E27FC236}">
                <a16:creationId xmlns:a16="http://schemas.microsoft.com/office/drawing/2014/main" id="{9F58521D-FB8C-47BC-AC9B-06932125F69C}"/>
              </a:ext>
            </a:extLst>
          </p:cNvPr>
          <p:cNvCxnSpPr>
            <a:cxnSpLocks/>
          </p:cNvCxnSpPr>
          <p:nvPr/>
        </p:nvCxnSpPr>
        <p:spPr>
          <a:xfrm>
            <a:off x="3028212" y="4354747"/>
            <a:ext cx="20275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77A45E-0C10-4590-A733-A87F266EE291}"/>
              </a:ext>
            </a:extLst>
          </p:cNvPr>
          <p:cNvSpPr txBox="1"/>
          <p:nvPr/>
        </p:nvSpPr>
        <p:spPr>
          <a:xfrm>
            <a:off x="5055785" y="4198893"/>
            <a:ext cx="3473515" cy="307777"/>
          </a:xfrm>
          <a:prstGeom prst="rect">
            <a:avLst/>
          </a:prstGeom>
          <a:noFill/>
        </p:spPr>
        <p:txBody>
          <a:bodyPr wrap="none" rtlCol="0">
            <a:spAutoFit/>
          </a:bodyPr>
          <a:lstStyle/>
          <a:p>
            <a:r>
              <a:rPr lang="en-SG" sz="1400" dirty="0"/>
              <a:t>Test case (as </a:t>
            </a:r>
            <a:r>
              <a:rPr lang="en-SG" sz="1400" dirty="0" err="1"/>
              <a:t>LemonadeTests</a:t>
            </a:r>
            <a:r>
              <a:rPr lang="en-SG" sz="1400" dirty="0"/>
              <a:t> only has 1 class)</a:t>
            </a:r>
          </a:p>
        </p:txBody>
      </p:sp>
    </p:spTree>
    <p:extLst>
      <p:ext uri="{BB962C8B-B14F-4D97-AF65-F5344CB8AC3E}">
        <p14:creationId xmlns:p14="http://schemas.microsoft.com/office/powerpoint/2010/main" val="4533198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sp>
        <p:nvSpPr>
          <p:cNvPr id="9" name="TextBox 8">
            <a:extLst>
              <a:ext uri="{FF2B5EF4-FFF2-40B4-BE49-F238E27FC236}">
                <a16:creationId xmlns:a16="http://schemas.microsoft.com/office/drawing/2014/main" id="{164B065C-B36D-47D0-869E-BDA1721DE734}"/>
              </a:ext>
            </a:extLst>
          </p:cNvPr>
          <p:cNvSpPr txBox="1"/>
          <p:nvPr/>
        </p:nvSpPr>
        <p:spPr>
          <a:xfrm>
            <a:off x="838200" y="1690688"/>
            <a:ext cx="10698804" cy="1015663"/>
          </a:xfrm>
          <a:prstGeom prst="rect">
            <a:avLst/>
          </a:prstGeom>
          <a:noFill/>
        </p:spPr>
        <p:txBody>
          <a:bodyPr wrap="square" rtlCol="0">
            <a:spAutoFit/>
          </a:bodyPr>
          <a:lstStyle/>
          <a:p>
            <a:r>
              <a:rPr lang="en-US" sz="2000" dirty="0"/>
              <a:t>Instrumentation tests require an </a:t>
            </a:r>
            <a:r>
              <a:rPr lang="en-US" sz="2000" dirty="0" err="1"/>
              <a:t>InstrumentationTestRunner</a:t>
            </a:r>
            <a:r>
              <a:rPr lang="en-US" sz="2000" dirty="0"/>
              <a:t>, which allows the test to execute on a device or emulator. There are several other instrumentation runners, but for this test we'll use the AndroidJUnit4 test runner. To specify the test runner, we need to annotate the class with @RunWith.</a:t>
            </a:r>
            <a:endParaRPr lang="en-SG" sz="2000" dirty="0"/>
          </a:p>
        </p:txBody>
      </p:sp>
      <p:pic>
        <p:nvPicPr>
          <p:cNvPr id="4" name="Picture 3">
            <a:extLst>
              <a:ext uri="{FF2B5EF4-FFF2-40B4-BE49-F238E27FC236}">
                <a16:creationId xmlns:a16="http://schemas.microsoft.com/office/drawing/2014/main" id="{5928F23A-B012-4489-9F2B-C8CDA36DDDD1}"/>
              </a:ext>
            </a:extLst>
          </p:cNvPr>
          <p:cNvPicPr>
            <a:picLocks noChangeAspect="1"/>
          </p:cNvPicPr>
          <p:nvPr/>
        </p:nvPicPr>
        <p:blipFill>
          <a:blip r:embed="rId2"/>
          <a:stretch>
            <a:fillRect/>
          </a:stretch>
        </p:blipFill>
        <p:spPr>
          <a:xfrm>
            <a:off x="963625" y="2940695"/>
            <a:ext cx="4130398" cy="1691787"/>
          </a:xfrm>
          <a:prstGeom prst="rect">
            <a:avLst/>
          </a:prstGeom>
        </p:spPr>
      </p:pic>
      <p:sp>
        <p:nvSpPr>
          <p:cNvPr id="12" name="TextBox 11">
            <a:extLst>
              <a:ext uri="{FF2B5EF4-FFF2-40B4-BE49-F238E27FC236}">
                <a16:creationId xmlns:a16="http://schemas.microsoft.com/office/drawing/2014/main" id="{E02574AC-92C5-47AE-B47F-7F9FEA48ACFC}"/>
              </a:ext>
            </a:extLst>
          </p:cNvPr>
          <p:cNvSpPr txBox="1"/>
          <p:nvPr/>
        </p:nvSpPr>
        <p:spPr>
          <a:xfrm>
            <a:off x="838200" y="4866826"/>
            <a:ext cx="10698804" cy="707886"/>
          </a:xfrm>
          <a:prstGeom prst="rect">
            <a:avLst/>
          </a:prstGeom>
          <a:noFill/>
        </p:spPr>
        <p:txBody>
          <a:bodyPr wrap="square" rtlCol="0">
            <a:spAutoFit/>
          </a:bodyPr>
          <a:lstStyle/>
          <a:p>
            <a:r>
              <a:rPr lang="en-US" sz="2000"/>
              <a:t>Espresso is a library that comes ready to use with an Android project when created with Android Studio, and lets you interact with UI components through code.</a:t>
            </a:r>
            <a:endParaRPr lang="en-SG" sz="2000" dirty="0"/>
          </a:p>
        </p:txBody>
      </p:sp>
    </p:spTree>
    <p:extLst>
      <p:ext uri="{BB962C8B-B14F-4D97-AF65-F5344CB8AC3E}">
        <p14:creationId xmlns:p14="http://schemas.microsoft.com/office/powerpoint/2010/main" val="41461036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 (with Espresso)</a:t>
            </a:r>
          </a:p>
        </p:txBody>
      </p:sp>
      <p:sp>
        <p:nvSpPr>
          <p:cNvPr id="8" name="TextBox 7">
            <a:extLst>
              <a:ext uri="{FF2B5EF4-FFF2-40B4-BE49-F238E27FC236}">
                <a16:creationId xmlns:a16="http://schemas.microsoft.com/office/drawing/2014/main" id="{9D537906-6EFD-4611-838C-EF316179784E}"/>
              </a:ext>
            </a:extLst>
          </p:cNvPr>
          <p:cNvSpPr txBox="1"/>
          <p:nvPr/>
        </p:nvSpPr>
        <p:spPr>
          <a:xfrm>
            <a:off x="935476" y="3091471"/>
            <a:ext cx="10183238" cy="3647152"/>
          </a:xfrm>
          <a:prstGeom prst="rect">
            <a:avLst/>
          </a:prstGeom>
          <a:noFill/>
        </p:spPr>
        <p:txBody>
          <a:bodyPr wrap="square">
            <a:spAutoFit/>
          </a:bodyPr>
          <a:lstStyle/>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calculate_20_percent_tip() {</a:t>
            </a:r>
          </a:p>
          <a:p>
            <a:r>
              <a:rPr lang="en-SG" sz="1050" dirty="0">
                <a:latin typeface="Lucida Console" panose="020B0609040504020204" pitchFamily="49" charset="0"/>
              </a:rPr>
              <a:t>        /* 1. Test </a:t>
            </a:r>
            <a:r>
              <a:rPr lang="en-SG" sz="1050" dirty="0" err="1">
                <a:latin typeface="Lucida Console" panose="020B0609040504020204" pitchFamily="49" charset="0"/>
              </a:rPr>
              <a:t>EditText</a:t>
            </a:r>
            <a:r>
              <a:rPr lang="en-SG" sz="1050" dirty="0">
                <a:latin typeface="Lucida Console" panose="020B0609040504020204" pitchFamily="49" charset="0"/>
              </a:rPr>
              <a:t> element with input */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R.id.new_cost_of_service</a:t>
            </a:r>
            <a:r>
              <a:rPr lang="en-SG" sz="1050" dirty="0">
                <a:latin typeface="Lucida Console" panose="020B0609040504020204" pitchFamily="49" charset="0"/>
              </a:rPr>
              <a:t>)).perform(</a:t>
            </a:r>
            <a:r>
              <a:rPr lang="en-SG" sz="1050" dirty="0" err="1">
                <a:latin typeface="Lucida Console" panose="020B0609040504020204" pitchFamily="49" charset="0"/>
              </a:rPr>
              <a:t>typeText</a:t>
            </a:r>
            <a:r>
              <a:rPr lang="en-SG" sz="1050" dirty="0">
                <a:latin typeface="Lucida Console" panose="020B0609040504020204" pitchFamily="49" charset="0"/>
              </a:rPr>
              <a:t>("50.00")).perform(</a:t>
            </a:r>
            <a:r>
              <a:rPr lang="en-SG" sz="1050" dirty="0" err="1">
                <a:latin typeface="Lucida Console" panose="020B0609040504020204" pitchFamily="49" charset="0"/>
              </a:rPr>
              <a:t>ViewActions.closeSoftKeyboard</a:t>
            </a:r>
            <a:r>
              <a:rPr lang="en-SG" sz="1050" dirty="0">
                <a:latin typeface="Lucida Console" panose="020B0609040504020204" pitchFamily="49" charset="0"/>
              </a:rPr>
              <a:t>())</a:t>
            </a:r>
          </a:p>
          <a:p>
            <a:r>
              <a:rPr lang="en-SG" sz="1050" dirty="0">
                <a:latin typeface="Lucida Console" panose="020B0609040504020204" pitchFamily="49" charset="0"/>
              </a:rPr>
              <a:t>        /* 2. Test click Button element to calculate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R.id.calculate_button</a:t>
            </a:r>
            <a:r>
              <a:rPr lang="en-SG" sz="1050" dirty="0">
                <a:latin typeface="Lucida Console" panose="020B0609040504020204" pitchFamily="49" charset="0"/>
              </a:rPr>
              <a:t>)).perform(click())</a:t>
            </a:r>
          </a:p>
          <a:p>
            <a:r>
              <a:rPr lang="en-SG" sz="1050" dirty="0">
                <a:latin typeface="Lucida Console" panose="020B0609040504020204" pitchFamily="49" charset="0"/>
              </a:rPr>
              <a:t>        /* 3. Test check if tip amount matches $10 - because 20% of $50 is $10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R.id.tip_result</a:t>
            </a:r>
            <a:r>
              <a:rPr lang="en-SG" sz="1050" dirty="0">
                <a:latin typeface="Lucida Console" panose="020B0609040504020204" pitchFamily="49" charset="0"/>
              </a:rPr>
              <a:t>)).check(matches(</a:t>
            </a:r>
            <a:r>
              <a:rPr lang="en-SG" sz="1050" dirty="0" err="1">
                <a:latin typeface="Lucida Console" panose="020B0609040504020204" pitchFamily="49" charset="0"/>
              </a:rPr>
              <a:t>withText</a:t>
            </a:r>
            <a:r>
              <a:rPr lang="en-SG" sz="1050" dirty="0">
                <a:latin typeface="Lucida Console" panose="020B0609040504020204" pitchFamily="49" charset="0"/>
              </a:rPr>
              <a:t>(</a:t>
            </a:r>
            <a:r>
              <a:rPr lang="en-SG" sz="1050" dirty="0" err="1">
                <a:latin typeface="Lucida Console" panose="020B0609040504020204" pitchFamily="49" charset="0"/>
              </a:rPr>
              <a:t>containsString</a:t>
            </a:r>
            <a:r>
              <a:rPr lang="en-SG" sz="1050" dirty="0">
                <a:latin typeface="Lucida Console" panose="020B0609040504020204" pitchFamily="49" charset="0"/>
              </a:rPr>
              <a:t>("$10.00"))))</a:t>
            </a:r>
          </a:p>
          <a:p>
            <a:r>
              <a:rPr lang="en-SG" sz="1400" dirty="0">
                <a:latin typeface="Lucida Console" panose="020B0609040504020204" pitchFamily="49" charset="0"/>
              </a:rPr>
              <a:t>}</a:t>
            </a:r>
          </a:p>
          <a:p>
            <a:endParaRPr lang="en-SG" sz="1400" dirty="0">
              <a:latin typeface="Lucida Console" panose="020B0609040504020204" pitchFamily="49" charset="0"/>
            </a:endParaRPr>
          </a:p>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calculate_15_percent_tip_roundup() {</a:t>
            </a:r>
          </a:p>
          <a:p>
            <a:r>
              <a:rPr lang="en-SG" sz="1400" dirty="0">
                <a:latin typeface="Lucida Console" panose="020B0609040504020204" pitchFamily="49" charset="0"/>
              </a:rPr>
              <a:t>       </a:t>
            </a:r>
            <a:r>
              <a:rPr lang="en-SG" sz="1200" dirty="0" err="1">
                <a:highlight>
                  <a:srgbClr val="FFF169"/>
                </a:highlight>
                <a:latin typeface="Lucida Console" panose="020B0609040504020204" pitchFamily="49" charset="0"/>
              </a:rPr>
              <a:t>onView</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R.id.new_cost_of_service</a:t>
            </a:r>
            <a:r>
              <a:rPr lang="en-SG" sz="1200" dirty="0">
                <a:latin typeface="Lucida Console" panose="020B0609040504020204" pitchFamily="49" charset="0"/>
              </a:rPr>
              <a:t>)).perform(</a:t>
            </a:r>
            <a:r>
              <a:rPr lang="en-SG" sz="1200" dirty="0" err="1">
                <a:highlight>
                  <a:srgbClr val="00FFFF"/>
                </a:highlight>
                <a:latin typeface="Lucida Console" panose="020B0609040504020204" pitchFamily="49" charset="0"/>
              </a:rPr>
              <a:t>typeText</a:t>
            </a:r>
            <a:r>
              <a:rPr lang="en-SG" sz="1200" dirty="0">
                <a:latin typeface="Lucida Console" panose="020B0609040504020204" pitchFamily="49" charset="0"/>
              </a:rPr>
              <a:t>("15"))</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R.id.option_fifteen_percent</a:t>
            </a:r>
            <a:r>
              <a:rPr lang="en-SG" sz="1200" dirty="0">
                <a:latin typeface="Lucida Console" panose="020B0609040504020204" pitchFamily="49" charset="0"/>
              </a:rPr>
              <a:t>)).perform(</a:t>
            </a:r>
            <a:r>
              <a:rPr lang="en-SG" sz="1200" dirty="0">
                <a:highlight>
                  <a:srgbClr val="00FF00"/>
                </a:highlight>
                <a:latin typeface="Lucida Console" panose="020B0609040504020204" pitchFamily="49" charset="0"/>
              </a:rPr>
              <a:t>click</a:t>
            </a:r>
            <a:r>
              <a:rPr lang="en-SG" sz="1200" dirty="0">
                <a:latin typeface="Lucida Console" panose="020B0609040504020204" pitchFamily="49" charset="0"/>
              </a:rPr>
              <a:t>())</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R.id.round_up_switch</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R.id.calculate_button</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R.id.tip_result</a:t>
            </a:r>
            <a:r>
              <a:rPr lang="en-SG" sz="1200" dirty="0">
                <a:latin typeface="Lucida Console" panose="020B0609040504020204" pitchFamily="49" charset="0"/>
              </a:rPr>
              <a:t>)).check(</a:t>
            </a:r>
            <a:r>
              <a:rPr lang="en-SG" sz="1200" dirty="0">
                <a:highlight>
                  <a:srgbClr val="C0C0C0"/>
                </a:highlight>
                <a:latin typeface="Lucida Console" panose="020B0609040504020204" pitchFamily="49" charset="0"/>
              </a:rPr>
              <a:t>matches</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withText</a:t>
            </a:r>
            <a:r>
              <a:rPr lang="en-SG" sz="1200" dirty="0">
                <a:latin typeface="Lucida Console" panose="020B0609040504020204" pitchFamily="49" charset="0"/>
              </a:rPr>
              <a:t>(</a:t>
            </a:r>
            <a:r>
              <a:rPr lang="en-SG" sz="1200" dirty="0" err="1">
                <a:highlight>
                  <a:srgbClr val="C0C0C0"/>
                </a:highlight>
                <a:latin typeface="Lucida Console" panose="020B0609040504020204" pitchFamily="49" charset="0"/>
              </a:rPr>
              <a:t>containsString</a:t>
            </a:r>
            <a:r>
              <a:rPr lang="en-SG" sz="1200" dirty="0">
                <a:latin typeface="Lucida Console" panose="020B0609040504020204" pitchFamily="49" charset="0"/>
              </a:rPr>
              <a:t>("$2"))))</a:t>
            </a:r>
            <a:endParaRPr lang="en-SG" sz="1400" dirty="0">
              <a:latin typeface="Lucida Console" panose="020B0609040504020204" pitchFamily="49" charset="0"/>
            </a:endParaRPr>
          </a:p>
          <a:p>
            <a:r>
              <a:rPr lang="en-SG" sz="1400" dirty="0">
                <a:latin typeface="Lucida Console" panose="020B0609040504020204" pitchFamily="49" charset="0"/>
              </a:rPr>
              <a:t>}</a:t>
            </a:r>
          </a:p>
        </p:txBody>
      </p:sp>
      <p:sp>
        <p:nvSpPr>
          <p:cNvPr id="13" name="TextBox 12">
            <a:extLst>
              <a:ext uri="{FF2B5EF4-FFF2-40B4-BE49-F238E27FC236}">
                <a16:creationId xmlns:a16="http://schemas.microsoft.com/office/drawing/2014/main" id="{91DB8B0B-8058-43F6-9811-B7DBBCD3A0E2}"/>
              </a:ext>
            </a:extLst>
          </p:cNvPr>
          <p:cNvSpPr txBox="1"/>
          <p:nvPr/>
        </p:nvSpPr>
        <p:spPr>
          <a:xfrm>
            <a:off x="935476" y="1567260"/>
            <a:ext cx="8071525" cy="1323439"/>
          </a:xfrm>
          <a:prstGeom prst="rect">
            <a:avLst/>
          </a:prstGeom>
          <a:noFill/>
        </p:spPr>
        <p:txBody>
          <a:bodyPr wrap="square">
            <a:spAutoFit/>
          </a:bodyPr>
          <a:lstStyle/>
          <a:p>
            <a:r>
              <a:rPr lang="en-SG" sz="1000" dirty="0">
                <a:latin typeface="Lucida Console" panose="020B0609040504020204" pitchFamily="49" charset="0"/>
              </a:rPr>
              <a:t>import </a:t>
            </a:r>
            <a:r>
              <a:rPr lang="en-SG" sz="1000" dirty="0" err="1">
                <a:latin typeface="Lucida Console" panose="020B0609040504020204" pitchFamily="49" charset="0"/>
              </a:rPr>
              <a:t>androidx.test.espresso.Espresso.</a:t>
            </a:r>
            <a:r>
              <a:rPr lang="en-SG" sz="1000" dirty="0" err="1">
                <a:highlight>
                  <a:srgbClr val="FFFF00"/>
                </a:highlight>
                <a:latin typeface="Lucida Console" panose="020B0609040504020204" pitchFamily="49" charset="0"/>
              </a:rPr>
              <a:t>onView</a:t>
            </a:r>
            <a:endParaRPr lang="en-SG" sz="1000" dirty="0">
              <a:highlight>
                <a:srgbClr val="FF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endParaRPr lang="en-SG" sz="1000" dirty="0">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00"/>
                </a:highlight>
                <a:latin typeface="Lucida Console" panose="020B0609040504020204" pitchFamily="49" charset="0"/>
              </a:rPr>
              <a:t>click</a:t>
            </a:r>
            <a:endParaRPr lang="en-SG" sz="1000" dirty="0">
              <a:highlight>
                <a:srgbClr val="00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FF"/>
                </a:highlight>
                <a:latin typeface="Lucida Console" panose="020B0609040504020204" pitchFamily="49" charset="0"/>
              </a:rPr>
              <a:t>typeText</a:t>
            </a:r>
            <a:endParaRPr lang="en-SG" sz="1000" dirty="0">
              <a:highlight>
                <a:srgbClr val="00FFFF"/>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androidx.test.espresso.assertion.ViewAssertions.</a:t>
            </a:r>
            <a:r>
              <a:rPr lang="en-SG" sz="1000" dirty="0" err="1">
                <a:highlight>
                  <a:srgbClr val="C0C0C0"/>
                </a:highlight>
                <a:latin typeface="Lucida Console" panose="020B0609040504020204" pitchFamily="49" charset="0"/>
              </a:rPr>
              <a:t>matches</a:t>
            </a:r>
            <a:endParaRPr lang="en-SG" sz="1000" dirty="0">
              <a:highlight>
                <a:srgbClr val="C0C0C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withId</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withText</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org.hamcrest.Matchers.</a:t>
            </a:r>
            <a:r>
              <a:rPr lang="en-SG" sz="1000" dirty="0" err="1">
                <a:highlight>
                  <a:srgbClr val="C0C0C0"/>
                </a:highlight>
                <a:latin typeface="Lucida Console" panose="020B0609040504020204" pitchFamily="49" charset="0"/>
              </a:rPr>
              <a:t>containsString</a:t>
            </a:r>
            <a:endParaRPr lang="en-SG" sz="1000" dirty="0">
              <a:highlight>
                <a:srgbClr val="C0C0C0"/>
              </a:highlight>
              <a:latin typeface="Lucida Console" panose="020B0609040504020204" pitchFamily="49" charset="0"/>
            </a:endParaRPr>
          </a:p>
        </p:txBody>
      </p:sp>
    </p:spTree>
    <p:extLst>
      <p:ext uri="{BB962C8B-B14F-4D97-AF65-F5344CB8AC3E}">
        <p14:creationId xmlns:p14="http://schemas.microsoft.com/office/powerpoint/2010/main" val="9177748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3504552903"/>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2454</TotalTime>
  <Words>5469</Words>
  <Application>Microsoft Office PowerPoint</Application>
  <PresentationFormat>Widescreen</PresentationFormat>
  <Paragraphs>500</Paragraphs>
  <Slides>57</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57</vt:i4>
      </vt:variant>
    </vt:vector>
  </HeadingPairs>
  <TitlesOfParts>
    <vt:vector size="64" baseType="lpstr">
      <vt:lpstr>Arial</vt:lpstr>
      <vt:lpstr>Calibri</vt:lpstr>
      <vt:lpstr>Calibri Light</vt:lpstr>
      <vt:lpstr>Consolas</vt:lpstr>
      <vt:lpstr>Lucida Console</vt:lpstr>
      <vt:lpstr>Segoe UI</vt:lpstr>
      <vt:lpstr>Office Theme</vt:lpstr>
      <vt:lpstr>Android Basics in Kotlin</vt:lpstr>
      <vt:lpstr>Vocabulary</vt:lpstr>
      <vt:lpstr>Vocabulary</vt:lpstr>
      <vt:lpstr>Program entry point</vt:lpstr>
      <vt:lpstr>Unit?</vt:lpstr>
      <vt:lpstr>if-else… or when?</vt:lpstr>
      <vt:lpstr>Class Hierarchy / Inheritance</vt:lpstr>
      <vt:lpstr>Class Hierarchy / Inheritance</vt:lpstr>
      <vt:lpstr>Class Hierarchy / Inheritance</vt:lpstr>
      <vt:lpstr>Class Hierarchy / Inheritance</vt:lpstr>
      <vt:lpstr>Abstract? Wtf is that??</vt:lpstr>
      <vt:lpstr>Abstract vs. Open???</vt:lpstr>
      <vt:lpstr>Generics???</vt:lpstr>
      <vt:lpstr>Dynamic String Resources</vt:lpstr>
      <vt:lpstr>With</vt:lpstr>
      <vt:lpstr>Vararg</vt:lpstr>
      <vt:lpstr>Lists</vt:lpstr>
      <vt:lpstr>Lambda Expressions (or lambdas in short)</vt:lpstr>
      <vt:lpstr>Lambda Expressions (or lambdas in short)</vt:lpstr>
      <vt:lpstr>Higher-order Functions</vt:lpstr>
      <vt:lpstr>Coding nuances that nobody really cares</vt:lpstr>
      <vt:lpstr>Gradle</vt:lpstr>
      <vt:lpstr>Auto Imports</vt:lpstr>
      <vt:lpstr>Lemonade App Flow</vt:lpstr>
      <vt:lpstr>Adapter</vt:lpstr>
      <vt:lpstr>PowerPoint Presentation</vt:lpstr>
      <vt:lpstr>Model vs. Datasource</vt:lpstr>
      <vt:lpstr>Data class (i.e. Model)</vt:lpstr>
      <vt:lpstr>MVVM</vt:lpstr>
      <vt:lpstr>MVVM</vt:lpstr>
      <vt:lpstr>XML</vt:lpstr>
      <vt:lpstr>XML</vt:lpstr>
      <vt:lpstr>XML</vt:lpstr>
      <vt:lpstr>Types of Layout (most commonly used)</vt:lpstr>
      <vt:lpstr>Display Flow #1</vt:lpstr>
      <vt:lpstr>Display Flow #1</vt:lpstr>
      <vt:lpstr>Display Flow #2: View Binding</vt:lpstr>
      <vt:lpstr>Display Flow #2: View Binding</vt:lpstr>
      <vt:lpstr>Display Flow #2: View Binding</vt:lpstr>
      <vt:lpstr>Testing Pyramid</vt:lpstr>
      <vt:lpstr>Automated Testing</vt:lpstr>
      <vt:lpstr>Automated Testing</vt:lpstr>
      <vt:lpstr>Automated Testing</vt:lpstr>
      <vt:lpstr>Unit Tests</vt:lpstr>
      <vt:lpstr>Instrumentation Tests</vt:lpstr>
      <vt:lpstr>Instrumentation Tests</vt:lpstr>
      <vt:lpstr>Instrumentation Tests (with Espresso)</vt:lpstr>
      <vt:lpstr>Unit Tests</vt:lpstr>
      <vt:lpstr>Unit Tests</vt:lpstr>
      <vt:lpstr>Debugging</vt:lpstr>
      <vt:lpstr>Log Levels</vt:lpstr>
      <vt:lpstr>What is it??? Too abstract???</vt:lpstr>
      <vt:lpstr>PowerPoint Presentation</vt:lpstr>
      <vt:lpstr>PowerPoint Presentation</vt:lpstr>
      <vt:lpstr>PowerPoint Presentation</vt:lpstr>
      <vt:lpstr>Different CI/CD Approaches???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409</cp:revision>
  <dcterms:created xsi:type="dcterms:W3CDTF">2022-05-30T08:41:58Z</dcterms:created>
  <dcterms:modified xsi:type="dcterms:W3CDTF">2022-06-25T06:28:20Z</dcterms:modified>
</cp:coreProperties>
</file>