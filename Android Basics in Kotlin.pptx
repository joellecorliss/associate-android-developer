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306" r:id="rId17"/>
    <p:sldId id="305" r:id="rId18"/>
    <p:sldId id="310" r:id="rId19"/>
    <p:sldId id="312" r:id="rId20"/>
    <p:sldId id="311" r:id="rId21"/>
    <p:sldId id="313" r:id="rId22"/>
    <p:sldId id="316" r:id="rId23"/>
    <p:sldId id="315" r:id="rId24"/>
    <p:sldId id="317" r:id="rId25"/>
    <p:sldId id="319" r:id="rId26"/>
    <p:sldId id="318" r:id="rId27"/>
    <p:sldId id="321" r:id="rId28"/>
    <p:sldId id="322" r:id="rId29"/>
    <p:sldId id="325" r:id="rId30"/>
    <p:sldId id="259" r:id="rId31"/>
    <p:sldId id="279" r:id="rId32"/>
    <p:sldId id="278" r:id="rId33"/>
    <p:sldId id="292" r:id="rId34"/>
    <p:sldId id="304" r:id="rId35"/>
    <p:sldId id="258" r:id="rId36"/>
    <p:sldId id="257" r:id="rId37"/>
    <p:sldId id="260" r:id="rId38"/>
    <p:sldId id="307" r:id="rId39"/>
    <p:sldId id="314" r:id="rId40"/>
    <p:sldId id="287" r:id="rId41"/>
    <p:sldId id="296" r:id="rId42"/>
    <p:sldId id="297" r:id="rId43"/>
    <p:sldId id="298" r:id="rId44"/>
    <p:sldId id="308" r:id="rId45"/>
    <p:sldId id="277" r:id="rId46"/>
    <p:sldId id="280" r:id="rId47"/>
    <p:sldId id="299" r:id="rId48"/>
    <p:sldId id="300" r:id="rId49"/>
    <p:sldId id="301" r:id="rId50"/>
    <p:sldId id="327" r:id="rId51"/>
    <p:sldId id="326" r:id="rId52"/>
    <p:sldId id="320" r:id="rId53"/>
    <p:sldId id="328" r:id="rId54"/>
    <p:sldId id="329" r:id="rId55"/>
    <p:sldId id="332" r:id="rId56"/>
    <p:sldId id="331" r:id="rId57"/>
    <p:sldId id="333" r:id="rId58"/>
    <p:sldId id="334" r:id="rId59"/>
    <p:sldId id="284" r:id="rId60"/>
    <p:sldId id="264" r:id="rId61"/>
    <p:sldId id="271" r:id="rId62"/>
    <p:sldId id="309" r:id="rId63"/>
    <p:sldId id="265" r:id="rId64"/>
    <p:sldId id="289" r:id="rId65"/>
    <p:sldId id="302" r:id="rId66"/>
    <p:sldId id="303" r:id="rId67"/>
    <p:sldId id="283" r:id="rId68"/>
    <p:sldId id="282" r:id="rId69"/>
    <p:sldId id="285" r:id="rId70"/>
    <p:sldId id="286" r:id="rId71"/>
    <p:sldId id="267" r:id="rId72"/>
    <p:sldId id="268" r:id="rId73"/>
    <p:sldId id="269" r:id="rId74"/>
    <p:sldId id="270" r:id="rId75"/>
    <p:sldId id="266" r:id="rId76"/>
    <p:sldId id="261" r:id="rId77"/>
    <p:sldId id="324" r:id="rId78"/>
    <p:sldId id="323" r:id="rId79"/>
    <p:sldId id="335" r:id="rId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 id="306"/>
            <p14:sldId id="305"/>
            <p14:sldId id="310"/>
            <p14:sldId id="312"/>
            <p14:sldId id="311"/>
            <p14:sldId id="313"/>
            <p14:sldId id="316"/>
            <p14:sldId id="315"/>
            <p14:sldId id="317"/>
            <p14:sldId id="319"/>
            <p14:sldId id="318"/>
            <p14:sldId id="321"/>
            <p14:sldId id="322"/>
            <p14:sldId id="325"/>
            <p14:sldId id="259"/>
          </p14:sldIdLst>
        </p14:section>
        <p14:section name="Gradle" id="{8862B42C-AB28-4740-92D7-08BBDECDF7E4}">
          <p14:sldIdLst>
            <p14:sldId id="279"/>
          </p14:sldIdLst>
        </p14:section>
        <p14:section name="Android Studio" id="{A5880AA5-B5CC-4094-8340-7A2E235FF0C1}">
          <p14:sldIdLst>
            <p14:sldId id="278"/>
          </p14:sldIdLst>
        </p14:section>
        <p14:section name="Adapter &gt; ViewHolder &gt; RecyclerView" id="{ED2873D2-7274-4F37-9EA1-29B6BCF376E0}">
          <p14:sldIdLst>
            <p14:sldId id="292"/>
            <p14:sldId id="304"/>
            <p14:sldId id="258"/>
            <p14:sldId id="257"/>
            <p14:sldId id="260"/>
            <p14:sldId id="307"/>
            <p14:sldId id="314"/>
            <p14:sldId id="287"/>
          </p14:sldIdLst>
        </p14:section>
        <p14:section name="Resources &gt; Layout &gt; Activity" id="{075AA403-EAF5-4876-A8D8-FA1693109801}">
          <p14:sldIdLst>
            <p14:sldId id="296"/>
            <p14:sldId id="297"/>
            <p14:sldId id="298"/>
            <p14:sldId id="308"/>
            <p14:sldId id="277"/>
            <p14:sldId id="280"/>
            <p14:sldId id="299"/>
            <p14:sldId id="300"/>
            <p14:sldId id="301"/>
            <p14:sldId id="327"/>
            <p14:sldId id="326"/>
          </p14:sldIdLst>
        </p14:section>
        <p14:section name="Android Jetpack Navigation" id="{EE46AAA1-2FC4-4D22-8A9A-83AF7C2CF131}">
          <p14:sldIdLst>
            <p14:sldId id="320"/>
            <p14:sldId id="328"/>
            <p14:sldId id="329"/>
            <p14:sldId id="332"/>
            <p14:sldId id="331"/>
            <p14:sldId id="333"/>
            <p14:sldId id="334"/>
          </p14:sldIdLst>
        </p14:section>
        <p14:section name="All About Testing and Debugging" id="{1760EBF3-D43D-40CE-8F81-D3B0E7B48B84}">
          <p14:sldIdLst>
            <p14:sldId id="284"/>
            <p14:sldId id="264"/>
            <p14:sldId id="271"/>
            <p14:sldId id="309"/>
            <p14:sldId id="265"/>
            <p14:sldId id="289"/>
            <p14:sldId id="302"/>
            <p14:sldId id="303"/>
            <p14:sldId id="283"/>
            <p14:sldId id="282"/>
            <p14:sldId id="285"/>
            <p14:sldId id="286"/>
          </p14:sldIdLst>
        </p14:section>
        <p14:section name="CI/CD" id="{E6169A93-43D0-47AB-A84E-FB0E09D06245}">
          <p14:sldIdLst>
            <p14:sldId id="267"/>
            <p14:sldId id="268"/>
            <p14:sldId id="269"/>
            <p14:sldId id="270"/>
            <p14:sldId id="266"/>
            <p14:sldId id="261"/>
          </p14:sldIdLst>
        </p14:section>
        <p14:section name="AWS Amplify" id="{78F0C245-C55E-498F-84B8-07C651113EC2}">
          <p14:sldIdLst>
            <p14:sldId id="324"/>
            <p14:sldId id="323"/>
            <p14:sldId id="335"/>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orliss Chua" initials="CC" lastIdx="1" clrIdx="0">
    <p:extLst>
      <p:ext uri="{19B8F6BF-5375-455C-9EA6-DF929625EA0E}">
        <p15:presenceInfo xmlns:p15="http://schemas.microsoft.com/office/powerpoint/2012/main" userId="3166d17b198545c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2415" autoAdjust="0"/>
  </p:normalViewPr>
  <p:slideViewPr>
    <p:cSldViewPr snapToGrid="0">
      <p:cViewPr varScale="1">
        <p:scale>
          <a:sx n="50" d="100"/>
          <a:sy n="50" d="100"/>
        </p:scale>
        <p:origin x="48"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23/8/2022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35</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74</a:t>
            </a:fld>
            <a:endParaRPr lang="en-SG"/>
          </a:p>
        </p:txBody>
      </p:sp>
    </p:spTree>
    <p:extLst>
      <p:ext uri="{BB962C8B-B14F-4D97-AF65-F5344CB8AC3E}">
        <p14:creationId xmlns:p14="http://schemas.microsoft.com/office/powerpoint/2010/main" val="2074408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https://aws.amazon.com/getting-started/hands-on/build-android-app-amplify/</a:t>
            </a:r>
          </a:p>
        </p:txBody>
      </p:sp>
      <p:sp>
        <p:nvSpPr>
          <p:cNvPr id="4" name="Slide Number Placeholder 3"/>
          <p:cNvSpPr>
            <a:spLocks noGrp="1"/>
          </p:cNvSpPr>
          <p:nvPr>
            <p:ph type="sldNum" sz="quarter" idx="5"/>
          </p:nvPr>
        </p:nvSpPr>
        <p:spPr/>
        <p:txBody>
          <a:bodyPr/>
          <a:lstStyle/>
          <a:p>
            <a:fld id="{0D292F0F-6BB4-4714-BDBB-674EE16F5C0C}" type="slidenum">
              <a:rPr lang="en-SG" smtClean="0"/>
              <a:t>78</a:t>
            </a:fld>
            <a:endParaRPr lang="en-SG"/>
          </a:p>
        </p:txBody>
      </p:sp>
    </p:spTree>
    <p:extLst>
      <p:ext uri="{BB962C8B-B14F-4D97-AF65-F5344CB8AC3E}">
        <p14:creationId xmlns:p14="http://schemas.microsoft.com/office/powerpoint/2010/main" val="42603811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23/8/2022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23/8/2022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23/8/2022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23/8/2022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23/8/2022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23/8/2022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23/8/2022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23/8/2022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23/8/2022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23/8/2022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23/8/2022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23/8/2022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1600" dirty="0"/>
              <a:t>Normally non-null properties must be initialized in the constructor, but sometimes that isn't practical. In those cases, a property can be marked with </a:t>
            </a:r>
            <a:r>
              <a:rPr lang="en-US" sz="1600" dirty="0" err="1">
                <a:highlight>
                  <a:srgbClr val="FFFF00"/>
                </a:highlight>
                <a:latin typeface="Consolas" panose="020B0609020204030204" pitchFamily="49" charset="0"/>
              </a:rPr>
              <a:t>lateinit</a:t>
            </a:r>
            <a:r>
              <a:rPr lang="en-US" sz="1600" dirty="0"/>
              <a:t>, which is a promise that the variable will be initialized before it is used. Note that an exception will be thrown if that property is accessed before being initialized.</a:t>
            </a:r>
          </a:p>
          <a:p>
            <a:r>
              <a:rPr lang="en-US" sz="16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1600" dirty="0">
                <a:highlight>
                  <a:srgbClr val="FFFF00"/>
                </a:highlight>
                <a:latin typeface="Consolas" panose="020B0609020204030204" pitchFamily="49" charset="0"/>
              </a:rPr>
              <a:t>null</a:t>
            </a:r>
            <a:r>
              <a:rPr lang="en-US" sz="1600" dirty="0"/>
              <a:t> value. </a:t>
            </a:r>
            <a:r>
              <a:rPr lang="en-US" sz="1600" dirty="0">
                <a:latin typeface="Consolas" panose="020B0609020204030204" pitchFamily="49" charset="0"/>
              </a:rPr>
              <a:t>null</a:t>
            </a:r>
            <a:r>
              <a:rPr lang="en-US" sz="1600" dirty="0"/>
              <a:t> means there is no value. If a method expects a value, passing null will cause an error.</a:t>
            </a:r>
          </a:p>
          <a:p>
            <a:r>
              <a:rPr lang="en-US" sz="1600" dirty="0"/>
              <a:t>Properties with </a:t>
            </a:r>
            <a:r>
              <a:rPr lang="en-US" sz="1600" dirty="0">
                <a:highlight>
                  <a:srgbClr val="FFFF00"/>
                </a:highlight>
              </a:rPr>
              <a:t>?</a:t>
            </a:r>
            <a:r>
              <a:rPr lang="en-US" sz="1600" dirty="0"/>
              <a:t> operator are nullable, meaning they may or may not have a value. Sometimes you may want a variable to be null. If your app tries to access a property or call a function on a null object, the app will crash. To safely access this value / to ensure null safety, you put a ? after the name. (i.e. </a:t>
            </a:r>
            <a:r>
              <a:rPr lang="en-US" sz="1600" dirty="0" err="1">
                <a:latin typeface="Lucida Console" panose="020B0609040504020204" pitchFamily="49" charset="0"/>
              </a:rPr>
              <a:t>intent</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.extras</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.getString</a:t>
            </a:r>
            <a:r>
              <a:rPr lang="en-US" sz="1600" dirty="0">
                <a:latin typeface="Lucida Console" panose="020B0609040504020204" pitchFamily="49" charset="0"/>
              </a:rPr>
              <a:t>(…)</a:t>
            </a:r>
            <a:r>
              <a:rPr lang="en-US" sz="1600" dirty="0"/>
              <a:t>)</a:t>
            </a:r>
          </a:p>
          <a:p>
            <a:r>
              <a:rPr lang="en-US" sz="1600" dirty="0"/>
              <a:t>Properties with ! operator </a:t>
            </a:r>
          </a:p>
          <a:p>
            <a:r>
              <a:rPr lang="en-US" sz="1600" dirty="0"/>
              <a:t>To organize Views, you put them in a container. A </a:t>
            </a:r>
            <a:r>
              <a:rPr lang="en-US" sz="1600" dirty="0" err="1">
                <a:highlight>
                  <a:srgbClr val="FFFF00"/>
                </a:highlight>
              </a:rPr>
              <a:t>ViewGroup</a:t>
            </a:r>
            <a:r>
              <a:rPr lang="en-US" sz="1600" dirty="0"/>
              <a:t> is a container that </a:t>
            </a:r>
            <a:r>
              <a:rPr lang="en-US" sz="1600" dirty="0">
                <a:highlight>
                  <a:srgbClr val="FFFF00"/>
                </a:highlight>
              </a:rPr>
              <a:t>View</a:t>
            </a:r>
            <a:r>
              <a:rPr lang="en-US" sz="1600" dirty="0"/>
              <a:t> objects can sit in, and is responsible for arranging the Views inside it. One kind of </a:t>
            </a:r>
            <a:r>
              <a:rPr lang="en-US" sz="1600" dirty="0" err="1"/>
              <a:t>ViewGroup</a:t>
            </a:r>
            <a:r>
              <a:rPr lang="en-US" sz="1600" dirty="0"/>
              <a:t> is a </a:t>
            </a:r>
            <a:r>
              <a:rPr lang="en-US" sz="1600" dirty="0">
                <a:highlight>
                  <a:srgbClr val="FFFF00"/>
                </a:highlight>
                <a:latin typeface="Consolas" panose="020B0609020204030204" pitchFamily="49" charset="0"/>
              </a:rPr>
              <a:t>ConstraintLayout</a:t>
            </a:r>
            <a:r>
              <a:rPr lang="en-US" sz="1600" dirty="0"/>
              <a:t>, which helps you arrange the Views inside it in a flexible way. </a:t>
            </a:r>
            <a:r>
              <a:rPr lang="en-US" sz="1600" dirty="0">
                <a:highlight>
                  <a:srgbClr val="FFFF00"/>
                </a:highlight>
              </a:rPr>
              <a:t>Views need to be constrained horizontally and vertically within a </a:t>
            </a:r>
            <a:r>
              <a:rPr lang="en-US" sz="1600" dirty="0">
                <a:highlight>
                  <a:srgbClr val="FFFF00"/>
                </a:highlight>
                <a:latin typeface="Consolas" panose="020B0609020204030204" pitchFamily="49" charset="0"/>
              </a:rPr>
              <a:t>ConstraintLayout</a:t>
            </a:r>
            <a:r>
              <a:rPr lang="en-US" sz="1600" dirty="0"/>
              <a:t>.</a:t>
            </a:r>
          </a:p>
          <a:p>
            <a:r>
              <a:rPr lang="en-US" sz="1600" dirty="0" err="1">
                <a:highlight>
                  <a:srgbClr val="FFFF00"/>
                </a:highlight>
              </a:rPr>
              <a:t>dp</a:t>
            </a:r>
            <a:r>
              <a:rPr lang="en-US" sz="1600" dirty="0"/>
              <a:t> is a unit of measure for distances on the screen, </a:t>
            </a:r>
            <a:r>
              <a:rPr lang="en-US" sz="1600" dirty="0" err="1">
                <a:highlight>
                  <a:srgbClr val="FFFF00"/>
                </a:highlight>
              </a:rPr>
              <a:t>sp</a:t>
            </a:r>
            <a:r>
              <a:rPr lang="en-US" sz="1600" dirty="0"/>
              <a:t> is a unit of measure for the font size.</a:t>
            </a:r>
          </a:p>
          <a:p>
            <a:r>
              <a:rPr lang="en-US" sz="1600" dirty="0"/>
              <a:t>In Android, a graphic that can be drawn to the screen is generally referred to as a </a:t>
            </a:r>
            <a:r>
              <a:rPr lang="en-US" sz="1600" dirty="0">
                <a:highlight>
                  <a:srgbClr val="FFFF00"/>
                </a:highlight>
              </a:rPr>
              <a:t>drawable</a:t>
            </a:r>
            <a:r>
              <a:rPr lang="en-US" sz="1600" dirty="0"/>
              <a:t>.</a:t>
            </a:r>
            <a:endParaRPr lang="en-SG" sz="16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B943-AE6F-4C22-B12D-915929D31655}"/>
              </a:ext>
            </a:extLst>
          </p:cNvPr>
          <p:cNvSpPr>
            <a:spLocks noGrp="1"/>
          </p:cNvSpPr>
          <p:nvPr>
            <p:ph type="title"/>
          </p:nvPr>
        </p:nvSpPr>
        <p:spPr/>
        <p:txBody>
          <a:bodyPr/>
          <a:lstStyle/>
          <a:p>
            <a:r>
              <a:rPr lang="en-SG" dirty="0"/>
              <a:t>Vararg</a:t>
            </a:r>
          </a:p>
        </p:txBody>
      </p:sp>
      <p:sp>
        <p:nvSpPr>
          <p:cNvPr id="3" name="Content Placeholder 2">
            <a:extLst>
              <a:ext uri="{FF2B5EF4-FFF2-40B4-BE49-F238E27FC236}">
                <a16:creationId xmlns:a16="http://schemas.microsoft.com/office/drawing/2014/main" id="{305AE893-0364-4585-A97E-8FE167382ADA}"/>
              </a:ext>
            </a:extLst>
          </p:cNvPr>
          <p:cNvSpPr>
            <a:spLocks noGrp="1"/>
          </p:cNvSpPr>
          <p:nvPr>
            <p:ph idx="1"/>
          </p:nvPr>
        </p:nvSpPr>
        <p:spPr/>
        <p:txBody>
          <a:bodyPr/>
          <a:lstStyle/>
          <a:p>
            <a:pPr marL="0" indent="0">
              <a:buNone/>
            </a:pPr>
            <a:r>
              <a:rPr lang="en-SG" sz="2400" u="sng" dirty="0"/>
              <a:t>Instead of </a:t>
            </a:r>
          </a:p>
          <a:p>
            <a:pPr marL="0" indent="0">
              <a:buNone/>
            </a:pPr>
            <a:r>
              <a:rPr lang="nn-NO" sz="1400" dirty="0">
                <a:latin typeface="Lucida Console" panose="020B0609040504020204" pitchFamily="49" charset="0"/>
              </a:rPr>
              <a:t>class Vegetables(val toppings: List&lt;String&gt;)</a:t>
            </a:r>
            <a:endParaRPr lang="en-SG" sz="1400" dirty="0">
              <a:latin typeface="Lucida Console" panose="020B0609040504020204" pitchFamily="49" charset="0"/>
            </a:endParaRPr>
          </a:p>
          <a:p>
            <a:pPr marL="0" indent="0">
              <a:buNone/>
            </a:pPr>
            <a:r>
              <a:rPr lang="nn-NO" sz="1400" dirty="0">
                <a:latin typeface="Lucida Console" panose="020B0609040504020204" pitchFamily="49" charset="0"/>
              </a:rPr>
              <a:t>val vegetables = </a:t>
            </a:r>
            <a:r>
              <a:rPr lang="en-SG" sz="1400" dirty="0">
                <a:latin typeface="Lucida Console" panose="020B0609040504020204" pitchFamily="49" charset="0"/>
              </a:rPr>
              <a:t>Vegetables(listOf("Cabbage", "Sprouts", "Onion"))</a:t>
            </a:r>
          </a:p>
          <a:p>
            <a:pPr marL="0" indent="0">
              <a:buNone/>
            </a:pPr>
            <a:endParaRPr lang="en-SG" dirty="0"/>
          </a:p>
          <a:p>
            <a:pPr marL="0" indent="0">
              <a:buNone/>
            </a:pPr>
            <a:r>
              <a:rPr lang="en-SG" sz="2400" u="sng" dirty="0"/>
              <a:t>You can use the </a:t>
            </a:r>
            <a:r>
              <a:rPr lang="en-SG" sz="2400" u="sng" dirty="0">
                <a:latin typeface="Lucida Console" panose="020B0609040504020204" pitchFamily="49" charset="0"/>
              </a:rPr>
              <a:t>vararg</a:t>
            </a:r>
            <a:r>
              <a:rPr lang="en-SG" sz="2400" u="sng" dirty="0"/>
              <a:t> modifier to pass variable number of arguments</a:t>
            </a:r>
            <a:r>
              <a:rPr lang="en-SG" u="sng" dirty="0"/>
              <a:t> </a:t>
            </a:r>
          </a:p>
          <a:p>
            <a:pPr marL="0" indent="0">
              <a:buNone/>
            </a:pPr>
            <a:r>
              <a:rPr lang="nn-NO" sz="1400" dirty="0">
                <a:latin typeface="Lucida Console" panose="020B0609040504020204" pitchFamily="49" charset="0"/>
              </a:rPr>
              <a:t>class Vegetables(</a:t>
            </a:r>
            <a:r>
              <a:rPr lang="nn-NO" sz="1400" dirty="0">
                <a:highlight>
                  <a:srgbClr val="FFFF00"/>
                </a:highlight>
                <a:latin typeface="Lucida Console" panose="020B0609040504020204" pitchFamily="49" charset="0"/>
              </a:rPr>
              <a:t>vararg</a:t>
            </a:r>
            <a:r>
              <a:rPr lang="nn-NO" sz="1400" dirty="0">
                <a:latin typeface="Lucida Console" panose="020B0609040504020204" pitchFamily="49" charset="0"/>
              </a:rPr>
              <a:t> val toppings: String)</a:t>
            </a:r>
          </a:p>
          <a:p>
            <a:pPr marL="0" indent="0">
              <a:buNone/>
            </a:pPr>
            <a:r>
              <a:rPr lang="nn-NO" sz="1400" dirty="0">
                <a:latin typeface="Lucida Console" panose="020B0609040504020204" pitchFamily="49" charset="0"/>
              </a:rPr>
              <a:t>val vegetables = Vegetables("Cabbage", "Sprouts", "Onion")</a:t>
            </a:r>
            <a:endParaRPr lang="en-SG" sz="1400" dirty="0">
              <a:latin typeface="Lucida Console" panose="020B0609040504020204" pitchFamily="49" charset="0"/>
            </a:endParaRPr>
          </a:p>
        </p:txBody>
      </p:sp>
    </p:spTree>
    <p:extLst>
      <p:ext uri="{BB962C8B-B14F-4D97-AF65-F5344CB8AC3E}">
        <p14:creationId xmlns:p14="http://schemas.microsoft.com/office/powerpoint/2010/main" val="1236694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785B9-7C9F-4431-8CD6-472679A60FCE}"/>
              </a:ext>
            </a:extLst>
          </p:cNvPr>
          <p:cNvSpPr>
            <a:spLocks noGrp="1"/>
          </p:cNvSpPr>
          <p:nvPr>
            <p:ph type="title"/>
          </p:nvPr>
        </p:nvSpPr>
        <p:spPr/>
        <p:txBody>
          <a:bodyPr/>
          <a:lstStyle/>
          <a:p>
            <a:r>
              <a:rPr lang="en-SG" dirty="0"/>
              <a:t>Lists</a:t>
            </a:r>
          </a:p>
        </p:txBody>
      </p:sp>
      <p:sp>
        <p:nvSpPr>
          <p:cNvPr id="3" name="Content Placeholder 2">
            <a:extLst>
              <a:ext uri="{FF2B5EF4-FFF2-40B4-BE49-F238E27FC236}">
                <a16:creationId xmlns:a16="http://schemas.microsoft.com/office/drawing/2014/main" id="{42FCFF4D-FA19-4F6E-81D8-1794A16E0D41}"/>
              </a:ext>
            </a:extLst>
          </p:cNvPr>
          <p:cNvSpPr>
            <a:spLocks noGrp="1"/>
          </p:cNvSpPr>
          <p:nvPr>
            <p:ph idx="1"/>
          </p:nvPr>
        </p:nvSpPr>
        <p:spPr>
          <a:xfrm>
            <a:off x="838200" y="1690688"/>
            <a:ext cx="10515600" cy="4351338"/>
          </a:xfrm>
        </p:spPr>
        <p:txBody>
          <a:bodyPr>
            <a:normAutofit/>
          </a:bodyPr>
          <a:lstStyle/>
          <a:p>
            <a:r>
              <a:rPr lang="en-SG" sz="2400" dirty="0">
                <a:latin typeface="Lucida Console" panose="020B0609040504020204" pitchFamily="49" charset="0"/>
              </a:rPr>
              <a:t>List = listOf&lt;…&gt;(…)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reversed()</a:t>
            </a:r>
          </a:p>
          <a:p>
            <a:pPr lvl="2"/>
            <a:r>
              <a:rPr lang="en-SG" sz="1400" dirty="0">
                <a:latin typeface="Lucida Console" panose="020B0609040504020204" pitchFamily="49" charset="0"/>
              </a:rPr>
              <a:t>sorted()</a:t>
            </a:r>
          </a:p>
          <a:p>
            <a:pPr lvl="2"/>
            <a:r>
              <a:rPr lang="en-SG" sz="1400" dirty="0">
                <a:latin typeface="Lucida Console" panose="020B0609040504020204" pitchFamily="49" charset="0"/>
              </a:rPr>
              <a:t>first()</a:t>
            </a:r>
          </a:p>
          <a:p>
            <a:pPr lvl="2"/>
            <a:r>
              <a:rPr lang="en-SG" sz="1400" dirty="0">
                <a:latin typeface="Lucida Console" panose="020B0609040504020204" pitchFamily="49" charset="0"/>
              </a:rPr>
              <a:t>last()</a:t>
            </a:r>
          </a:p>
          <a:p>
            <a:pPr lvl="2"/>
            <a:r>
              <a:rPr lang="en-SG" sz="1400" dirty="0">
                <a:latin typeface="Lucida Console" panose="020B0609040504020204" pitchFamily="49" charset="0"/>
              </a:rPr>
              <a:t>contains()</a:t>
            </a:r>
          </a:p>
          <a:p>
            <a:r>
              <a:rPr lang="en-SG" sz="2400" dirty="0">
                <a:latin typeface="Lucida Console" panose="020B0609040504020204" pitchFamily="49" charset="0"/>
              </a:rPr>
              <a:t>MutableList = </a:t>
            </a:r>
            <a:r>
              <a:rPr lang="en-SG" sz="2400" dirty="0" err="1">
                <a:latin typeface="Lucida Console" panose="020B0609040504020204" pitchFamily="49" charset="0"/>
              </a:rPr>
              <a:t>mutableListOf</a:t>
            </a:r>
            <a:r>
              <a:rPr lang="en-SG" sz="2400" dirty="0">
                <a:latin typeface="Lucida Console" panose="020B0609040504020204" pitchFamily="49" charset="0"/>
              </a:rPr>
              <a:t>&lt;…&gt;(…)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add()</a:t>
            </a:r>
          </a:p>
          <a:p>
            <a:pPr lvl="2"/>
            <a:r>
              <a:rPr lang="en-SG" sz="1400" dirty="0" err="1">
                <a:latin typeface="Lucida Console" panose="020B0609040504020204" pitchFamily="49" charset="0"/>
              </a:rPr>
              <a:t>addAll</a:t>
            </a:r>
            <a:r>
              <a:rPr lang="en-SG" sz="1400" dirty="0">
                <a:latin typeface="Lucida Console" panose="020B0609040504020204" pitchFamily="49" charset="0"/>
              </a:rPr>
              <a:t>()</a:t>
            </a:r>
          </a:p>
          <a:p>
            <a:pPr lvl="2"/>
            <a:r>
              <a:rPr lang="en-SG" sz="1400" dirty="0">
                <a:latin typeface="Lucida Console" panose="020B0609040504020204" pitchFamily="49" charset="0"/>
              </a:rPr>
              <a:t>remove()</a:t>
            </a:r>
          </a:p>
          <a:p>
            <a:pPr lvl="2"/>
            <a:r>
              <a:rPr lang="en-SG" sz="1400" dirty="0" err="1">
                <a:latin typeface="Lucida Console" panose="020B0609040504020204" pitchFamily="49" charset="0"/>
              </a:rPr>
              <a:t>removeAt</a:t>
            </a:r>
            <a:r>
              <a:rPr lang="en-SG" sz="1400" dirty="0">
                <a:latin typeface="Lucida Console" panose="020B0609040504020204" pitchFamily="49" charset="0"/>
              </a:rPr>
              <a:t>()</a:t>
            </a:r>
          </a:p>
          <a:p>
            <a:pPr lvl="2"/>
            <a:r>
              <a:rPr lang="en-SG" sz="1400" dirty="0">
                <a:latin typeface="Lucida Console" panose="020B0609040504020204" pitchFamily="49" charset="0"/>
              </a:rPr>
              <a:t>clear()</a:t>
            </a:r>
          </a:p>
          <a:p>
            <a:pPr lvl="2"/>
            <a:r>
              <a:rPr lang="en-SG" sz="1400" dirty="0" err="1">
                <a:latin typeface="Lucida Console" panose="020B0609040504020204" pitchFamily="49" charset="0"/>
              </a:rPr>
              <a:t>isEmpty</a:t>
            </a:r>
            <a:r>
              <a:rPr lang="en-SG" sz="1400" dirty="0">
                <a:latin typeface="Lucida Console" panose="020B0609040504020204" pitchFamily="49" charset="0"/>
              </a:rPr>
              <a:t>()</a:t>
            </a:r>
          </a:p>
          <a:p>
            <a:pPr lvl="2"/>
            <a:endParaRPr lang="en-SG" sz="1400" dirty="0">
              <a:latin typeface="Lucida Console" panose="020B0609040504020204" pitchFamily="49" charset="0"/>
            </a:endParaRPr>
          </a:p>
          <a:p>
            <a:endParaRPr lang="en-SG" sz="1800" dirty="0">
              <a:latin typeface="Lucida Console" panose="020B0609040504020204" pitchFamily="49" charset="0"/>
            </a:endParaRPr>
          </a:p>
        </p:txBody>
      </p:sp>
      <p:sp>
        <p:nvSpPr>
          <p:cNvPr id="4" name="Rectangle 1">
            <a:extLst>
              <a:ext uri="{FF2B5EF4-FFF2-40B4-BE49-F238E27FC236}">
                <a16:creationId xmlns:a16="http://schemas.microsoft.com/office/drawing/2014/main" id="{9186565B-74B1-42F1-8641-7AE218AD5B35}"/>
              </a:ext>
            </a:extLst>
          </p:cNvPr>
          <p:cNvSpPr>
            <a:spLocks noChangeArrowheads="1"/>
          </p:cNvSpPr>
          <p:nvPr/>
        </p:nvSpPr>
        <p:spPr bwMode="auto">
          <a:xfrm>
            <a:off x="6264613" y="1091491"/>
            <a:ext cx="5546387" cy="1077218"/>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&lt;String&gt;()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Segoe UI" panose="020B0502040204020203" pitchFamily="34" charset="0"/>
                <a:ea typeface="var(--devsite-code-font-family)"/>
                <a:cs typeface="Segoe UI" panose="020B0502040204020203" pitchFamily="34" charset="0"/>
              </a:rPr>
              <a:t>is the same as</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MutableList&lt;String&gt;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a:t>
            </a:r>
            <a:r>
              <a:rPr kumimoji="0" lang="en-US" altLang="en-US" sz="1400" b="0" i="0" u="none" strike="noStrike" cap="none" normalizeH="0" baseline="0" dirty="0">
                <a:ln>
                  <a:noFill/>
                </a:ln>
                <a:solidFill>
                  <a:schemeClr val="tx1"/>
                </a:solidFill>
                <a:effectLst/>
                <a:latin typeface="Lucida Console" panose="020B0609040504020204" pitchFamily="49" charset="0"/>
              </a:rPr>
              <a:t> </a:t>
            </a:r>
          </a:p>
        </p:txBody>
      </p:sp>
      <p:sp>
        <p:nvSpPr>
          <p:cNvPr id="6" name="Rectangle 1">
            <a:extLst>
              <a:ext uri="{FF2B5EF4-FFF2-40B4-BE49-F238E27FC236}">
                <a16:creationId xmlns:a16="http://schemas.microsoft.com/office/drawing/2014/main" id="{43785030-FBE1-41DC-A94D-FE83C33DCC1D}"/>
              </a:ext>
            </a:extLst>
          </p:cNvPr>
          <p:cNvSpPr>
            <a:spLocks noChangeArrowheads="1"/>
          </p:cNvSpPr>
          <p:nvPr/>
        </p:nvSpPr>
        <p:spPr bwMode="auto">
          <a:xfrm>
            <a:off x="5894962" y="4486787"/>
            <a:ext cx="6071681" cy="2154436"/>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How does the </a:t>
            </a:r>
            <a:r>
              <a:rPr kumimoji="0" lang="en-US" altLang="en-US" sz="1400" b="1" i="0" u="none" strike="noStrike" cap="none" normalizeH="0" baseline="0" dirty="0" err="1">
                <a:ln>
                  <a:noFill/>
                </a:ln>
                <a:solidFill>
                  <a:schemeClr val="tx1"/>
                </a:solidFill>
                <a:effectLst/>
                <a:latin typeface="Lucida Console" panose="020B0609040504020204" pitchFamily="49" charset="0"/>
                <a:ea typeface="var(--devsite-code-font-family)"/>
                <a:cs typeface="Segoe UI" panose="020B0502040204020203" pitchFamily="34" charset="0"/>
              </a:rPr>
              <a:t>val</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and </a:t>
            </a:r>
            <a:r>
              <a:rPr kumimoji="0" lang="en-US" altLang="en-US" sz="1400" b="1" i="0" u="none" strike="noStrike" cap="none" normalizeH="0" baseline="0" dirty="0">
                <a:ln>
                  <a:noFill/>
                </a:ln>
                <a:solidFill>
                  <a:schemeClr val="tx1"/>
                </a:solidFill>
                <a:effectLst/>
                <a:latin typeface="Lucida Console" panose="020B0609040504020204" pitchFamily="49" charset="0"/>
                <a:ea typeface="var(--devsite-code-font-family)"/>
                <a:cs typeface="Segoe UI" panose="020B0502040204020203" pitchFamily="34" charset="0"/>
              </a:rPr>
              <a:t>var</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keyword affect lists/mutable list?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t>
            </a:r>
            <a:r>
              <a:rPr kumimoji="0" lang="en-US" altLang="en-US" sz="1400" b="0" i="0" u="none" strike="noStrike" cap="none" normalizeH="0" baseline="0" dirty="0" err="1">
                <a:ln>
                  <a:noFill/>
                </a:ln>
                <a:solidFill>
                  <a:schemeClr val="tx1"/>
                </a:solidFill>
                <a:effectLst/>
                <a:latin typeface="Lucida Console" panose="020B0609040504020204" pitchFamily="49" charset="0"/>
                <a:cs typeface="Segoe UI" panose="020B0502040204020203" pitchFamily="34" charset="0"/>
              </a:rPr>
              <a:t>al</a:t>
            </a:r>
            <a:r>
              <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rPr>
              <a:t> with mutable list = cannot reassign variable with a new valu</a:t>
            </a:r>
            <a:r>
              <a:rPr lang="en-US" altLang="en-US" sz="1400" dirty="0">
                <a:latin typeface="Segoe UI" panose="020B0502040204020203" pitchFamily="34" charset="0"/>
                <a:cs typeface="Segoe UI" panose="020B0502040204020203" pitchFamily="34" charset="0"/>
              </a:rPr>
              <a:t>e, but can alter existing content of variable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mutable list = can reassign, can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val</a:t>
            </a:r>
            <a:r>
              <a:rPr lang="en-US" altLang="en-US" sz="1400" dirty="0">
                <a:latin typeface="Segoe UI" panose="020B0502040204020203" pitchFamily="34" charset="0"/>
                <a:cs typeface="Segoe UI" panose="020B0502040204020203" pitchFamily="34" charset="0"/>
              </a:rPr>
              <a:t> with immutable list = cannot reassign, cannot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immutable content = can reassign, cannot alter existing content</a:t>
            </a: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4503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a:latin typeface="Lucida Console" panose="020B0609040504020204" pitchFamily="49" charset="0"/>
              </a:rPr>
              <a:t>fun triple(</a:t>
            </a:r>
            <a:r>
              <a:rPr lang="en-SG" sz="1400" dirty="0" err="1">
                <a:latin typeface="Lucida Console" panose="020B0609040504020204" pitchFamily="49" charset="0"/>
              </a:rPr>
              <a:t>val</a:t>
            </a:r>
            <a:r>
              <a:rPr lang="en-SG" sz="1400" dirty="0">
                <a:latin typeface="Lucida Console" panose="020B0609040504020204" pitchFamily="49" charset="0"/>
              </a:rPr>
              <a:t> a: Int) {</a:t>
            </a:r>
          </a:p>
          <a:p>
            <a:pPr marL="0" indent="0">
              <a:buNone/>
            </a:pPr>
            <a:r>
              <a:rPr lang="en-SG" sz="1400" dirty="0">
                <a:latin typeface="Lucida Console" panose="020B0609040504020204" pitchFamily="49" charset="0"/>
              </a:rPr>
              <a:t>	return a*3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a: Int -&gt; a*3 }</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it*3 } </a:t>
            </a:r>
          </a:p>
        </p:txBody>
      </p:sp>
    </p:spTree>
    <p:extLst>
      <p:ext uri="{BB962C8B-B14F-4D97-AF65-F5344CB8AC3E}">
        <p14:creationId xmlns:p14="http://schemas.microsoft.com/office/powerpoint/2010/main" val="3637480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(object: </a:t>
            </a:r>
            <a:r>
              <a:rPr lang="en-SG" sz="1400" dirty="0" err="1">
                <a:latin typeface="Lucida Console" panose="020B0609040504020204" pitchFamily="49" charset="0"/>
              </a:rPr>
              <a:t>View.onClickListener</a:t>
            </a: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	override fun </a:t>
            </a:r>
            <a:r>
              <a:rPr lang="en-SG" sz="1400" dirty="0" err="1">
                <a:latin typeface="Lucida Console" panose="020B0609040504020204" pitchFamily="49" charset="0"/>
              </a:rPr>
              <a:t>onClick</a:t>
            </a:r>
            <a:r>
              <a:rPr lang="en-SG" sz="1400" dirty="0">
                <a:latin typeface="Lucida Console" panose="020B0609040504020204" pitchFamily="49" charset="0"/>
              </a:rPr>
              <a:t>(</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View?) {</a:t>
            </a:r>
          </a:p>
          <a:p>
            <a:pPr marL="0" indent="0">
              <a:buNone/>
            </a:pP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a:t>
            </a:r>
          </a:p>
          <a:p>
            <a:pPr marL="0" indent="0">
              <a:buNone/>
            </a:pP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costOfServiceEditText.setOnKeyListener</a:t>
            </a:r>
            <a:r>
              <a:rPr lang="en-SG" sz="1400" dirty="0">
                <a:latin typeface="Lucida Console" panose="020B0609040504020204" pitchFamily="49" charset="0"/>
              </a:rPr>
              <a:t> { view, </a:t>
            </a:r>
            <a:r>
              <a:rPr lang="en-SG" sz="1400" dirty="0" err="1">
                <a:latin typeface="Lucida Console" panose="020B0609040504020204" pitchFamily="49" charset="0"/>
              </a:rPr>
              <a:t>keyCode</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_</a:t>
            </a:r>
            <a:r>
              <a:rPr lang="en-SG" sz="1400" dirty="0">
                <a:latin typeface="Lucida Console" panose="020B0609040504020204" pitchFamily="49" charset="0"/>
              </a:rPr>
              <a:t> -&gt; </a:t>
            </a:r>
            <a:r>
              <a:rPr lang="en-SG" sz="1400" dirty="0" err="1">
                <a:latin typeface="Lucida Console" panose="020B0609040504020204" pitchFamily="49" charset="0"/>
              </a:rPr>
              <a:t>handleKeyEvent</a:t>
            </a:r>
            <a:r>
              <a:rPr lang="en-SG" sz="1400" dirty="0">
                <a:latin typeface="Lucida Console" panose="020B0609040504020204" pitchFamily="49" charset="0"/>
              </a:rPr>
              <a:t>(view, </a:t>
            </a:r>
            <a:r>
              <a:rPr lang="en-SG" sz="1400" dirty="0" err="1">
                <a:latin typeface="Lucida Console" panose="020B0609040504020204" pitchFamily="49" charset="0"/>
              </a:rPr>
              <a:t>keyCode</a:t>
            </a:r>
            <a:r>
              <a:rPr lang="en-SG" sz="1400" dirty="0">
                <a:latin typeface="Lucida Console" panose="020B0609040504020204" pitchFamily="49" charset="0"/>
              </a:rPr>
              <a:t>) }</a:t>
            </a:r>
          </a:p>
          <a:p>
            <a:pPr marL="0" indent="0">
              <a:buNone/>
            </a:pPr>
            <a:endParaRPr lang="en-SG" sz="1400" dirty="0">
              <a:latin typeface="Lucida Console" panose="020B0609040504020204" pitchFamily="49" charset="0"/>
            </a:endParaRPr>
          </a:p>
        </p:txBody>
      </p:sp>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5" name="TextBox 4">
            <a:extLst>
              <a:ext uri="{FF2B5EF4-FFF2-40B4-BE49-F238E27FC236}">
                <a16:creationId xmlns:a16="http://schemas.microsoft.com/office/drawing/2014/main" id="{522D4431-E334-452B-B10C-7717E3CE5A7E}"/>
              </a:ext>
            </a:extLst>
          </p:cNvPr>
          <p:cNvSpPr txBox="1"/>
          <p:nvPr/>
        </p:nvSpPr>
        <p:spPr>
          <a:xfrm>
            <a:off x="7486242" y="4640094"/>
            <a:ext cx="4511203" cy="584775"/>
          </a:xfrm>
          <a:prstGeom prst="rect">
            <a:avLst/>
          </a:prstGeom>
          <a:solidFill>
            <a:schemeClr val="accent4"/>
          </a:solidFill>
        </p:spPr>
        <p:txBody>
          <a:bodyPr wrap="square" rtlCol="0">
            <a:spAutoFit/>
          </a:bodyPr>
          <a:lstStyle/>
          <a:p>
            <a:r>
              <a:rPr lang="en-SG" sz="1600" dirty="0"/>
              <a:t>Since the view parameter isn’t used in the lambda, it can be omitted.</a:t>
            </a:r>
          </a:p>
        </p:txBody>
      </p:sp>
      <p:sp>
        <p:nvSpPr>
          <p:cNvPr id="23" name="TextBox 22">
            <a:extLst>
              <a:ext uri="{FF2B5EF4-FFF2-40B4-BE49-F238E27FC236}">
                <a16:creationId xmlns:a16="http://schemas.microsoft.com/office/drawing/2014/main" id="{19E2ACA9-8F19-4B6D-AD6E-C6ABCD6F2ABC}"/>
              </a:ext>
            </a:extLst>
          </p:cNvPr>
          <p:cNvSpPr txBox="1"/>
          <p:nvPr/>
        </p:nvSpPr>
        <p:spPr>
          <a:xfrm>
            <a:off x="7486242" y="5942568"/>
            <a:ext cx="4429325" cy="738664"/>
          </a:xfrm>
          <a:prstGeom prst="rect">
            <a:avLst/>
          </a:prstGeom>
          <a:solidFill>
            <a:schemeClr val="accent4"/>
          </a:solidFill>
        </p:spPr>
        <p:txBody>
          <a:bodyPr wrap="square">
            <a:spAutoFit/>
          </a:bodyPr>
          <a:lstStyle/>
          <a:p>
            <a:r>
              <a:rPr lang="en-US" sz="1400" dirty="0"/>
              <a:t>If you don't use a lambda parameter in the function body, you can name it _ to make your code more readable and less cluttered. This code has the same behavior.</a:t>
            </a:r>
            <a:endParaRPr lang="en-SG" sz="1400" dirty="0"/>
          </a:p>
        </p:txBody>
      </p:sp>
    </p:spTree>
    <p:extLst>
      <p:ext uri="{BB962C8B-B14F-4D97-AF65-F5344CB8AC3E}">
        <p14:creationId xmlns:p14="http://schemas.microsoft.com/office/powerpoint/2010/main" val="869607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Higher-order Functions</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normAutofit/>
          </a:bodyPr>
          <a:lstStyle/>
          <a:p>
            <a:r>
              <a:rPr lang="en-SG" sz="2400" dirty="0"/>
              <a:t>Passing a function/lambda into another function, or returning a function from another function</a:t>
            </a:r>
            <a:endParaRPr lang="en-SG" sz="1800" dirty="0"/>
          </a:p>
        </p:txBody>
      </p:sp>
    </p:spTree>
    <p:extLst>
      <p:ext uri="{BB962C8B-B14F-4D97-AF65-F5344CB8AC3E}">
        <p14:creationId xmlns:p14="http://schemas.microsoft.com/office/powerpoint/2010/main" val="1968286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A34-5669-468A-80DF-8FAC4AB412A4}"/>
              </a:ext>
            </a:extLst>
          </p:cNvPr>
          <p:cNvSpPr>
            <a:spLocks noGrp="1"/>
          </p:cNvSpPr>
          <p:nvPr>
            <p:ph type="title"/>
          </p:nvPr>
        </p:nvSpPr>
        <p:spPr/>
        <p:txBody>
          <a:bodyPr/>
          <a:lstStyle/>
          <a:p>
            <a:r>
              <a:rPr lang="en-SG" dirty="0"/>
              <a:t>Wtf is companion object??</a:t>
            </a:r>
          </a:p>
        </p:txBody>
      </p:sp>
      <p:sp>
        <p:nvSpPr>
          <p:cNvPr id="3" name="Content Placeholder 2">
            <a:extLst>
              <a:ext uri="{FF2B5EF4-FFF2-40B4-BE49-F238E27FC236}">
                <a16:creationId xmlns:a16="http://schemas.microsoft.com/office/drawing/2014/main" id="{14D28C98-E418-44F3-BD14-7CAE50B11333}"/>
              </a:ext>
            </a:extLst>
          </p:cNvPr>
          <p:cNvSpPr>
            <a:spLocks noGrp="1"/>
          </p:cNvSpPr>
          <p:nvPr>
            <p:ph idx="1"/>
          </p:nvPr>
        </p:nvSpPr>
        <p:spPr/>
        <p:txBody>
          <a:bodyPr>
            <a:normAutofit/>
          </a:bodyPr>
          <a:lstStyle/>
          <a:p>
            <a:r>
              <a:rPr lang="en-US" sz="2400" dirty="0"/>
              <a:t>Can be used to separate your constants and make them usable and accessible outside of the class it’s declared in / without a particular instance of the class.</a:t>
            </a:r>
          </a:p>
          <a:p>
            <a:r>
              <a:rPr lang="en-US" sz="2400" dirty="0"/>
              <a:t>A companion object is similar to other objects, such as instances of a class. However, only a single instance of a companion object will exist for the duration of your program, which is why this is sometimes called the </a:t>
            </a:r>
            <a:r>
              <a:rPr lang="en-US" sz="2400" b="1" i="1" dirty="0"/>
              <a:t>singleton</a:t>
            </a:r>
            <a:r>
              <a:rPr lang="en-US" sz="2400" dirty="0"/>
              <a:t> pattern.</a:t>
            </a:r>
            <a:endParaRPr lang="en-SG" sz="2400" dirty="0"/>
          </a:p>
        </p:txBody>
      </p:sp>
    </p:spTree>
    <p:extLst>
      <p:ext uri="{BB962C8B-B14F-4D97-AF65-F5344CB8AC3E}">
        <p14:creationId xmlns:p14="http://schemas.microsoft.com/office/powerpoint/2010/main" val="3877075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048B1-9590-4D84-8C65-C827095DFC01}"/>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26742EF9-6A95-40D4-9637-5A2B0F7139D5}"/>
              </a:ext>
            </a:extLst>
          </p:cNvPr>
          <p:cNvSpPr>
            <a:spLocks noGrp="1"/>
          </p:cNvSpPr>
          <p:nvPr>
            <p:ph idx="1"/>
          </p:nvPr>
        </p:nvSpPr>
        <p:spPr/>
        <p:txBody>
          <a:bodyPr>
            <a:normAutofit/>
          </a:bodyPr>
          <a:lstStyle/>
          <a:p>
            <a:r>
              <a:rPr lang="en-US" sz="2000" dirty="0"/>
              <a:t>The activity lifecycle is a set of states through which an activity migrates. The activity lifecycle begins when the activity is first created and ends when the activity is destroyed.</a:t>
            </a:r>
          </a:p>
          <a:p>
            <a:r>
              <a:rPr lang="en-US" sz="2000" dirty="0"/>
              <a:t>When your app goes into the background, just after </a:t>
            </a:r>
            <a:r>
              <a:rPr lang="en-US" sz="2000" dirty="0" err="1"/>
              <a:t>onStop</a:t>
            </a:r>
            <a:r>
              <a:rPr lang="en-US" sz="2000" dirty="0"/>
              <a:t>() is called, app data can be saved to a bundle. Some app data, such as the contents of an </a:t>
            </a:r>
            <a:r>
              <a:rPr lang="en-US" sz="2000" dirty="0" err="1"/>
              <a:t>EditText</a:t>
            </a:r>
            <a:r>
              <a:rPr lang="en-US" sz="2000" dirty="0"/>
              <a:t>, is automatically saved for you.</a:t>
            </a:r>
          </a:p>
          <a:p>
            <a:r>
              <a:rPr lang="en-US" sz="2000" dirty="0"/>
              <a:t>The bundle is an instance of Bundle, which is a collection of keys and values. The keys are always strings.</a:t>
            </a:r>
          </a:p>
          <a:p>
            <a:r>
              <a:rPr lang="en-US" sz="2000" dirty="0"/>
              <a:t>You can get data back out of the bundle in the </a:t>
            </a:r>
            <a:r>
              <a:rPr lang="en-US" sz="2000" dirty="0" err="1"/>
              <a:t>onRestoreInstanceState</a:t>
            </a:r>
            <a:r>
              <a:rPr lang="en-US" sz="2000" dirty="0"/>
              <a:t>() method, or more commonly in onCreate(). The onCreate() method has a savedInstanceState parameter that holds the bundle.</a:t>
            </a:r>
          </a:p>
          <a:p>
            <a:r>
              <a:rPr lang="en-US" sz="2000" dirty="0"/>
              <a:t>To retrieve data from the bundle with a key, use the Bundle methods that start with get, such as </a:t>
            </a:r>
            <a:r>
              <a:rPr lang="en-US" sz="2000" dirty="0" err="1"/>
              <a:t>getInt</a:t>
            </a:r>
            <a:r>
              <a:rPr lang="en-US" sz="2000" dirty="0"/>
              <a:t>().</a:t>
            </a:r>
            <a:endParaRPr lang="en-SG" sz="2000" dirty="0"/>
          </a:p>
        </p:txBody>
      </p:sp>
    </p:spTree>
    <p:extLst>
      <p:ext uri="{BB962C8B-B14F-4D97-AF65-F5344CB8AC3E}">
        <p14:creationId xmlns:p14="http://schemas.microsoft.com/office/powerpoint/2010/main" val="12545990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6A03-90EE-4812-8AA5-C6A00FC28BE3}"/>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C89241CB-406C-48CE-BE3E-B3922A7162DE}"/>
              </a:ext>
            </a:extLst>
          </p:cNvPr>
          <p:cNvSpPr>
            <a:spLocks noGrp="1"/>
          </p:cNvSpPr>
          <p:nvPr>
            <p:ph idx="1"/>
          </p:nvPr>
        </p:nvSpPr>
        <p:spPr/>
        <p:txBody>
          <a:bodyPr>
            <a:normAutofit/>
          </a:bodyPr>
          <a:lstStyle/>
          <a:p>
            <a:pPr marL="514350" indent="-514350">
              <a:buFont typeface="+mj-lt"/>
              <a:buAutoNum type="arabicParenR"/>
            </a:pPr>
            <a:r>
              <a:rPr lang="en-SG" sz="1800" dirty="0"/>
              <a:t>Launch app</a:t>
            </a:r>
          </a:p>
          <a:p>
            <a:pPr lvl="1"/>
            <a:r>
              <a:rPr lang="en-SG" sz="1600" dirty="0"/>
              <a:t>OnCreate </a:t>
            </a:r>
            <a:r>
              <a:rPr lang="en-SG" sz="1600" dirty="0">
                <a:sym typeface="Wingdings" panose="05000000000000000000" pitchFamily="2" charset="2"/>
              </a:rPr>
              <a:t>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t>Put app in background</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Resume app</a:t>
            </a:r>
          </a:p>
          <a:p>
            <a:pPr lvl="1"/>
            <a:r>
              <a:rPr lang="en-SG" sz="1600" dirty="0" err="1">
                <a:sym typeface="Wingdings" panose="05000000000000000000" pitchFamily="2" charset="2"/>
              </a:rPr>
              <a:t>OnRestart</a:t>
            </a:r>
            <a:r>
              <a:rPr lang="en-SG" sz="1600" dirty="0">
                <a:sym typeface="Wingdings" panose="05000000000000000000" pitchFamily="2" charset="2"/>
              </a:rPr>
              <a:t> 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Close app (either swipe up or press back button)</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Press app menu at top right / Click elsewhere to focus back on app</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Rotate Screen</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r>
              <a:rPr lang="en-SG" sz="1600" dirty="0">
                <a:sym typeface="Wingdings" panose="05000000000000000000" pitchFamily="2" charset="2"/>
              </a:rPr>
              <a:t>  OnCreate  </a:t>
            </a:r>
            <a:r>
              <a:rPr lang="en-SG" sz="1600" dirty="0" err="1">
                <a:sym typeface="Wingdings" panose="05000000000000000000" pitchFamily="2" charset="2"/>
              </a:rPr>
              <a:t>OnStart</a:t>
            </a:r>
            <a:r>
              <a:rPr lang="en-SG" sz="1600" dirty="0">
                <a:sym typeface="Wingdings" panose="05000000000000000000" pitchFamily="2" charset="2"/>
              </a:rPr>
              <a:t> </a:t>
            </a:r>
            <a:r>
              <a:rPr lang="en-SG" sz="1600" dirty="0" err="1">
                <a:sym typeface="Wingdings" panose="05000000000000000000" pitchFamily="2" charset="2"/>
              </a:rPr>
              <a:t>OnResume</a:t>
            </a:r>
            <a:endParaRPr lang="en-SG" sz="1600" dirty="0">
              <a:sym typeface="Wingdings" panose="05000000000000000000" pitchFamily="2" charset="2"/>
            </a:endParaRPr>
          </a:p>
          <a:p>
            <a:pPr marL="971550" lvl="1" indent="-514350">
              <a:buAutoNum type="arabicParenR"/>
            </a:pPr>
            <a:endParaRPr lang="en-SG" sz="1600" dirty="0"/>
          </a:p>
        </p:txBody>
      </p:sp>
      <p:pic>
        <p:nvPicPr>
          <p:cNvPr id="5" name="Picture 4">
            <a:extLst>
              <a:ext uri="{FF2B5EF4-FFF2-40B4-BE49-F238E27FC236}">
                <a16:creationId xmlns:a16="http://schemas.microsoft.com/office/drawing/2014/main" id="{4C7F5164-F3DE-468D-B7B0-EF0E6F1162D4}"/>
              </a:ext>
            </a:extLst>
          </p:cNvPr>
          <p:cNvPicPr>
            <a:picLocks noChangeAspect="1"/>
          </p:cNvPicPr>
          <p:nvPr/>
        </p:nvPicPr>
        <p:blipFill>
          <a:blip r:embed="rId2"/>
          <a:stretch>
            <a:fillRect/>
          </a:stretch>
        </p:blipFill>
        <p:spPr>
          <a:xfrm>
            <a:off x="8096130" y="525198"/>
            <a:ext cx="3882510" cy="4385204"/>
          </a:xfrm>
          <a:prstGeom prst="rect">
            <a:avLst/>
          </a:prstGeom>
        </p:spPr>
      </p:pic>
    </p:spTree>
    <p:extLst>
      <p:ext uri="{BB962C8B-B14F-4D97-AF65-F5344CB8AC3E}">
        <p14:creationId xmlns:p14="http://schemas.microsoft.com/office/powerpoint/2010/main" val="734195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a:xfrm>
            <a:off x="838200" y="1825625"/>
            <a:ext cx="10033000" cy="4351338"/>
          </a:xfrm>
        </p:spPr>
        <p:txBody>
          <a:bodyPr>
            <a:normAutofit/>
          </a:bodyPr>
          <a:lstStyle/>
          <a:p>
            <a:r>
              <a:rPr lang="en-US" sz="1800" dirty="0"/>
              <a:t>Each fragment manages its own separate lifecycle.</a:t>
            </a:r>
          </a:p>
          <a:p>
            <a:r>
              <a:rPr lang="en-US" sz="1800" dirty="0"/>
              <a:t>Like activities, fragments can be initialized and removed from memory, and throughout their existence, appear, disappear, and reappear onscreen.</a:t>
            </a:r>
          </a:p>
          <a:p>
            <a:r>
              <a:rPr lang="en-US" sz="1800" dirty="0"/>
              <a:t>Also, just like activities, fragments have a lifecycle with several </a:t>
            </a:r>
            <a:r>
              <a:rPr lang="en-US" sz="1800" u="sng" dirty="0"/>
              <a:t>states</a:t>
            </a:r>
            <a:r>
              <a:rPr lang="en-US" sz="1800" dirty="0"/>
              <a:t>, represented by the </a:t>
            </a:r>
            <a:r>
              <a:rPr lang="en-US" sz="1800" dirty="0" err="1"/>
              <a:t>Lifecycle.State</a:t>
            </a:r>
            <a:r>
              <a:rPr lang="en-US" sz="1800" dirty="0"/>
              <a:t> </a:t>
            </a:r>
            <a:r>
              <a:rPr lang="en-US" sz="1800" dirty="0" err="1"/>
              <a:t>enum</a:t>
            </a:r>
            <a:r>
              <a:rPr lang="en-US" sz="1800" dirty="0"/>
              <a:t>.</a:t>
            </a:r>
          </a:p>
          <a:p>
            <a:pPr lvl="1"/>
            <a:r>
              <a:rPr lang="en-US" sz="1400" dirty="0"/>
              <a:t>INITIALIZED: A new instance of the fragment has been instantiated.</a:t>
            </a:r>
          </a:p>
          <a:p>
            <a:pPr lvl="1"/>
            <a:r>
              <a:rPr lang="en-US" sz="1400" dirty="0">
                <a:highlight>
                  <a:srgbClr val="00FFFF"/>
                </a:highlight>
              </a:rPr>
              <a:t>CREATED</a:t>
            </a:r>
            <a:r>
              <a:rPr lang="en-US" sz="1400" dirty="0"/>
              <a:t>: The first fragment lifecycle methods are called. During this state, the view associated with the fragment is also created.</a:t>
            </a:r>
          </a:p>
          <a:p>
            <a:pPr lvl="1"/>
            <a:r>
              <a:rPr lang="en-US" sz="1400" dirty="0">
                <a:highlight>
                  <a:srgbClr val="00FF00"/>
                </a:highlight>
              </a:rPr>
              <a:t>STARTED</a:t>
            </a:r>
            <a:r>
              <a:rPr lang="en-US" sz="1400" dirty="0"/>
              <a:t>: The fragment is visible onscreen but does not have "focus", meaning it can't respond to user input.</a:t>
            </a:r>
          </a:p>
          <a:p>
            <a:pPr lvl="1"/>
            <a:r>
              <a:rPr lang="en-US" sz="1400" dirty="0">
                <a:highlight>
                  <a:srgbClr val="FFF169"/>
                </a:highlight>
              </a:rPr>
              <a:t>RESUMED</a:t>
            </a:r>
            <a:r>
              <a:rPr lang="en-US" sz="1400" dirty="0"/>
              <a:t>: The fragment is visible and has focus.</a:t>
            </a:r>
          </a:p>
          <a:p>
            <a:pPr lvl="1"/>
            <a:r>
              <a:rPr lang="en-US" sz="1400" dirty="0">
                <a:highlight>
                  <a:srgbClr val="C0C0C0"/>
                </a:highlight>
              </a:rPr>
              <a:t>DESTROYED</a:t>
            </a:r>
            <a:r>
              <a:rPr lang="en-US" sz="1400" dirty="0"/>
              <a:t>: The fragment object has been de-instantiated.</a:t>
            </a:r>
          </a:p>
          <a:p>
            <a:r>
              <a:rPr lang="en-US" sz="1800" dirty="0"/>
              <a:t>Also provide several methods you can override to respond to transitions between them.</a:t>
            </a:r>
          </a:p>
          <a:p>
            <a:pPr lvl="1"/>
            <a:r>
              <a:rPr lang="en-US" sz="1400" dirty="0">
                <a:highlight>
                  <a:srgbClr val="00FFFF"/>
                </a:highlight>
              </a:rPr>
              <a:t>OnCreate</a:t>
            </a:r>
            <a:r>
              <a:rPr lang="en-US" sz="1400" dirty="0"/>
              <a:t>, </a:t>
            </a:r>
            <a:r>
              <a:rPr lang="en-US" sz="1400" dirty="0" err="1">
                <a:highlight>
                  <a:srgbClr val="00FFFF"/>
                </a:highlight>
              </a:rPr>
              <a:t>OnCreateView</a:t>
            </a:r>
            <a:r>
              <a:rPr lang="en-US" sz="1400" dirty="0"/>
              <a:t>, </a:t>
            </a:r>
            <a:r>
              <a:rPr lang="en-US" sz="1400" dirty="0" err="1">
                <a:highlight>
                  <a:srgbClr val="00FFFF"/>
                </a:highlight>
              </a:rPr>
              <a:t>OnViewCreated</a:t>
            </a:r>
            <a:r>
              <a:rPr lang="en-US" sz="1400" dirty="0"/>
              <a:t>, </a:t>
            </a:r>
            <a:r>
              <a:rPr lang="en-US" sz="1400" dirty="0" err="1">
                <a:highlight>
                  <a:srgbClr val="00FF00"/>
                </a:highlight>
              </a:rPr>
              <a:t>OnStart</a:t>
            </a:r>
            <a:r>
              <a:rPr lang="en-US" sz="1400" dirty="0"/>
              <a:t>, </a:t>
            </a:r>
            <a:r>
              <a:rPr lang="en-US" sz="1400" dirty="0" err="1">
                <a:highlight>
                  <a:srgbClr val="FFF169"/>
                </a:highlight>
              </a:rPr>
              <a:t>OnResume</a:t>
            </a:r>
            <a:r>
              <a:rPr lang="en-US" sz="1400" dirty="0"/>
              <a:t>, </a:t>
            </a:r>
            <a:r>
              <a:rPr lang="en-US" sz="1400" dirty="0" err="1">
                <a:highlight>
                  <a:srgbClr val="00FF00"/>
                </a:highlight>
              </a:rPr>
              <a:t>OnPause</a:t>
            </a:r>
            <a:r>
              <a:rPr lang="en-US" sz="1400" dirty="0"/>
              <a:t>, </a:t>
            </a:r>
            <a:r>
              <a:rPr lang="en-US" sz="1400" dirty="0" err="1">
                <a:highlight>
                  <a:srgbClr val="00FFFF"/>
                </a:highlight>
              </a:rPr>
              <a:t>OnStop</a:t>
            </a:r>
            <a:r>
              <a:rPr lang="en-US" sz="1400" dirty="0"/>
              <a:t>, </a:t>
            </a:r>
            <a:r>
              <a:rPr lang="en-US" sz="1400" dirty="0" err="1">
                <a:highlight>
                  <a:srgbClr val="00FFFF"/>
                </a:highlight>
              </a:rPr>
              <a:t>OnDestroyView</a:t>
            </a:r>
            <a:r>
              <a:rPr lang="en-US" sz="1400" dirty="0"/>
              <a:t>, </a:t>
            </a:r>
            <a:r>
              <a:rPr lang="en-US" sz="1400" dirty="0" err="1">
                <a:highlight>
                  <a:srgbClr val="C0C0C0"/>
                </a:highlight>
              </a:rPr>
              <a:t>OnDestroy</a:t>
            </a:r>
            <a:endParaRPr lang="en-US" sz="1400" dirty="0">
              <a:highlight>
                <a:srgbClr val="C0C0C0"/>
              </a:highlight>
            </a:endParaRPr>
          </a:p>
          <a:p>
            <a:r>
              <a:rPr lang="en-US" sz="1800" dirty="0"/>
              <a:t>Fragments' views can be created and destroyed several times throughout the fragment's lifecycle.</a:t>
            </a:r>
            <a:endParaRPr lang="en-SG" sz="1800" dirty="0"/>
          </a:p>
        </p:txBody>
      </p:sp>
    </p:spTree>
    <p:extLst>
      <p:ext uri="{BB962C8B-B14F-4D97-AF65-F5344CB8AC3E}">
        <p14:creationId xmlns:p14="http://schemas.microsoft.com/office/powerpoint/2010/main" val="9197763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CA9D5-9750-45CC-9B51-1DBCF6B63637}"/>
              </a:ext>
            </a:extLst>
          </p:cNvPr>
          <p:cNvSpPr>
            <a:spLocks noGrp="1"/>
          </p:cNvSpPr>
          <p:nvPr>
            <p:ph type="title"/>
          </p:nvPr>
        </p:nvSpPr>
        <p:spPr/>
        <p:txBody>
          <a:bodyPr/>
          <a:lstStyle/>
          <a:p>
            <a:r>
              <a:rPr lang="en-SG" dirty="0"/>
              <a:t>Fragment Lifecycle</a:t>
            </a:r>
          </a:p>
        </p:txBody>
      </p:sp>
      <p:pic>
        <p:nvPicPr>
          <p:cNvPr id="5" name="Picture 4">
            <a:extLst>
              <a:ext uri="{FF2B5EF4-FFF2-40B4-BE49-F238E27FC236}">
                <a16:creationId xmlns:a16="http://schemas.microsoft.com/office/drawing/2014/main" id="{2518A7EC-0AA6-464D-8BD3-884CD798EC22}"/>
              </a:ext>
            </a:extLst>
          </p:cNvPr>
          <p:cNvPicPr>
            <a:picLocks noChangeAspect="1"/>
          </p:cNvPicPr>
          <p:nvPr/>
        </p:nvPicPr>
        <p:blipFill>
          <a:blip r:embed="rId2"/>
          <a:stretch>
            <a:fillRect/>
          </a:stretch>
        </p:blipFill>
        <p:spPr>
          <a:xfrm>
            <a:off x="4579152" y="1442720"/>
            <a:ext cx="3033695" cy="5050155"/>
          </a:xfrm>
          <a:prstGeom prst="rect">
            <a:avLst/>
          </a:prstGeom>
        </p:spPr>
      </p:pic>
    </p:spTree>
    <p:extLst>
      <p:ext uri="{BB962C8B-B14F-4D97-AF65-F5344CB8AC3E}">
        <p14:creationId xmlns:p14="http://schemas.microsoft.com/office/powerpoint/2010/main" val="2759446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p:txBody>
          <a:bodyPr>
            <a:normAutofit/>
          </a:bodyPr>
          <a:lstStyle/>
          <a:p>
            <a:r>
              <a:rPr lang="en-US" sz="2000" dirty="0"/>
              <a:t>OnCreate vs. </a:t>
            </a:r>
            <a:r>
              <a:rPr lang="en-US" sz="2000" dirty="0" err="1"/>
              <a:t>OnCreateView</a:t>
            </a:r>
            <a:endParaRPr lang="en-US" sz="2000" dirty="0"/>
          </a:p>
          <a:p>
            <a:pPr lvl="1"/>
            <a:r>
              <a:rPr lang="en-US" sz="1600" dirty="0"/>
              <a:t>Fragment has been instantiated and is in CREATED state, but corresponding view is not created yet / vs. / Layout inflated, and Fragment has entered CREATED state</a:t>
            </a:r>
          </a:p>
          <a:p>
            <a:r>
              <a:rPr lang="en-US" sz="2000" dirty="0" err="1"/>
              <a:t>OnDestroyView</a:t>
            </a:r>
            <a:r>
              <a:rPr lang="en-US" sz="2000" dirty="0"/>
              <a:t> vs. </a:t>
            </a:r>
            <a:r>
              <a:rPr lang="en-US" sz="2000" dirty="0" err="1"/>
              <a:t>OnDestroy</a:t>
            </a:r>
            <a:endParaRPr lang="en-US" sz="2000" dirty="0"/>
          </a:p>
          <a:p>
            <a:pPr lvl="1"/>
            <a:r>
              <a:rPr lang="en-US" sz="1600" dirty="0"/>
              <a:t>Has not entered DESTROYED state, view removed from memory but Fragment object still exists / vs. / Fragment has entered DESTROYED state</a:t>
            </a:r>
            <a:endParaRPr lang="en-SG" sz="1600" dirty="0"/>
          </a:p>
        </p:txBody>
      </p:sp>
    </p:spTree>
    <p:extLst>
      <p:ext uri="{BB962C8B-B14F-4D97-AF65-F5344CB8AC3E}">
        <p14:creationId xmlns:p14="http://schemas.microsoft.com/office/powerpoint/2010/main" val="39847434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6F629-037D-4FA5-8871-38A76C50F6A6}"/>
              </a:ext>
            </a:extLst>
          </p:cNvPr>
          <p:cNvSpPr>
            <a:spLocks noGrp="1"/>
          </p:cNvSpPr>
          <p:nvPr>
            <p:ph type="title"/>
          </p:nvPr>
        </p:nvSpPr>
        <p:spPr/>
        <p:txBody>
          <a:bodyPr/>
          <a:lstStyle/>
          <a:p>
            <a:r>
              <a:rPr lang="en-SG" dirty="0" err="1"/>
              <a:t>ViewModel</a:t>
            </a:r>
            <a:r>
              <a:rPr lang="en-SG" dirty="0"/>
              <a:t> Lifecycle</a:t>
            </a:r>
          </a:p>
        </p:txBody>
      </p:sp>
      <p:sp>
        <p:nvSpPr>
          <p:cNvPr id="3" name="Content Placeholder 2">
            <a:extLst>
              <a:ext uri="{FF2B5EF4-FFF2-40B4-BE49-F238E27FC236}">
                <a16:creationId xmlns:a16="http://schemas.microsoft.com/office/drawing/2014/main" id="{641E474D-D949-4118-A18A-DFDEBBCCF2E1}"/>
              </a:ext>
            </a:extLst>
          </p:cNvPr>
          <p:cNvSpPr>
            <a:spLocks noGrp="1"/>
          </p:cNvSpPr>
          <p:nvPr>
            <p:ph idx="1"/>
          </p:nvPr>
        </p:nvSpPr>
        <p:spPr>
          <a:xfrm>
            <a:off x="838200" y="1690687"/>
            <a:ext cx="10515600" cy="5021397"/>
          </a:xfrm>
        </p:spPr>
        <p:txBody>
          <a:bodyPr>
            <a:normAutofit/>
          </a:bodyPr>
          <a:lstStyle/>
          <a:p>
            <a:r>
              <a:rPr lang="en-US" sz="2000" dirty="0"/>
              <a:t>The framework keeps the </a:t>
            </a:r>
            <a:r>
              <a:rPr lang="en-US" sz="2000" dirty="0" err="1"/>
              <a:t>ViewModel</a:t>
            </a:r>
            <a:r>
              <a:rPr lang="en-US" sz="2000" dirty="0"/>
              <a:t> alive as long as the scope of the activity or fragment is alive. </a:t>
            </a:r>
          </a:p>
          <a:p>
            <a:r>
              <a:rPr lang="en-US" sz="2000" dirty="0"/>
              <a:t>A </a:t>
            </a:r>
            <a:r>
              <a:rPr lang="en-US" sz="2000" dirty="0" err="1"/>
              <a:t>ViewModel</a:t>
            </a:r>
            <a:r>
              <a:rPr lang="en-US" sz="2000" dirty="0"/>
              <a:t> is </a:t>
            </a:r>
            <a:r>
              <a:rPr lang="en-US" sz="2000" u="sng" dirty="0"/>
              <a:t>not destroyed</a:t>
            </a:r>
            <a:r>
              <a:rPr lang="en-US" sz="2000" dirty="0"/>
              <a:t> if its owner is destroyed for a configuration change, such as screen rotation. </a:t>
            </a:r>
            <a:endParaRPr lang="en-SG" sz="2000" dirty="0"/>
          </a:p>
        </p:txBody>
      </p:sp>
      <p:pic>
        <p:nvPicPr>
          <p:cNvPr id="5" name="Picture 4">
            <a:extLst>
              <a:ext uri="{FF2B5EF4-FFF2-40B4-BE49-F238E27FC236}">
                <a16:creationId xmlns:a16="http://schemas.microsoft.com/office/drawing/2014/main" id="{81DE9E9C-F61D-4F0C-B9E1-A112644CA7CE}"/>
              </a:ext>
            </a:extLst>
          </p:cNvPr>
          <p:cNvPicPr>
            <a:picLocks noChangeAspect="1"/>
          </p:cNvPicPr>
          <p:nvPr/>
        </p:nvPicPr>
        <p:blipFill>
          <a:blip r:embed="rId2"/>
          <a:stretch>
            <a:fillRect/>
          </a:stretch>
        </p:blipFill>
        <p:spPr>
          <a:xfrm>
            <a:off x="3785309" y="2768446"/>
            <a:ext cx="4621381" cy="3724429"/>
          </a:xfrm>
          <a:prstGeom prst="rect">
            <a:avLst/>
          </a:prstGeom>
        </p:spPr>
      </p:pic>
    </p:spTree>
    <p:extLst>
      <p:ext uri="{BB962C8B-B14F-4D97-AF65-F5344CB8AC3E}">
        <p14:creationId xmlns:p14="http://schemas.microsoft.com/office/powerpoint/2010/main" val="216683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6F629-037D-4FA5-8871-38A76C50F6A6}"/>
              </a:ext>
            </a:extLst>
          </p:cNvPr>
          <p:cNvSpPr>
            <a:spLocks noGrp="1"/>
          </p:cNvSpPr>
          <p:nvPr>
            <p:ph type="title"/>
          </p:nvPr>
        </p:nvSpPr>
        <p:spPr/>
        <p:txBody>
          <a:bodyPr/>
          <a:lstStyle/>
          <a:p>
            <a:r>
              <a:rPr lang="en-SG" dirty="0" err="1"/>
              <a:t>ViewModel</a:t>
            </a:r>
            <a:r>
              <a:rPr lang="en-SG" dirty="0"/>
              <a:t> Lifecycle</a:t>
            </a:r>
          </a:p>
        </p:txBody>
      </p:sp>
      <p:sp>
        <p:nvSpPr>
          <p:cNvPr id="3" name="Content Placeholder 2">
            <a:extLst>
              <a:ext uri="{FF2B5EF4-FFF2-40B4-BE49-F238E27FC236}">
                <a16:creationId xmlns:a16="http://schemas.microsoft.com/office/drawing/2014/main" id="{641E474D-D949-4118-A18A-DFDEBBCCF2E1}"/>
              </a:ext>
            </a:extLst>
          </p:cNvPr>
          <p:cNvSpPr>
            <a:spLocks noGrp="1"/>
          </p:cNvSpPr>
          <p:nvPr>
            <p:ph idx="1"/>
          </p:nvPr>
        </p:nvSpPr>
        <p:spPr>
          <a:xfrm>
            <a:off x="838200" y="1690688"/>
            <a:ext cx="10515600" cy="4351338"/>
          </a:xfrm>
        </p:spPr>
        <p:txBody>
          <a:bodyPr>
            <a:normAutofit/>
          </a:bodyPr>
          <a:lstStyle/>
          <a:p>
            <a:r>
              <a:rPr lang="en-US" sz="2000" dirty="0"/>
              <a:t>When app is first launched</a:t>
            </a:r>
          </a:p>
          <a:p>
            <a:pPr marL="800100" lvl="1" indent="-342900">
              <a:buFont typeface="+mj-lt"/>
              <a:buAutoNum type="arabicParenR"/>
            </a:pPr>
            <a:r>
              <a:rPr lang="en-SG" sz="1800" dirty="0" err="1"/>
              <a:t>GameFragment.kt</a:t>
            </a:r>
            <a:r>
              <a:rPr lang="en-SG" sz="1800" dirty="0"/>
              <a:t> </a:t>
            </a:r>
            <a:r>
              <a:rPr lang="en-SG" sz="1800" dirty="0">
                <a:sym typeface="Wingdings" panose="05000000000000000000" pitchFamily="2" charset="2"/>
              </a:rPr>
              <a:t> </a:t>
            </a:r>
            <a:r>
              <a:rPr lang="en-SG" sz="1800" dirty="0" err="1">
                <a:sym typeface="Wingdings" panose="05000000000000000000" pitchFamily="2" charset="2"/>
              </a:rPr>
              <a:t>OnCreateView</a:t>
            </a:r>
            <a:r>
              <a:rPr lang="en-SG" sz="1800" dirty="0"/>
              <a:t> </a:t>
            </a:r>
          </a:p>
          <a:p>
            <a:pPr marL="800100" lvl="1" indent="-342900">
              <a:buFont typeface="+mj-lt"/>
              <a:buAutoNum type="arabicParenR"/>
            </a:pPr>
            <a:r>
              <a:rPr lang="en-SG" sz="1800" dirty="0" err="1">
                <a:highlight>
                  <a:srgbClr val="FFFF00"/>
                </a:highlight>
              </a:rPr>
              <a:t>GameViewModel.kt</a:t>
            </a:r>
            <a:r>
              <a:rPr lang="en-SG" sz="1800" dirty="0">
                <a:highlight>
                  <a:srgbClr val="FFFF00"/>
                </a:highlight>
              </a:rPr>
              <a:t> </a:t>
            </a:r>
            <a:r>
              <a:rPr lang="en-SG" sz="1800" dirty="0">
                <a:highlight>
                  <a:srgbClr val="FFFF00"/>
                </a:highlight>
                <a:sym typeface="Wingdings" panose="05000000000000000000" pitchFamily="2" charset="2"/>
              </a:rPr>
              <a:t> init</a:t>
            </a:r>
            <a:endParaRPr lang="en-SG" sz="1800" dirty="0">
              <a:highlight>
                <a:srgbClr val="FFFF00"/>
              </a:highlight>
            </a:endParaRPr>
          </a:p>
          <a:p>
            <a:r>
              <a:rPr lang="en-US" sz="2000" dirty="0" err="1"/>
              <a:t>Everytime</a:t>
            </a:r>
            <a:r>
              <a:rPr lang="en-US" sz="2000" dirty="0"/>
              <a:t> when device rotates screen</a:t>
            </a:r>
          </a:p>
          <a:p>
            <a:pPr marL="800100" lvl="1" indent="-342900">
              <a:buFont typeface="+mj-lt"/>
              <a:buAutoNum type="arabicParenR"/>
            </a:pPr>
            <a:r>
              <a:rPr lang="en-US" sz="1800" dirty="0" err="1"/>
              <a:t>GameFragment.kt</a:t>
            </a:r>
            <a:r>
              <a:rPr lang="en-US" sz="1800" dirty="0"/>
              <a:t> </a:t>
            </a:r>
            <a:r>
              <a:rPr lang="en-US" sz="1800" dirty="0">
                <a:sym typeface="Wingdings" panose="05000000000000000000" pitchFamily="2" charset="2"/>
              </a:rPr>
              <a:t> </a:t>
            </a:r>
            <a:r>
              <a:rPr lang="en-US" sz="1800" dirty="0" err="1">
                <a:sym typeface="Wingdings" panose="05000000000000000000" pitchFamily="2" charset="2"/>
              </a:rPr>
              <a:t>OnDetach</a:t>
            </a:r>
            <a:endParaRPr lang="en-US" sz="1800" dirty="0">
              <a:sym typeface="Wingdings" panose="05000000000000000000" pitchFamily="2" charset="2"/>
            </a:endParaRPr>
          </a:p>
          <a:p>
            <a:pPr marL="800100" lvl="1" indent="-342900">
              <a:buFont typeface="+mj-lt"/>
              <a:buAutoNum type="arabicParenR"/>
            </a:pPr>
            <a:r>
              <a:rPr lang="en-US" sz="1800" dirty="0" err="1">
                <a:sym typeface="Wingdings" panose="05000000000000000000" pitchFamily="2" charset="2"/>
              </a:rPr>
              <a:t>GameFragment.kt</a:t>
            </a:r>
            <a:r>
              <a:rPr lang="en-US" sz="1800" dirty="0">
                <a:sym typeface="Wingdings" panose="05000000000000000000" pitchFamily="2" charset="2"/>
              </a:rPr>
              <a:t>  </a:t>
            </a:r>
            <a:r>
              <a:rPr lang="en-US" sz="1800" dirty="0" err="1">
                <a:sym typeface="Wingdings" panose="05000000000000000000" pitchFamily="2" charset="2"/>
              </a:rPr>
              <a:t>OnCreateView</a:t>
            </a:r>
            <a:endParaRPr lang="en-US" sz="1800" dirty="0">
              <a:sym typeface="Wingdings" panose="05000000000000000000" pitchFamily="2" charset="2"/>
            </a:endParaRPr>
          </a:p>
          <a:p>
            <a:r>
              <a:rPr lang="en-US" sz="2200" dirty="0"/>
              <a:t>The </a:t>
            </a:r>
            <a:r>
              <a:rPr lang="en-US" sz="2200" dirty="0" err="1"/>
              <a:t>GameFragment</a:t>
            </a:r>
            <a:r>
              <a:rPr lang="en-US" sz="2200" dirty="0"/>
              <a:t> is destroyed and recreated each time, </a:t>
            </a:r>
            <a:r>
              <a:rPr lang="en-US" sz="2200" dirty="0">
                <a:highlight>
                  <a:srgbClr val="FFFF00"/>
                </a:highlight>
              </a:rPr>
              <a:t>but the </a:t>
            </a:r>
            <a:r>
              <a:rPr lang="en-US" sz="2200" dirty="0" err="1">
                <a:highlight>
                  <a:srgbClr val="FFFF00"/>
                </a:highlight>
              </a:rPr>
              <a:t>GameViewModel</a:t>
            </a:r>
            <a:r>
              <a:rPr lang="en-US" sz="2200" dirty="0">
                <a:highlight>
                  <a:srgbClr val="FFFF00"/>
                </a:highlight>
              </a:rPr>
              <a:t> is created only once</a:t>
            </a:r>
            <a:r>
              <a:rPr lang="en-US" sz="2200" dirty="0"/>
              <a:t>, and it is not re-created or destroyed for each call.</a:t>
            </a:r>
          </a:p>
          <a:p>
            <a:r>
              <a:rPr lang="en-US" sz="2000" dirty="0"/>
              <a:t>When app is closed</a:t>
            </a:r>
          </a:p>
          <a:p>
            <a:pPr marL="800100" lvl="1" indent="-342900">
              <a:buFont typeface="+mj-lt"/>
              <a:buAutoNum type="arabicParenR"/>
            </a:pPr>
            <a:r>
              <a:rPr lang="en-US" sz="1800" dirty="0" err="1"/>
              <a:t>GameViewModel.kt</a:t>
            </a:r>
            <a:r>
              <a:rPr lang="en-US" sz="1800" dirty="0"/>
              <a:t> </a:t>
            </a:r>
            <a:r>
              <a:rPr lang="en-US" sz="1800" dirty="0">
                <a:sym typeface="Wingdings" panose="05000000000000000000" pitchFamily="2" charset="2"/>
              </a:rPr>
              <a:t> </a:t>
            </a:r>
            <a:r>
              <a:rPr lang="en-US" sz="1800" dirty="0" err="1">
                <a:sym typeface="Wingdings" panose="05000000000000000000" pitchFamily="2" charset="2"/>
              </a:rPr>
              <a:t>OnCleared</a:t>
            </a:r>
            <a:endParaRPr lang="en-US" sz="1800" dirty="0">
              <a:sym typeface="Wingdings" panose="05000000000000000000" pitchFamily="2" charset="2"/>
            </a:endParaRPr>
          </a:p>
          <a:p>
            <a:pPr marL="800100" lvl="1" indent="-342900">
              <a:buFont typeface="+mj-lt"/>
              <a:buAutoNum type="arabicParenR"/>
            </a:pPr>
            <a:r>
              <a:rPr lang="en-US" sz="1800" dirty="0" err="1"/>
              <a:t>GameFragment.kt</a:t>
            </a:r>
            <a:r>
              <a:rPr lang="en-US" sz="1800" dirty="0"/>
              <a:t> </a:t>
            </a:r>
            <a:r>
              <a:rPr lang="en-US" sz="1800" dirty="0">
                <a:sym typeface="Wingdings" panose="05000000000000000000" pitchFamily="2" charset="2"/>
              </a:rPr>
              <a:t> </a:t>
            </a:r>
            <a:r>
              <a:rPr lang="en-US" sz="1800" dirty="0" err="1">
                <a:sym typeface="Wingdings" panose="05000000000000000000" pitchFamily="2" charset="2"/>
              </a:rPr>
              <a:t>OnDetach</a:t>
            </a:r>
            <a:endParaRPr lang="en-US" sz="1800" dirty="0"/>
          </a:p>
          <a:p>
            <a:pPr lvl="1"/>
            <a:endParaRPr lang="en-SG" sz="1600" dirty="0"/>
          </a:p>
        </p:txBody>
      </p:sp>
    </p:spTree>
    <p:extLst>
      <p:ext uri="{BB962C8B-B14F-4D97-AF65-F5344CB8AC3E}">
        <p14:creationId xmlns:p14="http://schemas.microsoft.com/office/powerpoint/2010/main" val="6678719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93CB8-2EC5-4E83-B17F-ED3B81D36F69}"/>
              </a:ext>
            </a:extLst>
          </p:cNvPr>
          <p:cNvSpPr>
            <a:spLocks noGrp="1"/>
          </p:cNvSpPr>
          <p:nvPr>
            <p:ph type="title"/>
          </p:nvPr>
        </p:nvSpPr>
        <p:spPr/>
        <p:txBody>
          <a:bodyPr/>
          <a:lstStyle/>
          <a:p>
            <a:r>
              <a:rPr lang="en-SG" dirty="0" err="1"/>
              <a:t>Backstack</a:t>
            </a:r>
            <a:endParaRPr lang="en-SG" dirty="0"/>
          </a:p>
        </p:txBody>
      </p:sp>
      <p:sp>
        <p:nvSpPr>
          <p:cNvPr id="3" name="Content Placeholder 2">
            <a:extLst>
              <a:ext uri="{FF2B5EF4-FFF2-40B4-BE49-F238E27FC236}">
                <a16:creationId xmlns:a16="http://schemas.microsoft.com/office/drawing/2014/main" id="{977E2CE1-B056-4B2F-9605-42B068D1CF8C}"/>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1336173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sp>
        <p:nvSpPr>
          <p:cNvPr id="12" name="TextBox 11">
            <a:extLst>
              <a:ext uri="{FF2B5EF4-FFF2-40B4-BE49-F238E27FC236}">
                <a16:creationId xmlns:a16="http://schemas.microsoft.com/office/drawing/2014/main" id="{80370804-4248-4F54-ADC7-F725952FEC11}"/>
              </a:ext>
            </a:extLst>
          </p:cNvPr>
          <p:cNvSpPr txBox="1"/>
          <p:nvPr/>
        </p:nvSpPr>
        <p:spPr>
          <a:xfrm>
            <a:off x="6737896" y="4289742"/>
            <a:ext cx="5129849" cy="1169551"/>
          </a:xfrm>
          <a:prstGeom prst="rect">
            <a:avLst/>
          </a:prstGeom>
          <a:noFill/>
        </p:spPr>
        <p:txBody>
          <a:bodyPr wrap="square" rtlCol="0">
            <a:spAutoFit/>
          </a:bodyPr>
          <a:lstStyle/>
          <a:p>
            <a:pPr marL="342900" indent="-342900">
              <a:buAutoNum type="arabicPeriod"/>
            </a:pPr>
            <a:r>
              <a:rPr lang="en-SG" sz="1400" dirty="0"/>
              <a:t>Create Model for Data object</a:t>
            </a:r>
          </a:p>
          <a:p>
            <a:pPr marL="342900" indent="-342900">
              <a:buAutoNum type="arabicPeriod"/>
            </a:pPr>
            <a:endParaRPr lang="en-SG" sz="1400" dirty="0"/>
          </a:p>
          <a:p>
            <a:pPr marL="342900" indent="-342900">
              <a:buAutoNum type="arabicPeriod"/>
            </a:pPr>
            <a:r>
              <a:rPr lang="en-SG" sz="1400" dirty="0"/>
              <a:t>Create </a:t>
            </a:r>
            <a:r>
              <a:rPr lang="en-SG" sz="1400" dirty="0" err="1"/>
              <a:t>Datasource</a:t>
            </a:r>
            <a:r>
              <a:rPr lang="en-SG" sz="1400" dirty="0"/>
              <a:t> with methods to handle Data object</a:t>
            </a:r>
          </a:p>
          <a:p>
            <a:pPr marL="342900" indent="-342900">
              <a:buAutoNum type="arabicPeriod"/>
            </a:pPr>
            <a:endParaRPr lang="en-SG" sz="1400" dirty="0"/>
          </a:p>
          <a:p>
            <a:pPr marL="342900" indent="-342900">
              <a:buAutoNum type="arabicPeriod"/>
            </a:pPr>
            <a:r>
              <a:rPr lang="en-SG" sz="1400" dirty="0"/>
              <a:t>Pass in Data object(s) into </a:t>
            </a:r>
            <a:r>
              <a:rPr lang="en-SG" sz="1400" dirty="0" err="1"/>
              <a:t>RecyclerView’s</a:t>
            </a:r>
            <a:r>
              <a:rPr lang="en-SG" sz="1400" dirty="0"/>
              <a:t> </a:t>
            </a:r>
            <a:r>
              <a:rPr lang="en-SG" sz="1400" dirty="0" err="1">
                <a:latin typeface="Lucida Console" panose="020B0609040504020204" pitchFamily="49" charset="0"/>
              </a:rPr>
              <a:t>ItemAdapter</a:t>
            </a:r>
            <a:r>
              <a:rPr lang="en-SG" sz="1400" dirty="0"/>
              <a:t> class</a:t>
            </a:r>
          </a:p>
        </p:txBody>
      </p:sp>
      <p:pic>
        <p:nvPicPr>
          <p:cNvPr id="14" name="Picture 13">
            <a:extLst>
              <a:ext uri="{FF2B5EF4-FFF2-40B4-BE49-F238E27FC236}">
                <a16:creationId xmlns:a16="http://schemas.microsoft.com/office/drawing/2014/main" id="{815CACDC-EF09-4A5D-83D6-B3C00660D440}"/>
              </a:ext>
            </a:extLst>
          </p:cNvPr>
          <p:cNvPicPr>
            <a:picLocks noChangeAspect="1"/>
          </p:cNvPicPr>
          <p:nvPr/>
        </p:nvPicPr>
        <p:blipFill>
          <a:blip r:embed="rId2"/>
          <a:stretch>
            <a:fillRect/>
          </a:stretch>
        </p:blipFill>
        <p:spPr>
          <a:xfrm>
            <a:off x="5378424" y="739984"/>
            <a:ext cx="6489321" cy="1020936"/>
          </a:xfrm>
          <a:prstGeom prst="rect">
            <a:avLst/>
          </a:prstGeom>
        </p:spPr>
      </p:pic>
      <p:pic>
        <p:nvPicPr>
          <p:cNvPr id="16" name="Picture 15">
            <a:extLst>
              <a:ext uri="{FF2B5EF4-FFF2-40B4-BE49-F238E27FC236}">
                <a16:creationId xmlns:a16="http://schemas.microsoft.com/office/drawing/2014/main" id="{525B09EA-7F10-406E-B648-9EEAD5560AA1}"/>
              </a:ext>
            </a:extLst>
          </p:cNvPr>
          <p:cNvPicPr>
            <a:picLocks noChangeAspect="1"/>
          </p:cNvPicPr>
          <p:nvPr/>
        </p:nvPicPr>
        <p:blipFill>
          <a:blip r:embed="rId3"/>
          <a:stretch>
            <a:fillRect/>
          </a:stretch>
        </p:blipFill>
        <p:spPr>
          <a:xfrm>
            <a:off x="952339" y="2038448"/>
            <a:ext cx="6489321" cy="1903534"/>
          </a:xfrm>
          <a:prstGeom prst="rect">
            <a:avLst/>
          </a:prstGeom>
        </p:spPr>
      </p:pic>
      <p:grpSp>
        <p:nvGrpSpPr>
          <p:cNvPr id="8" name="Group 7">
            <a:extLst>
              <a:ext uri="{FF2B5EF4-FFF2-40B4-BE49-F238E27FC236}">
                <a16:creationId xmlns:a16="http://schemas.microsoft.com/office/drawing/2014/main" id="{61AA8592-9D18-47EF-8BB2-6EAAF6DFEE6D}"/>
              </a:ext>
            </a:extLst>
          </p:cNvPr>
          <p:cNvGrpSpPr/>
          <p:nvPr/>
        </p:nvGrpSpPr>
        <p:grpSpPr>
          <a:xfrm>
            <a:off x="952339" y="4182072"/>
            <a:ext cx="5540220" cy="2193823"/>
            <a:chOff x="962067" y="1905795"/>
            <a:chExt cx="5540220" cy="2193823"/>
          </a:xfrm>
        </p:grpSpPr>
        <p:pic>
          <p:nvPicPr>
            <p:cNvPr id="5" name="Picture 4">
              <a:extLst>
                <a:ext uri="{FF2B5EF4-FFF2-40B4-BE49-F238E27FC236}">
                  <a16:creationId xmlns:a16="http://schemas.microsoft.com/office/drawing/2014/main" id="{1393031C-A365-46A4-9974-D5998E708CCA}"/>
                </a:ext>
              </a:extLst>
            </p:cNvPr>
            <p:cNvPicPr>
              <a:picLocks noChangeAspect="1"/>
            </p:cNvPicPr>
            <p:nvPr/>
          </p:nvPicPr>
          <p:blipFill>
            <a:blip r:embed="rId4"/>
            <a:stretch>
              <a:fillRect/>
            </a:stretch>
          </p:blipFill>
          <p:spPr>
            <a:xfrm>
              <a:off x="962067" y="2758382"/>
              <a:ext cx="5540220" cy="1341236"/>
            </a:xfrm>
            <a:prstGeom prst="rect">
              <a:avLst/>
            </a:prstGeom>
          </p:spPr>
        </p:pic>
        <p:pic>
          <p:nvPicPr>
            <p:cNvPr id="7" name="Picture 6">
              <a:extLst>
                <a:ext uri="{FF2B5EF4-FFF2-40B4-BE49-F238E27FC236}">
                  <a16:creationId xmlns:a16="http://schemas.microsoft.com/office/drawing/2014/main" id="{3FBD69DF-55D4-435A-ABB2-C59B0A2C6FA6}"/>
                </a:ext>
              </a:extLst>
            </p:cNvPr>
            <p:cNvPicPr>
              <a:picLocks noChangeAspect="1"/>
            </p:cNvPicPr>
            <p:nvPr/>
          </p:nvPicPr>
          <p:blipFill>
            <a:blip r:embed="rId5"/>
            <a:stretch>
              <a:fillRect/>
            </a:stretch>
          </p:blipFill>
          <p:spPr>
            <a:xfrm>
              <a:off x="962067" y="1905795"/>
              <a:ext cx="4534293" cy="914479"/>
            </a:xfrm>
            <a:prstGeom prst="rect">
              <a:avLst/>
            </a:prstGeom>
          </p:spPr>
        </p:pic>
        <p:sp>
          <p:nvSpPr>
            <p:cNvPr id="3" name="TextBox 2">
              <a:extLst>
                <a:ext uri="{FF2B5EF4-FFF2-40B4-BE49-F238E27FC236}">
                  <a16:creationId xmlns:a16="http://schemas.microsoft.com/office/drawing/2014/main" id="{E8AEC0B7-237C-4BFA-B3D5-32719DB70893}"/>
                </a:ext>
              </a:extLst>
            </p:cNvPr>
            <p:cNvSpPr txBox="1"/>
            <p:nvPr/>
          </p:nvSpPr>
          <p:spPr>
            <a:xfrm>
              <a:off x="5171348" y="2543275"/>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grpSp>
      <p:sp>
        <p:nvSpPr>
          <p:cNvPr id="17" name="TextBox 16">
            <a:extLst>
              <a:ext uri="{FF2B5EF4-FFF2-40B4-BE49-F238E27FC236}">
                <a16:creationId xmlns:a16="http://schemas.microsoft.com/office/drawing/2014/main" id="{10C786AE-AAAD-4ADA-BB0D-DCCFE5F1BE57}"/>
              </a:ext>
            </a:extLst>
          </p:cNvPr>
          <p:cNvSpPr txBox="1"/>
          <p:nvPr/>
        </p:nvSpPr>
        <p:spPr>
          <a:xfrm>
            <a:off x="10875274" y="601484"/>
            <a:ext cx="1093120" cy="276999"/>
          </a:xfrm>
          <a:prstGeom prst="rect">
            <a:avLst/>
          </a:prstGeom>
          <a:solidFill>
            <a:schemeClr val="accent4"/>
          </a:solidFill>
        </p:spPr>
        <p:txBody>
          <a:bodyPr wrap="none" rtlCol="0">
            <a:spAutoFit/>
          </a:bodyPr>
          <a:lstStyle/>
          <a:p>
            <a:r>
              <a:rPr lang="en-SG" sz="1200" dirty="0" err="1"/>
              <a:t>Affirmation.kt</a:t>
            </a:r>
            <a:endParaRPr lang="en-SG" sz="1200" dirty="0"/>
          </a:p>
        </p:txBody>
      </p:sp>
      <p:sp>
        <p:nvSpPr>
          <p:cNvPr id="18" name="TextBox 17">
            <a:extLst>
              <a:ext uri="{FF2B5EF4-FFF2-40B4-BE49-F238E27FC236}">
                <a16:creationId xmlns:a16="http://schemas.microsoft.com/office/drawing/2014/main" id="{D78EEB8A-2CA7-419B-994E-DF11BEDA989D}"/>
              </a:ext>
            </a:extLst>
          </p:cNvPr>
          <p:cNvSpPr txBox="1"/>
          <p:nvPr/>
        </p:nvSpPr>
        <p:spPr>
          <a:xfrm>
            <a:off x="6715629" y="1948064"/>
            <a:ext cx="1050416" cy="276999"/>
          </a:xfrm>
          <a:prstGeom prst="rect">
            <a:avLst/>
          </a:prstGeom>
          <a:solidFill>
            <a:schemeClr val="accent4"/>
          </a:solidFill>
        </p:spPr>
        <p:txBody>
          <a:bodyPr wrap="none" rtlCol="0">
            <a:spAutoFit/>
          </a:bodyPr>
          <a:lstStyle/>
          <a:p>
            <a:r>
              <a:rPr lang="en-SG" sz="1200" dirty="0" err="1"/>
              <a:t>Datasource.kt</a:t>
            </a:r>
            <a:endParaRPr lang="en-SG" sz="1200" dirty="0"/>
          </a:p>
        </p:txBody>
      </p:sp>
    </p:spTree>
    <p:extLst>
      <p:ext uri="{BB962C8B-B14F-4D97-AF65-F5344CB8AC3E}">
        <p14:creationId xmlns:p14="http://schemas.microsoft.com/office/powerpoint/2010/main" val="9175815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C3E1B2E-4977-48CF-807D-EE6A5C3FC8F2}"/>
              </a:ext>
            </a:extLst>
          </p:cNvPr>
          <p:cNvPicPr>
            <a:picLocks noChangeAspect="1"/>
          </p:cNvPicPr>
          <p:nvPr/>
        </p:nvPicPr>
        <p:blipFill>
          <a:blip r:embed="rId2"/>
          <a:stretch>
            <a:fillRect/>
          </a:stretch>
        </p:blipFill>
        <p:spPr>
          <a:xfrm>
            <a:off x="952339" y="3337073"/>
            <a:ext cx="6197491" cy="3208853"/>
          </a:xfrm>
          <a:prstGeom prst="rect">
            <a:avLst/>
          </a:prstGeom>
        </p:spPr>
      </p:pic>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pic>
        <p:nvPicPr>
          <p:cNvPr id="11" name="Picture 10">
            <a:extLst>
              <a:ext uri="{FF2B5EF4-FFF2-40B4-BE49-F238E27FC236}">
                <a16:creationId xmlns:a16="http://schemas.microsoft.com/office/drawing/2014/main" id="{C967EAC0-D65F-4274-9B06-D43E0A846EB7}"/>
              </a:ext>
            </a:extLst>
          </p:cNvPr>
          <p:cNvPicPr>
            <a:picLocks noChangeAspect="1"/>
          </p:cNvPicPr>
          <p:nvPr/>
        </p:nvPicPr>
        <p:blipFill rotWithShape="1">
          <a:blip r:embed="rId3"/>
          <a:srcRect b="59737"/>
          <a:stretch/>
        </p:blipFill>
        <p:spPr>
          <a:xfrm>
            <a:off x="952339" y="1417331"/>
            <a:ext cx="8716955" cy="1919742"/>
          </a:xfrm>
          <a:prstGeom prst="rect">
            <a:avLst/>
          </a:prstGeom>
        </p:spPr>
      </p:pic>
      <p:sp>
        <p:nvSpPr>
          <p:cNvPr id="12" name="TextBox 11">
            <a:extLst>
              <a:ext uri="{FF2B5EF4-FFF2-40B4-BE49-F238E27FC236}">
                <a16:creationId xmlns:a16="http://schemas.microsoft.com/office/drawing/2014/main" id="{EE5AF734-F76D-45BA-BA87-18E280D90CE8}"/>
              </a:ext>
            </a:extLst>
          </p:cNvPr>
          <p:cNvSpPr txBox="1"/>
          <p:nvPr/>
        </p:nvSpPr>
        <p:spPr>
          <a:xfrm>
            <a:off x="9223536" y="1927185"/>
            <a:ext cx="1119794" cy="276999"/>
          </a:xfrm>
          <a:prstGeom prst="rect">
            <a:avLst/>
          </a:prstGeom>
          <a:solidFill>
            <a:schemeClr val="accent4"/>
          </a:solidFill>
        </p:spPr>
        <p:txBody>
          <a:bodyPr wrap="none" rtlCol="0">
            <a:spAutoFit/>
          </a:bodyPr>
          <a:lstStyle/>
          <a:p>
            <a:r>
              <a:rPr lang="en-SG" sz="1200" dirty="0" err="1"/>
              <a:t>ItemAdapter.kt</a:t>
            </a:r>
            <a:endParaRPr lang="en-SG" sz="1200" dirty="0"/>
          </a:p>
        </p:txBody>
      </p:sp>
      <p:sp>
        <p:nvSpPr>
          <p:cNvPr id="14" name="TextBox 13">
            <a:extLst>
              <a:ext uri="{FF2B5EF4-FFF2-40B4-BE49-F238E27FC236}">
                <a16:creationId xmlns:a16="http://schemas.microsoft.com/office/drawing/2014/main" id="{003B951C-49F9-4459-8511-0FF2927FB7F8}"/>
              </a:ext>
            </a:extLst>
          </p:cNvPr>
          <p:cNvSpPr txBox="1"/>
          <p:nvPr/>
        </p:nvSpPr>
        <p:spPr>
          <a:xfrm>
            <a:off x="7320874" y="4249002"/>
            <a:ext cx="4871126" cy="1384995"/>
          </a:xfrm>
          <a:prstGeom prst="rect">
            <a:avLst/>
          </a:prstGeom>
          <a:noFill/>
        </p:spPr>
        <p:txBody>
          <a:bodyPr wrap="square">
            <a:spAutoFit/>
          </a:bodyPr>
          <a:lstStyle/>
          <a:p>
            <a:r>
              <a:rPr lang="en-SG" sz="1400" dirty="0"/>
              <a:t>Within </a:t>
            </a:r>
            <a:r>
              <a:rPr lang="en-SG" sz="1400" dirty="0" err="1">
                <a:latin typeface="Lucida Console" panose="020B0609040504020204" pitchFamily="49" charset="0"/>
              </a:rPr>
              <a:t>ItemAdapter</a:t>
            </a:r>
            <a:r>
              <a:rPr lang="en-SG" sz="1400" dirty="0"/>
              <a:t> class, there is a </a:t>
            </a:r>
            <a:r>
              <a:rPr lang="en-SG" sz="1400" dirty="0" err="1">
                <a:latin typeface="Lucida Console" panose="020B0609040504020204" pitchFamily="49" charset="0"/>
              </a:rPr>
              <a:t>ViewHolder</a:t>
            </a:r>
            <a:r>
              <a:rPr lang="en-SG" sz="1400" dirty="0"/>
              <a:t> class, which can hold more than one Views, and overriding methods that handles the </a:t>
            </a:r>
            <a:r>
              <a:rPr lang="en-SG" sz="1400" dirty="0" err="1">
                <a:latin typeface="Lucida Console" panose="020B0609040504020204" pitchFamily="49" charset="0"/>
              </a:rPr>
              <a:t>ViewHolder</a:t>
            </a:r>
            <a:r>
              <a:rPr lang="en-SG" sz="1400" dirty="0"/>
              <a:t>.</a:t>
            </a:r>
          </a:p>
          <a:p>
            <a:pPr marL="800100" lvl="1" indent="-342900">
              <a:buAutoNum type="arabicPeriod"/>
            </a:pPr>
            <a:r>
              <a:rPr lang="en-SG" sz="1400" dirty="0" err="1">
                <a:latin typeface="Lucida Console" panose="020B0609040504020204" pitchFamily="49" charset="0"/>
              </a:rPr>
              <a:t>onCreateViewHolder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onBindViewHolder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getItemCount</a:t>
            </a:r>
            <a:r>
              <a:rPr lang="en-SG" sz="1400" dirty="0">
                <a:latin typeface="Lucida Console" panose="020B0609040504020204" pitchFamily="49" charset="0"/>
              </a:rPr>
              <a:t>()</a:t>
            </a:r>
          </a:p>
        </p:txBody>
      </p:sp>
    </p:spTree>
    <p:extLst>
      <p:ext uri="{BB962C8B-B14F-4D97-AF65-F5344CB8AC3E}">
        <p14:creationId xmlns:p14="http://schemas.microsoft.com/office/powerpoint/2010/main" val="24070439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59121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549511"/>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cxnSpLocks/>
            <a:stCxn id="12" idx="0"/>
            <a:endCxn id="11" idx="2"/>
          </p:cNvCxnSpPr>
          <p:nvPr/>
        </p:nvCxnSpPr>
        <p:spPr>
          <a:xfrm flipV="1">
            <a:off x="9931400" y="1962812"/>
            <a:ext cx="0" cy="15866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433479" y="2498299"/>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9" name="TextBox 28"/>
          <p:cNvSpPr txBox="1"/>
          <p:nvPr/>
        </p:nvSpPr>
        <p:spPr>
          <a:xfrm>
            <a:off x="2506228" y="6147483"/>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9474200" y="2287281"/>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
        <p:nvSpPr>
          <p:cNvPr id="30" name="Rectangle 29">
            <a:extLst>
              <a:ext uri="{FF2B5EF4-FFF2-40B4-BE49-F238E27FC236}">
                <a16:creationId xmlns:a16="http://schemas.microsoft.com/office/drawing/2014/main" id="{DD66BE9D-FDEC-418E-B85D-6DBDED4E8224}"/>
              </a:ext>
            </a:extLst>
          </p:cNvPr>
          <p:cNvSpPr/>
          <p:nvPr/>
        </p:nvSpPr>
        <p:spPr>
          <a:xfrm>
            <a:off x="8755706" y="5020011"/>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a:t>
            </a:r>
          </a:p>
          <a:p>
            <a:pPr algn="ctr"/>
            <a:r>
              <a:rPr lang="en-US" dirty="0">
                <a:solidFill>
                  <a:schemeClr val="tx1"/>
                </a:solidFill>
              </a:rPr>
              <a:t>(Local/Remote)</a:t>
            </a:r>
            <a:endParaRPr lang="en-SG" dirty="0">
              <a:solidFill>
                <a:schemeClr val="tx1"/>
              </a:solidFill>
            </a:endParaRPr>
          </a:p>
        </p:txBody>
      </p:sp>
      <p:cxnSp>
        <p:nvCxnSpPr>
          <p:cNvPr id="31" name="Straight Arrow Connector 30">
            <a:extLst>
              <a:ext uri="{FF2B5EF4-FFF2-40B4-BE49-F238E27FC236}">
                <a16:creationId xmlns:a16="http://schemas.microsoft.com/office/drawing/2014/main" id="{F94B4552-2842-41A8-A37B-0D60AB7FE181}"/>
              </a:ext>
            </a:extLst>
          </p:cNvPr>
          <p:cNvCxnSpPr>
            <a:cxnSpLocks/>
            <a:stCxn id="30" idx="0"/>
            <a:endCxn id="12" idx="2"/>
          </p:cNvCxnSpPr>
          <p:nvPr/>
        </p:nvCxnSpPr>
        <p:spPr>
          <a:xfrm flipV="1">
            <a:off x="9924106" y="4565511"/>
            <a:ext cx="7294" cy="454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Oval 27"/>
          <p:cNvSpPr/>
          <p:nvPr/>
        </p:nvSpPr>
        <p:spPr>
          <a:xfrm>
            <a:off x="10687050" y="4756551"/>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Tree>
    <p:extLst>
      <p:ext uri="{BB962C8B-B14F-4D97-AF65-F5344CB8AC3E}">
        <p14:creationId xmlns:p14="http://schemas.microsoft.com/office/powerpoint/2010/main" val="3935265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601889"/>
            <a:ext cx="10515600" cy="3135481"/>
          </a:xfrm>
        </p:spPr>
        <p:txBody>
          <a:bodyPr>
            <a:normAutofit fontScale="92500" lnSpcReduction="20000"/>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p>
          <a:p>
            <a:r>
              <a:rPr lang="en-US" sz="2400" dirty="0" err="1"/>
              <a:t>RecyclerView</a:t>
            </a:r>
            <a:r>
              <a:rPr lang="en-US" sz="2400" dirty="0"/>
              <a:t> supports displaying items in different ways, such as a linear list or a grid. Arranging the items is handled by a </a:t>
            </a:r>
            <a:r>
              <a:rPr lang="en-US" sz="2400" dirty="0" err="1"/>
              <a:t>LayoutManager</a:t>
            </a:r>
            <a:r>
              <a:rPr lang="en-US" sz="2400" dirty="0"/>
              <a:t> (e.g. </a:t>
            </a:r>
            <a:r>
              <a:rPr lang="en-US" sz="2400" dirty="0" err="1"/>
              <a:t>LinearLayoutManager</a:t>
            </a:r>
            <a:r>
              <a:rPr lang="en-US" sz="2400" dirty="0"/>
              <a:t>)</a:t>
            </a:r>
          </a:p>
          <a:p>
            <a:pPr lvl="1"/>
            <a:r>
              <a:rPr lang="en-US" sz="2000" dirty="0"/>
              <a:t>e.g. </a:t>
            </a:r>
            <a:r>
              <a:rPr lang="en-US" sz="2200" dirty="0"/>
              <a:t>in </a:t>
            </a:r>
            <a:r>
              <a:rPr lang="en-US" sz="2200" dirty="0" err="1"/>
              <a:t>RecyclerView</a:t>
            </a:r>
            <a:r>
              <a:rPr lang="en-US" sz="2200" dirty="0"/>
              <a:t> element of activity_main.xml, add </a:t>
            </a:r>
            <a:r>
              <a:rPr lang="en-US" sz="1700" dirty="0" err="1">
                <a:latin typeface="Lucida Console" panose="020B0609040504020204" pitchFamily="49" charset="0"/>
              </a:rPr>
              <a:t>app:layoutManager</a:t>
            </a:r>
            <a:r>
              <a:rPr lang="en-US" sz="1700" dirty="0">
                <a:latin typeface="Lucida Console" panose="020B0609040504020204" pitchFamily="49" charset="0"/>
              </a:rPr>
              <a:t>="</a:t>
            </a:r>
            <a:r>
              <a:rPr lang="en-US" sz="1700" dirty="0" err="1">
                <a:latin typeface="Lucida Console" panose="020B0609040504020204" pitchFamily="49" charset="0"/>
              </a:rPr>
              <a:t>LinearLayoutManager</a:t>
            </a:r>
            <a:r>
              <a:rPr lang="en-US" sz="1700" dirty="0">
                <a:latin typeface="Lucida Console" panose="020B0609040504020204" pitchFamily="49" charset="0"/>
              </a:rPr>
              <a:t>“</a:t>
            </a:r>
          </a:p>
          <a:p>
            <a:pPr lvl="1"/>
            <a:r>
              <a:rPr lang="en-US" sz="2200" dirty="0"/>
              <a:t>Can also use </a:t>
            </a:r>
            <a:r>
              <a:rPr lang="en-US" sz="1900" dirty="0" err="1">
                <a:latin typeface="Lucida Console" panose="020B0609040504020204" pitchFamily="49" charset="0"/>
              </a:rPr>
              <a:t>GridLayoutManager</a:t>
            </a:r>
            <a:r>
              <a:rPr lang="en-US" sz="2200" dirty="0"/>
              <a:t> if you want to have more than 1 column</a:t>
            </a:r>
            <a:endParaRPr lang="en-SG" sz="2000" dirty="0"/>
          </a:p>
        </p:txBody>
      </p:sp>
      <p:pic>
        <p:nvPicPr>
          <p:cNvPr id="6" name="Picture 5">
            <a:extLst>
              <a:ext uri="{FF2B5EF4-FFF2-40B4-BE49-F238E27FC236}">
                <a16:creationId xmlns:a16="http://schemas.microsoft.com/office/drawing/2014/main" id="{E81FF9AF-4D22-4081-A2C6-5756EA8849BC}"/>
              </a:ext>
            </a:extLst>
          </p:cNvPr>
          <p:cNvPicPr>
            <a:picLocks noChangeAspect="1"/>
          </p:cNvPicPr>
          <p:nvPr/>
        </p:nvPicPr>
        <p:blipFill>
          <a:blip r:embed="rId2"/>
          <a:stretch>
            <a:fillRect/>
          </a:stretch>
        </p:blipFill>
        <p:spPr>
          <a:xfrm>
            <a:off x="9687910" y="4383087"/>
            <a:ext cx="2187130" cy="2301439"/>
          </a:xfrm>
          <a:prstGeom prst="rect">
            <a:avLst/>
          </a:prstGeom>
        </p:spPr>
      </p:pic>
    </p:spTree>
    <p:extLst>
      <p:ext uri="{BB962C8B-B14F-4D97-AF65-F5344CB8AC3E}">
        <p14:creationId xmlns:p14="http://schemas.microsoft.com/office/powerpoint/2010/main" val="8331642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methods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Data class (i.e. Model)</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000" dirty="0"/>
              <a:t>You can think of data classes as… classes that will just hold data.</a:t>
            </a:r>
          </a:p>
          <a:p>
            <a:r>
              <a:rPr lang="en-US" sz="2000" dirty="0"/>
              <a:t>Data classes cannot be abstract, open, sealed, or inner.</a:t>
            </a:r>
          </a:p>
          <a:p>
            <a:r>
              <a:rPr lang="en-US" sz="2000" dirty="0"/>
              <a:t>So you won’t usually implement methods (like a normal class does), but Kotlin does generate necessary utility functions for data classes, like getters and setters, </a:t>
            </a:r>
            <a:r>
              <a:rPr lang="en-US" sz="2000" dirty="0" err="1">
                <a:latin typeface="Lucida Console" panose="020B0609040504020204" pitchFamily="49" charset="0"/>
              </a:rPr>
              <a:t>toString</a:t>
            </a:r>
            <a:r>
              <a:rPr lang="en-US" sz="2000" dirty="0">
                <a:latin typeface="Lucida Console" panose="020B0609040504020204" pitchFamily="49" charset="0"/>
              </a:rPr>
              <a:t>()</a:t>
            </a:r>
            <a:r>
              <a:rPr lang="en-US" sz="2000" dirty="0"/>
              <a:t>, </a:t>
            </a:r>
            <a:r>
              <a:rPr lang="en-US" sz="2000" dirty="0">
                <a:latin typeface="Lucida Console" panose="020B0609040504020204" pitchFamily="49" charset="0"/>
              </a:rPr>
              <a:t>equals()</a:t>
            </a:r>
            <a:r>
              <a:rPr lang="en-US" sz="2000" dirty="0"/>
              <a:t>, </a:t>
            </a:r>
            <a:r>
              <a:rPr lang="en-US" sz="2000" dirty="0" err="1">
                <a:latin typeface="Lucida Console" panose="020B0609040504020204" pitchFamily="49" charset="0"/>
              </a:rPr>
              <a:t>hashCode</a:t>
            </a:r>
            <a:r>
              <a:rPr lang="en-US" sz="2000" dirty="0">
                <a:latin typeface="Lucida Console" panose="020B0609040504020204" pitchFamily="49" charset="0"/>
              </a:rPr>
              <a:t>()</a:t>
            </a:r>
          </a:p>
          <a:p>
            <a:r>
              <a:rPr lang="en-US" sz="2000" dirty="0">
                <a:cs typeface="Segoe UI" panose="020B0502040204020203" pitchFamily="34" charset="0"/>
              </a:rPr>
              <a:t>But there is no restriction on implementing methods.</a:t>
            </a:r>
          </a:p>
          <a:p>
            <a:r>
              <a:rPr lang="en-US" sz="2000" dirty="0">
                <a:cs typeface="Segoe UI" panose="020B0502040204020203" pitchFamily="34" charset="0"/>
              </a:rPr>
              <a:t>On the other hand, </a:t>
            </a:r>
            <a:r>
              <a:rPr lang="en-US" sz="2000" dirty="0" err="1">
                <a:cs typeface="Segoe UI" panose="020B0502040204020203" pitchFamily="34" charset="0"/>
              </a:rPr>
              <a:t>Datasource</a:t>
            </a:r>
            <a:r>
              <a:rPr lang="en-US" sz="2000" dirty="0">
                <a:cs typeface="Segoe UI" panose="020B0502040204020203" pitchFamily="34" charset="0"/>
              </a:rPr>
              <a:t> is where you implement methods to handle the data class (i.e. model)</a:t>
            </a:r>
            <a:endParaRPr lang="en-SG" sz="2000" dirty="0">
              <a:cs typeface="Segoe UI" panose="020B0502040204020203" pitchFamily="34" charset="0"/>
            </a:endParaRPr>
          </a:p>
        </p:txBody>
      </p:sp>
    </p:spTree>
    <p:extLst>
      <p:ext uri="{BB962C8B-B14F-4D97-AF65-F5344CB8AC3E}">
        <p14:creationId xmlns:p14="http://schemas.microsoft.com/office/powerpoint/2010/main" val="40792561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319FA-23F3-465B-B3C8-DB2C04402EBC}"/>
              </a:ext>
            </a:extLst>
          </p:cNvPr>
          <p:cNvSpPr>
            <a:spLocks noGrp="1"/>
          </p:cNvSpPr>
          <p:nvPr>
            <p:ph type="title"/>
          </p:nvPr>
        </p:nvSpPr>
        <p:spPr/>
        <p:txBody>
          <a:bodyPr/>
          <a:lstStyle/>
          <a:p>
            <a:r>
              <a:rPr lang="en-SG" dirty="0"/>
              <a:t>Words App</a:t>
            </a:r>
          </a:p>
        </p:txBody>
      </p:sp>
      <p:sp>
        <p:nvSpPr>
          <p:cNvPr id="4" name="Rectangle 3">
            <a:extLst>
              <a:ext uri="{FF2B5EF4-FFF2-40B4-BE49-F238E27FC236}">
                <a16:creationId xmlns:a16="http://schemas.microsoft.com/office/drawing/2014/main" id="{74E23F8D-84BB-4E4B-91BF-9E613E8245E5}"/>
              </a:ext>
            </a:extLst>
          </p:cNvPr>
          <p:cNvSpPr/>
          <p:nvPr/>
        </p:nvSpPr>
        <p:spPr>
          <a:xfrm>
            <a:off x="817121"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MainActivity</a:t>
            </a:r>
            <a:endParaRPr lang="en-SG" sz="1400" dirty="0">
              <a:solidFill>
                <a:schemeClr val="tx1"/>
              </a:solidFill>
            </a:endParaRPr>
          </a:p>
        </p:txBody>
      </p:sp>
      <p:sp>
        <p:nvSpPr>
          <p:cNvPr id="5" name="Rectangle 4">
            <a:extLst>
              <a:ext uri="{FF2B5EF4-FFF2-40B4-BE49-F238E27FC236}">
                <a16:creationId xmlns:a16="http://schemas.microsoft.com/office/drawing/2014/main" id="{E5861B13-17E0-47C4-9121-78E95DFA3AA4}"/>
              </a:ext>
            </a:extLst>
          </p:cNvPr>
          <p:cNvSpPr/>
          <p:nvPr/>
        </p:nvSpPr>
        <p:spPr>
          <a:xfrm>
            <a:off x="3090150"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LetterAdapter</a:t>
            </a:r>
            <a:endParaRPr lang="en-SG" sz="1400" dirty="0">
              <a:solidFill>
                <a:schemeClr val="tx1"/>
              </a:solidFill>
            </a:endParaRPr>
          </a:p>
        </p:txBody>
      </p:sp>
      <p:sp>
        <p:nvSpPr>
          <p:cNvPr id="6" name="Rectangle 5">
            <a:extLst>
              <a:ext uri="{FF2B5EF4-FFF2-40B4-BE49-F238E27FC236}">
                <a16:creationId xmlns:a16="http://schemas.microsoft.com/office/drawing/2014/main" id="{F394E040-1F58-44CA-BEDB-058DC18246D1}"/>
              </a:ext>
            </a:extLst>
          </p:cNvPr>
          <p:cNvSpPr/>
          <p:nvPr/>
        </p:nvSpPr>
        <p:spPr>
          <a:xfrm>
            <a:off x="533399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DetailActivity</a:t>
            </a:r>
            <a:endParaRPr lang="en-SG" sz="1400" dirty="0">
              <a:solidFill>
                <a:schemeClr val="tx1"/>
              </a:solidFill>
            </a:endParaRPr>
          </a:p>
        </p:txBody>
      </p:sp>
      <p:sp>
        <p:nvSpPr>
          <p:cNvPr id="7" name="Rectangle 6">
            <a:extLst>
              <a:ext uri="{FF2B5EF4-FFF2-40B4-BE49-F238E27FC236}">
                <a16:creationId xmlns:a16="http://schemas.microsoft.com/office/drawing/2014/main" id="{DE89D554-9525-4342-A7EA-CD23A974E0D8}"/>
              </a:ext>
            </a:extLst>
          </p:cNvPr>
          <p:cNvSpPr/>
          <p:nvPr/>
        </p:nvSpPr>
        <p:spPr>
          <a:xfrm>
            <a:off x="756022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WordAdapter</a:t>
            </a:r>
            <a:endParaRPr lang="en-SG" sz="1400" dirty="0">
              <a:solidFill>
                <a:schemeClr val="tx1"/>
              </a:solidFill>
            </a:endParaRPr>
          </a:p>
        </p:txBody>
      </p:sp>
      <p:cxnSp>
        <p:nvCxnSpPr>
          <p:cNvPr id="9" name="Connector: Elbow 8">
            <a:extLst>
              <a:ext uri="{FF2B5EF4-FFF2-40B4-BE49-F238E27FC236}">
                <a16:creationId xmlns:a16="http://schemas.microsoft.com/office/drawing/2014/main" id="{9D6E03C2-E4D5-4A28-9496-4E63CF81F781}"/>
              </a:ext>
            </a:extLst>
          </p:cNvPr>
          <p:cNvCxnSpPr>
            <a:stCxn id="4" idx="2"/>
            <a:endCxn id="5" idx="2"/>
          </p:cNvCxnSpPr>
          <p:nvPr/>
        </p:nvCxnSpPr>
        <p:spPr>
          <a:xfrm rot="16200000" flipH="1">
            <a:off x="2790214" y="2643605"/>
            <a:ext cx="12700" cy="2273029"/>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34C67A-4A75-4DC4-ADCE-4D237CE9D151}"/>
              </a:ext>
            </a:extLst>
          </p:cNvPr>
          <p:cNvSpPr txBox="1"/>
          <p:nvPr/>
        </p:nvSpPr>
        <p:spPr>
          <a:xfrm>
            <a:off x="916624" y="5072156"/>
            <a:ext cx="3759879"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LetterAdapter</a:t>
            </a:r>
            <a:r>
              <a:rPr lang="en-SG" sz="1100" dirty="0">
                <a:latin typeface="Lucida Console" panose="020B0609040504020204" pitchFamily="49" charset="0"/>
              </a:rPr>
              <a:t>()</a:t>
            </a:r>
          </a:p>
        </p:txBody>
      </p:sp>
      <p:cxnSp>
        <p:nvCxnSpPr>
          <p:cNvPr id="13" name="Connector: Elbow 12">
            <a:extLst>
              <a:ext uri="{FF2B5EF4-FFF2-40B4-BE49-F238E27FC236}">
                <a16:creationId xmlns:a16="http://schemas.microsoft.com/office/drawing/2014/main" id="{E71C3845-921A-4DCE-B6C7-009C2BF9569D}"/>
              </a:ext>
            </a:extLst>
          </p:cNvPr>
          <p:cNvCxnSpPr>
            <a:cxnSpLocks/>
            <a:stCxn id="5" idx="0"/>
            <a:endCxn id="6" idx="0"/>
          </p:cNvCxnSpPr>
          <p:nvPr/>
        </p:nvCxnSpPr>
        <p:spPr>
          <a:xfrm rot="5400000" flipH="1" flipV="1">
            <a:off x="5048652" y="2092069"/>
            <a:ext cx="12700" cy="2243846"/>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626DC54-24FB-4EBF-81D5-D53CF3F1B712}"/>
              </a:ext>
            </a:extLst>
          </p:cNvPr>
          <p:cNvSpPr txBox="1"/>
          <p:nvPr/>
        </p:nvSpPr>
        <p:spPr>
          <a:xfrm>
            <a:off x="3027840" y="2496866"/>
            <a:ext cx="4012437" cy="430887"/>
          </a:xfrm>
          <a:prstGeom prst="rect">
            <a:avLst/>
          </a:prstGeom>
          <a:noFill/>
        </p:spPr>
        <p:txBody>
          <a:bodyPr wrap="square">
            <a:spAutoFit/>
          </a:bodyPr>
          <a:lstStyle/>
          <a:p>
            <a:pPr algn="ctr"/>
            <a:r>
              <a:rPr lang="en-US" sz="1100" dirty="0">
                <a:latin typeface="Lucida Console" panose="020B0609040504020204" pitchFamily="49" charset="0"/>
              </a:rPr>
              <a:t>Intent(context, </a:t>
            </a:r>
            <a:r>
              <a:rPr lang="en-US" sz="1100" dirty="0" err="1">
                <a:latin typeface="Lucida Console" panose="020B0609040504020204" pitchFamily="49" charset="0"/>
              </a:rPr>
              <a:t>DetailActivity</a:t>
            </a:r>
            <a:r>
              <a:rPr lang="en-US" sz="1100" dirty="0">
                <a:latin typeface="Lucida Console" panose="020B0609040504020204" pitchFamily="49" charset="0"/>
              </a:rPr>
              <a:t>::class.java)</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cxnSp>
        <p:nvCxnSpPr>
          <p:cNvPr id="17" name="Connector: Elbow 16">
            <a:extLst>
              <a:ext uri="{FF2B5EF4-FFF2-40B4-BE49-F238E27FC236}">
                <a16:creationId xmlns:a16="http://schemas.microsoft.com/office/drawing/2014/main" id="{CCEBE68C-8F0A-4A75-9B1A-460337DC9F01}"/>
              </a:ext>
            </a:extLst>
          </p:cNvPr>
          <p:cNvCxnSpPr>
            <a:cxnSpLocks/>
            <a:stCxn id="6" idx="2"/>
            <a:endCxn id="7" idx="2"/>
          </p:cNvCxnSpPr>
          <p:nvPr/>
        </p:nvCxnSpPr>
        <p:spPr>
          <a:xfrm rot="16200000" flipH="1">
            <a:off x="7283690" y="2667005"/>
            <a:ext cx="12700" cy="222623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291DC53-FB40-4C07-A73E-11962B92E390}"/>
              </a:ext>
            </a:extLst>
          </p:cNvPr>
          <p:cNvSpPr txBox="1"/>
          <p:nvPr/>
        </p:nvSpPr>
        <p:spPr>
          <a:xfrm>
            <a:off x="5076078" y="4581705"/>
            <a:ext cx="4474723"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WordAdapter</a:t>
            </a:r>
            <a:r>
              <a:rPr lang="en-SG" sz="1100" dirty="0">
                <a:latin typeface="Lucida Console" panose="020B0609040504020204" pitchFamily="49" charset="0"/>
              </a:rPr>
              <a:t>(</a:t>
            </a:r>
            <a:r>
              <a:rPr lang="en-SG" sz="1100" dirty="0" err="1">
                <a:latin typeface="Lucida Console" panose="020B0609040504020204" pitchFamily="49" charset="0"/>
              </a:rPr>
              <a:t>letterId</a:t>
            </a:r>
            <a:r>
              <a:rPr lang="en-SG" sz="1100" dirty="0">
                <a:latin typeface="Lucida Console" panose="020B0609040504020204" pitchFamily="49" charset="0"/>
              </a:rPr>
              <a:t>)</a:t>
            </a:r>
          </a:p>
        </p:txBody>
      </p:sp>
      <p:sp>
        <p:nvSpPr>
          <p:cNvPr id="24" name="TextBox 23">
            <a:extLst>
              <a:ext uri="{FF2B5EF4-FFF2-40B4-BE49-F238E27FC236}">
                <a16:creationId xmlns:a16="http://schemas.microsoft.com/office/drawing/2014/main" id="{EA761B75-4879-4A6C-A738-376C463F53FF}"/>
              </a:ext>
            </a:extLst>
          </p:cNvPr>
          <p:cNvSpPr txBox="1"/>
          <p:nvPr/>
        </p:nvSpPr>
        <p:spPr>
          <a:xfrm>
            <a:off x="7845330" y="2524785"/>
            <a:ext cx="3329180" cy="430887"/>
          </a:xfrm>
          <a:prstGeom prst="rect">
            <a:avLst/>
          </a:prstGeom>
          <a:noFill/>
        </p:spPr>
        <p:txBody>
          <a:bodyPr wrap="square">
            <a:spAutoFit/>
          </a:bodyPr>
          <a:lstStyle/>
          <a:p>
            <a:pPr algn="ctr"/>
            <a:r>
              <a:rPr lang="en-SG" sz="1100" dirty="0">
                <a:latin typeface="Lucida Console" panose="020B0609040504020204" pitchFamily="49" charset="0"/>
              </a:rPr>
              <a:t>Intent(</a:t>
            </a:r>
            <a:r>
              <a:rPr lang="en-SG" sz="1100" dirty="0" err="1">
                <a:latin typeface="Lucida Console" panose="020B0609040504020204" pitchFamily="49" charset="0"/>
              </a:rPr>
              <a:t>Intent.ACTION_VIEW</a:t>
            </a:r>
            <a:r>
              <a:rPr lang="en-SG" sz="1100" dirty="0">
                <a:latin typeface="Lucida Console" panose="020B0609040504020204" pitchFamily="49" charset="0"/>
              </a:rPr>
              <a:t>, </a:t>
            </a:r>
            <a:r>
              <a:rPr lang="en-SG" sz="1100" dirty="0" err="1">
                <a:latin typeface="Lucida Console" panose="020B0609040504020204" pitchFamily="49" charset="0"/>
              </a:rPr>
              <a:t>queryUrl</a:t>
            </a:r>
            <a:r>
              <a:rPr lang="en-SG" sz="1100" dirty="0">
                <a:latin typeface="Lucida Console" panose="020B0609040504020204" pitchFamily="49" charset="0"/>
              </a:rPr>
              <a:t>)</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sp>
        <p:nvSpPr>
          <p:cNvPr id="25" name="Rectangle 24">
            <a:extLst>
              <a:ext uri="{FF2B5EF4-FFF2-40B4-BE49-F238E27FC236}">
                <a16:creationId xmlns:a16="http://schemas.microsoft.com/office/drawing/2014/main" id="{3B4A9F61-6980-4F4B-A41C-CDA53D77F7EB}"/>
              </a:ext>
            </a:extLst>
          </p:cNvPr>
          <p:cNvSpPr/>
          <p:nvPr/>
        </p:nvSpPr>
        <p:spPr>
          <a:xfrm>
            <a:off x="9786456" y="322034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Start implicit intent of selected word</a:t>
            </a:r>
          </a:p>
        </p:txBody>
      </p:sp>
      <p:cxnSp>
        <p:nvCxnSpPr>
          <p:cNvPr id="26" name="Connector: Elbow 25">
            <a:extLst>
              <a:ext uri="{FF2B5EF4-FFF2-40B4-BE49-F238E27FC236}">
                <a16:creationId xmlns:a16="http://schemas.microsoft.com/office/drawing/2014/main" id="{EDB670BE-EFBB-44CF-A101-705CB3ABDFCF}"/>
              </a:ext>
            </a:extLst>
          </p:cNvPr>
          <p:cNvCxnSpPr>
            <a:cxnSpLocks/>
            <a:stCxn id="7" idx="0"/>
            <a:endCxn id="25" idx="0"/>
          </p:cNvCxnSpPr>
          <p:nvPr/>
        </p:nvCxnSpPr>
        <p:spPr>
          <a:xfrm rot="16200000" flipH="1">
            <a:off x="9506745" y="2104052"/>
            <a:ext cx="6350" cy="2226230"/>
          </a:xfrm>
          <a:prstGeom prst="bentConnector3">
            <a:avLst>
              <a:gd name="adj1" fmla="val -36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6315C7B-F018-4F88-9D33-3F53B53BCCAC}"/>
              </a:ext>
            </a:extLst>
          </p:cNvPr>
          <p:cNvSpPr txBox="1"/>
          <p:nvPr/>
        </p:nvSpPr>
        <p:spPr>
          <a:xfrm>
            <a:off x="1660049" y="4575060"/>
            <a:ext cx="2273030" cy="261610"/>
          </a:xfrm>
          <a:prstGeom prst="rect">
            <a:avLst/>
          </a:prstGeom>
          <a:noFill/>
        </p:spPr>
        <p:txBody>
          <a:bodyPr wrap="square">
            <a:spAutoFit/>
          </a:bodyPr>
          <a:lstStyle/>
          <a:p>
            <a:pPr algn="ctr"/>
            <a:r>
              <a:rPr lang="en-SG" sz="1100" dirty="0" err="1">
                <a:latin typeface="Lucida Console" panose="020B0609040504020204" pitchFamily="49" charset="0"/>
              </a:rPr>
              <a:t>chooseLayout</a:t>
            </a:r>
            <a:r>
              <a:rPr lang="en-SG" sz="1100" dirty="0">
                <a:latin typeface="Lucida Console" panose="020B0609040504020204" pitchFamily="49" charset="0"/>
              </a:rPr>
              <a:t>()</a:t>
            </a:r>
          </a:p>
        </p:txBody>
      </p:sp>
      <p:sp>
        <p:nvSpPr>
          <p:cNvPr id="31" name="TextBox 30">
            <a:extLst>
              <a:ext uri="{FF2B5EF4-FFF2-40B4-BE49-F238E27FC236}">
                <a16:creationId xmlns:a16="http://schemas.microsoft.com/office/drawing/2014/main" id="{FE0E1933-A7DA-4E2F-9F99-0C29D63BDAA9}"/>
              </a:ext>
            </a:extLst>
          </p:cNvPr>
          <p:cNvSpPr txBox="1"/>
          <p:nvPr/>
        </p:nvSpPr>
        <p:spPr>
          <a:xfrm>
            <a:off x="1660049" y="4118533"/>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2" name="TextBox 31">
            <a:extLst>
              <a:ext uri="{FF2B5EF4-FFF2-40B4-BE49-F238E27FC236}">
                <a16:creationId xmlns:a16="http://schemas.microsoft.com/office/drawing/2014/main" id="{F15B3D76-1DC8-412E-8792-944163476195}"/>
              </a:ext>
            </a:extLst>
          </p:cNvPr>
          <p:cNvSpPr txBox="1"/>
          <p:nvPr/>
        </p:nvSpPr>
        <p:spPr>
          <a:xfrm>
            <a:off x="3897544" y="2000234"/>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sp>
        <p:nvSpPr>
          <p:cNvPr id="33" name="TextBox 32">
            <a:extLst>
              <a:ext uri="{FF2B5EF4-FFF2-40B4-BE49-F238E27FC236}">
                <a16:creationId xmlns:a16="http://schemas.microsoft.com/office/drawing/2014/main" id="{59A677ED-DA61-4682-92D9-A42D7C81E2D5}"/>
              </a:ext>
            </a:extLst>
          </p:cNvPr>
          <p:cNvSpPr txBox="1"/>
          <p:nvPr/>
        </p:nvSpPr>
        <p:spPr>
          <a:xfrm>
            <a:off x="6176925" y="4084637"/>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4" name="TextBox 33">
            <a:extLst>
              <a:ext uri="{FF2B5EF4-FFF2-40B4-BE49-F238E27FC236}">
                <a16:creationId xmlns:a16="http://schemas.microsoft.com/office/drawing/2014/main" id="{FC829C2F-7037-4681-98E8-559F4B1DE49E}"/>
              </a:ext>
            </a:extLst>
          </p:cNvPr>
          <p:cNvSpPr txBox="1"/>
          <p:nvPr/>
        </p:nvSpPr>
        <p:spPr>
          <a:xfrm>
            <a:off x="8378616" y="1998505"/>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cxnSp>
        <p:nvCxnSpPr>
          <p:cNvPr id="36" name="Straight Arrow Connector 35">
            <a:extLst>
              <a:ext uri="{FF2B5EF4-FFF2-40B4-BE49-F238E27FC236}">
                <a16:creationId xmlns:a16="http://schemas.microsoft.com/office/drawing/2014/main" id="{84086674-7F2B-4329-B6C3-FD417D9C96ED}"/>
              </a:ext>
            </a:extLst>
          </p:cNvPr>
          <p:cNvCxnSpPr>
            <a:stCxn id="31" idx="2"/>
            <a:endCxn id="30" idx="0"/>
          </p:cNvCxnSpPr>
          <p:nvPr/>
        </p:nvCxnSpPr>
        <p:spPr>
          <a:xfrm>
            <a:off x="2796564" y="4380143"/>
            <a:ext cx="0" cy="194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646A7971-B98C-43BD-A488-5E46655E6669}"/>
              </a:ext>
            </a:extLst>
          </p:cNvPr>
          <p:cNvCxnSpPr>
            <a:cxnSpLocks/>
            <a:stCxn id="30" idx="2"/>
            <a:endCxn id="12" idx="0"/>
          </p:cNvCxnSpPr>
          <p:nvPr/>
        </p:nvCxnSpPr>
        <p:spPr>
          <a:xfrm>
            <a:off x="2796564" y="4836670"/>
            <a:ext cx="0" cy="235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7F854114-B326-40A9-84F3-39E6B28CDDAF}"/>
              </a:ext>
            </a:extLst>
          </p:cNvPr>
          <p:cNvCxnSpPr>
            <a:cxnSpLocks/>
            <a:stCxn id="32" idx="2"/>
            <a:endCxn id="16" idx="0"/>
          </p:cNvCxnSpPr>
          <p:nvPr/>
        </p:nvCxnSpPr>
        <p:spPr>
          <a:xfrm>
            <a:off x="5034059" y="2261844"/>
            <a:ext cx="0" cy="2350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EB3F9A0-92CA-4EA8-A9ED-D30D43A6C747}"/>
              </a:ext>
            </a:extLst>
          </p:cNvPr>
          <p:cNvCxnSpPr>
            <a:cxnSpLocks/>
            <a:stCxn id="33" idx="2"/>
            <a:endCxn id="20" idx="0"/>
          </p:cNvCxnSpPr>
          <p:nvPr/>
        </p:nvCxnSpPr>
        <p:spPr>
          <a:xfrm>
            <a:off x="7313440" y="4346247"/>
            <a:ext cx="0" cy="2354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26DC3278-E79C-44D3-88F6-9090C4D370DD}"/>
              </a:ext>
            </a:extLst>
          </p:cNvPr>
          <p:cNvCxnSpPr>
            <a:cxnSpLocks/>
            <a:stCxn id="34" idx="2"/>
            <a:endCxn id="24" idx="0"/>
          </p:cNvCxnSpPr>
          <p:nvPr/>
        </p:nvCxnSpPr>
        <p:spPr>
          <a:xfrm flipH="1">
            <a:off x="9509920" y="2260115"/>
            <a:ext cx="5211" cy="2646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9703113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E0EA7-832C-4C3F-B1EE-168966D09D16}"/>
              </a:ext>
            </a:extLst>
          </p:cNvPr>
          <p:cNvSpPr>
            <a:spLocks noGrp="1"/>
          </p:cNvSpPr>
          <p:nvPr>
            <p:ph type="title"/>
          </p:nvPr>
        </p:nvSpPr>
        <p:spPr/>
        <p:txBody>
          <a:bodyPr/>
          <a:lstStyle/>
          <a:p>
            <a:r>
              <a:rPr lang="en-SG" dirty="0"/>
              <a:t>Types of Layout (most commonly used)</a:t>
            </a:r>
          </a:p>
        </p:txBody>
      </p:sp>
      <p:sp>
        <p:nvSpPr>
          <p:cNvPr id="3" name="Content Placeholder 2">
            <a:extLst>
              <a:ext uri="{FF2B5EF4-FFF2-40B4-BE49-F238E27FC236}">
                <a16:creationId xmlns:a16="http://schemas.microsoft.com/office/drawing/2014/main" id="{E49695FC-017A-48C3-B49C-814387DBD30A}"/>
              </a:ext>
            </a:extLst>
          </p:cNvPr>
          <p:cNvSpPr>
            <a:spLocks noGrp="1"/>
          </p:cNvSpPr>
          <p:nvPr>
            <p:ph idx="1"/>
          </p:nvPr>
        </p:nvSpPr>
        <p:spPr/>
        <p:txBody>
          <a:bodyPr/>
          <a:lstStyle/>
          <a:p>
            <a:r>
              <a:rPr lang="en-SG" dirty="0"/>
              <a:t>ConstraintLayout</a:t>
            </a:r>
          </a:p>
          <a:p>
            <a:pPr lvl="1"/>
            <a:r>
              <a:rPr lang="en-SG" dirty="0"/>
              <a:t>Ideal and flexible when you want to position multiple child views in a layout</a:t>
            </a:r>
          </a:p>
          <a:p>
            <a:r>
              <a:rPr lang="en-SG" dirty="0" err="1"/>
              <a:t>FrameLayout</a:t>
            </a:r>
            <a:endParaRPr lang="en-SG" dirty="0"/>
          </a:p>
          <a:p>
            <a:pPr lvl="1"/>
            <a:r>
              <a:rPr lang="en-SG" dirty="0"/>
              <a:t>Simpler layout if you just have a single child view (e.g. a single </a:t>
            </a:r>
            <a:r>
              <a:rPr lang="en-SG" dirty="0" err="1"/>
              <a:t>RecyclerView</a:t>
            </a:r>
            <a:r>
              <a:rPr lang="en-SG" dirty="0"/>
              <a:t>)</a:t>
            </a:r>
          </a:p>
          <a:p>
            <a:r>
              <a:rPr lang="en-SG" dirty="0" err="1"/>
              <a:t>LinearLayout</a:t>
            </a:r>
            <a:endParaRPr lang="en-SG" dirty="0"/>
          </a:p>
          <a:p>
            <a:pPr lvl="1"/>
            <a:r>
              <a:rPr lang="en-SG" dirty="0"/>
              <a:t>Aligns all child views into a single direction (i.e. vertically or horizontally)</a:t>
            </a:r>
          </a:p>
          <a:p>
            <a:pPr lvl="1"/>
            <a:r>
              <a:rPr lang="en-SG" dirty="0"/>
              <a:t>Can even add a </a:t>
            </a:r>
            <a:r>
              <a:rPr lang="en-SG" dirty="0" err="1"/>
              <a:t>MaterialCardView</a:t>
            </a:r>
            <a:r>
              <a:rPr lang="en-SG" dirty="0"/>
              <a:t> around the existing </a:t>
            </a:r>
            <a:r>
              <a:rPr lang="en-SG" dirty="0" err="1"/>
              <a:t>LinearLayout</a:t>
            </a:r>
            <a:r>
              <a:rPr lang="en-SG" dirty="0"/>
              <a:t> for better visuals</a:t>
            </a:r>
          </a:p>
          <a:p>
            <a:r>
              <a:rPr lang="en-SG" dirty="0" err="1"/>
              <a:t>CoordinatorLayout</a:t>
            </a:r>
            <a:endParaRPr lang="en-SG" dirty="0"/>
          </a:p>
          <a:p>
            <a:pPr lvl="1"/>
            <a:r>
              <a:rPr lang="en-SG" dirty="0"/>
              <a:t>If there is animation of transition of views</a:t>
            </a:r>
          </a:p>
        </p:txBody>
      </p:sp>
    </p:spTree>
    <p:extLst>
      <p:ext uri="{BB962C8B-B14F-4D97-AF65-F5344CB8AC3E}">
        <p14:creationId xmlns:p14="http://schemas.microsoft.com/office/powerpoint/2010/main" val="6624601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5.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70714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set the ID of the View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145470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255224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4" idx="0"/>
          </p:cNvCxnSpPr>
          <p:nvPr/>
        </p:nvCxnSpPr>
        <p:spPr>
          <a:xfrm flipH="1">
            <a:off x="8561963" y="1237297"/>
            <a:ext cx="948447" cy="45394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130296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24" name="Rectangle 23">
            <a:extLst>
              <a:ext uri="{FF2B5EF4-FFF2-40B4-BE49-F238E27FC236}">
                <a16:creationId xmlns:a16="http://schemas.microsoft.com/office/drawing/2014/main" id="{1D7D9051-76D7-4AF9-8A1C-7E6FAAB577AE}"/>
              </a:ext>
            </a:extLst>
          </p:cNvPr>
          <p:cNvSpPr/>
          <p:nvPr/>
        </p:nvSpPr>
        <p:spPr>
          <a:xfrm>
            <a:off x="7613517" y="1691240"/>
            <a:ext cx="1896892" cy="23874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09236737-E05D-4139-AE5F-554499346E72}"/>
              </a:ext>
            </a:extLst>
          </p:cNvPr>
          <p:cNvSpPr/>
          <p:nvPr/>
        </p:nvSpPr>
        <p:spPr>
          <a:xfrm>
            <a:off x="7252944" y="358576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and call the declared string from strings.xml</a:t>
            </a:r>
          </a:p>
        </p:txBody>
      </p:sp>
      <p:cxnSp>
        <p:nvCxnSpPr>
          <p:cNvPr id="33" name="Straight Arrow Connector 32">
            <a:extLst>
              <a:ext uri="{FF2B5EF4-FFF2-40B4-BE49-F238E27FC236}">
                <a16:creationId xmlns:a16="http://schemas.microsoft.com/office/drawing/2014/main" id="{15B744CC-288D-4DE8-919B-3653C66DC3E6}"/>
              </a:ext>
            </a:extLst>
          </p:cNvPr>
          <p:cNvCxnSpPr>
            <a:cxnSpLocks/>
            <a:stCxn id="26" idx="3"/>
            <a:endCxn id="27" idx="1"/>
          </p:cNvCxnSpPr>
          <p:nvPr/>
        </p:nvCxnSpPr>
        <p:spPr>
          <a:xfrm flipV="1">
            <a:off x="3968884" y="2664906"/>
            <a:ext cx="3644633" cy="53081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22EC79C1-54CA-4CF3-96F7-DD78348CDE48}"/>
              </a:ext>
            </a:extLst>
          </p:cNvPr>
          <p:cNvCxnSpPr>
            <a:cxnSpLocks/>
            <a:stCxn id="24" idx="3"/>
            <a:endCxn id="4" idx="3"/>
          </p:cNvCxnSpPr>
          <p:nvPr/>
        </p:nvCxnSpPr>
        <p:spPr>
          <a:xfrm>
            <a:off x="9510409" y="1810610"/>
            <a:ext cx="1940670" cy="4133143"/>
          </a:xfrm>
          <a:prstGeom prst="bentConnector3">
            <a:avLst>
              <a:gd name="adj1" fmla="val 12277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0174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621344"/>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3CAE0-A6E8-4B18-AAB0-979F3ECDF736}"/>
              </a:ext>
            </a:extLst>
          </p:cNvPr>
          <p:cNvSpPr>
            <a:spLocks noGrp="1"/>
          </p:cNvSpPr>
          <p:nvPr>
            <p:ph type="title"/>
          </p:nvPr>
        </p:nvSpPr>
        <p:spPr/>
        <p:txBody>
          <a:bodyPr/>
          <a:lstStyle/>
          <a:p>
            <a:r>
              <a:rPr lang="en-SG" dirty="0"/>
              <a:t>How does Data Binding work?</a:t>
            </a:r>
          </a:p>
        </p:txBody>
      </p:sp>
      <p:sp>
        <p:nvSpPr>
          <p:cNvPr id="8" name="TextBox 7">
            <a:extLst>
              <a:ext uri="{FF2B5EF4-FFF2-40B4-BE49-F238E27FC236}">
                <a16:creationId xmlns:a16="http://schemas.microsoft.com/office/drawing/2014/main" id="{C84EAA4E-81CF-49D9-BE08-B11AF3497075}"/>
              </a:ext>
            </a:extLst>
          </p:cNvPr>
          <p:cNvSpPr txBox="1"/>
          <p:nvPr/>
        </p:nvSpPr>
        <p:spPr>
          <a:xfrm>
            <a:off x="468545" y="1569512"/>
            <a:ext cx="6457549" cy="4154984"/>
          </a:xfrm>
          <a:prstGeom prst="rect">
            <a:avLst/>
          </a:prstGeom>
          <a:noFill/>
          <a:ln>
            <a:solidFill>
              <a:schemeClr val="tx1"/>
            </a:solidFill>
          </a:ln>
        </p:spPr>
        <p:txBody>
          <a:bodyPr wrap="square" rtlCol="0">
            <a:spAutoFit/>
          </a:bodyPr>
          <a:lstStyle/>
          <a:p>
            <a:r>
              <a:rPr lang="en-SG" sz="1100" dirty="0">
                <a:latin typeface="Lucida Console" panose="020B0609040504020204" pitchFamily="49" charset="0"/>
              </a:rPr>
              <a:t>&lt;data&gt;</a:t>
            </a:r>
          </a:p>
          <a:p>
            <a:pPr lvl="1"/>
            <a:r>
              <a:rPr lang="en-SG" sz="1100" dirty="0">
                <a:latin typeface="Lucida Console" panose="020B0609040504020204" pitchFamily="49" charset="0"/>
              </a:rPr>
              <a:t>&lt;variable</a:t>
            </a:r>
          </a:p>
          <a:p>
            <a:pPr lvl="2"/>
            <a:r>
              <a:rPr lang="en-SG" sz="1100" dirty="0">
                <a:latin typeface="Lucida Console" panose="020B0609040504020204" pitchFamily="49" charset="0"/>
              </a:rPr>
              <a:t>name=“</a:t>
            </a:r>
            <a:r>
              <a:rPr lang="en-SG" sz="1100" dirty="0" err="1">
                <a:highlight>
                  <a:srgbClr val="FFFF00"/>
                </a:highlight>
                <a:latin typeface="Lucida Console" panose="020B0609040504020204" pitchFamily="49" charset="0"/>
              </a:rPr>
              <a:t>viewModel</a:t>
            </a:r>
            <a:r>
              <a:rPr lang="en-SG" sz="1100" dirty="0">
                <a:latin typeface="Lucida Console" panose="020B0609040504020204" pitchFamily="49" charset="0"/>
              </a:rPr>
              <a:t>"</a:t>
            </a:r>
          </a:p>
          <a:p>
            <a:pPr lvl="2"/>
            <a:r>
              <a:rPr lang="en-SG" sz="1100" dirty="0">
                <a:latin typeface="Lucida Console" panose="020B0609040504020204" pitchFamily="49" charset="0"/>
              </a:rPr>
              <a:t>type="</a:t>
            </a:r>
            <a:r>
              <a:rPr lang="en-SG" sz="1100" dirty="0" err="1">
                <a:latin typeface="Lucida Console" panose="020B0609040504020204" pitchFamily="49" charset="0"/>
              </a:rPr>
              <a:t>com.example.cupcake.model.OrderViewModel</a:t>
            </a:r>
            <a:r>
              <a:rPr lang="en-SG" sz="1100" dirty="0">
                <a:latin typeface="Lucida Console" panose="020B0609040504020204" pitchFamily="49" charset="0"/>
              </a:rPr>
              <a:t>" /&gt;</a:t>
            </a:r>
          </a:p>
          <a:p>
            <a:pPr lvl="1"/>
            <a:r>
              <a:rPr lang="en-SG" sz="1100" dirty="0">
                <a:latin typeface="Lucida Console" panose="020B0609040504020204" pitchFamily="49" charset="0"/>
              </a:rPr>
              <a:t>&lt;variable</a:t>
            </a:r>
          </a:p>
          <a:p>
            <a:pPr lvl="2"/>
            <a:r>
              <a:rPr lang="en-SG" sz="1100" dirty="0">
                <a:latin typeface="Lucida Console" panose="020B0609040504020204" pitchFamily="49" charset="0"/>
              </a:rPr>
              <a:t>name=“</a:t>
            </a:r>
            <a:r>
              <a:rPr lang="en-SG" sz="1100" dirty="0" err="1">
                <a:highlight>
                  <a:srgbClr val="00FF00"/>
                </a:highlight>
                <a:latin typeface="Lucida Console" panose="020B0609040504020204" pitchFamily="49" charset="0"/>
              </a:rPr>
              <a:t>flavorFragment</a:t>
            </a:r>
            <a:r>
              <a:rPr lang="en-SG" sz="1100" dirty="0">
                <a:latin typeface="Lucida Console" panose="020B0609040504020204" pitchFamily="49" charset="0"/>
              </a:rPr>
              <a:t>"</a:t>
            </a:r>
          </a:p>
          <a:p>
            <a:pPr lvl="2"/>
            <a:r>
              <a:rPr lang="en-SG" sz="1100" dirty="0">
                <a:latin typeface="Lucida Console" panose="020B0609040504020204" pitchFamily="49" charset="0"/>
              </a:rPr>
              <a:t>type="</a:t>
            </a:r>
            <a:r>
              <a:rPr lang="en-SG" sz="1100" dirty="0" err="1">
                <a:latin typeface="Lucida Console" panose="020B0609040504020204" pitchFamily="49" charset="0"/>
              </a:rPr>
              <a:t>com.example.cupcake.FlavorFragment</a:t>
            </a:r>
            <a:r>
              <a:rPr lang="en-SG" sz="1100" dirty="0">
                <a:latin typeface="Lucida Console" panose="020B0609040504020204" pitchFamily="49" charset="0"/>
              </a:rPr>
              <a:t>" /&gt;</a:t>
            </a:r>
          </a:p>
          <a:p>
            <a:r>
              <a:rPr lang="en-SG" sz="1100" dirty="0">
                <a:latin typeface="Lucida Console" panose="020B0609040504020204" pitchFamily="49" charset="0"/>
              </a:rPr>
              <a:t>&lt;/data&gt;</a:t>
            </a:r>
          </a:p>
          <a:p>
            <a:endParaRPr lang="en-SG" sz="1100" dirty="0">
              <a:latin typeface="Lucida Console" panose="020B0609040504020204" pitchFamily="49" charset="0"/>
            </a:endParaRPr>
          </a:p>
          <a:p>
            <a:r>
              <a:rPr lang="it-IT" sz="1100" dirty="0">
                <a:latin typeface="Lucida Console" panose="020B0609040504020204" pitchFamily="49" charset="0"/>
              </a:rPr>
              <a:t>&lt;RadioGroup</a:t>
            </a:r>
          </a:p>
          <a:p>
            <a:r>
              <a:rPr lang="it-IT" sz="1100" dirty="0">
                <a:latin typeface="Lucida Console" panose="020B0609040504020204" pitchFamily="49" charset="0"/>
              </a:rPr>
              <a:t>   ...&gt;</a:t>
            </a:r>
          </a:p>
          <a:p>
            <a:endParaRPr lang="it-IT" sz="1100" dirty="0">
              <a:latin typeface="Lucida Console" panose="020B0609040504020204" pitchFamily="49" charset="0"/>
            </a:endParaRPr>
          </a:p>
          <a:p>
            <a:r>
              <a:rPr lang="it-IT" sz="1100" dirty="0">
                <a:latin typeface="Lucida Console" panose="020B0609040504020204" pitchFamily="49" charset="0"/>
              </a:rPr>
              <a:t>   &lt;RadioButton</a:t>
            </a:r>
          </a:p>
          <a:p>
            <a:r>
              <a:rPr lang="it-IT" sz="1100" dirty="0">
                <a:latin typeface="Lucida Console" panose="020B0609040504020204" pitchFamily="49" charset="0"/>
              </a:rPr>
              <a:t>       android:id="@+id/vanilla"</a:t>
            </a:r>
          </a:p>
          <a:p>
            <a:r>
              <a:rPr lang="it-IT" sz="1100" dirty="0">
                <a:latin typeface="Lucida Console" panose="020B0609040504020204" pitchFamily="49" charset="0"/>
              </a:rPr>
              <a:t>       android:onClick="@{() -&gt; viewModel.setFlavour(@string/vanilla)}"</a:t>
            </a:r>
          </a:p>
          <a:p>
            <a:r>
              <a:rPr lang="it-IT" sz="1100" dirty="0">
                <a:latin typeface="Lucida Console" panose="020B0609040504020204" pitchFamily="49" charset="0"/>
              </a:rPr>
              <a:t>       android:checked="@{viewModel.flavor.equals(@string/vanilla)}"</a:t>
            </a:r>
          </a:p>
          <a:p>
            <a:r>
              <a:rPr lang="it-IT" sz="1100" dirty="0">
                <a:latin typeface="Lucida Console" panose="020B0609040504020204" pitchFamily="49" charset="0"/>
              </a:rPr>
              <a:t>       .../&gt;</a:t>
            </a:r>
          </a:p>
          <a:p>
            <a:endParaRPr lang="it-IT" sz="1100" dirty="0">
              <a:latin typeface="Lucida Console" panose="020B0609040504020204" pitchFamily="49" charset="0"/>
            </a:endParaRPr>
          </a:p>
          <a:p>
            <a:r>
              <a:rPr lang="it-IT" sz="1100" dirty="0">
                <a:latin typeface="Lucida Console" panose="020B0609040504020204" pitchFamily="49" charset="0"/>
              </a:rPr>
              <a:t>   &lt;RadioButton</a:t>
            </a:r>
          </a:p>
          <a:p>
            <a:r>
              <a:rPr lang="it-IT" sz="1100" dirty="0">
                <a:latin typeface="Lucida Console" panose="020B0609040504020204" pitchFamily="49" charset="0"/>
              </a:rPr>
              <a:t>       android:id="@+id/chocolate"</a:t>
            </a:r>
          </a:p>
          <a:p>
            <a:pPr lvl="1"/>
            <a:r>
              <a:rPr lang="it-IT" sz="1100" dirty="0">
                <a:latin typeface="Lucida Console" panose="020B0609040504020204" pitchFamily="49" charset="0"/>
              </a:rPr>
              <a:t>  android:onClick="@{() -&gt; viewModel.</a:t>
            </a:r>
            <a:r>
              <a:rPr lang="it-IT" sz="1100" dirty="0">
                <a:highlight>
                  <a:srgbClr val="FF00FF"/>
                </a:highlight>
                <a:latin typeface="Lucida Console" panose="020B0609040504020204" pitchFamily="49" charset="0"/>
              </a:rPr>
              <a:t>setFlavour</a:t>
            </a:r>
            <a:r>
              <a:rPr lang="it-IT" sz="1100" dirty="0">
                <a:latin typeface="Lucida Console" panose="020B0609040504020204" pitchFamily="49" charset="0"/>
              </a:rPr>
              <a:t>(@string/chocolate)}"</a:t>
            </a:r>
          </a:p>
          <a:p>
            <a:r>
              <a:rPr lang="it-IT" sz="1100" dirty="0">
                <a:latin typeface="Lucida Console" panose="020B0609040504020204" pitchFamily="49" charset="0"/>
              </a:rPr>
              <a:t>       android:checked="@{viewModel.flavor.equals(@string/chocolate)}"</a:t>
            </a:r>
          </a:p>
          <a:p>
            <a:r>
              <a:rPr lang="it-IT" sz="1100" dirty="0">
                <a:latin typeface="Lucida Console" panose="020B0609040504020204" pitchFamily="49" charset="0"/>
              </a:rPr>
              <a:t>       .../&gt;</a:t>
            </a:r>
          </a:p>
          <a:p>
            <a:r>
              <a:rPr lang="it-IT" sz="1100" dirty="0">
                <a:latin typeface="Lucida Console" panose="020B0609040504020204" pitchFamily="49" charset="0"/>
              </a:rPr>
              <a:t>&lt;/RadioGroup</a:t>
            </a:r>
            <a:endParaRPr lang="en-SG" sz="1100" dirty="0">
              <a:latin typeface="Lucida Console" panose="020B0609040504020204" pitchFamily="49" charset="0"/>
            </a:endParaRPr>
          </a:p>
        </p:txBody>
      </p:sp>
      <p:sp>
        <p:nvSpPr>
          <p:cNvPr id="9" name="TextBox 8">
            <a:extLst>
              <a:ext uri="{FF2B5EF4-FFF2-40B4-BE49-F238E27FC236}">
                <a16:creationId xmlns:a16="http://schemas.microsoft.com/office/drawing/2014/main" id="{213F1D0C-3537-4A93-A453-2BD605E30612}"/>
              </a:ext>
            </a:extLst>
          </p:cNvPr>
          <p:cNvSpPr txBox="1"/>
          <p:nvPr/>
        </p:nvSpPr>
        <p:spPr>
          <a:xfrm>
            <a:off x="468546" y="1386814"/>
            <a:ext cx="1354858" cy="261610"/>
          </a:xfrm>
          <a:prstGeom prst="rect">
            <a:avLst/>
          </a:prstGeom>
          <a:solidFill>
            <a:schemeClr val="accent4"/>
          </a:solidFill>
        </p:spPr>
        <p:txBody>
          <a:bodyPr wrap="none" rtlCol="0">
            <a:spAutoFit/>
          </a:bodyPr>
          <a:lstStyle/>
          <a:p>
            <a:r>
              <a:rPr lang="en-SG" sz="1100" dirty="0"/>
              <a:t>fragment_flavor.xml</a:t>
            </a:r>
          </a:p>
        </p:txBody>
      </p:sp>
      <p:sp>
        <p:nvSpPr>
          <p:cNvPr id="13" name="TextBox 12">
            <a:extLst>
              <a:ext uri="{FF2B5EF4-FFF2-40B4-BE49-F238E27FC236}">
                <a16:creationId xmlns:a16="http://schemas.microsoft.com/office/drawing/2014/main" id="{A577033E-EAF2-4821-8EED-49FE09D3CF24}"/>
              </a:ext>
            </a:extLst>
          </p:cNvPr>
          <p:cNvSpPr txBox="1"/>
          <p:nvPr/>
        </p:nvSpPr>
        <p:spPr>
          <a:xfrm>
            <a:off x="5129721" y="5648768"/>
            <a:ext cx="6913122" cy="1107996"/>
          </a:xfrm>
          <a:prstGeom prst="rect">
            <a:avLst/>
          </a:prstGeom>
          <a:noFill/>
          <a:ln>
            <a:solidFill>
              <a:schemeClr val="tx1"/>
            </a:solidFill>
          </a:ln>
        </p:spPr>
        <p:txBody>
          <a:bodyPr wrap="square" rtlCol="0">
            <a:spAutoFit/>
          </a:bodyPr>
          <a:lstStyle/>
          <a:p>
            <a:r>
              <a:rPr lang="en-US" sz="1100" dirty="0">
                <a:latin typeface="Lucida Console" panose="020B0609040504020204" pitchFamily="49" charset="0"/>
              </a:rPr>
              <a:t>private </a:t>
            </a:r>
            <a:r>
              <a:rPr lang="en-US" sz="1100" dirty="0" err="1">
                <a:latin typeface="Lucida Console" panose="020B0609040504020204" pitchFamily="49" charset="0"/>
              </a:rPr>
              <a:t>val</a:t>
            </a:r>
            <a:r>
              <a:rPr lang="en-US" sz="1100" dirty="0">
                <a:latin typeface="Lucida Console" panose="020B0609040504020204" pitchFamily="49" charset="0"/>
              </a:rPr>
              <a:t> </a:t>
            </a:r>
            <a:r>
              <a:rPr lang="en-US" sz="1100" dirty="0" err="1">
                <a:highlight>
                  <a:srgbClr val="00FFFF"/>
                </a:highlight>
                <a:latin typeface="Lucida Console" panose="020B0609040504020204" pitchFamily="49" charset="0"/>
              </a:rPr>
              <a:t>sharedViewModel</a:t>
            </a:r>
            <a:r>
              <a:rPr lang="en-US" sz="1100" dirty="0">
                <a:latin typeface="Lucida Console" panose="020B0609040504020204" pitchFamily="49" charset="0"/>
              </a:rPr>
              <a:t>: </a:t>
            </a:r>
            <a:r>
              <a:rPr lang="en-US" sz="1100" dirty="0" err="1">
                <a:latin typeface="Lucida Console" panose="020B0609040504020204" pitchFamily="49" charset="0"/>
              </a:rPr>
              <a:t>OrderViewModel</a:t>
            </a:r>
            <a:r>
              <a:rPr lang="en-US" sz="1100" dirty="0">
                <a:latin typeface="Lucida Console" panose="020B0609040504020204" pitchFamily="49" charset="0"/>
              </a:rPr>
              <a:t> by </a:t>
            </a:r>
            <a:r>
              <a:rPr lang="en-US" sz="1100" dirty="0" err="1">
                <a:latin typeface="Lucida Console" panose="020B0609040504020204" pitchFamily="49" charset="0"/>
              </a:rPr>
              <a:t>activityViewModels</a:t>
            </a:r>
            <a:r>
              <a:rPr lang="en-US" sz="1100" dirty="0">
                <a:latin typeface="Lucida Console" panose="020B0609040504020204" pitchFamily="49" charset="0"/>
              </a:rPr>
              <a:t>()</a:t>
            </a:r>
            <a:endParaRPr lang="en-SG" sz="1100" dirty="0">
              <a:latin typeface="Lucida Console" panose="020B0609040504020204" pitchFamily="49" charset="0"/>
            </a:endParaRPr>
          </a:p>
          <a:p>
            <a:endParaRPr lang="en-SG" sz="1100" dirty="0">
              <a:latin typeface="Lucida Console" panose="020B0609040504020204" pitchFamily="49" charset="0"/>
            </a:endParaRPr>
          </a:p>
          <a:p>
            <a:r>
              <a:rPr lang="en-US" sz="1100" dirty="0">
                <a:latin typeface="Lucida Console" panose="020B0609040504020204" pitchFamily="49" charset="0"/>
              </a:rPr>
              <a:t>override fun </a:t>
            </a:r>
            <a:r>
              <a:rPr lang="en-US" sz="1100" dirty="0" err="1">
                <a:latin typeface="Lucida Console" panose="020B0609040504020204" pitchFamily="49" charset="0"/>
              </a:rPr>
              <a:t>onViewCreated</a:t>
            </a:r>
            <a:r>
              <a:rPr lang="en-US" sz="1100" dirty="0">
                <a:latin typeface="Lucida Console" panose="020B0609040504020204" pitchFamily="49" charset="0"/>
              </a:rPr>
              <a:t>(view: View, savedInstanceState: Bundle?) {</a:t>
            </a:r>
            <a:endParaRPr lang="en-SG" sz="1100" dirty="0">
              <a:latin typeface="Lucida Console" panose="020B0609040504020204" pitchFamily="49" charset="0"/>
            </a:endParaRPr>
          </a:p>
          <a:p>
            <a:pPr lvl="1"/>
            <a:r>
              <a:rPr lang="en-SG" sz="1100" dirty="0" err="1">
                <a:highlight>
                  <a:srgbClr val="FFFF00"/>
                </a:highlight>
                <a:latin typeface="Lucida Console" panose="020B0609040504020204" pitchFamily="49" charset="0"/>
              </a:rPr>
              <a:t>viewModel</a:t>
            </a:r>
            <a:r>
              <a:rPr lang="en-SG" sz="1100" dirty="0">
                <a:latin typeface="Lucida Console" panose="020B0609040504020204" pitchFamily="49" charset="0"/>
              </a:rPr>
              <a:t> = </a:t>
            </a:r>
            <a:r>
              <a:rPr lang="en-SG" sz="1100" dirty="0" err="1">
                <a:highlight>
                  <a:srgbClr val="00FFFF"/>
                </a:highlight>
                <a:latin typeface="Lucida Console" panose="020B0609040504020204" pitchFamily="49" charset="0"/>
              </a:rPr>
              <a:t>sharedViewModel</a:t>
            </a:r>
            <a:endParaRPr lang="en-SG" sz="1100" dirty="0">
              <a:highlight>
                <a:srgbClr val="00FFFF"/>
              </a:highlight>
              <a:latin typeface="Lucida Console" panose="020B0609040504020204" pitchFamily="49" charset="0"/>
            </a:endParaRPr>
          </a:p>
          <a:p>
            <a:pPr lvl="1"/>
            <a:r>
              <a:rPr lang="en-SG" sz="1100" dirty="0" err="1">
                <a:highlight>
                  <a:srgbClr val="00FF00"/>
                </a:highlight>
                <a:latin typeface="Lucida Console" panose="020B0609040504020204" pitchFamily="49" charset="0"/>
              </a:rPr>
              <a:t>flavorFragment</a:t>
            </a:r>
            <a:r>
              <a:rPr lang="en-SG" sz="1100" dirty="0">
                <a:latin typeface="Lucida Console" panose="020B0609040504020204" pitchFamily="49" charset="0"/>
              </a:rPr>
              <a:t> = </a:t>
            </a:r>
            <a:r>
              <a:rPr lang="en-SG" sz="1100" dirty="0" err="1">
                <a:latin typeface="Lucida Console" panose="020B0609040504020204" pitchFamily="49" charset="0"/>
              </a:rPr>
              <a:t>this@FlavorFragment</a:t>
            </a:r>
            <a:endParaRPr lang="en-SG" sz="1100" dirty="0">
              <a:latin typeface="Lucida Console" panose="020B0609040504020204" pitchFamily="49" charset="0"/>
            </a:endParaRPr>
          </a:p>
          <a:p>
            <a:r>
              <a:rPr lang="en-SG" sz="1100" dirty="0">
                <a:latin typeface="Lucida Console" panose="020B0609040504020204" pitchFamily="49" charset="0"/>
              </a:rPr>
              <a:t>}</a:t>
            </a:r>
          </a:p>
        </p:txBody>
      </p:sp>
      <p:sp>
        <p:nvSpPr>
          <p:cNvPr id="14" name="TextBox 13">
            <a:extLst>
              <a:ext uri="{FF2B5EF4-FFF2-40B4-BE49-F238E27FC236}">
                <a16:creationId xmlns:a16="http://schemas.microsoft.com/office/drawing/2014/main" id="{6CAAC2B0-A03A-4E9E-B58F-62F93A3201AF}"/>
              </a:ext>
            </a:extLst>
          </p:cNvPr>
          <p:cNvSpPr txBox="1"/>
          <p:nvPr/>
        </p:nvSpPr>
        <p:spPr>
          <a:xfrm>
            <a:off x="10722930" y="5461643"/>
            <a:ext cx="1319913" cy="276999"/>
          </a:xfrm>
          <a:prstGeom prst="rect">
            <a:avLst/>
          </a:prstGeom>
          <a:solidFill>
            <a:schemeClr val="accent4"/>
          </a:solidFill>
        </p:spPr>
        <p:txBody>
          <a:bodyPr wrap="none" rtlCol="0">
            <a:spAutoFit/>
          </a:bodyPr>
          <a:lstStyle/>
          <a:p>
            <a:r>
              <a:rPr lang="en-SG" sz="1200" dirty="0" err="1"/>
              <a:t>FlavorFragment.kt</a:t>
            </a:r>
            <a:endParaRPr lang="en-SG" sz="1200" dirty="0"/>
          </a:p>
        </p:txBody>
      </p:sp>
      <p:sp>
        <p:nvSpPr>
          <p:cNvPr id="3" name="TextBox 2">
            <a:extLst>
              <a:ext uri="{FF2B5EF4-FFF2-40B4-BE49-F238E27FC236}">
                <a16:creationId xmlns:a16="http://schemas.microsoft.com/office/drawing/2014/main" id="{C0046865-BB96-40C5-AED1-A5A3A8E5FF06}"/>
              </a:ext>
            </a:extLst>
          </p:cNvPr>
          <p:cNvSpPr txBox="1"/>
          <p:nvPr/>
        </p:nvSpPr>
        <p:spPr>
          <a:xfrm>
            <a:off x="6692630" y="145916"/>
            <a:ext cx="5350213" cy="461665"/>
          </a:xfrm>
          <a:prstGeom prst="rect">
            <a:avLst/>
          </a:prstGeom>
          <a:noFill/>
        </p:spPr>
        <p:txBody>
          <a:bodyPr wrap="square" rtlCol="0">
            <a:spAutoFit/>
          </a:bodyPr>
          <a:lstStyle/>
          <a:p>
            <a:r>
              <a:rPr lang="en-SG" sz="1200" dirty="0"/>
              <a:t>1. View Binding is binding views to code</a:t>
            </a:r>
          </a:p>
          <a:p>
            <a:r>
              <a:rPr lang="en-SG" sz="1200" dirty="0"/>
              <a:t>2. Data Binding is binding data from code to views + View Binding (views to code)</a:t>
            </a:r>
          </a:p>
        </p:txBody>
      </p:sp>
      <p:sp>
        <p:nvSpPr>
          <p:cNvPr id="15" name="TextBox 14">
            <a:extLst>
              <a:ext uri="{FF2B5EF4-FFF2-40B4-BE49-F238E27FC236}">
                <a16:creationId xmlns:a16="http://schemas.microsoft.com/office/drawing/2014/main" id="{4F3940FE-494D-4609-8474-624454E4DA17}"/>
              </a:ext>
            </a:extLst>
          </p:cNvPr>
          <p:cNvSpPr txBox="1"/>
          <p:nvPr/>
        </p:nvSpPr>
        <p:spPr>
          <a:xfrm>
            <a:off x="7049312" y="2834495"/>
            <a:ext cx="4797356" cy="600164"/>
          </a:xfrm>
          <a:prstGeom prst="rect">
            <a:avLst/>
          </a:prstGeom>
          <a:noFill/>
          <a:ln>
            <a:solidFill>
              <a:schemeClr val="tx1"/>
            </a:solidFill>
          </a:ln>
        </p:spPr>
        <p:txBody>
          <a:bodyPr wrap="square" rtlCol="0">
            <a:spAutoFit/>
          </a:bodyPr>
          <a:lstStyle/>
          <a:p>
            <a:r>
              <a:rPr lang="en-US" sz="1100" dirty="0">
                <a:latin typeface="Lucida Console" panose="020B0609040504020204" pitchFamily="49" charset="0"/>
              </a:rPr>
              <a:t>fun </a:t>
            </a:r>
            <a:r>
              <a:rPr lang="en-US" sz="1100" dirty="0" err="1">
                <a:highlight>
                  <a:srgbClr val="FF00FF"/>
                </a:highlight>
                <a:latin typeface="Lucida Console" panose="020B0609040504020204" pitchFamily="49" charset="0"/>
              </a:rPr>
              <a:t>setFlavour</a:t>
            </a:r>
            <a:r>
              <a:rPr lang="en-US" sz="1100" dirty="0">
                <a:latin typeface="Lucida Console" panose="020B0609040504020204" pitchFamily="49" charset="0"/>
              </a:rPr>
              <a:t>(</a:t>
            </a:r>
            <a:r>
              <a:rPr lang="en-US" sz="1100" dirty="0" err="1">
                <a:latin typeface="Lucida Console" panose="020B0609040504020204" pitchFamily="49" charset="0"/>
              </a:rPr>
              <a:t>desiredFlavour</a:t>
            </a:r>
            <a:r>
              <a:rPr lang="en-US" sz="1100" dirty="0">
                <a:latin typeface="Lucida Console" panose="020B0609040504020204" pitchFamily="49" charset="0"/>
              </a:rPr>
              <a:t>: String) {</a:t>
            </a:r>
          </a:p>
          <a:p>
            <a:pPr lvl="1"/>
            <a:r>
              <a:rPr lang="en-US" sz="1100" dirty="0">
                <a:latin typeface="Lucida Console" panose="020B0609040504020204" pitchFamily="49" charset="0"/>
              </a:rPr>
              <a:t>_</a:t>
            </a:r>
            <a:r>
              <a:rPr lang="en-US" sz="1100" dirty="0" err="1">
                <a:latin typeface="Lucida Console" panose="020B0609040504020204" pitchFamily="49" charset="0"/>
              </a:rPr>
              <a:t>cupcakeFlavour.value</a:t>
            </a:r>
            <a:r>
              <a:rPr lang="en-US" sz="1100" dirty="0">
                <a:latin typeface="Lucida Console" panose="020B0609040504020204" pitchFamily="49" charset="0"/>
              </a:rPr>
              <a:t> = </a:t>
            </a:r>
            <a:r>
              <a:rPr lang="en-US" sz="1100" dirty="0" err="1">
                <a:latin typeface="Lucida Console" panose="020B0609040504020204" pitchFamily="49" charset="0"/>
              </a:rPr>
              <a:t>desiredFlavour</a:t>
            </a:r>
            <a:endParaRPr lang="en-US" sz="1100" dirty="0">
              <a:latin typeface="Lucida Console" panose="020B0609040504020204" pitchFamily="49" charset="0"/>
            </a:endParaRPr>
          </a:p>
          <a:p>
            <a:r>
              <a:rPr lang="en-US" sz="1100" dirty="0">
                <a:latin typeface="Lucida Console" panose="020B0609040504020204" pitchFamily="49" charset="0"/>
              </a:rPr>
              <a:t>}</a:t>
            </a:r>
          </a:p>
        </p:txBody>
      </p:sp>
      <p:sp>
        <p:nvSpPr>
          <p:cNvPr id="10" name="TextBox 9">
            <a:extLst>
              <a:ext uri="{FF2B5EF4-FFF2-40B4-BE49-F238E27FC236}">
                <a16:creationId xmlns:a16="http://schemas.microsoft.com/office/drawing/2014/main" id="{C615FC22-6226-48C2-B1CF-EA4D9BFD2DD3}"/>
              </a:ext>
            </a:extLst>
          </p:cNvPr>
          <p:cNvSpPr txBox="1"/>
          <p:nvPr/>
        </p:nvSpPr>
        <p:spPr>
          <a:xfrm>
            <a:off x="7160077" y="2503764"/>
            <a:ext cx="1421736" cy="276999"/>
          </a:xfrm>
          <a:prstGeom prst="rect">
            <a:avLst/>
          </a:prstGeom>
          <a:solidFill>
            <a:schemeClr val="accent4"/>
          </a:solidFill>
        </p:spPr>
        <p:txBody>
          <a:bodyPr wrap="none" rtlCol="0">
            <a:spAutoFit/>
          </a:bodyPr>
          <a:lstStyle/>
          <a:p>
            <a:r>
              <a:rPr lang="en-SG" sz="1200" dirty="0" err="1"/>
              <a:t>OrderViewModel.kt</a:t>
            </a:r>
            <a:endParaRPr lang="en-SG" sz="1200" dirty="0"/>
          </a:p>
        </p:txBody>
      </p:sp>
      <p:sp>
        <p:nvSpPr>
          <p:cNvPr id="4" name="TextBox 3">
            <a:extLst>
              <a:ext uri="{FF2B5EF4-FFF2-40B4-BE49-F238E27FC236}">
                <a16:creationId xmlns:a16="http://schemas.microsoft.com/office/drawing/2014/main" id="{77DE2488-16A6-4224-9C54-1C82070A9829}"/>
              </a:ext>
            </a:extLst>
          </p:cNvPr>
          <p:cNvSpPr txBox="1"/>
          <p:nvPr/>
        </p:nvSpPr>
        <p:spPr>
          <a:xfrm>
            <a:off x="8371811" y="5007677"/>
            <a:ext cx="3805401" cy="369332"/>
          </a:xfrm>
          <a:prstGeom prst="rect">
            <a:avLst/>
          </a:prstGeom>
          <a:noFill/>
        </p:spPr>
        <p:txBody>
          <a:bodyPr wrap="none" rtlCol="0">
            <a:spAutoFit/>
          </a:bodyPr>
          <a:lstStyle/>
          <a:p>
            <a:r>
              <a:rPr lang="en-SG" dirty="0"/>
              <a:t>Fragment to access </a:t>
            </a:r>
            <a:r>
              <a:rPr lang="en-SG" dirty="0" err="1"/>
              <a:t>sharedViewModel</a:t>
            </a:r>
            <a:r>
              <a:rPr lang="en-SG" dirty="0"/>
              <a:t>,</a:t>
            </a:r>
          </a:p>
        </p:txBody>
      </p:sp>
      <p:sp>
        <p:nvSpPr>
          <p:cNvPr id="11" name="TextBox 10">
            <a:extLst>
              <a:ext uri="{FF2B5EF4-FFF2-40B4-BE49-F238E27FC236}">
                <a16:creationId xmlns:a16="http://schemas.microsoft.com/office/drawing/2014/main" id="{A9A1F78A-3FC6-43CA-941C-EB107398D4F2}"/>
              </a:ext>
            </a:extLst>
          </p:cNvPr>
          <p:cNvSpPr txBox="1"/>
          <p:nvPr/>
        </p:nvSpPr>
        <p:spPr>
          <a:xfrm>
            <a:off x="7870945" y="2107566"/>
            <a:ext cx="2945293" cy="369332"/>
          </a:xfrm>
          <a:prstGeom prst="rect">
            <a:avLst/>
          </a:prstGeom>
          <a:noFill/>
        </p:spPr>
        <p:txBody>
          <a:bodyPr wrap="none" rtlCol="0">
            <a:spAutoFit/>
          </a:bodyPr>
          <a:lstStyle/>
          <a:p>
            <a:r>
              <a:rPr lang="en-SG" dirty="0" err="1"/>
              <a:t>sharedViewModel</a:t>
            </a:r>
            <a:r>
              <a:rPr lang="en-SG" dirty="0"/>
              <a:t> to set data</a:t>
            </a:r>
          </a:p>
        </p:txBody>
      </p:sp>
      <p:sp>
        <p:nvSpPr>
          <p:cNvPr id="12" name="TextBox 11">
            <a:extLst>
              <a:ext uri="{FF2B5EF4-FFF2-40B4-BE49-F238E27FC236}">
                <a16:creationId xmlns:a16="http://schemas.microsoft.com/office/drawing/2014/main" id="{7A58F1B4-8979-4FE8-934F-84DCEAF90DD3}"/>
              </a:ext>
            </a:extLst>
          </p:cNvPr>
          <p:cNvSpPr txBox="1"/>
          <p:nvPr/>
        </p:nvSpPr>
        <p:spPr>
          <a:xfrm>
            <a:off x="389668" y="5813482"/>
            <a:ext cx="4267322" cy="369332"/>
          </a:xfrm>
          <a:prstGeom prst="rect">
            <a:avLst/>
          </a:prstGeom>
          <a:noFill/>
        </p:spPr>
        <p:txBody>
          <a:bodyPr wrap="none" rtlCol="0">
            <a:spAutoFit/>
          </a:bodyPr>
          <a:lstStyle/>
          <a:p>
            <a:r>
              <a:rPr lang="en-SG" dirty="0"/>
              <a:t>In which the actual View can have access to</a:t>
            </a:r>
          </a:p>
        </p:txBody>
      </p:sp>
    </p:spTree>
    <p:extLst>
      <p:ext uri="{BB962C8B-B14F-4D97-AF65-F5344CB8AC3E}">
        <p14:creationId xmlns:p14="http://schemas.microsoft.com/office/powerpoint/2010/main" val="71558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3CAE0-A6E8-4B18-AAB0-979F3ECDF736}"/>
              </a:ext>
            </a:extLst>
          </p:cNvPr>
          <p:cNvSpPr>
            <a:spLocks noGrp="1"/>
          </p:cNvSpPr>
          <p:nvPr>
            <p:ph type="title"/>
          </p:nvPr>
        </p:nvSpPr>
        <p:spPr/>
        <p:txBody>
          <a:bodyPr/>
          <a:lstStyle/>
          <a:p>
            <a:r>
              <a:rPr lang="en-SG" dirty="0"/>
              <a:t>How does Listener Binding work?</a:t>
            </a:r>
          </a:p>
        </p:txBody>
      </p:sp>
      <p:sp>
        <p:nvSpPr>
          <p:cNvPr id="8" name="TextBox 7">
            <a:extLst>
              <a:ext uri="{FF2B5EF4-FFF2-40B4-BE49-F238E27FC236}">
                <a16:creationId xmlns:a16="http://schemas.microsoft.com/office/drawing/2014/main" id="{C84EAA4E-81CF-49D9-BE08-B11AF3497075}"/>
              </a:ext>
            </a:extLst>
          </p:cNvPr>
          <p:cNvSpPr txBox="1"/>
          <p:nvPr/>
        </p:nvSpPr>
        <p:spPr>
          <a:xfrm>
            <a:off x="468545" y="1676520"/>
            <a:ext cx="6351669" cy="2123658"/>
          </a:xfrm>
          <a:prstGeom prst="rect">
            <a:avLst/>
          </a:prstGeom>
          <a:noFill/>
          <a:ln>
            <a:solidFill>
              <a:schemeClr val="tx1"/>
            </a:solidFill>
          </a:ln>
        </p:spPr>
        <p:txBody>
          <a:bodyPr wrap="square" rtlCol="0">
            <a:spAutoFit/>
          </a:bodyPr>
          <a:lstStyle/>
          <a:p>
            <a:r>
              <a:rPr lang="en-SG" sz="1200" dirty="0">
                <a:latin typeface="Lucida Console" panose="020B0609040504020204" pitchFamily="49" charset="0"/>
              </a:rPr>
              <a:t>&lt;data&gt;</a:t>
            </a:r>
          </a:p>
          <a:p>
            <a:pPr lvl="1"/>
            <a:r>
              <a:rPr lang="en-SG" sz="1200" dirty="0">
                <a:latin typeface="Lucida Console" panose="020B0609040504020204" pitchFamily="49" charset="0"/>
              </a:rPr>
              <a:t>&lt;variable</a:t>
            </a:r>
          </a:p>
          <a:p>
            <a:pPr lvl="2"/>
            <a:r>
              <a:rPr lang="en-SG" sz="1200" dirty="0">
                <a:latin typeface="Lucida Console" panose="020B0609040504020204" pitchFamily="49" charset="0"/>
              </a:rPr>
              <a:t>name="</a:t>
            </a:r>
            <a:r>
              <a:rPr lang="en-SG" sz="1200" dirty="0" err="1">
                <a:highlight>
                  <a:srgbClr val="FFFF00"/>
                </a:highlight>
                <a:latin typeface="Lucida Console" panose="020B0609040504020204" pitchFamily="49" charset="0"/>
              </a:rPr>
              <a:t>startFragment</a:t>
            </a:r>
            <a:r>
              <a:rPr lang="en-SG" sz="1200" dirty="0">
                <a:latin typeface="Lucida Console" panose="020B0609040504020204" pitchFamily="49" charset="0"/>
              </a:rPr>
              <a:t>"</a:t>
            </a:r>
          </a:p>
          <a:p>
            <a:pPr lvl="2"/>
            <a:r>
              <a:rPr lang="en-SG" sz="1200" dirty="0">
                <a:latin typeface="Lucida Console" panose="020B0609040504020204" pitchFamily="49" charset="0"/>
              </a:rPr>
              <a:t>type="</a:t>
            </a:r>
            <a:r>
              <a:rPr lang="en-SG" sz="1200" dirty="0" err="1">
                <a:latin typeface="Lucida Console" panose="020B0609040504020204" pitchFamily="49" charset="0"/>
              </a:rPr>
              <a:t>com.example.cupcake.StartFragment</a:t>
            </a:r>
            <a:r>
              <a:rPr lang="en-SG" sz="1200" dirty="0">
                <a:latin typeface="Lucida Console" panose="020B0609040504020204" pitchFamily="49" charset="0"/>
              </a:rPr>
              <a:t>" /&gt;</a:t>
            </a:r>
          </a:p>
          <a:p>
            <a:r>
              <a:rPr lang="en-SG" sz="1200" dirty="0">
                <a:latin typeface="Lucida Console" panose="020B0609040504020204" pitchFamily="49" charset="0"/>
              </a:rPr>
              <a:t>&lt;/data&gt;</a:t>
            </a:r>
          </a:p>
          <a:p>
            <a:endParaRPr lang="en-SG" sz="1200" dirty="0">
              <a:latin typeface="Lucida Console" panose="020B0609040504020204" pitchFamily="49" charset="0"/>
            </a:endParaRPr>
          </a:p>
          <a:p>
            <a:r>
              <a:rPr lang="en-SG" sz="1200" dirty="0">
                <a:latin typeface="Lucida Console" panose="020B0609040504020204" pitchFamily="49" charset="0"/>
              </a:rPr>
              <a:t>&lt;Button&gt;</a:t>
            </a:r>
          </a:p>
          <a:p>
            <a:pPr lvl="1"/>
            <a:r>
              <a:rPr lang="en-SG" sz="1200" dirty="0">
                <a:latin typeface="Lucida Console" panose="020B0609040504020204" pitchFamily="49" charset="0"/>
              </a:rPr>
              <a:t>…</a:t>
            </a:r>
          </a:p>
          <a:p>
            <a:pPr lvl="1"/>
            <a:r>
              <a:rPr lang="en-SG" sz="1200" dirty="0" err="1">
                <a:latin typeface="Lucida Console" panose="020B0609040504020204" pitchFamily="49" charset="0"/>
              </a:rPr>
              <a:t>android:onClick</a:t>
            </a:r>
            <a:r>
              <a:rPr lang="en-SG" sz="1200" dirty="0">
                <a:latin typeface="Lucida Console" panose="020B0609040504020204" pitchFamily="49" charset="0"/>
              </a:rPr>
              <a:t>=“@{() -&gt; </a:t>
            </a:r>
            <a:r>
              <a:rPr lang="en-SG" sz="1200" dirty="0" err="1">
                <a:highlight>
                  <a:srgbClr val="FFFF00"/>
                </a:highlight>
                <a:latin typeface="Lucida Console" panose="020B0609040504020204" pitchFamily="49" charset="0"/>
              </a:rPr>
              <a:t>startFragment</a:t>
            </a:r>
            <a:r>
              <a:rPr lang="en-SG" sz="1200" dirty="0" err="1">
                <a:latin typeface="Lucida Console" panose="020B0609040504020204" pitchFamily="49" charset="0"/>
              </a:rPr>
              <a:t>.</a:t>
            </a:r>
            <a:r>
              <a:rPr lang="en-SG" sz="1200" dirty="0" err="1">
                <a:highlight>
                  <a:srgbClr val="00FF00"/>
                </a:highlight>
                <a:latin typeface="Lucida Console" panose="020B0609040504020204" pitchFamily="49" charset="0"/>
              </a:rPr>
              <a:t>orderCupcake</a:t>
            </a:r>
            <a:r>
              <a:rPr lang="en-SG" sz="1200" dirty="0">
                <a:latin typeface="Lucida Console" panose="020B0609040504020204" pitchFamily="49" charset="0"/>
              </a:rPr>
              <a:t>(12)}”</a:t>
            </a:r>
          </a:p>
          <a:p>
            <a:pPr lvl="1"/>
            <a:r>
              <a:rPr lang="en-SG" sz="1200" dirty="0">
                <a:latin typeface="Lucida Console" panose="020B0609040504020204" pitchFamily="49" charset="0"/>
              </a:rPr>
              <a:t>…</a:t>
            </a:r>
          </a:p>
          <a:p>
            <a:r>
              <a:rPr lang="en-SG" sz="1200" dirty="0">
                <a:latin typeface="Lucida Console" panose="020B0609040504020204" pitchFamily="49" charset="0"/>
              </a:rPr>
              <a:t>&lt;/Button&gt;</a:t>
            </a:r>
          </a:p>
        </p:txBody>
      </p:sp>
      <p:sp>
        <p:nvSpPr>
          <p:cNvPr id="9" name="TextBox 8">
            <a:extLst>
              <a:ext uri="{FF2B5EF4-FFF2-40B4-BE49-F238E27FC236}">
                <a16:creationId xmlns:a16="http://schemas.microsoft.com/office/drawing/2014/main" id="{213F1D0C-3537-4A93-A453-2BD605E30612}"/>
              </a:ext>
            </a:extLst>
          </p:cNvPr>
          <p:cNvSpPr txBox="1"/>
          <p:nvPr/>
        </p:nvSpPr>
        <p:spPr>
          <a:xfrm>
            <a:off x="468546" y="1454910"/>
            <a:ext cx="1385187" cy="276999"/>
          </a:xfrm>
          <a:prstGeom prst="rect">
            <a:avLst/>
          </a:prstGeom>
          <a:solidFill>
            <a:schemeClr val="accent4"/>
          </a:solidFill>
        </p:spPr>
        <p:txBody>
          <a:bodyPr wrap="none" rtlCol="0">
            <a:spAutoFit/>
          </a:bodyPr>
          <a:lstStyle/>
          <a:p>
            <a:r>
              <a:rPr lang="en-SG" sz="1200" dirty="0"/>
              <a:t>fragment_start.xml</a:t>
            </a:r>
          </a:p>
        </p:txBody>
      </p:sp>
      <p:sp>
        <p:nvSpPr>
          <p:cNvPr id="10" name="TextBox 9">
            <a:extLst>
              <a:ext uri="{FF2B5EF4-FFF2-40B4-BE49-F238E27FC236}">
                <a16:creationId xmlns:a16="http://schemas.microsoft.com/office/drawing/2014/main" id="{0871629D-9E81-4A83-805B-A849970AF52B}"/>
              </a:ext>
            </a:extLst>
          </p:cNvPr>
          <p:cNvSpPr txBox="1"/>
          <p:nvPr/>
        </p:nvSpPr>
        <p:spPr>
          <a:xfrm>
            <a:off x="7240244" y="1783372"/>
            <a:ext cx="1423851" cy="276999"/>
          </a:xfrm>
          <a:prstGeom prst="rect">
            <a:avLst/>
          </a:prstGeom>
          <a:solidFill>
            <a:schemeClr val="accent4"/>
          </a:solidFill>
        </p:spPr>
        <p:txBody>
          <a:bodyPr wrap="none" rtlCol="0">
            <a:spAutoFit/>
          </a:bodyPr>
          <a:lstStyle/>
          <a:p>
            <a:r>
              <a:rPr lang="en-SG" sz="1200" dirty="0" err="1"/>
              <a:t>OrderViewModel.kt</a:t>
            </a:r>
            <a:endParaRPr lang="en-SG" sz="1200" dirty="0"/>
          </a:p>
        </p:txBody>
      </p:sp>
      <p:sp>
        <p:nvSpPr>
          <p:cNvPr id="11" name="TextBox 10">
            <a:extLst>
              <a:ext uri="{FF2B5EF4-FFF2-40B4-BE49-F238E27FC236}">
                <a16:creationId xmlns:a16="http://schemas.microsoft.com/office/drawing/2014/main" id="{B15946E8-4B4D-4889-81B4-AF1FB9FF2B06}"/>
              </a:ext>
            </a:extLst>
          </p:cNvPr>
          <p:cNvSpPr txBox="1"/>
          <p:nvPr/>
        </p:nvSpPr>
        <p:spPr>
          <a:xfrm>
            <a:off x="7226026" y="2153055"/>
            <a:ext cx="6317755" cy="3785652"/>
          </a:xfrm>
          <a:prstGeom prst="rect">
            <a:avLst/>
          </a:prstGeom>
          <a:noFill/>
          <a:ln>
            <a:solidFill>
              <a:schemeClr val="tx1"/>
            </a:solidFill>
          </a:ln>
        </p:spPr>
        <p:txBody>
          <a:bodyPr wrap="none" rtlCol="0">
            <a:spAutoFit/>
          </a:bodyPr>
          <a:lstStyle/>
          <a:p>
            <a:r>
              <a:rPr lang="en-SG" sz="1200" dirty="0">
                <a:latin typeface="Lucida Console" panose="020B0609040504020204" pitchFamily="49" charset="0"/>
              </a:rPr>
              <a:t>fun </a:t>
            </a:r>
            <a:r>
              <a:rPr lang="en-SG" sz="1200" dirty="0" err="1">
                <a:latin typeface="Lucida Console" panose="020B0609040504020204" pitchFamily="49" charset="0"/>
              </a:rPr>
              <a:t>setQuantity</a:t>
            </a:r>
            <a:r>
              <a:rPr lang="en-SG" sz="1200" dirty="0">
                <a:latin typeface="Lucida Console" panose="020B0609040504020204" pitchFamily="49" charset="0"/>
              </a:rPr>
              <a:t>(</a:t>
            </a:r>
            <a:r>
              <a:rPr lang="en-SG" sz="1200" dirty="0" err="1">
                <a:latin typeface="Lucida Console" panose="020B0609040504020204" pitchFamily="49" charset="0"/>
              </a:rPr>
              <a:t>noOfCupcakes</a:t>
            </a:r>
            <a:r>
              <a:rPr lang="en-SG" sz="1200" dirty="0">
                <a:latin typeface="Lucida Console" panose="020B0609040504020204" pitchFamily="49" charset="0"/>
              </a:rPr>
              <a:t>: Int) {</a:t>
            </a:r>
          </a:p>
          <a:p>
            <a:pPr lvl="1"/>
            <a:r>
              <a:rPr lang="en-SG" sz="1200" dirty="0">
                <a:latin typeface="Lucida Console" panose="020B0609040504020204" pitchFamily="49" charset="0"/>
              </a:rPr>
              <a:t>_</a:t>
            </a:r>
            <a:r>
              <a:rPr lang="en-SG" sz="1200" dirty="0" err="1">
                <a:latin typeface="Lucida Console" panose="020B0609040504020204" pitchFamily="49" charset="0"/>
              </a:rPr>
              <a:t>orderQty.value</a:t>
            </a:r>
            <a:r>
              <a:rPr lang="en-SG" sz="1200" dirty="0">
                <a:latin typeface="Lucida Console" panose="020B0609040504020204" pitchFamily="49" charset="0"/>
              </a:rPr>
              <a:t> = </a:t>
            </a:r>
            <a:r>
              <a:rPr lang="en-SG" sz="1200" dirty="0" err="1">
                <a:latin typeface="Lucida Console" panose="020B0609040504020204" pitchFamily="49" charset="0"/>
              </a:rPr>
              <a:t>noOfCupcakes</a:t>
            </a:r>
            <a:endParaRPr lang="en-SG" sz="1200" dirty="0">
              <a:latin typeface="Lucida Console" panose="020B0609040504020204" pitchFamily="49" charset="0"/>
            </a:endParaRPr>
          </a:p>
          <a:p>
            <a:pPr lvl="1"/>
            <a:r>
              <a:rPr lang="en-SG" sz="1200" dirty="0" err="1">
                <a:latin typeface="Lucida Console" panose="020B0609040504020204" pitchFamily="49" charset="0"/>
              </a:rPr>
              <a:t>updatePrice</a:t>
            </a:r>
            <a:r>
              <a:rPr lang="en-SG" sz="1200" dirty="0">
                <a:latin typeface="Lucida Console" panose="020B0609040504020204" pitchFamily="49" charset="0"/>
              </a:rPr>
              <a:t>()</a:t>
            </a:r>
          </a:p>
          <a:p>
            <a:r>
              <a:rPr lang="en-SG" sz="1200" dirty="0">
                <a:latin typeface="Lucida Console" panose="020B0609040504020204" pitchFamily="49" charset="0"/>
              </a:rPr>
              <a:t>}</a:t>
            </a:r>
          </a:p>
          <a:p>
            <a:endParaRPr lang="en-SG" sz="1200" dirty="0">
              <a:latin typeface="Lucida Console" panose="020B0609040504020204" pitchFamily="49" charset="0"/>
            </a:endParaRPr>
          </a:p>
          <a:p>
            <a:r>
              <a:rPr lang="en-SG" sz="1200" dirty="0">
                <a:latin typeface="Lucida Console" panose="020B0609040504020204" pitchFamily="49" charset="0"/>
              </a:rPr>
              <a:t>fun </a:t>
            </a:r>
            <a:r>
              <a:rPr lang="en-SG" sz="1200" dirty="0" err="1">
                <a:latin typeface="Lucida Console" panose="020B0609040504020204" pitchFamily="49" charset="0"/>
              </a:rPr>
              <a:t>setFlavour</a:t>
            </a:r>
            <a:r>
              <a:rPr lang="en-SG" sz="1200" dirty="0">
                <a:latin typeface="Lucida Console" panose="020B0609040504020204" pitchFamily="49" charset="0"/>
              </a:rPr>
              <a:t>(</a:t>
            </a:r>
            <a:r>
              <a:rPr lang="en-SG" sz="1200" dirty="0" err="1">
                <a:latin typeface="Lucida Console" panose="020B0609040504020204" pitchFamily="49" charset="0"/>
              </a:rPr>
              <a:t>desiredFlavour</a:t>
            </a:r>
            <a:r>
              <a:rPr lang="en-SG" sz="1200" dirty="0">
                <a:latin typeface="Lucida Console" panose="020B0609040504020204" pitchFamily="49" charset="0"/>
              </a:rPr>
              <a:t>: String) {</a:t>
            </a:r>
          </a:p>
          <a:p>
            <a:pPr lvl="1"/>
            <a:r>
              <a:rPr lang="en-SG" sz="1200" dirty="0">
                <a:latin typeface="Lucida Console" panose="020B0609040504020204" pitchFamily="49" charset="0"/>
              </a:rPr>
              <a:t>_</a:t>
            </a:r>
            <a:r>
              <a:rPr lang="en-SG" sz="1200" dirty="0" err="1">
                <a:latin typeface="Lucida Console" panose="020B0609040504020204" pitchFamily="49" charset="0"/>
              </a:rPr>
              <a:t>cupcakeFlavour.value</a:t>
            </a:r>
            <a:r>
              <a:rPr lang="en-SG" sz="1200" dirty="0">
                <a:latin typeface="Lucida Console" panose="020B0609040504020204" pitchFamily="49" charset="0"/>
              </a:rPr>
              <a:t> = </a:t>
            </a:r>
            <a:r>
              <a:rPr lang="en-SG" sz="1200" dirty="0" err="1">
                <a:latin typeface="Lucida Console" panose="020B0609040504020204" pitchFamily="49" charset="0"/>
              </a:rPr>
              <a:t>desiredFlavour</a:t>
            </a:r>
            <a:endParaRPr lang="en-SG" sz="1200" dirty="0">
              <a:latin typeface="Lucida Console" panose="020B0609040504020204" pitchFamily="49" charset="0"/>
            </a:endParaRPr>
          </a:p>
          <a:p>
            <a:r>
              <a:rPr lang="en-SG" sz="1200" dirty="0">
                <a:latin typeface="Lucida Console" panose="020B0609040504020204" pitchFamily="49" charset="0"/>
              </a:rPr>
              <a:t>}</a:t>
            </a:r>
          </a:p>
          <a:p>
            <a:endParaRPr lang="en-SG" sz="1200" dirty="0">
              <a:latin typeface="Lucida Console" panose="020B0609040504020204" pitchFamily="49" charset="0"/>
            </a:endParaRPr>
          </a:p>
          <a:p>
            <a:r>
              <a:rPr lang="en-SG" sz="1200" dirty="0">
                <a:latin typeface="Lucida Console" panose="020B0609040504020204" pitchFamily="49" charset="0"/>
              </a:rPr>
              <a:t>fun </a:t>
            </a:r>
            <a:r>
              <a:rPr lang="en-SG" sz="1200" dirty="0" err="1">
                <a:latin typeface="Lucida Console" panose="020B0609040504020204" pitchFamily="49" charset="0"/>
              </a:rPr>
              <a:t>hasNoFlavourSet</a:t>
            </a:r>
            <a:r>
              <a:rPr lang="en-SG" sz="1200" dirty="0">
                <a:latin typeface="Lucida Console" panose="020B0609040504020204" pitchFamily="49" charset="0"/>
              </a:rPr>
              <a:t>(): Boolean {</a:t>
            </a:r>
          </a:p>
          <a:p>
            <a:pPr lvl="1"/>
            <a:r>
              <a:rPr lang="en-SG" sz="1200" dirty="0">
                <a:latin typeface="Lucida Console" panose="020B0609040504020204" pitchFamily="49" charset="0"/>
              </a:rPr>
              <a:t>return _</a:t>
            </a:r>
            <a:r>
              <a:rPr lang="en-SG" sz="1200" dirty="0" err="1">
                <a:latin typeface="Lucida Console" panose="020B0609040504020204" pitchFamily="49" charset="0"/>
              </a:rPr>
              <a:t>cupcakeFlavour.value.isNullOrEmpty</a:t>
            </a:r>
            <a:r>
              <a:rPr lang="en-SG" sz="1200" dirty="0">
                <a:latin typeface="Lucida Console" panose="020B0609040504020204" pitchFamily="49" charset="0"/>
              </a:rPr>
              <a:t>()</a:t>
            </a:r>
          </a:p>
          <a:p>
            <a:r>
              <a:rPr lang="en-SG" sz="1200" dirty="0">
                <a:latin typeface="Lucida Console" panose="020B0609040504020204" pitchFamily="49" charset="0"/>
              </a:rPr>
              <a:t>}</a:t>
            </a:r>
          </a:p>
          <a:p>
            <a:endParaRPr lang="en-SG" sz="1200" dirty="0">
              <a:latin typeface="Lucida Console" panose="020B0609040504020204" pitchFamily="49" charset="0"/>
            </a:endParaRPr>
          </a:p>
          <a:p>
            <a:r>
              <a:rPr lang="en-SG" sz="1200" dirty="0">
                <a:latin typeface="Lucida Console" panose="020B0609040504020204" pitchFamily="49" charset="0"/>
              </a:rPr>
              <a:t>private fun </a:t>
            </a:r>
            <a:r>
              <a:rPr lang="en-SG" sz="1200" dirty="0" err="1">
                <a:latin typeface="Lucida Console" panose="020B0609040504020204" pitchFamily="49" charset="0"/>
              </a:rPr>
              <a:t>updatePrice</a:t>
            </a:r>
            <a:r>
              <a:rPr lang="en-SG" sz="1200" dirty="0">
                <a:latin typeface="Lucida Console" panose="020B0609040504020204" pitchFamily="49" charset="0"/>
              </a:rPr>
              <a:t>() {</a:t>
            </a:r>
          </a:p>
          <a:p>
            <a:pPr lvl="1"/>
            <a:r>
              <a:rPr lang="en-SG" sz="1200" dirty="0">
                <a:latin typeface="Lucida Console" panose="020B0609040504020204" pitchFamily="49" charset="0"/>
              </a:rPr>
              <a:t>var </a:t>
            </a:r>
            <a:r>
              <a:rPr lang="en-SG" sz="1200" dirty="0" err="1">
                <a:latin typeface="Lucida Console" panose="020B0609040504020204" pitchFamily="49" charset="0"/>
              </a:rPr>
              <a:t>updatedPrice</a:t>
            </a:r>
            <a:r>
              <a:rPr lang="en-SG" sz="1200" dirty="0">
                <a:latin typeface="Lucida Console" panose="020B0609040504020204" pitchFamily="49" charset="0"/>
              </a:rPr>
              <a:t> = (_</a:t>
            </a:r>
            <a:r>
              <a:rPr lang="en-SG" sz="1200" dirty="0" err="1">
                <a:latin typeface="Lucida Console" panose="020B0609040504020204" pitchFamily="49" charset="0"/>
              </a:rPr>
              <a:t>orderQty.value</a:t>
            </a:r>
            <a:r>
              <a:rPr lang="en-SG" sz="1200" dirty="0">
                <a:latin typeface="Lucida Console" panose="020B0609040504020204" pitchFamily="49" charset="0"/>
              </a:rPr>
              <a:t> ?: 0) * PRICE_PER_CUPCAKE</a:t>
            </a:r>
          </a:p>
          <a:p>
            <a:pPr lvl="1"/>
            <a:r>
              <a:rPr lang="en-SG" sz="1200" dirty="0">
                <a:latin typeface="Lucida Console" panose="020B0609040504020204" pitchFamily="49" charset="0"/>
              </a:rPr>
              <a:t>if (</a:t>
            </a:r>
            <a:r>
              <a:rPr lang="en-SG" sz="1200" dirty="0" err="1">
                <a:latin typeface="Lucida Console" panose="020B0609040504020204" pitchFamily="49" charset="0"/>
              </a:rPr>
              <a:t>dateOptions</a:t>
            </a:r>
            <a:r>
              <a:rPr lang="en-SG" sz="1200" dirty="0">
                <a:latin typeface="Lucida Console" panose="020B0609040504020204" pitchFamily="49" charset="0"/>
              </a:rPr>
              <a:t>[0] == _</a:t>
            </a:r>
            <a:r>
              <a:rPr lang="en-SG" sz="1200" dirty="0" err="1">
                <a:latin typeface="Lucida Console" panose="020B0609040504020204" pitchFamily="49" charset="0"/>
              </a:rPr>
              <a:t>pickUpDate.value</a:t>
            </a:r>
            <a:r>
              <a:rPr lang="en-SG" sz="1200" dirty="0">
                <a:latin typeface="Lucida Console" panose="020B0609040504020204" pitchFamily="49" charset="0"/>
              </a:rPr>
              <a:t>) {</a:t>
            </a:r>
          </a:p>
          <a:p>
            <a:pPr lvl="2"/>
            <a:r>
              <a:rPr lang="en-SG" sz="1200" dirty="0" err="1">
                <a:latin typeface="Lucida Console" panose="020B0609040504020204" pitchFamily="49" charset="0"/>
              </a:rPr>
              <a:t>updatedPrice</a:t>
            </a:r>
            <a:r>
              <a:rPr lang="en-SG" sz="1200" dirty="0">
                <a:latin typeface="Lucida Console" panose="020B0609040504020204" pitchFamily="49" charset="0"/>
              </a:rPr>
              <a:t> += SAME_DAY_PICKUP</a:t>
            </a:r>
          </a:p>
          <a:p>
            <a:pPr lvl="1"/>
            <a:r>
              <a:rPr lang="en-SG" sz="1200" dirty="0">
                <a:latin typeface="Lucida Console" panose="020B0609040504020204" pitchFamily="49" charset="0"/>
              </a:rPr>
              <a:t>}</a:t>
            </a:r>
          </a:p>
          <a:p>
            <a:pPr lvl="1"/>
            <a:r>
              <a:rPr lang="en-SG" sz="1200" dirty="0">
                <a:latin typeface="Lucida Console" panose="020B0609040504020204" pitchFamily="49" charset="0"/>
              </a:rPr>
              <a:t>_</a:t>
            </a:r>
            <a:r>
              <a:rPr lang="en-SG" sz="1200" dirty="0" err="1">
                <a:latin typeface="Lucida Console" panose="020B0609040504020204" pitchFamily="49" charset="0"/>
              </a:rPr>
              <a:t>totalPrice.value</a:t>
            </a:r>
            <a:r>
              <a:rPr lang="en-SG" sz="1200" dirty="0">
                <a:latin typeface="Lucida Console" panose="020B0609040504020204" pitchFamily="49" charset="0"/>
              </a:rPr>
              <a:t> = </a:t>
            </a:r>
            <a:r>
              <a:rPr lang="en-SG" sz="1200" dirty="0" err="1">
                <a:latin typeface="Lucida Console" panose="020B0609040504020204" pitchFamily="49" charset="0"/>
              </a:rPr>
              <a:t>updatedPrice</a:t>
            </a:r>
            <a:endParaRPr lang="en-SG" sz="1200" dirty="0">
              <a:latin typeface="Lucida Console" panose="020B0609040504020204" pitchFamily="49" charset="0"/>
            </a:endParaRPr>
          </a:p>
          <a:p>
            <a:r>
              <a:rPr lang="en-SG" sz="1200" dirty="0">
                <a:latin typeface="Lucida Console" panose="020B0609040504020204" pitchFamily="49" charset="0"/>
              </a:rPr>
              <a:t>}</a:t>
            </a:r>
          </a:p>
        </p:txBody>
      </p:sp>
      <p:sp>
        <p:nvSpPr>
          <p:cNvPr id="13" name="TextBox 12">
            <a:extLst>
              <a:ext uri="{FF2B5EF4-FFF2-40B4-BE49-F238E27FC236}">
                <a16:creationId xmlns:a16="http://schemas.microsoft.com/office/drawing/2014/main" id="{A577033E-EAF2-4821-8EED-49FE09D3CF24}"/>
              </a:ext>
            </a:extLst>
          </p:cNvPr>
          <p:cNvSpPr txBox="1"/>
          <p:nvPr/>
        </p:nvSpPr>
        <p:spPr>
          <a:xfrm>
            <a:off x="220330" y="4126246"/>
            <a:ext cx="6913122" cy="2677656"/>
          </a:xfrm>
          <a:prstGeom prst="rect">
            <a:avLst/>
          </a:prstGeom>
          <a:noFill/>
          <a:ln>
            <a:solidFill>
              <a:schemeClr val="tx1"/>
            </a:solidFill>
          </a:ln>
        </p:spPr>
        <p:txBody>
          <a:bodyPr wrap="square" rtlCol="0">
            <a:spAutoFit/>
          </a:bodyPr>
          <a:lstStyle/>
          <a:p>
            <a:r>
              <a:rPr lang="en-US" sz="1200" dirty="0">
                <a:latin typeface="Lucida Console" panose="020B0609040504020204" pitchFamily="49" charset="0"/>
              </a:rPr>
              <a:t>private </a:t>
            </a:r>
            <a:r>
              <a:rPr lang="en-US" sz="1200" dirty="0" err="1">
                <a:latin typeface="Lucida Console" panose="020B0609040504020204" pitchFamily="49" charset="0"/>
              </a:rPr>
              <a:t>val</a:t>
            </a:r>
            <a:r>
              <a:rPr lang="en-US" sz="1200" dirty="0">
                <a:latin typeface="Lucida Console" panose="020B0609040504020204" pitchFamily="49" charset="0"/>
              </a:rPr>
              <a:t> </a:t>
            </a:r>
            <a:r>
              <a:rPr lang="en-US" sz="1200" dirty="0" err="1">
                <a:highlight>
                  <a:srgbClr val="00FFFF"/>
                </a:highlight>
                <a:latin typeface="Lucida Console" panose="020B0609040504020204" pitchFamily="49" charset="0"/>
              </a:rPr>
              <a:t>sharedViewModel</a:t>
            </a:r>
            <a:r>
              <a:rPr lang="en-US" sz="1200" dirty="0">
                <a:latin typeface="Lucida Console" panose="020B0609040504020204" pitchFamily="49" charset="0"/>
              </a:rPr>
              <a:t>: </a:t>
            </a:r>
            <a:r>
              <a:rPr lang="en-US" sz="1200" dirty="0" err="1">
                <a:latin typeface="Lucida Console" panose="020B0609040504020204" pitchFamily="49" charset="0"/>
              </a:rPr>
              <a:t>OrderViewModel</a:t>
            </a:r>
            <a:r>
              <a:rPr lang="en-US" sz="1200" dirty="0">
                <a:latin typeface="Lucida Console" panose="020B0609040504020204" pitchFamily="49" charset="0"/>
              </a:rPr>
              <a:t> by </a:t>
            </a:r>
            <a:r>
              <a:rPr lang="en-US" sz="1200" dirty="0" err="1">
                <a:latin typeface="Lucida Console" panose="020B0609040504020204" pitchFamily="49" charset="0"/>
              </a:rPr>
              <a:t>activityViewModels</a:t>
            </a:r>
            <a:r>
              <a:rPr lang="en-US" sz="1200" dirty="0">
                <a:latin typeface="Lucida Console" panose="020B0609040504020204" pitchFamily="49" charset="0"/>
              </a:rPr>
              <a:t>()</a:t>
            </a:r>
            <a:endParaRPr lang="en-SG" sz="1200" dirty="0">
              <a:latin typeface="Lucida Console" panose="020B0609040504020204" pitchFamily="49" charset="0"/>
            </a:endParaRPr>
          </a:p>
          <a:p>
            <a:endParaRPr lang="en-SG" sz="1200" dirty="0">
              <a:latin typeface="Lucida Console" panose="020B0609040504020204" pitchFamily="49" charset="0"/>
            </a:endParaRPr>
          </a:p>
          <a:p>
            <a:r>
              <a:rPr lang="en-US" sz="1200" dirty="0">
                <a:latin typeface="Lucida Console" panose="020B0609040504020204" pitchFamily="49" charset="0"/>
              </a:rPr>
              <a:t>override fun </a:t>
            </a:r>
            <a:r>
              <a:rPr lang="en-US" sz="1200" dirty="0" err="1">
                <a:latin typeface="Lucida Console" panose="020B0609040504020204" pitchFamily="49" charset="0"/>
              </a:rPr>
              <a:t>onViewCreated</a:t>
            </a:r>
            <a:r>
              <a:rPr lang="en-US" sz="1200" dirty="0">
                <a:latin typeface="Lucida Console" panose="020B0609040504020204" pitchFamily="49" charset="0"/>
              </a:rPr>
              <a:t>(view: View, savedInstanceState: Bundle?) {</a:t>
            </a:r>
            <a:endParaRPr lang="en-SG" sz="1200" dirty="0">
              <a:latin typeface="Lucida Console" panose="020B0609040504020204" pitchFamily="49" charset="0"/>
            </a:endParaRPr>
          </a:p>
          <a:p>
            <a:pPr lvl="1"/>
            <a:r>
              <a:rPr lang="en-SG" sz="1200" dirty="0">
                <a:solidFill>
                  <a:srgbClr val="FF0000"/>
                </a:solidFill>
                <a:latin typeface="Lucida Console" panose="020B0609040504020204" pitchFamily="49" charset="0"/>
              </a:rPr>
              <a:t>//Use listener binding to bind click listeners in fragment to layout</a:t>
            </a:r>
          </a:p>
          <a:p>
            <a:pPr lvl="1"/>
            <a:r>
              <a:rPr lang="en-SG" sz="1200" dirty="0">
                <a:solidFill>
                  <a:srgbClr val="FF0000"/>
                </a:solidFill>
                <a:latin typeface="Lucida Console" panose="020B0609040504020204" pitchFamily="49" charset="0"/>
              </a:rPr>
              <a:t>//originally was </a:t>
            </a:r>
            <a:r>
              <a:rPr lang="en-SG" sz="1200" dirty="0" err="1">
                <a:solidFill>
                  <a:srgbClr val="FF0000"/>
                </a:solidFill>
                <a:latin typeface="Lucida Console" panose="020B0609040504020204" pitchFamily="49" charset="0"/>
              </a:rPr>
              <a:t>binding.setOnClickListener</a:t>
            </a:r>
            <a:r>
              <a:rPr lang="en-SG" sz="1200" dirty="0">
                <a:solidFill>
                  <a:srgbClr val="FF0000"/>
                </a:solidFill>
                <a:latin typeface="Lucida Console" panose="020B0609040504020204" pitchFamily="49" charset="0"/>
              </a:rPr>
              <a:t>{…}</a:t>
            </a:r>
          </a:p>
          <a:p>
            <a:pPr lvl="1"/>
            <a:r>
              <a:rPr lang="en-SG" sz="1200" dirty="0">
                <a:latin typeface="Lucida Console" panose="020B0609040504020204" pitchFamily="49" charset="0"/>
              </a:rPr>
              <a:t>binding?.</a:t>
            </a:r>
            <a:r>
              <a:rPr lang="en-SG" sz="1200" dirty="0" err="1">
                <a:highlight>
                  <a:srgbClr val="FFFF00"/>
                </a:highlight>
                <a:latin typeface="Lucida Console" panose="020B0609040504020204" pitchFamily="49" charset="0"/>
              </a:rPr>
              <a:t>startFragment</a:t>
            </a:r>
            <a:r>
              <a:rPr lang="en-SG" sz="1200" dirty="0">
                <a:latin typeface="Lucida Console" panose="020B0609040504020204" pitchFamily="49" charset="0"/>
              </a:rPr>
              <a:t> = this</a:t>
            </a:r>
          </a:p>
          <a:p>
            <a:r>
              <a:rPr lang="en-SG" sz="1200" dirty="0">
                <a:latin typeface="Lucida Console" panose="020B0609040504020204" pitchFamily="49" charset="0"/>
              </a:rPr>
              <a:t>}</a:t>
            </a:r>
          </a:p>
          <a:p>
            <a:endParaRPr lang="en-SG" sz="1200" dirty="0">
              <a:latin typeface="Lucida Console" panose="020B0609040504020204" pitchFamily="49" charset="0"/>
            </a:endParaRPr>
          </a:p>
          <a:p>
            <a:r>
              <a:rPr lang="en-SG" sz="1200" dirty="0">
                <a:latin typeface="Lucida Console" panose="020B0609040504020204" pitchFamily="49" charset="0"/>
              </a:rPr>
              <a:t>fun </a:t>
            </a:r>
            <a:r>
              <a:rPr lang="en-SG" sz="1200" dirty="0" err="1">
                <a:highlight>
                  <a:srgbClr val="00FF00"/>
                </a:highlight>
                <a:latin typeface="Lucida Console" panose="020B0609040504020204" pitchFamily="49" charset="0"/>
              </a:rPr>
              <a:t>orderCupcake</a:t>
            </a:r>
            <a:r>
              <a:rPr lang="en-SG" sz="1200" dirty="0">
                <a:latin typeface="Lucida Console" panose="020B0609040504020204" pitchFamily="49" charset="0"/>
              </a:rPr>
              <a:t>(quantity: Int) {</a:t>
            </a:r>
          </a:p>
          <a:p>
            <a:pPr lvl="1"/>
            <a:r>
              <a:rPr lang="en-SG" sz="1200" dirty="0" err="1">
                <a:highlight>
                  <a:srgbClr val="00FFFF"/>
                </a:highlight>
                <a:latin typeface="Lucida Console" panose="020B0609040504020204" pitchFamily="49" charset="0"/>
              </a:rPr>
              <a:t>sharedViewModel</a:t>
            </a:r>
            <a:r>
              <a:rPr lang="en-SG" sz="1200" dirty="0" err="1">
                <a:latin typeface="Lucida Console" panose="020B0609040504020204" pitchFamily="49" charset="0"/>
              </a:rPr>
              <a:t>.setQuantity</a:t>
            </a:r>
            <a:r>
              <a:rPr lang="en-SG" sz="1200" dirty="0">
                <a:latin typeface="Lucida Console" panose="020B0609040504020204" pitchFamily="49" charset="0"/>
              </a:rPr>
              <a:t>(quantity)</a:t>
            </a:r>
          </a:p>
          <a:p>
            <a:pPr lvl="1"/>
            <a:r>
              <a:rPr lang="en-SG" sz="1200" dirty="0">
                <a:latin typeface="Lucida Console" panose="020B0609040504020204" pitchFamily="49" charset="0"/>
              </a:rPr>
              <a:t>if (</a:t>
            </a:r>
            <a:r>
              <a:rPr lang="en-SG" sz="1200" dirty="0" err="1">
                <a:latin typeface="Lucida Console" panose="020B0609040504020204" pitchFamily="49" charset="0"/>
              </a:rPr>
              <a:t>sharedViewModel.hasNoFlavourSet</a:t>
            </a:r>
            <a:r>
              <a:rPr lang="en-SG" sz="1200" dirty="0">
                <a:latin typeface="Lucida Console" panose="020B0609040504020204" pitchFamily="49" charset="0"/>
              </a:rPr>
              <a:t>()) {</a:t>
            </a:r>
          </a:p>
          <a:p>
            <a:pPr lvl="1"/>
            <a:r>
              <a:rPr lang="en-SG" sz="1200" dirty="0">
                <a:latin typeface="Lucida Console" panose="020B0609040504020204" pitchFamily="49" charset="0"/>
              </a:rPr>
              <a:t>	</a:t>
            </a:r>
            <a:r>
              <a:rPr lang="en-SG" sz="1200" dirty="0" err="1">
                <a:latin typeface="Lucida Console" panose="020B0609040504020204" pitchFamily="49" charset="0"/>
              </a:rPr>
              <a:t>sharedViewModel.setFlavour</a:t>
            </a:r>
            <a:r>
              <a:rPr lang="en-SG" sz="1200" dirty="0">
                <a:latin typeface="Lucida Console" panose="020B0609040504020204" pitchFamily="49" charset="0"/>
              </a:rPr>
              <a:t>(getString(</a:t>
            </a:r>
            <a:r>
              <a:rPr lang="en-SG" sz="1200" dirty="0" err="1">
                <a:latin typeface="Lucida Console" panose="020B0609040504020204" pitchFamily="49" charset="0"/>
              </a:rPr>
              <a:t>R.string.vanilla</a:t>
            </a:r>
            <a:r>
              <a:rPr lang="en-SG" sz="1200" dirty="0">
                <a:latin typeface="Lucida Console" panose="020B0609040504020204" pitchFamily="49" charset="0"/>
              </a:rPr>
              <a:t>))</a:t>
            </a:r>
          </a:p>
          <a:p>
            <a:pPr lvl="1"/>
            <a:r>
              <a:rPr lang="en-SG" sz="1200" dirty="0">
                <a:latin typeface="Lucida Console" panose="020B0609040504020204" pitchFamily="49" charset="0"/>
              </a:rPr>
              <a:t>}</a:t>
            </a:r>
          </a:p>
          <a:p>
            <a:r>
              <a:rPr lang="en-SG" sz="1200" dirty="0">
                <a:latin typeface="Lucida Console" panose="020B0609040504020204" pitchFamily="49" charset="0"/>
              </a:rPr>
              <a:t>}</a:t>
            </a:r>
          </a:p>
        </p:txBody>
      </p:sp>
      <p:sp>
        <p:nvSpPr>
          <p:cNvPr id="14" name="TextBox 13">
            <a:extLst>
              <a:ext uri="{FF2B5EF4-FFF2-40B4-BE49-F238E27FC236}">
                <a16:creationId xmlns:a16="http://schemas.microsoft.com/office/drawing/2014/main" id="{6CAAC2B0-A03A-4E9E-B58F-62F93A3201AF}"/>
              </a:ext>
            </a:extLst>
          </p:cNvPr>
          <p:cNvSpPr txBox="1"/>
          <p:nvPr/>
        </p:nvSpPr>
        <p:spPr>
          <a:xfrm>
            <a:off x="375974" y="3886201"/>
            <a:ext cx="1238672" cy="276999"/>
          </a:xfrm>
          <a:prstGeom prst="rect">
            <a:avLst/>
          </a:prstGeom>
          <a:solidFill>
            <a:schemeClr val="accent4"/>
          </a:solidFill>
        </p:spPr>
        <p:txBody>
          <a:bodyPr wrap="none" rtlCol="0">
            <a:spAutoFit/>
          </a:bodyPr>
          <a:lstStyle/>
          <a:p>
            <a:r>
              <a:rPr lang="en-SG" sz="1200" dirty="0" err="1"/>
              <a:t>StartFragment.kt</a:t>
            </a:r>
            <a:endParaRPr lang="en-SG" sz="1200" dirty="0"/>
          </a:p>
        </p:txBody>
      </p:sp>
      <p:cxnSp>
        <p:nvCxnSpPr>
          <p:cNvPr id="16" name="Connector: Elbow 15">
            <a:extLst>
              <a:ext uri="{FF2B5EF4-FFF2-40B4-BE49-F238E27FC236}">
                <a16:creationId xmlns:a16="http://schemas.microsoft.com/office/drawing/2014/main" id="{A1942302-AA39-458E-86C0-C22C83752E37}"/>
              </a:ext>
            </a:extLst>
          </p:cNvPr>
          <p:cNvCxnSpPr>
            <a:stCxn id="9" idx="1"/>
            <a:endCxn id="14" idx="1"/>
          </p:cNvCxnSpPr>
          <p:nvPr/>
        </p:nvCxnSpPr>
        <p:spPr>
          <a:xfrm rot="10800000" flipV="1">
            <a:off x="375974" y="1593409"/>
            <a:ext cx="92572" cy="2431291"/>
          </a:xfrm>
          <a:prstGeom prst="bentConnector3">
            <a:avLst>
              <a:gd name="adj1" fmla="val 346943"/>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19" name="Connector: Elbow 18">
            <a:extLst>
              <a:ext uri="{FF2B5EF4-FFF2-40B4-BE49-F238E27FC236}">
                <a16:creationId xmlns:a16="http://schemas.microsoft.com/office/drawing/2014/main" id="{2315AB0A-04CE-4E5C-AAFD-F68BE4384D5D}"/>
              </a:ext>
            </a:extLst>
          </p:cNvPr>
          <p:cNvCxnSpPr>
            <a:stCxn id="14" idx="3"/>
            <a:endCxn id="10" idx="1"/>
          </p:cNvCxnSpPr>
          <p:nvPr/>
        </p:nvCxnSpPr>
        <p:spPr>
          <a:xfrm flipV="1">
            <a:off x="1614646" y="1921872"/>
            <a:ext cx="5625598" cy="2102829"/>
          </a:xfrm>
          <a:prstGeom prst="bentConnector3">
            <a:avLst>
              <a:gd name="adj1" fmla="val 95477"/>
            </a:avLst>
          </a:prstGeom>
          <a:ln>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6165482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sp>
        <p:nvSpPr>
          <p:cNvPr id="3" name="Content Placeholder 2">
            <a:extLst>
              <a:ext uri="{FF2B5EF4-FFF2-40B4-BE49-F238E27FC236}">
                <a16:creationId xmlns:a16="http://schemas.microsoft.com/office/drawing/2014/main" id="{391F087C-DAEB-492F-BB6C-4C663ADDEEB3}"/>
              </a:ext>
            </a:extLst>
          </p:cNvPr>
          <p:cNvSpPr>
            <a:spLocks noGrp="1"/>
          </p:cNvSpPr>
          <p:nvPr>
            <p:ph idx="1"/>
          </p:nvPr>
        </p:nvSpPr>
        <p:spPr/>
        <p:txBody>
          <a:bodyPr>
            <a:normAutofit fontScale="92500" lnSpcReduction="20000"/>
          </a:bodyPr>
          <a:lstStyle/>
          <a:p>
            <a:r>
              <a:rPr lang="en-US" sz="2400" dirty="0"/>
              <a:t>The navigation component simply refers to the collection of tools for implementing navigation, particularly between fragments.</a:t>
            </a:r>
            <a:endParaRPr lang="en-SG" sz="2400" dirty="0"/>
          </a:p>
          <a:p>
            <a:r>
              <a:rPr lang="en-SG" sz="2200" dirty="0"/>
              <a:t>Navigation Graph (e.g. res &gt; navigation &gt; nav_graph.xml)</a:t>
            </a:r>
          </a:p>
          <a:p>
            <a:pPr lvl="1"/>
            <a:r>
              <a:rPr lang="en-SG" sz="1800" dirty="0"/>
              <a:t>XML file that provides visual representation of navigation in an app.</a:t>
            </a:r>
          </a:p>
          <a:p>
            <a:pPr lvl="1"/>
            <a:r>
              <a:rPr lang="en-SG" sz="1800" dirty="0"/>
              <a:t>Consists of destinations which corresponds to individual activities and fragments as well as actions between them which can be used in code to navigate from one destination to another.</a:t>
            </a:r>
          </a:p>
          <a:p>
            <a:r>
              <a:rPr lang="en-SG" sz="2200" dirty="0" err="1"/>
              <a:t>NavHost</a:t>
            </a:r>
            <a:r>
              <a:rPr lang="en-SG" sz="2200" dirty="0"/>
              <a:t> (</a:t>
            </a:r>
            <a:r>
              <a:rPr lang="en-SG" sz="2200" dirty="0" err="1"/>
              <a:t>android:id</a:t>
            </a:r>
            <a:r>
              <a:rPr lang="en-SG" sz="2200" dirty="0"/>
              <a:t>=“@+id/</a:t>
            </a:r>
            <a:r>
              <a:rPr lang="en-SG" sz="2200" dirty="0" err="1"/>
              <a:t>nav_host_fragment</a:t>
            </a:r>
            <a:r>
              <a:rPr lang="en-SG" sz="2200" dirty="0"/>
              <a:t>”)</a:t>
            </a:r>
          </a:p>
          <a:p>
            <a:pPr lvl="1"/>
            <a:r>
              <a:rPr lang="en-SG" sz="1800" dirty="0"/>
              <a:t>Used to display destinations from Navigation Graph within an activity.</a:t>
            </a:r>
          </a:p>
          <a:p>
            <a:pPr lvl="1"/>
            <a:r>
              <a:rPr lang="en-SG" sz="1800" dirty="0"/>
              <a:t>When navigating between fragments, the destination shown in the </a:t>
            </a:r>
            <a:r>
              <a:rPr lang="en-SG" sz="1800" dirty="0" err="1"/>
              <a:t>NavHost</a:t>
            </a:r>
            <a:r>
              <a:rPr lang="en-SG" sz="1800" dirty="0"/>
              <a:t> is updated.</a:t>
            </a:r>
          </a:p>
          <a:p>
            <a:r>
              <a:rPr lang="en-SG" sz="2200" dirty="0" err="1"/>
              <a:t>NavController</a:t>
            </a:r>
            <a:r>
              <a:rPr lang="en-SG" sz="2200" dirty="0"/>
              <a:t> (</a:t>
            </a:r>
            <a:r>
              <a:rPr lang="en-SG" sz="2200" dirty="0" err="1"/>
              <a:t>NavHostFragment.navController</a:t>
            </a:r>
            <a:r>
              <a:rPr lang="en-SG" sz="2200" dirty="0"/>
              <a:t>)</a:t>
            </a:r>
          </a:p>
          <a:p>
            <a:pPr lvl="1"/>
            <a:r>
              <a:rPr lang="en-SG" sz="1800" dirty="0"/>
              <a:t>Lets you control navigation between destinations displayed in the </a:t>
            </a:r>
            <a:r>
              <a:rPr lang="en-SG" sz="1800" dirty="0" err="1"/>
              <a:t>NavHost</a:t>
            </a:r>
            <a:r>
              <a:rPr lang="en-SG" sz="1800" dirty="0"/>
              <a:t>.</a:t>
            </a:r>
          </a:p>
          <a:p>
            <a:pPr lvl="1"/>
            <a:r>
              <a:rPr lang="en-SG" sz="1800" dirty="0"/>
              <a:t>When working with intents, you had to call </a:t>
            </a:r>
            <a:r>
              <a:rPr lang="en-SG" sz="1800" dirty="0" err="1">
                <a:latin typeface="Lucida Console" panose="020B0609040504020204" pitchFamily="49" charset="0"/>
              </a:rPr>
              <a:t>startActivity</a:t>
            </a:r>
            <a:r>
              <a:rPr lang="en-SG" sz="1800" dirty="0">
                <a:latin typeface="Lucida Console" panose="020B0609040504020204" pitchFamily="49" charset="0"/>
              </a:rPr>
              <a:t>()</a:t>
            </a:r>
            <a:r>
              <a:rPr lang="en-SG" sz="1800" dirty="0"/>
              <a:t> to navigate to a new screen. With the Navigation Component, you can instead call the </a:t>
            </a:r>
            <a:r>
              <a:rPr lang="en-SG" sz="1800" dirty="0" err="1"/>
              <a:t>NavController’s</a:t>
            </a:r>
            <a:r>
              <a:rPr lang="en-SG" sz="1800" dirty="0"/>
              <a:t> </a:t>
            </a:r>
            <a:r>
              <a:rPr lang="en-SG" sz="1800" dirty="0">
                <a:latin typeface="Lucida Console" panose="020B0609040504020204" pitchFamily="49" charset="0"/>
              </a:rPr>
              <a:t>navigate()</a:t>
            </a:r>
            <a:r>
              <a:rPr lang="en-SG" sz="1800" dirty="0"/>
              <a:t> method to swap the fragment that’s displayed.</a:t>
            </a:r>
          </a:p>
          <a:p>
            <a:pPr lvl="1"/>
            <a:r>
              <a:rPr lang="en-SG" sz="1800" dirty="0"/>
              <a:t>Handles common tasks like responding to system “up” button to navigate back to the previously displayed fragment (i.e. with </a:t>
            </a:r>
            <a:r>
              <a:rPr lang="en-SG" sz="1800" dirty="0" err="1">
                <a:latin typeface="Lucida Console" panose="020B0609040504020204" pitchFamily="49" charset="0"/>
              </a:rPr>
              <a:t>onSupportNavigationUp</a:t>
            </a:r>
            <a:r>
              <a:rPr lang="en-SG" sz="1800" dirty="0">
                <a:latin typeface="Lucida Console" panose="020B0609040504020204" pitchFamily="49" charset="0"/>
              </a:rPr>
              <a:t>()</a:t>
            </a:r>
            <a:r>
              <a:rPr lang="en-SG" sz="1800" dirty="0"/>
              <a:t>)</a:t>
            </a:r>
          </a:p>
        </p:txBody>
      </p:sp>
    </p:spTree>
    <p:extLst>
      <p:ext uri="{BB962C8B-B14F-4D97-AF65-F5344CB8AC3E}">
        <p14:creationId xmlns:p14="http://schemas.microsoft.com/office/powerpoint/2010/main" val="8291726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sp>
        <p:nvSpPr>
          <p:cNvPr id="6" name="TextBox 5">
            <a:extLst>
              <a:ext uri="{FF2B5EF4-FFF2-40B4-BE49-F238E27FC236}">
                <a16:creationId xmlns:a16="http://schemas.microsoft.com/office/drawing/2014/main" id="{E43CC33B-1A2D-4D1C-999F-75EB85215562}"/>
              </a:ext>
            </a:extLst>
          </p:cNvPr>
          <p:cNvSpPr txBox="1"/>
          <p:nvPr/>
        </p:nvSpPr>
        <p:spPr>
          <a:xfrm>
            <a:off x="838200" y="1690688"/>
            <a:ext cx="1102289" cy="276999"/>
          </a:xfrm>
          <a:prstGeom prst="rect">
            <a:avLst/>
          </a:prstGeom>
          <a:solidFill>
            <a:schemeClr val="accent4"/>
          </a:solidFill>
        </p:spPr>
        <p:txBody>
          <a:bodyPr wrap="none" rtlCol="0">
            <a:spAutoFit/>
          </a:bodyPr>
          <a:lstStyle/>
          <a:p>
            <a:r>
              <a:rPr lang="en-SG" sz="1200" dirty="0"/>
              <a:t>nav_graph.xml</a:t>
            </a:r>
          </a:p>
        </p:txBody>
      </p:sp>
      <p:pic>
        <p:nvPicPr>
          <p:cNvPr id="8" name="Picture 7">
            <a:extLst>
              <a:ext uri="{FF2B5EF4-FFF2-40B4-BE49-F238E27FC236}">
                <a16:creationId xmlns:a16="http://schemas.microsoft.com/office/drawing/2014/main" id="{613829EB-2369-4809-A78E-2B394AF7BC36}"/>
              </a:ext>
            </a:extLst>
          </p:cNvPr>
          <p:cNvPicPr>
            <a:picLocks noChangeAspect="1"/>
          </p:cNvPicPr>
          <p:nvPr/>
        </p:nvPicPr>
        <p:blipFill>
          <a:blip r:embed="rId2"/>
          <a:stretch>
            <a:fillRect/>
          </a:stretch>
        </p:blipFill>
        <p:spPr>
          <a:xfrm>
            <a:off x="585682" y="1967687"/>
            <a:ext cx="11331922" cy="4320914"/>
          </a:xfrm>
          <a:prstGeom prst="rect">
            <a:avLst/>
          </a:prstGeom>
        </p:spPr>
      </p:pic>
      <p:sp>
        <p:nvSpPr>
          <p:cNvPr id="9" name="TextBox 8">
            <a:extLst>
              <a:ext uri="{FF2B5EF4-FFF2-40B4-BE49-F238E27FC236}">
                <a16:creationId xmlns:a16="http://schemas.microsoft.com/office/drawing/2014/main" id="{5CF704C5-DBDE-49F2-B2E0-EB243AE136E4}"/>
              </a:ext>
            </a:extLst>
          </p:cNvPr>
          <p:cNvSpPr txBox="1"/>
          <p:nvPr/>
        </p:nvSpPr>
        <p:spPr>
          <a:xfrm>
            <a:off x="3548974" y="2524023"/>
            <a:ext cx="5230086" cy="276999"/>
          </a:xfrm>
          <a:prstGeom prst="rect">
            <a:avLst/>
          </a:prstGeom>
          <a:solidFill>
            <a:schemeClr val="accent4"/>
          </a:solidFill>
        </p:spPr>
        <p:txBody>
          <a:bodyPr wrap="none" rtlCol="0">
            <a:spAutoFit/>
          </a:bodyPr>
          <a:lstStyle/>
          <a:p>
            <a:r>
              <a:rPr lang="en-SG" sz="1200" dirty="0"/>
              <a:t>This is where you establish how fragments should navigate between one another</a:t>
            </a:r>
          </a:p>
        </p:txBody>
      </p:sp>
      <p:sp>
        <p:nvSpPr>
          <p:cNvPr id="10" name="Rectangle 9">
            <a:extLst>
              <a:ext uri="{FF2B5EF4-FFF2-40B4-BE49-F238E27FC236}">
                <a16:creationId xmlns:a16="http://schemas.microsoft.com/office/drawing/2014/main" id="{5D7BCE29-9F3C-468F-A746-79BCE63155EE}"/>
              </a:ext>
            </a:extLst>
          </p:cNvPr>
          <p:cNvSpPr/>
          <p:nvPr/>
        </p:nvSpPr>
        <p:spPr>
          <a:xfrm>
            <a:off x="9348281" y="2524023"/>
            <a:ext cx="2394071" cy="17053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A1049690-3A07-4415-9024-5C036B99550D}"/>
              </a:ext>
            </a:extLst>
          </p:cNvPr>
          <p:cNvSpPr txBox="1"/>
          <p:nvPr/>
        </p:nvSpPr>
        <p:spPr>
          <a:xfrm>
            <a:off x="9173029" y="992221"/>
            <a:ext cx="2569323" cy="461665"/>
          </a:xfrm>
          <a:prstGeom prst="rect">
            <a:avLst/>
          </a:prstGeom>
          <a:noFill/>
          <a:ln>
            <a:solidFill>
              <a:srgbClr val="FF0000"/>
            </a:solidFill>
          </a:ln>
        </p:spPr>
        <p:txBody>
          <a:bodyPr wrap="square" rtlCol="0">
            <a:spAutoFit/>
          </a:bodyPr>
          <a:lstStyle/>
          <a:p>
            <a:r>
              <a:rPr lang="en-SG" sz="1200" dirty="0"/>
              <a:t>This label is what will appear as the fragment title in the app bar</a:t>
            </a:r>
          </a:p>
        </p:txBody>
      </p:sp>
      <p:cxnSp>
        <p:nvCxnSpPr>
          <p:cNvPr id="13" name="Straight Arrow Connector 12">
            <a:extLst>
              <a:ext uri="{FF2B5EF4-FFF2-40B4-BE49-F238E27FC236}">
                <a16:creationId xmlns:a16="http://schemas.microsoft.com/office/drawing/2014/main" id="{ECD55A48-A7AA-4806-B7F1-A21B3FA92B11}"/>
              </a:ext>
            </a:extLst>
          </p:cNvPr>
          <p:cNvCxnSpPr>
            <a:stCxn id="11" idx="2"/>
            <a:endCxn id="10" idx="0"/>
          </p:cNvCxnSpPr>
          <p:nvPr/>
        </p:nvCxnSpPr>
        <p:spPr>
          <a:xfrm>
            <a:off x="10457691" y="1453886"/>
            <a:ext cx="87626" cy="107013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6016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0F1E2B3-B239-4A8B-818D-B13F55D600D8}"/>
              </a:ext>
            </a:extLst>
          </p:cNvPr>
          <p:cNvPicPr>
            <a:picLocks noChangeAspect="1"/>
          </p:cNvPicPr>
          <p:nvPr/>
        </p:nvPicPr>
        <p:blipFill>
          <a:blip r:embed="rId2"/>
          <a:stretch>
            <a:fillRect/>
          </a:stretch>
        </p:blipFill>
        <p:spPr>
          <a:xfrm>
            <a:off x="1086342" y="4284675"/>
            <a:ext cx="6430144" cy="2268429"/>
          </a:xfrm>
          <a:prstGeom prst="rect">
            <a:avLst/>
          </a:prstGeom>
        </p:spPr>
      </p:pic>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sp>
        <p:nvSpPr>
          <p:cNvPr id="6" name="TextBox 5">
            <a:extLst>
              <a:ext uri="{FF2B5EF4-FFF2-40B4-BE49-F238E27FC236}">
                <a16:creationId xmlns:a16="http://schemas.microsoft.com/office/drawing/2014/main" id="{E43CC33B-1A2D-4D1C-999F-75EB85215562}"/>
              </a:ext>
            </a:extLst>
          </p:cNvPr>
          <p:cNvSpPr txBox="1"/>
          <p:nvPr/>
        </p:nvSpPr>
        <p:spPr>
          <a:xfrm>
            <a:off x="838200" y="1564227"/>
            <a:ext cx="1289135" cy="276999"/>
          </a:xfrm>
          <a:prstGeom prst="rect">
            <a:avLst/>
          </a:prstGeom>
          <a:solidFill>
            <a:schemeClr val="accent4"/>
          </a:solidFill>
        </p:spPr>
        <p:txBody>
          <a:bodyPr wrap="none" rtlCol="0">
            <a:spAutoFit/>
          </a:bodyPr>
          <a:lstStyle/>
          <a:p>
            <a:r>
              <a:rPr lang="en-SG" sz="1200" dirty="0"/>
              <a:t>activity_main.xml</a:t>
            </a:r>
          </a:p>
        </p:txBody>
      </p:sp>
      <p:pic>
        <p:nvPicPr>
          <p:cNvPr id="4" name="Picture 3">
            <a:extLst>
              <a:ext uri="{FF2B5EF4-FFF2-40B4-BE49-F238E27FC236}">
                <a16:creationId xmlns:a16="http://schemas.microsoft.com/office/drawing/2014/main" id="{1E43D2E0-5E7C-462B-991A-FD5A88F6CC20}"/>
              </a:ext>
            </a:extLst>
          </p:cNvPr>
          <p:cNvPicPr>
            <a:picLocks noChangeAspect="1"/>
          </p:cNvPicPr>
          <p:nvPr/>
        </p:nvPicPr>
        <p:blipFill>
          <a:blip r:embed="rId3"/>
          <a:stretch>
            <a:fillRect/>
          </a:stretch>
        </p:blipFill>
        <p:spPr>
          <a:xfrm>
            <a:off x="1086342" y="1833173"/>
            <a:ext cx="6423411" cy="2329735"/>
          </a:xfrm>
          <a:prstGeom prst="rect">
            <a:avLst/>
          </a:prstGeom>
        </p:spPr>
      </p:pic>
      <p:sp>
        <p:nvSpPr>
          <p:cNvPr id="7" name="TextBox 6">
            <a:extLst>
              <a:ext uri="{FF2B5EF4-FFF2-40B4-BE49-F238E27FC236}">
                <a16:creationId xmlns:a16="http://schemas.microsoft.com/office/drawing/2014/main" id="{8C518BA4-435D-45AC-A66A-039C57818F90}"/>
              </a:ext>
            </a:extLst>
          </p:cNvPr>
          <p:cNvSpPr txBox="1"/>
          <p:nvPr/>
        </p:nvSpPr>
        <p:spPr>
          <a:xfrm>
            <a:off x="7970596" y="2346287"/>
            <a:ext cx="2898442" cy="646331"/>
          </a:xfrm>
          <a:prstGeom prst="rect">
            <a:avLst/>
          </a:prstGeom>
          <a:noFill/>
          <a:ln>
            <a:solidFill>
              <a:srgbClr val="FF0000"/>
            </a:solidFill>
          </a:ln>
        </p:spPr>
        <p:txBody>
          <a:bodyPr wrap="square" rtlCol="0">
            <a:spAutoFit/>
          </a:bodyPr>
          <a:lstStyle/>
          <a:p>
            <a:r>
              <a:rPr lang="en-SG" sz="1200" dirty="0"/>
              <a:t>The Main Activity or rather, the fragment container in the Main Activity should be should be the Navigation Host Fragment.</a:t>
            </a:r>
          </a:p>
        </p:txBody>
      </p:sp>
      <p:sp>
        <p:nvSpPr>
          <p:cNvPr id="9" name="Rectangle 8">
            <a:extLst>
              <a:ext uri="{FF2B5EF4-FFF2-40B4-BE49-F238E27FC236}">
                <a16:creationId xmlns:a16="http://schemas.microsoft.com/office/drawing/2014/main" id="{60F95628-6F3C-4B10-A82B-82D2D8601D50}"/>
              </a:ext>
            </a:extLst>
          </p:cNvPr>
          <p:cNvSpPr/>
          <p:nvPr/>
        </p:nvSpPr>
        <p:spPr>
          <a:xfrm>
            <a:off x="1482767" y="2287860"/>
            <a:ext cx="2447207" cy="1525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8B2900FD-00AA-43BD-8DE2-734DFC7A848B}"/>
              </a:ext>
            </a:extLst>
          </p:cNvPr>
          <p:cNvSpPr/>
          <p:nvPr/>
        </p:nvSpPr>
        <p:spPr>
          <a:xfrm>
            <a:off x="1482767" y="2472686"/>
            <a:ext cx="4071727" cy="18482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70CECE27-F43C-4E7A-B3D8-C142BB484EA1}"/>
              </a:ext>
            </a:extLst>
          </p:cNvPr>
          <p:cNvSpPr/>
          <p:nvPr/>
        </p:nvSpPr>
        <p:spPr>
          <a:xfrm>
            <a:off x="1482767" y="3978082"/>
            <a:ext cx="3100974" cy="1525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2E0F2510-BC89-4A23-A8BA-13505BA6E65B}"/>
              </a:ext>
            </a:extLst>
          </p:cNvPr>
          <p:cNvSpPr txBox="1"/>
          <p:nvPr/>
        </p:nvSpPr>
        <p:spPr>
          <a:xfrm>
            <a:off x="6723310" y="4546273"/>
            <a:ext cx="1121141" cy="276999"/>
          </a:xfrm>
          <a:prstGeom prst="rect">
            <a:avLst/>
          </a:prstGeom>
          <a:solidFill>
            <a:schemeClr val="accent4"/>
          </a:solidFill>
        </p:spPr>
        <p:txBody>
          <a:bodyPr wrap="none" rtlCol="0">
            <a:spAutoFit/>
          </a:bodyPr>
          <a:lstStyle/>
          <a:p>
            <a:r>
              <a:rPr lang="en-SG" sz="1200" dirty="0"/>
              <a:t>MainActivity.kt</a:t>
            </a:r>
          </a:p>
        </p:txBody>
      </p:sp>
      <p:sp>
        <p:nvSpPr>
          <p:cNvPr id="14" name="TextBox 13">
            <a:extLst>
              <a:ext uri="{FF2B5EF4-FFF2-40B4-BE49-F238E27FC236}">
                <a16:creationId xmlns:a16="http://schemas.microsoft.com/office/drawing/2014/main" id="{788A3828-80D3-435C-B817-7A2A30261DF8}"/>
              </a:ext>
            </a:extLst>
          </p:cNvPr>
          <p:cNvSpPr txBox="1"/>
          <p:nvPr/>
        </p:nvSpPr>
        <p:spPr>
          <a:xfrm>
            <a:off x="7970596" y="5037938"/>
            <a:ext cx="2898442" cy="461665"/>
          </a:xfrm>
          <a:prstGeom prst="rect">
            <a:avLst/>
          </a:prstGeom>
          <a:noFill/>
          <a:ln>
            <a:solidFill>
              <a:srgbClr val="FF0000"/>
            </a:solidFill>
          </a:ln>
        </p:spPr>
        <p:txBody>
          <a:bodyPr wrap="square" rtlCol="0">
            <a:spAutoFit/>
          </a:bodyPr>
          <a:lstStyle/>
          <a:p>
            <a:r>
              <a:rPr lang="en-SG" sz="1200" dirty="0"/>
              <a:t>Within onCreate(), should get the </a:t>
            </a:r>
            <a:r>
              <a:rPr lang="en-SG" sz="1200" dirty="0" err="1"/>
              <a:t>NavController</a:t>
            </a:r>
            <a:r>
              <a:rPr lang="en-SG" sz="1200" dirty="0"/>
              <a:t> from the </a:t>
            </a:r>
            <a:r>
              <a:rPr lang="en-SG" sz="1200" dirty="0" err="1"/>
              <a:t>NavHostFragment</a:t>
            </a:r>
            <a:endParaRPr lang="en-SG" sz="1200" dirty="0"/>
          </a:p>
        </p:txBody>
      </p:sp>
      <p:sp>
        <p:nvSpPr>
          <p:cNvPr id="17" name="Rectangle 16">
            <a:extLst>
              <a:ext uri="{FF2B5EF4-FFF2-40B4-BE49-F238E27FC236}">
                <a16:creationId xmlns:a16="http://schemas.microsoft.com/office/drawing/2014/main" id="{474CDD15-3519-4F4A-A46D-101C22639F9C}"/>
              </a:ext>
            </a:extLst>
          </p:cNvPr>
          <p:cNvSpPr/>
          <p:nvPr/>
        </p:nvSpPr>
        <p:spPr>
          <a:xfrm>
            <a:off x="1098151" y="4284675"/>
            <a:ext cx="3100974" cy="1525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Rectangle 17">
            <a:extLst>
              <a:ext uri="{FF2B5EF4-FFF2-40B4-BE49-F238E27FC236}">
                <a16:creationId xmlns:a16="http://schemas.microsoft.com/office/drawing/2014/main" id="{BEC80336-C1CE-4766-B89C-07660AB008D0}"/>
              </a:ext>
            </a:extLst>
          </p:cNvPr>
          <p:cNvSpPr/>
          <p:nvPr/>
        </p:nvSpPr>
        <p:spPr>
          <a:xfrm>
            <a:off x="1338099" y="5769764"/>
            <a:ext cx="6171653" cy="59664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287696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4A938DA-9CD7-4181-8A58-5336A3D3D39C}"/>
              </a:ext>
            </a:extLst>
          </p:cNvPr>
          <p:cNvPicPr>
            <a:picLocks noChangeAspect="1"/>
          </p:cNvPicPr>
          <p:nvPr/>
        </p:nvPicPr>
        <p:blipFill>
          <a:blip r:embed="rId2"/>
          <a:stretch>
            <a:fillRect/>
          </a:stretch>
        </p:blipFill>
        <p:spPr>
          <a:xfrm>
            <a:off x="934496" y="2086914"/>
            <a:ext cx="7026249" cy="2987299"/>
          </a:xfrm>
          <a:prstGeom prst="rect">
            <a:avLst/>
          </a:prstGeom>
        </p:spPr>
      </p:pic>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sp>
        <p:nvSpPr>
          <p:cNvPr id="19" name="TextBox 18">
            <a:extLst>
              <a:ext uri="{FF2B5EF4-FFF2-40B4-BE49-F238E27FC236}">
                <a16:creationId xmlns:a16="http://schemas.microsoft.com/office/drawing/2014/main" id="{DAED1A64-365D-4BD5-9E7C-99BACF23610D}"/>
              </a:ext>
            </a:extLst>
          </p:cNvPr>
          <p:cNvSpPr txBox="1"/>
          <p:nvPr/>
        </p:nvSpPr>
        <p:spPr>
          <a:xfrm>
            <a:off x="708498" y="1809915"/>
            <a:ext cx="1602042" cy="276999"/>
          </a:xfrm>
          <a:prstGeom prst="rect">
            <a:avLst/>
          </a:prstGeom>
          <a:solidFill>
            <a:schemeClr val="accent4"/>
          </a:solidFill>
        </p:spPr>
        <p:txBody>
          <a:bodyPr wrap="none" rtlCol="0">
            <a:spAutoFit/>
          </a:bodyPr>
          <a:lstStyle/>
          <a:p>
            <a:r>
              <a:rPr lang="en-SG" sz="1200" dirty="0" err="1"/>
              <a:t>StartOrderFragment.kt</a:t>
            </a:r>
            <a:endParaRPr lang="en-SG" sz="1200" dirty="0"/>
          </a:p>
        </p:txBody>
      </p:sp>
      <p:sp>
        <p:nvSpPr>
          <p:cNvPr id="20" name="TextBox 19">
            <a:extLst>
              <a:ext uri="{FF2B5EF4-FFF2-40B4-BE49-F238E27FC236}">
                <a16:creationId xmlns:a16="http://schemas.microsoft.com/office/drawing/2014/main" id="{6317E625-04EE-467C-AC00-0435640E503E}"/>
              </a:ext>
            </a:extLst>
          </p:cNvPr>
          <p:cNvSpPr txBox="1"/>
          <p:nvPr/>
        </p:nvSpPr>
        <p:spPr>
          <a:xfrm>
            <a:off x="8186743" y="3792365"/>
            <a:ext cx="2898442" cy="461665"/>
          </a:xfrm>
          <a:prstGeom prst="rect">
            <a:avLst/>
          </a:prstGeom>
          <a:noFill/>
          <a:ln>
            <a:solidFill>
              <a:srgbClr val="FF0000"/>
            </a:solidFill>
          </a:ln>
        </p:spPr>
        <p:txBody>
          <a:bodyPr wrap="square" rtlCol="0">
            <a:spAutoFit/>
          </a:bodyPr>
          <a:lstStyle/>
          <a:p>
            <a:r>
              <a:rPr lang="en-SG" sz="1200" dirty="0"/>
              <a:t>Use </a:t>
            </a:r>
            <a:r>
              <a:rPr lang="en-SG" sz="1200" dirty="0" err="1"/>
              <a:t>findNavController</a:t>
            </a:r>
            <a:r>
              <a:rPr lang="en-SG" sz="1200" dirty="0"/>
              <a:t>().navigate() to navigate between fragments.</a:t>
            </a:r>
          </a:p>
        </p:txBody>
      </p:sp>
      <p:sp>
        <p:nvSpPr>
          <p:cNvPr id="21" name="Rectangle 20">
            <a:extLst>
              <a:ext uri="{FF2B5EF4-FFF2-40B4-BE49-F238E27FC236}">
                <a16:creationId xmlns:a16="http://schemas.microsoft.com/office/drawing/2014/main" id="{8E127612-BE48-470F-A2C3-F965E6FEC274}"/>
              </a:ext>
            </a:extLst>
          </p:cNvPr>
          <p:cNvSpPr/>
          <p:nvPr/>
        </p:nvSpPr>
        <p:spPr>
          <a:xfrm>
            <a:off x="1595337" y="4237917"/>
            <a:ext cx="6245158" cy="20762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3325305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pic>
        <p:nvPicPr>
          <p:cNvPr id="5" name="Picture 4">
            <a:extLst>
              <a:ext uri="{FF2B5EF4-FFF2-40B4-BE49-F238E27FC236}">
                <a16:creationId xmlns:a16="http://schemas.microsoft.com/office/drawing/2014/main" id="{E87121A2-6FCD-4786-BC51-92BCEAD7A3BE}"/>
              </a:ext>
            </a:extLst>
          </p:cNvPr>
          <p:cNvPicPr>
            <a:picLocks noChangeAspect="1"/>
          </p:cNvPicPr>
          <p:nvPr/>
        </p:nvPicPr>
        <p:blipFill>
          <a:blip r:embed="rId2"/>
          <a:stretch>
            <a:fillRect/>
          </a:stretch>
        </p:blipFill>
        <p:spPr>
          <a:xfrm>
            <a:off x="838200" y="2045406"/>
            <a:ext cx="6873836" cy="3642676"/>
          </a:xfrm>
          <a:prstGeom prst="rect">
            <a:avLst/>
          </a:prstGeom>
        </p:spPr>
      </p:pic>
      <p:sp>
        <p:nvSpPr>
          <p:cNvPr id="19" name="TextBox 18">
            <a:extLst>
              <a:ext uri="{FF2B5EF4-FFF2-40B4-BE49-F238E27FC236}">
                <a16:creationId xmlns:a16="http://schemas.microsoft.com/office/drawing/2014/main" id="{DAED1A64-365D-4BD5-9E7C-99BACF23610D}"/>
              </a:ext>
            </a:extLst>
          </p:cNvPr>
          <p:cNvSpPr txBox="1"/>
          <p:nvPr/>
        </p:nvSpPr>
        <p:spPr>
          <a:xfrm>
            <a:off x="708498" y="1809915"/>
            <a:ext cx="1719573" cy="276999"/>
          </a:xfrm>
          <a:prstGeom prst="rect">
            <a:avLst/>
          </a:prstGeom>
          <a:solidFill>
            <a:schemeClr val="accent4"/>
          </a:solidFill>
        </p:spPr>
        <p:txBody>
          <a:bodyPr wrap="none" rtlCol="0">
            <a:spAutoFit/>
          </a:bodyPr>
          <a:lstStyle/>
          <a:p>
            <a:r>
              <a:rPr lang="en-SG" sz="1200" dirty="0" err="1"/>
              <a:t>EntreeMenuFragment.kt</a:t>
            </a:r>
            <a:endParaRPr lang="en-SG" sz="1200" dirty="0"/>
          </a:p>
        </p:txBody>
      </p:sp>
      <p:sp>
        <p:nvSpPr>
          <p:cNvPr id="20" name="TextBox 19">
            <a:extLst>
              <a:ext uri="{FF2B5EF4-FFF2-40B4-BE49-F238E27FC236}">
                <a16:creationId xmlns:a16="http://schemas.microsoft.com/office/drawing/2014/main" id="{6317E625-04EE-467C-AC00-0435640E503E}"/>
              </a:ext>
            </a:extLst>
          </p:cNvPr>
          <p:cNvSpPr txBox="1"/>
          <p:nvPr/>
        </p:nvSpPr>
        <p:spPr>
          <a:xfrm>
            <a:off x="7970596" y="3776252"/>
            <a:ext cx="2898442" cy="461665"/>
          </a:xfrm>
          <a:prstGeom prst="rect">
            <a:avLst/>
          </a:prstGeom>
          <a:noFill/>
          <a:ln>
            <a:solidFill>
              <a:srgbClr val="FF0000"/>
            </a:solidFill>
          </a:ln>
        </p:spPr>
        <p:txBody>
          <a:bodyPr wrap="square" rtlCol="0">
            <a:spAutoFit/>
          </a:bodyPr>
          <a:lstStyle/>
          <a:p>
            <a:r>
              <a:rPr lang="en-SG" sz="1200" dirty="0"/>
              <a:t>Use </a:t>
            </a:r>
            <a:r>
              <a:rPr lang="en-SG" sz="1200" dirty="0" err="1"/>
              <a:t>findNavController</a:t>
            </a:r>
            <a:r>
              <a:rPr lang="en-SG" sz="1200" dirty="0"/>
              <a:t>().navigate() to navigate between fragments.</a:t>
            </a:r>
          </a:p>
        </p:txBody>
      </p:sp>
      <p:sp>
        <p:nvSpPr>
          <p:cNvPr id="21" name="Rectangle 20">
            <a:extLst>
              <a:ext uri="{FF2B5EF4-FFF2-40B4-BE49-F238E27FC236}">
                <a16:creationId xmlns:a16="http://schemas.microsoft.com/office/drawing/2014/main" id="{8E127612-BE48-470F-A2C3-F965E6FEC274}"/>
              </a:ext>
            </a:extLst>
          </p:cNvPr>
          <p:cNvSpPr/>
          <p:nvPr/>
        </p:nvSpPr>
        <p:spPr>
          <a:xfrm>
            <a:off x="1288214" y="3124438"/>
            <a:ext cx="6172901" cy="20242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2" name="Rectangle 21">
            <a:extLst>
              <a:ext uri="{FF2B5EF4-FFF2-40B4-BE49-F238E27FC236}">
                <a16:creationId xmlns:a16="http://schemas.microsoft.com/office/drawing/2014/main" id="{63C3ADEC-C1E9-4F8F-9CED-64180A98CEAC}"/>
              </a:ext>
            </a:extLst>
          </p:cNvPr>
          <p:cNvSpPr/>
          <p:nvPr/>
        </p:nvSpPr>
        <p:spPr>
          <a:xfrm>
            <a:off x="1288213" y="5212642"/>
            <a:ext cx="6318817" cy="20242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1191381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2C6A3-2802-4393-8C79-955051FEDF9C}"/>
              </a:ext>
            </a:extLst>
          </p:cNvPr>
          <p:cNvSpPr>
            <a:spLocks noGrp="1"/>
          </p:cNvSpPr>
          <p:nvPr>
            <p:ph type="title"/>
          </p:nvPr>
        </p:nvSpPr>
        <p:spPr/>
        <p:txBody>
          <a:bodyPr/>
          <a:lstStyle/>
          <a:p>
            <a:r>
              <a:rPr lang="en-SG" dirty="0"/>
              <a:t>So why </a:t>
            </a:r>
            <a:r>
              <a:rPr lang="en-SG" dirty="0" err="1"/>
              <a:t>ViewModel</a:t>
            </a:r>
            <a:r>
              <a:rPr lang="en-SG" dirty="0"/>
              <a:t>?</a:t>
            </a:r>
          </a:p>
        </p:txBody>
      </p:sp>
      <p:sp>
        <p:nvSpPr>
          <p:cNvPr id="3" name="Content Placeholder 2">
            <a:extLst>
              <a:ext uri="{FF2B5EF4-FFF2-40B4-BE49-F238E27FC236}">
                <a16:creationId xmlns:a16="http://schemas.microsoft.com/office/drawing/2014/main" id="{0A679333-6B7B-4D8F-AF73-E1730589DB90}"/>
              </a:ext>
            </a:extLst>
          </p:cNvPr>
          <p:cNvSpPr>
            <a:spLocks noGrp="1"/>
          </p:cNvSpPr>
          <p:nvPr>
            <p:ph idx="1"/>
          </p:nvPr>
        </p:nvSpPr>
        <p:spPr/>
        <p:txBody>
          <a:bodyPr/>
          <a:lstStyle/>
          <a:p>
            <a:r>
              <a:rPr lang="en-SG" dirty="0"/>
              <a:t>We want to make activities and fragments “dumb”, meaning they should only handle the UI side of things.</a:t>
            </a:r>
          </a:p>
          <a:p>
            <a:r>
              <a:rPr lang="en-SG" dirty="0" err="1"/>
              <a:t>ViewModel</a:t>
            </a:r>
            <a:r>
              <a:rPr lang="en-SG" dirty="0"/>
              <a:t> should be where all the logic is at.</a:t>
            </a:r>
          </a:p>
          <a:p>
            <a:r>
              <a:rPr lang="en-SG" dirty="0"/>
              <a:t>When it comes to unit testing, you don’t have to run an emulator in order to test, because all the logic is in one file – the </a:t>
            </a:r>
            <a:r>
              <a:rPr lang="en-SG" dirty="0" err="1"/>
              <a:t>ViewModel</a:t>
            </a:r>
            <a:r>
              <a:rPr lang="en-SG" dirty="0"/>
              <a:t> – and not your activities/fragments (i.e. testing activities and fragments require running a device or emulator).</a:t>
            </a:r>
          </a:p>
        </p:txBody>
      </p:sp>
    </p:spTree>
    <p:extLst>
      <p:ext uri="{BB962C8B-B14F-4D97-AF65-F5344CB8AC3E}">
        <p14:creationId xmlns:p14="http://schemas.microsoft.com/office/powerpoint/2010/main" val="20310967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1267B-4F9D-460E-A215-04DA6CA0BE43}"/>
              </a:ext>
            </a:extLst>
          </p:cNvPr>
          <p:cNvSpPr>
            <a:spLocks noGrp="1"/>
          </p:cNvSpPr>
          <p:nvPr>
            <p:ph type="title"/>
          </p:nvPr>
        </p:nvSpPr>
        <p:spPr/>
        <p:txBody>
          <a:bodyPr/>
          <a:lstStyle/>
          <a:p>
            <a:r>
              <a:rPr lang="en-SG" dirty="0" err="1"/>
              <a:t>LiveData</a:t>
            </a:r>
            <a:r>
              <a:rPr lang="en-SG" dirty="0"/>
              <a:t>??? Observable???</a:t>
            </a:r>
          </a:p>
        </p:txBody>
      </p:sp>
      <p:sp>
        <p:nvSpPr>
          <p:cNvPr id="3" name="Content Placeholder 2">
            <a:extLst>
              <a:ext uri="{FF2B5EF4-FFF2-40B4-BE49-F238E27FC236}">
                <a16:creationId xmlns:a16="http://schemas.microsoft.com/office/drawing/2014/main" id="{39452C8F-689C-44AA-8418-E150AA310868}"/>
              </a:ext>
            </a:extLst>
          </p:cNvPr>
          <p:cNvSpPr>
            <a:spLocks noGrp="1"/>
          </p:cNvSpPr>
          <p:nvPr>
            <p:ph idx="1"/>
          </p:nvPr>
        </p:nvSpPr>
        <p:spPr/>
        <p:txBody>
          <a:bodyPr>
            <a:normAutofit/>
          </a:bodyPr>
          <a:lstStyle/>
          <a:p>
            <a:r>
              <a:rPr lang="en-SG" sz="2400" dirty="0"/>
              <a:t>Observable Data Holder class</a:t>
            </a:r>
          </a:p>
          <a:p>
            <a:pPr lvl="1"/>
            <a:r>
              <a:rPr lang="en-SG" sz="2000" dirty="0"/>
              <a:t>This means a </a:t>
            </a:r>
            <a:r>
              <a:rPr lang="en-SG" sz="2000" dirty="0" err="1"/>
              <a:t>LiveData</a:t>
            </a:r>
            <a:r>
              <a:rPr lang="en-SG" sz="2000" dirty="0"/>
              <a:t> object can be observed by other components e.g. by a UI controller such as an Activity/Fragment, etc.</a:t>
            </a:r>
          </a:p>
          <a:p>
            <a:r>
              <a:rPr lang="en-SG" sz="2400" dirty="0" err="1"/>
              <a:t>LiveData</a:t>
            </a:r>
            <a:r>
              <a:rPr lang="en-SG" sz="2400" dirty="0"/>
              <a:t> is a lifecycle-aware component</a:t>
            </a:r>
          </a:p>
          <a:p>
            <a:pPr lvl="1"/>
            <a:r>
              <a:rPr lang="en-SG" sz="2000" dirty="0"/>
              <a:t>Data that is aware of the lifecycle of its observer.</a:t>
            </a:r>
          </a:p>
          <a:p>
            <a:pPr lvl="1"/>
            <a:r>
              <a:rPr lang="en-SG" sz="2000" dirty="0"/>
              <a:t>i.e. </a:t>
            </a:r>
            <a:r>
              <a:rPr lang="en-SG" sz="2000" dirty="0" err="1"/>
              <a:t>LiveData</a:t>
            </a:r>
            <a:r>
              <a:rPr lang="en-SG" sz="2000" dirty="0"/>
              <a:t> objects will send updates to Observers (e.g. Activity, provided if it’s in active state).</a:t>
            </a:r>
          </a:p>
          <a:p>
            <a:pPr lvl="1"/>
            <a:r>
              <a:rPr lang="en-SG" sz="2000" dirty="0"/>
              <a:t>So it will not send updates if the observer is in </a:t>
            </a:r>
            <a:r>
              <a:rPr lang="en-SG" sz="2000" dirty="0" err="1"/>
              <a:t>onPause</a:t>
            </a:r>
            <a:r>
              <a:rPr lang="en-SG" sz="2000" dirty="0"/>
              <a:t> or </a:t>
            </a:r>
            <a:r>
              <a:rPr lang="en-SG" sz="2000" dirty="0" err="1"/>
              <a:t>OnDestroy</a:t>
            </a:r>
            <a:r>
              <a:rPr lang="en-SG" sz="2000" dirty="0"/>
              <a:t>, and wait till it’s active again to send.</a:t>
            </a:r>
          </a:p>
          <a:p>
            <a:pPr lvl="1"/>
            <a:r>
              <a:rPr lang="en-SG" sz="2000" dirty="0"/>
              <a:t>Can survive configuration changes.</a:t>
            </a:r>
          </a:p>
        </p:txBody>
      </p:sp>
    </p:spTree>
    <p:extLst>
      <p:ext uri="{BB962C8B-B14F-4D97-AF65-F5344CB8AC3E}">
        <p14:creationId xmlns:p14="http://schemas.microsoft.com/office/powerpoint/2010/main" val="18707661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By design, test code looks different from the business logic for an application. That's because tests are not supposed to contain logic; they are only supposed to test it. </a:t>
            </a:r>
          </a:p>
          <a:p>
            <a:r>
              <a:rPr lang="en-US" sz="2000" dirty="0"/>
              <a:t>Therefore, tests should not have conditional statements like if or when, or control flow statements like for or while. </a:t>
            </a:r>
          </a:p>
          <a:p>
            <a:r>
              <a:rPr lang="en-US" sz="2000" dirty="0"/>
              <a:t>They should also not manipulate values or conduct any real computation.</a:t>
            </a:r>
            <a:endParaRPr lang="en-SG" sz="2000" dirty="0"/>
          </a:p>
        </p:txBody>
      </p:sp>
      <p:sp>
        <p:nvSpPr>
          <p:cNvPr id="4" name="TextBox 3">
            <a:extLst>
              <a:ext uri="{FF2B5EF4-FFF2-40B4-BE49-F238E27FC236}">
                <a16:creationId xmlns:a16="http://schemas.microsoft.com/office/drawing/2014/main" id="{BA0C569D-B7FE-47A0-9D97-6FD071C27D45}"/>
              </a:ext>
            </a:extLst>
          </p:cNvPr>
          <p:cNvSpPr txBox="1"/>
          <p:nvPr/>
        </p:nvSpPr>
        <p:spPr>
          <a:xfrm>
            <a:off x="3048811" y="3963346"/>
            <a:ext cx="6094378" cy="1815882"/>
          </a:xfrm>
          <a:prstGeom prst="rect">
            <a:avLst/>
          </a:prstGeom>
          <a:solidFill>
            <a:schemeClr val="accent4"/>
          </a:solidFill>
        </p:spPr>
        <p:txBody>
          <a:bodyPr wrap="square">
            <a:spAutoFit/>
          </a:bodyPr>
          <a:lstStyle/>
          <a:p>
            <a:pPr algn="l"/>
            <a:r>
              <a:rPr lang="en-US" sz="1400" b="1" i="0" dirty="0">
                <a:effectLst/>
              </a:rPr>
              <a:t>To create the directory of </a:t>
            </a:r>
            <a:r>
              <a:rPr lang="en-US" sz="1400" b="1" i="1" dirty="0">
                <a:effectLst/>
              </a:rPr>
              <a:t>test</a:t>
            </a:r>
            <a:r>
              <a:rPr lang="en-US" sz="1400" b="1" i="0" dirty="0">
                <a:effectLst/>
              </a:rPr>
              <a:t> and </a:t>
            </a:r>
            <a:r>
              <a:rPr lang="en-US" sz="1400" b="1" i="1" dirty="0" err="1">
                <a:effectLst/>
              </a:rPr>
              <a:t>androidTest</a:t>
            </a:r>
            <a:r>
              <a:rPr lang="en-US" sz="1400" b="1" i="0" dirty="0">
                <a:effectLst/>
              </a:rPr>
              <a:t>,</a:t>
            </a:r>
          </a:p>
          <a:p>
            <a:pPr marL="342900" indent="-342900" algn="l">
              <a:buAutoNum type="arabicPeriod"/>
            </a:pPr>
            <a:r>
              <a:rPr lang="en-US" sz="1400" dirty="0"/>
              <a:t>Right-click on </a:t>
            </a:r>
            <a:r>
              <a:rPr lang="en-US" sz="1400" i="1" dirty="0"/>
              <a:t>app </a:t>
            </a:r>
            <a:r>
              <a:rPr lang="en-US" sz="1400" dirty="0"/>
              <a:t>under </a:t>
            </a:r>
            <a:r>
              <a:rPr lang="en-US" sz="1400" i="1" dirty="0"/>
              <a:t>Android</a:t>
            </a:r>
          </a:p>
          <a:p>
            <a:pPr marL="342900" indent="-342900" algn="l">
              <a:buAutoNum type="arabicPeriod"/>
            </a:pPr>
            <a:r>
              <a:rPr lang="en-US" sz="1400" b="0" dirty="0">
                <a:effectLst/>
              </a:rPr>
              <a:t>Select</a:t>
            </a:r>
            <a:r>
              <a:rPr lang="en-US" sz="1400" b="0" i="1" dirty="0">
                <a:effectLst/>
              </a:rPr>
              <a:t> Directory</a:t>
            </a:r>
            <a:r>
              <a:rPr lang="en-US" sz="1400" dirty="0"/>
              <a:t> &gt; </a:t>
            </a:r>
            <a:r>
              <a:rPr lang="en-US" sz="1400" i="1" dirty="0" err="1"/>
              <a:t>src</a:t>
            </a:r>
            <a:r>
              <a:rPr lang="en-US" sz="1400" i="1" dirty="0"/>
              <a:t>\test\java</a:t>
            </a:r>
            <a:r>
              <a:rPr lang="en-US" sz="1400" dirty="0"/>
              <a:t> or </a:t>
            </a:r>
            <a:r>
              <a:rPr lang="en-US" sz="1400" i="1" dirty="0" err="1"/>
              <a:t>src</a:t>
            </a:r>
            <a:r>
              <a:rPr lang="en-US" sz="1400" i="1" dirty="0"/>
              <a:t>\</a:t>
            </a:r>
            <a:r>
              <a:rPr lang="en-US" sz="1400" i="1" dirty="0" err="1"/>
              <a:t>androidTest</a:t>
            </a:r>
            <a:r>
              <a:rPr lang="en-US" sz="1400" i="1" dirty="0"/>
              <a:t>\java</a:t>
            </a:r>
          </a:p>
          <a:p>
            <a:pPr marL="342900" indent="-342900" algn="l">
              <a:buAutoNum type="arabicPeriod"/>
            </a:pPr>
            <a:r>
              <a:rPr lang="en-US" sz="1400" dirty="0"/>
              <a:t>Right-click on </a:t>
            </a:r>
            <a:r>
              <a:rPr lang="en-US" sz="1400" i="1" dirty="0"/>
              <a:t>app</a:t>
            </a:r>
            <a:r>
              <a:rPr lang="en-US" sz="1400" dirty="0"/>
              <a:t> &gt; </a:t>
            </a:r>
            <a:r>
              <a:rPr lang="en-US" sz="1400" i="1" dirty="0"/>
              <a:t>java</a:t>
            </a:r>
          </a:p>
          <a:p>
            <a:pPr marL="342900" indent="-342900" algn="l">
              <a:buAutoNum type="arabicPeriod"/>
            </a:pPr>
            <a:r>
              <a:rPr lang="en-US" sz="1400" b="0" dirty="0">
                <a:effectLst/>
              </a:rPr>
              <a:t>Select </a:t>
            </a:r>
            <a:r>
              <a:rPr lang="en-US" sz="1400" b="0" i="1" dirty="0">
                <a:effectLst/>
              </a:rPr>
              <a:t>Package</a:t>
            </a:r>
          </a:p>
          <a:p>
            <a:pPr marL="342900" indent="-342900" algn="l">
              <a:buAutoNum type="arabicPeriod"/>
            </a:pPr>
            <a:r>
              <a:rPr lang="en-US" sz="1400" dirty="0"/>
              <a:t>Select the green folder (i.e. app\</a:t>
            </a:r>
            <a:r>
              <a:rPr lang="en-US" sz="1400" dirty="0" err="1"/>
              <a:t>src</a:t>
            </a:r>
            <a:r>
              <a:rPr lang="en-US" sz="1400" dirty="0"/>
              <a:t>\test\java or app\</a:t>
            </a:r>
            <a:r>
              <a:rPr lang="en-US" sz="1400" dirty="0" err="1"/>
              <a:t>src</a:t>
            </a:r>
            <a:r>
              <a:rPr lang="en-US" sz="1400" dirty="0"/>
              <a:t>\</a:t>
            </a:r>
            <a:r>
              <a:rPr lang="en-US" sz="1400" dirty="0" err="1"/>
              <a:t>androidTest</a:t>
            </a:r>
            <a:r>
              <a:rPr lang="en-US" sz="1400" dirty="0"/>
              <a:t>\java) under </a:t>
            </a:r>
            <a:r>
              <a:rPr lang="en-US" sz="1400" i="1" dirty="0"/>
              <a:t>test</a:t>
            </a:r>
            <a:r>
              <a:rPr lang="en-US" sz="1400" dirty="0"/>
              <a:t> or </a:t>
            </a:r>
            <a:r>
              <a:rPr lang="en-US" sz="1400" i="1" dirty="0" err="1"/>
              <a:t>androidTest</a:t>
            </a:r>
            <a:endParaRPr lang="en-US" sz="1400" i="1" dirty="0"/>
          </a:p>
          <a:p>
            <a:pPr marL="342900" indent="-342900" algn="l">
              <a:buAutoNum type="arabicPeriod"/>
            </a:pPr>
            <a:r>
              <a:rPr lang="en-US" sz="1400" b="0" dirty="0">
                <a:effectLst/>
              </a:rPr>
              <a:t>Enter the same package name</a:t>
            </a:r>
          </a:p>
        </p:txBody>
      </p:sp>
    </p:spTree>
    <p:extLst>
      <p:ext uri="{BB962C8B-B14F-4D97-AF65-F5344CB8AC3E}">
        <p14:creationId xmlns:p14="http://schemas.microsoft.com/office/powerpoint/2010/main" val="40847420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dirty="0">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5D2B4-2736-4535-9661-1D9EB529E49E}"/>
              </a:ext>
            </a:extLst>
          </p:cNvPr>
          <p:cNvSpPr>
            <a:spLocks noGrp="1"/>
          </p:cNvSpPr>
          <p:nvPr>
            <p:ph type="title"/>
          </p:nvPr>
        </p:nvSpPr>
        <p:spPr/>
        <p:txBody>
          <a:bodyPr/>
          <a:lstStyle/>
          <a:p>
            <a:r>
              <a:rPr lang="en-SG" dirty="0"/>
              <a:t>AWS Amplify</a:t>
            </a:r>
          </a:p>
        </p:txBody>
      </p:sp>
      <p:sp>
        <p:nvSpPr>
          <p:cNvPr id="3" name="Content Placeholder 2">
            <a:extLst>
              <a:ext uri="{FF2B5EF4-FFF2-40B4-BE49-F238E27FC236}">
                <a16:creationId xmlns:a16="http://schemas.microsoft.com/office/drawing/2014/main" id="{06AB07E8-52F2-459B-8399-CF4BB3008DE4}"/>
              </a:ext>
            </a:extLst>
          </p:cNvPr>
          <p:cNvSpPr>
            <a:spLocks noGrp="1"/>
          </p:cNvSpPr>
          <p:nvPr>
            <p:ph idx="1"/>
          </p:nvPr>
        </p:nvSpPr>
        <p:spPr/>
        <p:txBody>
          <a:bodyPr>
            <a:normAutofit/>
          </a:bodyPr>
          <a:lstStyle/>
          <a:p>
            <a:r>
              <a:rPr lang="en-SG" sz="2000" dirty="0"/>
              <a:t>Provides a Git-based workflow for creating, managing, integrating, and deploying </a:t>
            </a:r>
            <a:r>
              <a:rPr lang="en-SG" sz="2000" u="sng" dirty="0">
                <a:highlight>
                  <a:srgbClr val="FFFF00"/>
                </a:highlight>
              </a:rPr>
              <a:t>serverless</a:t>
            </a:r>
            <a:r>
              <a:rPr lang="en-SG" sz="2000" dirty="0"/>
              <a:t> </a:t>
            </a:r>
            <a:r>
              <a:rPr lang="en-SG" sz="2000" u="sng" dirty="0">
                <a:highlight>
                  <a:srgbClr val="FFFF00"/>
                </a:highlight>
              </a:rPr>
              <a:t>backends</a:t>
            </a:r>
            <a:r>
              <a:rPr lang="en-SG" sz="2000" dirty="0"/>
              <a:t> for web and mobile applications.</a:t>
            </a:r>
          </a:p>
          <a:p>
            <a:r>
              <a:rPr lang="en-SG" sz="2000" dirty="0"/>
              <a:t>Amplify CLI provides a simple text-based UI to provision and manage backend services, such as user authentication or a REST or </a:t>
            </a:r>
            <a:r>
              <a:rPr lang="en-SG" sz="2000" dirty="0" err="1"/>
              <a:t>GraphQL</a:t>
            </a:r>
            <a:r>
              <a:rPr lang="en-SG" sz="2000" dirty="0"/>
              <a:t> API for your applications.</a:t>
            </a:r>
          </a:p>
          <a:p>
            <a:r>
              <a:rPr lang="en-SG" sz="2000" dirty="0"/>
              <a:t>Amplify Libraries allow to easily integrate these backend services with just a few lines of code in your applications.</a:t>
            </a:r>
          </a:p>
        </p:txBody>
      </p:sp>
    </p:spTree>
    <p:extLst>
      <p:ext uri="{BB962C8B-B14F-4D97-AF65-F5344CB8AC3E}">
        <p14:creationId xmlns:p14="http://schemas.microsoft.com/office/powerpoint/2010/main" val="4418990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05255-8A32-442B-806D-360E3801B2DC}"/>
              </a:ext>
            </a:extLst>
          </p:cNvPr>
          <p:cNvSpPr>
            <a:spLocks noGrp="1"/>
          </p:cNvSpPr>
          <p:nvPr>
            <p:ph type="title"/>
          </p:nvPr>
        </p:nvSpPr>
        <p:spPr/>
        <p:txBody>
          <a:bodyPr/>
          <a:lstStyle/>
          <a:p>
            <a:r>
              <a:rPr lang="en-SG" dirty="0"/>
              <a:t>Hosting an Android app on AWS</a:t>
            </a:r>
          </a:p>
        </p:txBody>
      </p:sp>
      <p:sp>
        <p:nvSpPr>
          <p:cNvPr id="3" name="Content Placeholder 2">
            <a:extLst>
              <a:ext uri="{FF2B5EF4-FFF2-40B4-BE49-F238E27FC236}">
                <a16:creationId xmlns:a16="http://schemas.microsoft.com/office/drawing/2014/main" id="{01421CE3-DF4D-4DD2-AB82-AE79E25BAF6A}"/>
              </a:ext>
            </a:extLst>
          </p:cNvPr>
          <p:cNvSpPr>
            <a:spLocks noGrp="1"/>
          </p:cNvSpPr>
          <p:nvPr>
            <p:ph idx="1"/>
          </p:nvPr>
        </p:nvSpPr>
        <p:spPr/>
        <p:txBody>
          <a:bodyPr/>
          <a:lstStyle/>
          <a:p>
            <a:pPr marL="514350" indent="-514350">
              <a:buAutoNum type="arabicParenR"/>
            </a:pPr>
            <a:r>
              <a:rPr lang="en-SG" dirty="0"/>
              <a:t>Create your app</a:t>
            </a:r>
          </a:p>
          <a:p>
            <a:pPr marL="514350" indent="-514350">
              <a:buAutoNum type="arabicParenR"/>
            </a:pPr>
            <a:r>
              <a:rPr lang="en-SG" dirty="0"/>
              <a:t>Initialise Amplify</a:t>
            </a:r>
          </a:p>
          <a:p>
            <a:pPr marL="514350" indent="-514350">
              <a:buAutoNum type="arabicParenR"/>
            </a:pPr>
            <a:r>
              <a:rPr lang="en-SG" dirty="0"/>
              <a:t>Add authentication</a:t>
            </a:r>
          </a:p>
          <a:p>
            <a:pPr marL="514350" indent="-514350">
              <a:buAutoNum type="arabicParenR"/>
            </a:pPr>
            <a:r>
              <a:rPr lang="en-SG" dirty="0"/>
              <a:t>Add API and database</a:t>
            </a:r>
          </a:p>
          <a:p>
            <a:pPr marL="514350" indent="-514350">
              <a:buAutoNum type="arabicParenR"/>
            </a:pPr>
            <a:r>
              <a:rPr lang="en-SG" dirty="0"/>
              <a:t>Add storage</a:t>
            </a:r>
          </a:p>
        </p:txBody>
      </p:sp>
    </p:spTree>
    <p:extLst>
      <p:ext uri="{BB962C8B-B14F-4D97-AF65-F5344CB8AC3E}">
        <p14:creationId xmlns:p14="http://schemas.microsoft.com/office/powerpoint/2010/main" val="37946295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C4370E6-F0F9-4B26-BADD-225268A61574}"/>
              </a:ext>
            </a:extLst>
          </p:cNvPr>
          <p:cNvSpPr txBox="1"/>
          <p:nvPr/>
        </p:nvSpPr>
        <p:spPr>
          <a:xfrm>
            <a:off x="885217" y="1543431"/>
            <a:ext cx="8733005" cy="2862322"/>
          </a:xfrm>
          <a:prstGeom prst="rect">
            <a:avLst/>
          </a:prstGeom>
          <a:noFill/>
        </p:spPr>
        <p:txBody>
          <a:bodyPr wrap="square">
            <a:spAutoFit/>
          </a:bodyPr>
          <a:lstStyle/>
          <a:p>
            <a:pPr algn="l" fontAlgn="base"/>
            <a:r>
              <a:rPr lang="en-US" b="0" i="0" dirty="0">
                <a:solidFill>
                  <a:srgbClr val="232629"/>
                </a:solidFill>
                <a:effectLst/>
                <a:latin typeface="-apple-system"/>
              </a:rPr>
              <a:t>Currently in my android studio project I am reading and writing data into Firebase Realtime Database in many fragments and activities. I was wondering is there a way to condense all my reading and writing to one class or </a:t>
            </a:r>
            <a:r>
              <a:rPr lang="en-US" b="0" i="0" dirty="0" err="1">
                <a:solidFill>
                  <a:srgbClr val="232629"/>
                </a:solidFill>
                <a:effectLst/>
                <a:latin typeface="-apple-system"/>
              </a:rPr>
              <a:t>viewModel</a:t>
            </a:r>
            <a:r>
              <a:rPr lang="en-US" b="0" i="0" dirty="0">
                <a:solidFill>
                  <a:srgbClr val="232629"/>
                </a:solidFill>
                <a:effectLst/>
                <a:latin typeface="-apple-system"/>
              </a:rPr>
              <a:t>. However some of my fragments already have </a:t>
            </a:r>
            <a:r>
              <a:rPr lang="en-US" b="0" i="0" dirty="0" err="1">
                <a:solidFill>
                  <a:srgbClr val="232629"/>
                </a:solidFill>
                <a:effectLst/>
                <a:latin typeface="-apple-system"/>
              </a:rPr>
              <a:t>viewModels</a:t>
            </a:r>
            <a:r>
              <a:rPr lang="en-US" b="0" i="0" dirty="0">
                <a:solidFill>
                  <a:srgbClr val="232629"/>
                </a:solidFill>
                <a:effectLst/>
                <a:latin typeface="-apple-system"/>
              </a:rPr>
              <a:t> and I read that having 2 </a:t>
            </a:r>
            <a:r>
              <a:rPr lang="en-US" b="0" i="0" dirty="0" err="1">
                <a:solidFill>
                  <a:srgbClr val="232629"/>
                </a:solidFill>
                <a:effectLst/>
                <a:latin typeface="-apple-system"/>
              </a:rPr>
              <a:t>viewModels</a:t>
            </a:r>
            <a:r>
              <a:rPr lang="en-US" b="0" i="0" dirty="0">
                <a:solidFill>
                  <a:srgbClr val="232629"/>
                </a:solidFill>
                <a:effectLst/>
                <a:latin typeface="-apple-system"/>
              </a:rPr>
              <a:t> isn't good practice. I am also wondering, is having many </a:t>
            </a:r>
            <a:r>
              <a:rPr lang="en-US" b="0" i="0" dirty="0" err="1">
                <a:solidFill>
                  <a:srgbClr val="232629"/>
                </a:solidFill>
                <a:effectLst/>
                <a:latin typeface="-apple-system"/>
              </a:rPr>
              <a:t>valueEventListeners</a:t>
            </a:r>
            <a:r>
              <a:rPr lang="en-US" b="0" i="0" dirty="0">
                <a:solidFill>
                  <a:srgbClr val="232629"/>
                </a:solidFill>
                <a:effectLst/>
                <a:latin typeface="-apple-system"/>
              </a:rPr>
              <a:t> bad?</a:t>
            </a:r>
          </a:p>
          <a:p>
            <a:pPr algn="l" fontAlgn="base"/>
            <a:endParaRPr lang="en-US" b="0" i="0" dirty="0">
              <a:solidFill>
                <a:srgbClr val="232629"/>
              </a:solidFill>
              <a:effectLst/>
              <a:latin typeface="-apple-system"/>
            </a:endParaRPr>
          </a:p>
          <a:p>
            <a:pPr algn="l" fontAlgn="base"/>
            <a:r>
              <a:rPr lang="en-US" b="1" i="0" dirty="0">
                <a:solidFill>
                  <a:srgbClr val="232629"/>
                </a:solidFill>
                <a:effectLst/>
                <a:latin typeface="inherit"/>
              </a:rPr>
              <a:t>So my questions are:</a:t>
            </a:r>
            <a:endParaRPr lang="en-US" b="0" i="0" dirty="0">
              <a:solidFill>
                <a:srgbClr val="232629"/>
              </a:solidFill>
              <a:effectLst/>
              <a:latin typeface="-apple-system"/>
            </a:endParaRPr>
          </a:p>
          <a:p>
            <a:pPr algn="l" fontAlgn="base">
              <a:buFont typeface="+mj-lt"/>
              <a:buAutoNum type="arabicPeriod"/>
            </a:pPr>
            <a:r>
              <a:rPr lang="en-US" b="0" i="0" dirty="0">
                <a:solidFill>
                  <a:srgbClr val="232629"/>
                </a:solidFill>
                <a:effectLst/>
                <a:latin typeface="inherit"/>
              </a:rPr>
              <a:t>How can I condense where I read and write data into Firebase?</a:t>
            </a:r>
          </a:p>
          <a:p>
            <a:pPr algn="l" fontAlgn="base">
              <a:buFont typeface="+mj-lt"/>
              <a:buAutoNum type="arabicPeriod"/>
            </a:pPr>
            <a:r>
              <a:rPr lang="en-US" b="0" i="0" dirty="0">
                <a:solidFill>
                  <a:srgbClr val="232629"/>
                </a:solidFill>
                <a:effectLst/>
                <a:latin typeface="inherit"/>
              </a:rPr>
              <a:t>Is it better (as in cost effective) to have fewer </a:t>
            </a:r>
            <a:r>
              <a:rPr lang="en-US" b="0" i="0" dirty="0" err="1">
                <a:solidFill>
                  <a:srgbClr val="232629"/>
                </a:solidFill>
                <a:effectLst/>
                <a:latin typeface="inherit"/>
              </a:rPr>
              <a:t>valueEventListeners</a:t>
            </a:r>
            <a:r>
              <a:rPr lang="en-US" b="0" i="0" dirty="0">
                <a:solidFill>
                  <a:srgbClr val="232629"/>
                </a:solidFill>
                <a:effectLst/>
                <a:latin typeface="inherit"/>
              </a:rPr>
              <a:t>?</a:t>
            </a:r>
          </a:p>
          <a:p>
            <a:pPr algn="l" fontAlgn="base">
              <a:buFont typeface="+mj-lt"/>
              <a:buAutoNum type="arabicPeriod"/>
            </a:pPr>
            <a:r>
              <a:rPr lang="en-US" b="0" i="0" dirty="0">
                <a:solidFill>
                  <a:srgbClr val="232629"/>
                </a:solidFill>
                <a:effectLst/>
                <a:latin typeface="inherit"/>
              </a:rPr>
              <a:t>How does MVVM architecture solve this problem? (If it does)</a:t>
            </a:r>
          </a:p>
        </p:txBody>
      </p:sp>
    </p:spTree>
    <p:extLst>
      <p:ext uri="{BB962C8B-B14F-4D97-AF65-F5344CB8AC3E}">
        <p14:creationId xmlns:p14="http://schemas.microsoft.com/office/powerpoint/2010/main" val="39031963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7083</TotalTime>
  <Words>7600</Words>
  <Application>Microsoft Office PowerPoint</Application>
  <PresentationFormat>Widescreen</PresentationFormat>
  <Paragraphs>734</Paragraphs>
  <Slides>79</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79</vt:i4>
      </vt:variant>
    </vt:vector>
  </HeadingPairs>
  <TitlesOfParts>
    <vt:vector size="88" baseType="lpstr">
      <vt:lpstr>-apple-system</vt:lpstr>
      <vt:lpstr>inherit</vt: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Vararg</vt:lpstr>
      <vt:lpstr>Lists</vt:lpstr>
      <vt:lpstr>Lambda Expressions (or lambdas in short)</vt:lpstr>
      <vt:lpstr>Lambda Expressions (or lambdas in short)</vt:lpstr>
      <vt:lpstr>Higher-order Functions</vt:lpstr>
      <vt:lpstr>Wtf is companion object??</vt:lpstr>
      <vt:lpstr>Activity Lifecycle</vt:lpstr>
      <vt:lpstr>Activity Lifecycle</vt:lpstr>
      <vt:lpstr>Fragment Lifecycle</vt:lpstr>
      <vt:lpstr>Fragment Lifecycle</vt:lpstr>
      <vt:lpstr>Fragment Lifecycle</vt:lpstr>
      <vt:lpstr>ViewModel Lifecycle</vt:lpstr>
      <vt:lpstr>ViewModel Lifecycle</vt:lpstr>
      <vt:lpstr>Backstack</vt:lpstr>
      <vt:lpstr>Coding nuances that nobody really cares</vt:lpstr>
      <vt:lpstr>Gradle</vt:lpstr>
      <vt:lpstr>Auto Imports</vt:lpstr>
      <vt:lpstr>MVVM</vt:lpstr>
      <vt:lpstr>MVVM</vt:lpstr>
      <vt:lpstr>PowerPoint Presentation</vt:lpstr>
      <vt:lpstr>Adapter</vt:lpstr>
      <vt:lpstr>Model vs. Datasource</vt:lpstr>
      <vt:lpstr>Data class (i.e. Model)</vt:lpstr>
      <vt:lpstr>Words App</vt:lpstr>
      <vt:lpstr>Lemonade App Flow</vt:lpstr>
      <vt:lpstr>XML</vt:lpstr>
      <vt:lpstr>XML</vt:lpstr>
      <vt:lpstr>XML</vt:lpstr>
      <vt:lpstr>Types of Layout (most commonly used)</vt:lpstr>
      <vt:lpstr>Display Flow #1</vt:lpstr>
      <vt:lpstr>Display Flow #1</vt:lpstr>
      <vt:lpstr>Display Flow #2: View Binding</vt:lpstr>
      <vt:lpstr>Display Flow #2: View Binding</vt:lpstr>
      <vt:lpstr>Display Flow #2: View Binding</vt:lpstr>
      <vt:lpstr>How does Data Binding work?</vt:lpstr>
      <vt:lpstr>How does Listener Binding work?</vt:lpstr>
      <vt:lpstr>Jetpack Navigation</vt:lpstr>
      <vt:lpstr>Jetpack Navigation</vt:lpstr>
      <vt:lpstr>Jetpack Navigation</vt:lpstr>
      <vt:lpstr>Jetpack Navigation</vt:lpstr>
      <vt:lpstr>Jetpack Navigation</vt:lpstr>
      <vt:lpstr>So why ViewModel?</vt:lpstr>
      <vt:lpstr>LiveData??? Observable???</vt:lpstr>
      <vt:lpstr>Testing Pyramid</vt:lpstr>
      <vt:lpstr>Automated Testing</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What is it??? Too abstract???</vt:lpstr>
      <vt:lpstr>PowerPoint Presentation</vt:lpstr>
      <vt:lpstr>PowerPoint Presentation</vt:lpstr>
      <vt:lpstr>PowerPoint Presentation</vt:lpstr>
      <vt:lpstr>Different CI/CD Approaches???</vt:lpstr>
      <vt:lpstr>More concepts</vt:lpstr>
      <vt:lpstr>AWS Amplify</vt:lpstr>
      <vt:lpstr>Hosting an Android app on AWS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525</cp:revision>
  <dcterms:created xsi:type="dcterms:W3CDTF">2022-05-30T08:41:58Z</dcterms:created>
  <dcterms:modified xsi:type="dcterms:W3CDTF">2022-08-23T05:48:20Z</dcterms:modified>
</cp:coreProperties>
</file>