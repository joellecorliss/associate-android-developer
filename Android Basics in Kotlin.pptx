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2" r:id="rId3"/>
    <p:sldId id="263" r:id="rId4"/>
    <p:sldId id="264" r:id="rId5"/>
    <p:sldId id="265" r:id="rId6"/>
    <p:sldId id="257" r:id="rId7"/>
    <p:sldId id="258" r:id="rId8"/>
    <p:sldId id="260" r:id="rId9"/>
    <p:sldId id="259" r:id="rId10"/>
    <p:sldId id="261" r:id="rId11"/>
    <p:sldId id="267" r:id="rId12"/>
    <p:sldId id="268" r:id="rId13"/>
    <p:sldId id="269" r:id="rId14"/>
    <p:sldId id="270"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3EB77BB-446C-4B58-A750-248E53529936}">
          <p14:sldIdLst>
            <p14:sldId id="256"/>
            <p14:sldId id="262"/>
            <p14:sldId id="263"/>
          </p14:sldIdLst>
        </p14:section>
        <p14:section name="All About Testing" id="{1760EBF3-D43D-40CE-8F81-D3B0E7B48B84}">
          <p14:sldIdLst>
            <p14:sldId id="264"/>
            <p14:sldId id="265"/>
          </p14:sldIdLst>
        </p14:section>
        <p14:section name="Adapter &gt; ViewHolder &gt; RecyclerView" id="{ED2873D2-7274-4F37-9EA1-29B6BCF376E0}">
          <p14:sldIdLst>
            <p14:sldId id="257"/>
            <p14:sldId id="258"/>
            <p14:sldId id="260"/>
            <p14:sldId id="259"/>
            <p14:sldId id="261"/>
          </p14:sldIdLst>
        </p14:section>
        <p14:section name="CI/CD" id="{E6169A93-43D0-47AB-A84E-FB0E09D06245}">
          <p14:sldIdLst>
            <p14:sldId id="267"/>
            <p14:sldId id="268"/>
            <p14:sldId id="269"/>
            <p14:sldId id="270"/>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20" autoAdjust="0"/>
    <p:restoredTop sz="92415" autoAdjust="0"/>
  </p:normalViewPr>
  <p:slideViewPr>
    <p:cSldViewPr snapToGrid="0">
      <p:cViewPr varScale="1">
        <p:scale>
          <a:sx n="79" d="100"/>
          <a:sy n="79" d="100"/>
        </p:scale>
        <p:origin x="103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B40D95-F8C5-4C4C-B8B1-7273D807A246}" type="datetimeFigureOut">
              <a:rPr lang="en-SG" smtClean="0"/>
              <a:t>7/6/2022</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292F0F-6BB4-4714-BDBB-674EE16F5C0C}" type="slidenum">
              <a:rPr lang="en-SG" smtClean="0"/>
              <a:t>‹#›</a:t>
            </a:fld>
            <a:endParaRPr lang="en-SG"/>
          </a:p>
        </p:txBody>
      </p:sp>
    </p:spTree>
    <p:extLst>
      <p:ext uri="{BB962C8B-B14F-4D97-AF65-F5344CB8AC3E}">
        <p14:creationId xmlns:p14="http://schemas.microsoft.com/office/powerpoint/2010/main" val="1068906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0D292F0F-6BB4-4714-BDBB-674EE16F5C0C}" type="slidenum">
              <a:rPr lang="en-SG" smtClean="0"/>
              <a:t>7</a:t>
            </a:fld>
            <a:endParaRPr lang="en-SG"/>
          </a:p>
        </p:txBody>
      </p:sp>
    </p:spTree>
    <p:extLst>
      <p:ext uri="{BB962C8B-B14F-4D97-AF65-F5344CB8AC3E}">
        <p14:creationId xmlns:p14="http://schemas.microsoft.com/office/powerpoint/2010/main" val="1518538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https://www.youtube.com/watch?v=BDIOx1QySQs</a:t>
            </a:r>
          </a:p>
        </p:txBody>
      </p:sp>
      <p:sp>
        <p:nvSpPr>
          <p:cNvPr id="4" name="Slide Number Placeholder 3"/>
          <p:cNvSpPr>
            <a:spLocks noGrp="1"/>
          </p:cNvSpPr>
          <p:nvPr>
            <p:ph type="sldNum" sz="quarter" idx="5"/>
          </p:nvPr>
        </p:nvSpPr>
        <p:spPr/>
        <p:txBody>
          <a:bodyPr/>
          <a:lstStyle/>
          <a:p>
            <a:fld id="{0D292F0F-6BB4-4714-BDBB-674EE16F5C0C}" type="slidenum">
              <a:rPr lang="en-SG" smtClean="0"/>
              <a:t>14</a:t>
            </a:fld>
            <a:endParaRPr lang="en-SG"/>
          </a:p>
        </p:txBody>
      </p:sp>
    </p:spTree>
    <p:extLst>
      <p:ext uri="{BB962C8B-B14F-4D97-AF65-F5344CB8AC3E}">
        <p14:creationId xmlns:p14="http://schemas.microsoft.com/office/powerpoint/2010/main" val="2074408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D0255EFB-A077-440B-BB8F-918E450D588D}" type="datetimeFigureOut">
              <a:rPr lang="en-SG" smtClean="0"/>
              <a:t>7/6/2022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3005189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D0255EFB-A077-440B-BB8F-918E450D588D}" type="datetimeFigureOut">
              <a:rPr lang="en-SG" smtClean="0"/>
              <a:t>7/6/2022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69891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0255EFB-A077-440B-BB8F-918E450D588D}" type="datetimeFigureOut">
              <a:rPr lang="en-SG" smtClean="0"/>
              <a:t>7/6/2022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2350163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D0255EFB-A077-440B-BB8F-918E450D588D}" type="datetimeFigureOut">
              <a:rPr lang="en-SG" smtClean="0"/>
              <a:t>7/6/2022</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736756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D0255EFB-A077-440B-BB8F-918E450D588D}" type="datetimeFigureOut">
              <a:rPr lang="en-SG" smtClean="0"/>
              <a:t>7/6/2022</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2074351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D0255EFB-A077-440B-BB8F-918E450D588D}" type="datetimeFigureOut">
              <a:rPr lang="en-SG" smtClean="0"/>
              <a:t>7/6/2022</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2421436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255EFB-A077-440B-BB8F-918E450D588D}" type="datetimeFigureOut">
              <a:rPr lang="en-SG" smtClean="0"/>
              <a:t>7/6/2022</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2551083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0255EFB-A077-440B-BB8F-918E450D588D}" type="datetimeFigureOut">
              <a:rPr lang="en-SG" smtClean="0"/>
              <a:t>7/6/2022</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3158549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0255EFB-A077-440B-BB8F-918E450D588D}" type="datetimeFigureOut">
              <a:rPr lang="en-SG" smtClean="0"/>
              <a:t>7/6/2022</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2027604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D0255EFB-A077-440B-BB8F-918E450D588D}" type="datetimeFigureOut">
              <a:rPr lang="en-SG" smtClean="0"/>
              <a:t>7/6/2022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2360237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D0255EFB-A077-440B-BB8F-918E450D588D}" type="datetimeFigureOut">
              <a:rPr lang="en-SG" smtClean="0"/>
              <a:t>7/6/2022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78D9B65-B1CB-469D-93E1-4AFB41AAF60C}" type="slidenum">
              <a:rPr lang="en-SG" smtClean="0"/>
              <a:t>‹#›</a:t>
            </a:fld>
            <a:endParaRPr lang="en-SG"/>
          </a:p>
        </p:txBody>
      </p:sp>
    </p:spTree>
    <p:extLst>
      <p:ext uri="{BB962C8B-B14F-4D97-AF65-F5344CB8AC3E}">
        <p14:creationId xmlns:p14="http://schemas.microsoft.com/office/powerpoint/2010/main" val="369625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255EFB-A077-440B-BB8F-918E450D588D}" type="datetimeFigureOut">
              <a:rPr lang="en-SG" smtClean="0"/>
              <a:t>7/6/2022</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8D9B65-B1CB-469D-93E1-4AFB41AAF60C}" type="slidenum">
              <a:rPr lang="en-SG" smtClean="0"/>
              <a:t>‹#›</a:t>
            </a:fld>
            <a:endParaRPr lang="en-SG"/>
          </a:p>
        </p:txBody>
      </p:sp>
    </p:spTree>
    <p:extLst>
      <p:ext uri="{BB962C8B-B14F-4D97-AF65-F5344CB8AC3E}">
        <p14:creationId xmlns:p14="http://schemas.microsoft.com/office/powerpoint/2010/main" val="3056835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eveloper.android.com/topic/architecture#recommended-app-arch"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Android Basics in </a:t>
            </a:r>
            <a:r>
              <a:rPr lang="en-US" dirty="0" err="1"/>
              <a:t>Kotlin</a:t>
            </a:r>
            <a:endParaRPr lang="en-SG" dirty="0"/>
          </a:p>
        </p:txBody>
      </p:sp>
      <p:sp>
        <p:nvSpPr>
          <p:cNvPr id="3" name="Subtitle 2"/>
          <p:cNvSpPr>
            <a:spLocks noGrp="1"/>
          </p:cNvSpPr>
          <p:nvPr>
            <p:ph type="subTitle" idx="1"/>
          </p:nvPr>
        </p:nvSpPr>
        <p:spPr/>
        <p:txBody>
          <a:bodyPr/>
          <a:lstStyle/>
          <a:p>
            <a:r>
              <a:rPr lang="en-US" dirty="0"/>
              <a:t>Concepts and stuff???</a:t>
            </a:r>
            <a:endParaRPr lang="en-SG" dirty="0"/>
          </a:p>
        </p:txBody>
      </p:sp>
    </p:spTree>
    <p:extLst>
      <p:ext uri="{BB962C8B-B14F-4D97-AF65-F5344CB8AC3E}">
        <p14:creationId xmlns:p14="http://schemas.microsoft.com/office/powerpoint/2010/main" val="3305799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825-D53C-411A-AE73-A9F12A59923E}"/>
              </a:ext>
            </a:extLst>
          </p:cNvPr>
          <p:cNvSpPr>
            <a:spLocks noGrp="1"/>
          </p:cNvSpPr>
          <p:nvPr>
            <p:ph type="title"/>
          </p:nvPr>
        </p:nvSpPr>
        <p:spPr/>
        <p:txBody>
          <a:bodyPr/>
          <a:lstStyle/>
          <a:p>
            <a:r>
              <a:rPr lang="en-SG" dirty="0"/>
              <a:t>Vocabulary</a:t>
            </a:r>
          </a:p>
        </p:txBody>
      </p:sp>
      <p:sp>
        <p:nvSpPr>
          <p:cNvPr id="3" name="Content Placeholder 2">
            <a:extLst>
              <a:ext uri="{FF2B5EF4-FFF2-40B4-BE49-F238E27FC236}">
                <a16:creationId xmlns:a16="http://schemas.microsoft.com/office/drawing/2014/main" id="{63340896-CE62-499B-BB9B-B63DEE061533}"/>
              </a:ext>
            </a:extLst>
          </p:cNvPr>
          <p:cNvSpPr>
            <a:spLocks noGrp="1"/>
          </p:cNvSpPr>
          <p:nvPr>
            <p:ph idx="1"/>
          </p:nvPr>
        </p:nvSpPr>
        <p:spPr/>
        <p:txBody>
          <a:bodyPr>
            <a:normAutofit/>
          </a:bodyPr>
          <a:lstStyle/>
          <a:p>
            <a:r>
              <a:rPr lang="en-US" sz="1800" dirty="0">
                <a:highlight>
                  <a:srgbClr val="FFFF00"/>
                </a:highlight>
                <a:latin typeface="Consolas" panose="020B0609020204030204" pitchFamily="49" charset="0"/>
              </a:rPr>
              <a:t>fun</a:t>
            </a:r>
            <a:r>
              <a:rPr lang="en-US" sz="1800" dirty="0"/>
              <a:t> is a word in the Kotlin programming language. </a:t>
            </a:r>
            <a:r>
              <a:rPr lang="en-US" sz="1800" dirty="0">
                <a:highlight>
                  <a:srgbClr val="FFFF00"/>
                </a:highlight>
                <a:latin typeface="Consolas" panose="020B0609020204030204" pitchFamily="49" charset="0"/>
              </a:rPr>
              <a:t>fun</a:t>
            </a:r>
            <a:r>
              <a:rPr lang="en-US" sz="1800" dirty="0"/>
              <a:t> stands for function. A function is a section of a program that performs a specific task.</a:t>
            </a:r>
          </a:p>
          <a:p>
            <a:r>
              <a:rPr lang="en-US" sz="1800" dirty="0"/>
              <a:t>Every Kotlin program needs a function named </a:t>
            </a:r>
            <a:r>
              <a:rPr lang="en-US" sz="1800" dirty="0">
                <a:highlight>
                  <a:srgbClr val="FFFF00"/>
                </a:highlight>
                <a:latin typeface="Consolas" panose="020B0609020204030204" pitchFamily="49" charset="0"/>
              </a:rPr>
              <a:t>main</a:t>
            </a:r>
            <a:r>
              <a:rPr lang="en-US" sz="1800" dirty="0"/>
              <a:t>. It is the first, or main, function that is called when you run a program.</a:t>
            </a:r>
          </a:p>
          <a:p>
            <a:r>
              <a:rPr lang="en-US" sz="1800" dirty="0" err="1">
                <a:highlight>
                  <a:srgbClr val="FFFF00"/>
                </a:highlight>
                <a:latin typeface="Consolas" panose="020B0609020204030204" pitchFamily="49" charset="0"/>
              </a:rPr>
              <a:t>println</a:t>
            </a:r>
            <a:r>
              <a:rPr lang="en-US" sz="1800" dirty="0"/>
              <a:t> tells the system to print a line of text.</a:t>
            </a:r>
          </a:p>
          <a:p>
            <a:r>
              <a:rPr lang="en-US" sz="1800" dirty="0">
                <a:highlight>
                  <a:srgbClr val="FFFF00"/>
                </a:highlight>
              </a:rPr>
              <a:t>Camel case</a:t>
            </a:r>
            <a:r>
              <a:rPr lang="en-US" sz="1800" dirty="0"/>
              <a:t> means to capitalize the beginning of each word and remove all spaces in between. This is a convention for naming functions, variables, and classes in Kotlin, such as </a:t>
            </a:r>
            <a:r>
              <a:rPr lang="en-US" sz="1800" dirty="0" err="1">
                <a:latin typeface="Consolas" panose="020B0609020204030204" pitchFamily="49" charset="0"/>
              </a:rPr>
              <a:t>LinearLayout</a:t>
            </a:r>
            <a:r>
              <a:rPr lang="en-US" sz="1800" dirty="0"/>
              <a:t>, </a:t>
            </a:r>
            <a:r>
              <a:rPr lang="en-US" sz="1800" dirty="0" err="1">
                <a:latin typeface="Consolas" panose="020B0609020204030204" pitchFamily="49" charset="0"/>
              </a:rPr>
              <a:t>MainActivity</a:t>
            </a:r>
            <a:r>
              <a:rPr lang="en-US" sz="1800" dirty="0"/>
              <a:t>, or </a:t>
            </a:r>
            <a:r>
              <a:rPr lang="en-US" sz="1800" dirty="0" err="1">
                <a:latin typeface="Consolas" panose="020B0609020204030204" pitchFamily="49" charset="0"/>
              </a:rPr>
              <a:t>setOnClickListener</a:t>
            </a:r>
            <a:r>
              <a:rPr lang="en-US" sz="1800" dirty="0"/>
              <a:t>.</a:t>
            </a:r>
          </a:p>
          <a:p>
            <a:r>
              <a:rPr lang="en-US" sz="1800" dirty="0"/>
              <a:t>A </a:t>
            </a:r>
            <a:r>
              <a:rPr lang="en-US" sz="1800" dirty="0">
                <a:highlight>
                  <a:srgbClr val="FFFF00"/>
                </a:highlight>
              </a:rPr>
              <a:t>click listener</a:t>
            </a:r>
            <a:r>
              <a:rPr lang="en-US" sz="1800" dirty="0"/>
              <a:t> is a small piece of code that can be attached to a View. The click listener waits for the view to be tapped, and when the view is tapped, it executes a click handler.</a:t>
            </a:r>
          </a:p>
          <a:p>
            <a:r>
              <a:rPr lang="en-US" sz="1800" dirty="0"/>
              <a:t>A </a:t>
            </a:r>
            <a:r>
              <a:rPr lang="en-US" sz="1800" dirty="0">
                <a:highlight>
                  <a:srgbClr val="FFFF00"/>
                </a:highlight>
              </a:rPr>
              <a:t>click handler</a:t>
            </a:r>
            <a:r>
              <a:rPr lang="en-US" sz="1800" dirty="0"/>
              <a:t> is a piece of code that is invoked by a click listener when the View is tapped.</a:t>
            </a:r>
          </a:p>
          <a:p>
            <a:r>
              <a:rPr lang="en-US" sz="1800" dirty="0">
                <a:highlight>
                  <a:srgbClr val="FFFF00"/>
                </a:highlight>
              </a:rPr>
              <a:t>Gradle</a:t>
            </a:r>
            <a:r>
              <a:rPr lang="en-US" sz="1800" dirty="0"/>
              <a:t> is a tool used by Android Studio to automate and manage the build process for your app. It takes the source code you write for an app, along with platform code, libraries, and resources, and assembles all these parts into an APK that can be installed and run on an Android device.</a:t>
            </a:r>
            <a:endParaRPr lang="en-SG" sz="1800" dirty="0"/>
          </a:p>
        </p:txBody>
      </p:sp>
    </p:spTree>
    <p:extLst>
      <p:ext uri="{BB962C8B-B14F-4D97-AF65-F5344CB8AC3E}">
        <p14:creationId xmlns:p14="http://schemas.microsoft.com/office/powerpoint/2010/main" val="2481658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93ABD-AD03-4CA6-893B-E423C18A1FD8}"/>
              </a:ext>
            </a:extLst>
          </p:cNvPr>
          <p:cNvSpPr>
            <a:spLocks noGrp="1"/>
          </p:cNvSpPr>
          <p:nvPr>
            <p:ph type="title"/>
          </p:nvPr>
        </p:nvSpPr>
        <p:spPr/>
        <p:txBody>
          <a:bodyPr/>
          <a:lstStyle/>
          <a:p>
            <a:r>
              <a:rPr lang="en-SG" dirty="0"/>
              <a:t>Vocabulary</a:t>
            </a:r>
          </a:p>
        </p:txBody>
      </p:sp>
      <p:sp>
        <p:nvSpPr>
          <p:cNvPr id="3" name="Content Placeholder 2">
            <a:extLst>
              <a:ext uri="{FF2B5EF4-FFF2-40B4-BE49-F238E27FC236}">
                <a16:creationId xmlns:a16="http://schemas.microsoft.com/office/drawing/2014/main" id="{6667C15B-3A62-4A76-9665-566B0F49FD91}"/>
              </a:ext>
            </a:extLst>
          </p:cNvPr>
          <p:cNvSpPr>
            <a:spLocks noGrp="1"/>
          </p:cNvSpPr>
          <p:nvPr>
            <p:ph idx="1"/>
          </p:nvPr>
        </p:nvSpPr>
        <p:spPr/>
        <p:txBody>
          <a:bodyPr>
            <a:normAutofit/>
          </a:bodyPr>
          <a:lstStyle/>
          <a:p>
            <a:r>
              <a:rPr lang="en-US" sz="2000" dirty="0"/>
              <a:t>Normally non-null properties must be initialized in the constructor, but sometimes that isn't practical. In those cases, a property can be marked with </a:t>
            </a:r>
            <a:r>
              <a:rPr lang="en-US" sz="2000" dirty="0" err="1">
                <a:highlight>
                  <a:srgbClr val="FFFF00"/>
                </a:highlight>
                <a:latin typeface="Consolas" panose="020B0609020204030204" pitchFamily="49" charset="0"/>
              </a:rPr>
              <a:t>lateinit</a:t>
            </a:r>
            <a:r>
              <a:rPr lang="en-US" sz="2000" dirty="0"/>
              <a:t>, which is a promise that the variable will be initialized before it is used. Note that an exception will be thrown if that property is accessed before being initialized.</a:t>
            </a:r>
          </a:p>
          <a:p>
            <a:r>
              <a:rPr lang="en-US" sz="2000" dirty="0"/>
              <a:t>Null is a special value that means "no value". It's different from a default value, for example, a Double having a value of 0.0 or an empty String with zero characters, "". In Kotlin, it’s preferable to not allow null values and you have to use special operators to permit a </a:t>
            </a:r>
            <a:r>
              <a:rPr lang="en-US" sz="2000" dirty="0">
                <a:highlight>
                  <a:srgbClr val="FFFF00"/>
                </a:highlight>
                <a:latin typeface="Consolas" panose="020B0609020204030204" pitchFamily="49" charset="0"/>
              </a:rPr>
              <a:t>null</a:t>
            </a:r>
            <a:r>
              <a:rPr lang="en-US" sz="2000" dirty="0"/>
              <a:t> value. </a:t>
            </a:r>
            <a:r>
              <a:rPr lang="en-US" sz="2000" dirty="0">
                <a:latin typeface="Consolas" panose="020B0609020204030204" pitchFamily="49" charset="0"/>
              </a:rPr>
              <a:t>null</a:t>
            </a:r>
            <a:r>
              <a:rPr lang="en-US" sz="2000" dirty="0"/>
              <a:t> means there is no value. If a method expects a value, passing null will cause an error.</a:t>
            </a:r>
            <a:endParaRPr lang="en-SG" sz="2000" dirty="0"/>
          </a:p>
        </p:txBody>
      </p:sp>
    </p:spTree>
    <p:extLst>
      <p:ext uri="{BB962C8B-B14F-4D97-AF65-F5344CB8AC3E}">
        <p14:creationId xmlns:p14="http://schemas.microsoft.com/office/powerpoint/2010/main" val="3379137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E8525-26F5-4F75-AB39-AB3E80C0912F}"/>
              </a:ext>
            </a:extLst>
          </p:cNvPr>
          <p:cNvSpPr>
            <a:spLocks noGrp="1"/>
          </p:cNvSpPr>
          <p:nvPr>
            <p:ph type="title"/>
          </p:nvPr>
        </p:nvSpPr>
        <p:spPr/>
        <p:txBody>
          <a:bodyPr/>
          <a:lstStyle/>
          <a:p>
            <a:r>
              <a:rPr lang="en-SG" dirty="0"/>
              <a:t>Automated Testing</a:t>
            </a:r>
          </a:p>
        </p:txBody>
      </p:sp>
      <p:sp>
        <p:nvSpPr>
          <p:cNvPr id="3" name="Content Placeholder 2">
            <a:extLst>
              <a:ext uri="{FF2B5EF4-FFF2-40B4-BE49-F238E27FC236}">
                <a16:creationId xmlns:a16="http://schemas.microsoft.com/office/drawing/2014/main" id="{12495BD3-7FD8-4FFB-88EB-ADE6509A853F}"/>
              </a:ext>
            </a:extLst>
          </p:cNvPr>
          <p:cNvSpPr>
            <a:spLocks noGrp="1"/>
          </p:cNvSpPr>
          <p:nvPr>
            <p:ph idx="1"/>
          </p:nvPr>
        </p:nvSpPr>
        <p:spPr/>
        <p:txBody>
          <a:bodyPr>
            <a:normAutofit/>
          </a:bodyPr>
          <a:lstStyle/>
          <a:p>
            <a:r>
              <a:rPr lang="en-US" sz="2000" dirty="0"/>
              <a:t>In the </a:t>
            </a:r>
            <a:r>
              <a:rPr lang="en-US" sz="2000" dirty="0">
                <a:latin typeface="Consolas" panose="020B0609020204030204" pitchFamily="49" charset="0"/>
              </a:rPr>
              <a:t>app</a:t>
            </a:r>
            <a:r>
              <a:rPr lang="en-US" sz="2000" dirty="0"/>
              <a:t> &gt; </a:t>
            </a:r>
            <a:r>
              <a:rPr lang="en-US" sz="2000" dirty="0" err="1">
                <a:latin typeface="Consolas" panose="020B0609020204030204" pitchFamily="49" charset="0"/>
              </a:rPr>
              <a:t>src</a:t>
            </a:r>
            <a:r>
              <a:rPr lang="en-US" sz="2000" dirty="0"/>
              <a:t> directory of </a:t>
            </a:r>
            <a:r>
              <a:rPr lang="en-US" sz="2000" i="1" dirty="0"/>
              <a:t>Project Source Files</a:t>
            </a:r>
            <a:r>
              <a:rPr lang="en-US" sz="2000" dirty="0"/>
              <a:t>, or </a:t>
            </a:r>
            <a:r>
              <a:rPr lang="en-US" sz="2000" dirty="0">
                <a:latin typeface="Consolas" panose="020B0609020204030204" pitchFamily="49" charset="0"/>
              </a:rPr>
              <a:t>app</a:t>
            </a:r>
            <a:r>
              <a:rPr lang="en-US" sz="2000" dirty="0"/>
              <a:t> &gt; </a:t>
            </a:r>
            <a:r>
              <a:rPr lang="en-US" sz="2000" dirty="0">
                <a:latin typeface="Consolas" panose="020B0609020204030204" pitchFamily="49" charset="0"/>
              </a:rPr>
              <a:t>java</a:t>
            </a:r>
            <a:r>
              <a:rPr lang="en-US" sz="2000" dirty="0"/>
              <a:t> directory in </a:t>
            </a:r>
            <a:r>
              <a:rPr lang="en-US" sz="2000" i="1" dirty="0"/>
              <a:t>Android</a:t>
            </a:r>
            <a:r>
              <a:rPr lang="en-US" sz="2000" dirty="0"/>
              <a:t> there are the </a:t>
            </a:r>
            <a:r>
              <a:rPr lang="en-US" sz="2000" dirty="0">
                <a:highlight>
                  <a:srgbClr val="00FF00"/>
                </a:highlight>
                <a:latin typeface="Consolas" panose="020B0609020204030204" pitchFamily="49" charset="0"/>
              </a:rPr>
              <a:t>test</a:t>
            </a:r>
            <a:r>
              <a:rPr lang="en-US" sz="2000" dirty="0"/>
              <a:t> and </a:t>
            </a:r>
            <a:r>
              <a:rPr lang="en-US" sz="2000" dirty="0" err="1">
                <a:highlight>
                  <a:srgbClr val="00FFFF"/>
                </a:highlight>
                <a:latin typeface="Consolas" panose="020B0609020204030204" pitchFamily="49" charset="0"/>
              </a:rPr>
              <a:t>androidTest</a:t>
            </a:r>
            <a:r>
              <a:rPr lang="en-US" sz="2000" dirty="0"/>
              <a:t> directories. There are two types of automated tests in Android development: </a:t>
            </a:r>
            <a:r>
              <a:rPr lang="en-US" sz="2000" dirty="0">
                <a:highlight>
                  <a:srgbClr val="00FF00"/>
                </a:highlight>
              </a:rPr>
              <a:t>unit tests</a:t>
            </a:r>
            <a:r>
              <a:rPr lang="en-US" sz="2000" dirty="0"/>
              <a:t> and </a:t>
            </a:r>
            <a:r>
              <a:rPr lang="en-US" sz="2000" dirty="0">
                <a:highlight>
                  <a:srgbClr val="00FFFF"/>
                </a:highlight>
              </a:rPr>
              <a:t>instrumentation tests</a:t>
            </a:r>
            <a:r>
              <a:rPr lang="en-US" sz="2000" dirty="0"/>
              <a:t>. The two directories represent these two categories of tests.</a:t>
            </a:r>
          </a:p>
          <a:p>
            <a:r>
              <a:rPr lang="en-US" sz="2000" dirty="0"/>
              <a:t>Android Studio automatically generates a simple unit test and instrumentation test each time you create a new project. They are just placeholders.</a:t>
            </a:r>
          </a:p>
          <a:p>
            <a:r>
              <a:rPr lang="en-US" sz="2000" dirty="0"/>
              <a:t>In the context of Android Development, </a:t>
            </a:r>
            <a:r>
              <a:rPr lang="en-US" sz="2000" dirty="0">
                <a:highlight>
                  <a:srgbClr val="00FFFF"/>
                </a:highlight>
              </a:rPr>
              <a:t>instrumentation test</a:t>
            </a:r>
            <a:r>
              <a:rPr lang="en-US" sz="2000" dirty="0"/>
              <a:t> is the term for what is, usually, a </a:t>
            </a:r>
            <a:r>
              <a:rPr lang="en-US" sz="2000" dirty="0">
                <a:highlight>
                  <a:srgbClr val="00FFFF"/>
                </a:highlight>
              </a:rPr>
              <a:t>user-interface test (UI test)</a:t>
            </a:r>
            <a:r>
              <a:rPr lang="en-US" sz="2000" dirty="0"/>
              <a:t>.</a:t>
            </a:r>
          </a:p>
          <a:p>
            <a:r>
              <a:rPr lang="en-US" sz="2000" dirty="0"/>
              <a:t>Instrumentation tests let you test parts of an app that depend on activity and fragment lifecycles, and platform APIs and services. Unlike unit tests, UI tests don't test code directly. Instead, they test the user interface to make sure that the correct UI components are displayed and that the user interface behaves as expected when actions are taken within the UI. </a:t>
            </a:r>
          </a:p>
          <a:p>
            <a:endParaRPr lang="en-SG" sz="2000" dirty="0"/>
          </a:p>
        </p:txBody>
      </p:sp>
    </p:spTree>
    <p:extLst>
      <p:ext uri="{BB962C8B-B14F-4D97-AF65-F5344CB8AC3E}">
        <p14:creationId xmlns:p14="http://schemas.microsoft.com/office/powerpoint/2010/main" val="935912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0BC9-E72C-4477-933D-27007CC8CFD8}"/>
              </a:ext>
            </a:extLst>
          </p:cNvPr>
          <p:cNvSpPr>
            <a:spLocks noGrp="1"/>
          </p:cNvSpPr>
          <p:nvPr>
            <p:ph type="title"/>
          </p:nvPr>
        </p:nvSpPr>
        <p:spPr/>
        <p:txBody>
          <a:bodyPr/>
          <a:lstStyle/>
          <a:p>
            <a:r>
              <a:rPr lang="en-SG" dirty="0"/>
              <a:t>Testing Pyramid</a:t>
            </a:r>
          </a:p>
        </p:txBody>
      </p:sp>
    </p:spTree>
    <p:extLst>
      <p:ext uri="{BB962C8B-B14F-4D97-AF65-F5344CB8AC3E}">
        <p14:creationId xmlns:p14="http://schemas.microsoft.com/office/powerpoint/2010/main" val="1892134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Adapter</a:t>
            </a:r>
            <a:endParaRPr lang="en-SG" dirty="0"/>
          </a:p>
        </p:txBody>
      </p:sp>
      <p:sp>
        <p:nvSpPr>
          <p:cNvPr id="3" name="Content Placeholder 2"/>
          <p:cNvSpPr>
            <a:spLocks noGrp="1"/>
          </p:cNvSpPr>
          <p:nvPr>
            <p:ph idx="1"/>
          </p:nvPr>
        </p:nvSpPr>
        <p:spPr>
          <a:xfrm>
            <a:off x="838200" y="1825625"/>
            <a:ext cx="10515600" cy="2422525"/>
          </a:xfrm>
        </p:spPr>
        <p:txBody>
          <a:bodyPr>
            <a:normAutofit/>
          </a:bodyPr>
          <a:lstStyle/>
          <a:p>
            <a:r>
              <a:rPr lang="en-US" sz="2400" dirty="0"/>
              <a:t>Adapts data into something that can be used by </a:t>
            </a:r>
            <a:r>
              <a:rPr lang="en-US" sz="2400" dirty="0" err="1"/>
              <a:t>RecyclerView</a:t>
            </a:r>
            <a:endParaRPr lang="en-US" sz="2400" dirty="0"/>
          </a:p>
          <a:p>
            <a:r>
              <a:rPr lang="en-US" sz="2400" dirty="0"/>
              <a:t>When the app runs, </a:t>
            </a:r>
            <a:r>
              <a:rPr lang="en-US" sz="2400" dirty="0" err="1"/>
              <a:t>RecyclerView</a:t>
            </a:r>
            <a:r>
              <a:rPr lang="en-US" sz="2400" dirty="0"/>
              <a:t> uses the adapter to figure out how to display the data on the screen</a:t>
            </a:r>
          </a:p>
          <a:p>
            <a:r>
              <a:rPr lang="en-US" sz="2400" dirty="0" err="1"/>
              <a:t>RecyclerView</a:t>
            </a:r>
            <a:r>
              <a:rPr lang="en-US" sz="2400" dirty="0"/>
              <a:t> asks the adapter to create a new list view item for the first data item in your list, and once it has the view, it asks the adapter to provide the data to draw the item</a:t>
            </a:r>
            <a:endParaRPr lang="en-SG" sz="2400" dirty="0"/>
          </a:p>
        </p:txBody>
      </p:sp>
    </p:spTree>
    <p:extLst>
      <p:ext uri="{BB962C8B-B14F-4D97-AF65-F5344CB8AC3E}">
        <p14:creationId xmlns:p14="http://schemas.microsoft.com/office/powerpoint/2010/main" val="833164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1200" y="1003300"/>
            <a:ext cx="3009900" cy="510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TextBox 2"/>
          <p:cNvSpPr txBox="1"/>
          <p:nvPr/>
        </p:nvSpPr>
        <p:spPr>
          <a:xfrm>
            <a:off x="723900" y="596900"/>
            <a:ext cx="2961708" cy="369332"/>
          </a:xfrm>
          <a:prstGeom prst="rect">
            <a:avLst/>
          </a:prstGeom>
          <a:noFill/>
        </p:spPr>
        <p:txBody>
          <a:bodyPr wrap="none" rtlCol="0">
            <a:spAutoFit/>
          </a:bodyPr>
          <a:lstStyle/>
          <a:p>
            <a:r>
              <a:rPr lang="en-US" dirty="0" err="1"/>
              <a:t>RecyclerView</a:t>
            </a:r>
            <a:r>
              <a:rPr lang="en-US" dirty="0"/>
              <a:t> (UI component)</a:t>
            </a:r>
            <a:endParaRPr lang="en-SG" dirty="0"/>
          </a:p>
        </p:txBody>
      </p:sp>
      <p:sp>
        <p:nvSpPr>
          <p:cNvPr id="4" name="Rectangle 3"/>
          <p:cNvSpPr/>
          <p:nvPr/>
        </p:nvSpPr>
        <p:spPr>
          <a:xfrm>
            <a:off x="1041400" y="1371600"/>
            <a:ext cx="2336800" cy="1016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5" name="Rectangle 4"/>
          <p:cNvSpPr/>
          <p:nvPr/>
        </p:nvSpPr>
        <p:spPr>
          <a:xfrm>
            <a:off x="1041400" y="2489200"/>
            <a:ext cx="2336800" cy="1016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ViewHolder</a:t>
            </a:r>
            <a:endParaRPr lang="en-SG">
              <a:solidFill>
                <a:schemeClr val="tx1"/>
              </a:solidFill>
            </a:endParaRPr>
          </a:p>
        </p:txBody>
      </p:sp>
      <p:sp>
        <p:nvSpPr>
          <p:cNvPr id="6" name="Rectangle 5"/>
          <p:cNvSpPr/>
          <p:nvPr/>
        </p:nvSpPr>
        <p:spPr>
          <a:xfrm>
            <a:off x="1047750" y="3606800"/>
            <a:ext cx="2336800" cy="1016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ViewHolder</a:t>
            </a:r>
            <a:endParaRPr lang="en-SG">
              <a:solidFill>
                <a:schemeClr val="tx1"/>
              </a:solidFill>
            </a:endParaRPr>
          </a:p>
        </p:txBody>
      </p:sp>
      <p:sp>
        <p:nvSpPr>
          <p:cNvPr id="7" name="Rectangle 6"/>
          <p:cNvSpPr/>
          <p:nvPr/>
        </p:nvSpPr>
        <p:spPr>
          <a:xfrm>
            <a:off x="1047750" y="4724400"/>
            <a:ext cx="2336800" cy="1016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ViewHolder</a:t>
            </a:r>
            <a:endParaRPr lang="en-SG">
              <a:solidFill>
                <a:schemeClr val="tx1"/>
              </a:solidFill>
            </a:endParaRPr>
          </a:p>
        </p:txBody>
      </p:sp>
      <p:sp>
        <p:nvSpPr>
          <p:cNvPr id="8" name="Rectangle 7"/>
          <p:cNvSpPr/>
          <p:nvPr/>
        </p:nvSpPr>
        <p:spPr>
          <a:xfrm>
            <a:off x="1334247" y="1562785"/>
            <a:ext cx="1763806" cy="63363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ListView</a:t>
            </a:r>
            <a:r>
              <a:rPr lang="en-US" dirty="0">
                <a:solidFill>
                  <a:schemeClr val="tx1"/>
                </a:solidFill>
              </a:rPr>
              <a:t> </a:t>
            </a:r>
          </a:p>
          <a:p>
            <a:pPr algn="ctr"/>
            <a:r>
              <a:rPr lang="en-US" dirty="0">
                <a:solidFill>
                  <a:schemeClr val="tx1"/>
                </a:solidFill>
              </a:rPr>
              <a:t>(UI component)</a:t>
            </a:r>
            <a:endParaRPr lang="en-SG" dirty="0">
              <a:solidFill>
                <a:schemeClr val="tx1"/>
              </a:solidFill>
            </a:endParaRPr>
          </a:p>
        </p:txBody>
      </p:sp>
      <p:cxnSp>
        <p:nvCxnSpPr>
          <p:cNvPr id="10" name="Straight Arrow Connector 9"/>
          <p:cNvCxnSpPr>
            <a:cxnSpLocks/>
            <a:stCxn id="4" idx="3"/>
            <a:endCxn id="8" idx="3"/>
          </p:cNvCxnSpPr>
          <p:nvPr/>
        </p:nvCxnSpPr>
        <p:spPr>
          <a:xfrm flipH="1">
            <a:off x="3098053" y="1879600"/>
            <a:ext cx="2801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8763000" y="1371600"/>
            <a:ext cx="2336800" cy="1016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Adapter</a:t>
            </a:r>
            <a:endParaRPr lang="en-SG" dirty="0">
              <a:solidFill>
                <a:schemeClr val="tx1"/>
              </a:solidFill>
            </a:endParaRPr>
          </a:p>
        </p:txBody>
      </p:sp>
      <p:sp>
        <p:nvSpPr>
          <p:cNvPr id="12" name="Rectangle 11"/>
          <p:cNvSpPr/>
          <p:nvPr/>
        </p:nvSpPr>
        <p:spPr>
          <a:xfrm>
            <a:off x="8763000" y="3860800"/>
            <a:ext cx="2336800" cy="1016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Source</a:t>
            </a:r>
          </a:p>
          <a:p>
            <a:pPr algn="ctr"/>
            <a:r>
              <a:rPr lang="en-US" dirty="0">
                <a:solidFill>
                  <a:schemeClr val="tx1"/>
                </a:solidFill>
              </a:rPr>
              <a:t>(Local/Remote)</a:t>
            </a:r>
            <a:endParaRPr lang="en-SG" dirty="0">
              <a:solidFill>
                <a:schemeClr val="tx1"/>
              </a:solidFill>
            </a:endParaRPr>
          </a:p>
        </p:txBody>
      </p:sp>
      <p:cxnSp>
        <p:nvCxnSpPr>
          <p:cNvPr id="18" name="Straight Arrow Connector 17"/>
          <p:cNvCxnSpPr>
            <a:stCxn id="12" idx="0"/>
            <a:endCxn id="11" idx="2"/>
          </p:cNvCxnSpPr>
          <p:nvPr/>
        </p:nvCxnSpPr>
        <p:spPr>
          <a:xfrm flipV="1">
            <a:off x="9931400" y="2387600"/>
            <a:ext cx="0" cy="1473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0394950" y="2862590"/>
            <a:ext cx="1123521" cy="523220"/>
          </a:xfrm>
          <a:prstGeom prst="rect">
            <a:avLst/>
          </a:prstGeom>
          <a:noFill/>
        </p:spPr>
        <p:txBody>
          <a:bodyPr wrap="square" rtlCol="0">
            <a:spAutoFit/>
          </a:bodyPr>
          <a:lstStyle/>
          <a:p>
            <a:r>
              <a:rPr lang="en-US" sz="1400" dirty="0">
                <a:solidFill>
                  <a:schemeClr val="accent1"/>
                </a:solidFill>
              </a:rPr>
              <a:t>Pass data as parameter</a:t>
            </a:r>
            <a:endParaRPr lang="en-SG" sz="1400" dirty="0">
              <a:solidFill>
                <a:schemeClr val="accent1"/>
              </a:solidFill>
            </a:endParaRPr>
          </a:p>
        </p:txBody>
      </p:sp>
      <p:sp>
        <p:nvSpPr>
          <p:cNvPr id="22" name="TextBox 21"/>
          <p:cNvSpPr txBox="1"/>
          <p:nvPr/>
        </p:nvSpPr>
        <p:spPr>
          <a:xfrm>
            <a:off x="3059877" y="1586010"/>
            <a:ext cx="649345" cy="307777"/>
          </a:xfrm>
          <a:prstGeom prst="rect">
            <a:avLst/>
          </a:prstGeom>
          <a:noFill/>
        </p:spPr>
        <p:txBody>
          <a:bodyPr wrap="none" rtlCol="0">
            <a:spAutoFit/>
          </a:bodyPr>
          <a:lstStyle/>
          <a:p>
            <a:pPr algn="ctr"/>
            <a:r>
              <a:rPr lang="en-US" sz="1400" dirty="0">
                <a:solidFill>
                  <a:schemeClr val="accent1"/>
                </a:solidFill>
              </a:rPr>
              <a:t>Wraps</a:t>
            </a:r>
            <a:endParaRPr lang="en-SG" sz="1400" dirty="0">
              <a:solidFill>
                <a:schemeClr val="accent1"/>
              </a:solidFill>
            </a:endParaRPr>
          </a:p>
        </p:txBody>
      </p:sp>
      <p:cxnSp>
        <p:nvCxnSpPr>
          <p:cNvPr id="25" name="Elbow Connector 24"/>
          <p:cNvCxnSpPr/>
          <p:nvPr/>
        </p:nvCxnSpPr>
        <p:spPr>
          <a:xfrm rot="16200000" flipV="1">
            <a:off x="6070600" y="-2489200"/>
            <a:ext cx="12700" cy="7721600"/>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101680" y="570347"/>
            <a:ext cx="3625172" cy="1169551"/>
          </a:xfrm>
          <a:prstGeom prst="rect">
            <a:avLst/>
          </a:prstGeom>
          <a:noFill/>
        </p:spPr>
        <p:txBody>
          <a:bodyPr wrap="square" rtlCol="0">
            <a:spAutoFit/>
          </a:bodyPr>
          <a:lstStyle/>
          <a:p>
            <a:pPr algn="ctr"/>
            <a:r>
              <a:rPr lang="en-US" sz="1400" dirty="0">
                <a:solidFill>
                  <a:schemeClr val="accent1"/>
                </a:solidFill>
              </a:rPr>
              <a:t>Creates </a:t>
            </a:r>
            <a:r>
              <a:rPr lang="en-US" sz="1400" dirty="0" err="1">
                <a:solidFill>
                  <a:schemeClr val="accent1"/>
                </a:solidFill>
              </a:rPr>
              <a:t>ViewHolders</a:t>
            </a:r>
            <a:r>
              <a:rPr lang="en-US" sz="1400" dirty="0">
                <a:solidFill>
                  <a:schemeClr val="accent1"/>
                </a:solidFill>
              </a:rPr>
              <a:t> to wrap around a View and to set data for the View</a:t>
            </a:r>
          </a:p>
          <a:p>
            <a:pPr algn="ctr"/>
            <a:endParaRPr lang="en-US" sz="1400" dirty="0">
              <a:solidFill>
                <a:schemeClr val="accent1"/>
              </a:solidFill>
            </a:endParaRPr>
          </a:p>
          <a:p>
            <a:pPr algn="ctr"/>
            <a:r>
              <a:rPr lang="en-US" sz="1400" dirty="0">
                <a:solidFill>
                  <a:schemeClr val="accent1"/>
                </a:solidFill>
              </a:rPr>
              <a:t>Once a </a:t>
            </a:r>
            <a:r>
              <a:rPr lang="en-US" sz="1400" dirty="0" err="1">
                <a:solidFill>
                  <a:schemeClr val="accent1"/>
                </a:solidFill>
              </a:rPr>
              <a:t>ViewHolder</a:t>
            </a:r>
            <a:r>
              <a:rPr lang="en-US" sz="1400" dirty="0">
                <a:solidFill>
                  <a:schemeClr val="accent1"/>
                </a:solidFill>
              </a:rPr>
              <a:t> is reused (when it goes out of screen), the adapter will pass it next data</a:t>
            </a:r>
            <a:endParaRPr lang="en-SG" sz="1400" dirty="0">
              <a:solidFill>
                <a:schemeClr val="accent1"/>
              </a:solidFill>
            </a:endParaRPr>
          </a:p>
        </p:txBody>
      </p:sp>
      <p:sp>
        <p:nvSpPr>
          <p:cNvPr id="28" name="Oval 27"/>
          <p:cNvSpPr/>
          <p:nvPr/>
        </p:nvSpPr>
        <p:spPr>
          <a:xfrm>
            <a:off x="9474200" y="26924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Model</a:t>
            </a:r>
            <a:endParaRPr lang="en-SG" sz="1200" dirty="0"/>
          </a:p>
        </p:txBody>
      </p:sp>
      <p:sp>
        <p:nvSpPr>
          <p:cNvPr id="29" name="TextBox 28"/>
          <p:cNvSpPr txBox="1"/>
          <p:nvPr/>
        </p:nvSpPr>
        <p:spPr>
          <a:xfrm>
            <a:off x="4531879" y="5924034"/>
            <a:ext cx="7431522" cy="646331"/>
          </a:xfrm>
          <a:prstGeom prst="rect">
            <a:avLst/>
          </a:prstGeom>
          <a:noFill/>
        </p:spPr>
        <p:txBody>
          <a:bodyPr wrap="square" rtlCol="0">
            <a:spAutoFit/>
          </a:bodyPr>
          <a:lstStyle/>
          <a:p>
            <a:r>
              <a:rPr lang="en-US" dirty="0"/>
              <a:t>Adapter uses </a:t>
            </a:r>
            <a:r>
              <a:rPr lang="en-US" dirty="0" err="1"/>
              <a:t>ViewHolder</a:t>
            </a:r>
            <a:r>
              <a:rPr lang="en-US" dirty="0"/>
              <a:t> objects as a way to bind (display) data to the UI, in this case the </a:t>
            </a:r>
            <a:r>
              <a:rPr lang="en-US" dirty="0" err="1"/>
              <a:t>ListView</a:t>
            </a:r>
            <a:r>
              <a:rPr lang="en-US" dirty="0"/>
              <a:t> UI component in </a:t>
            </a:r>
            <a:r>
              <a:rPr lang="en-US" dirty="0" err="1"/>
              <a:t>RecyclerView</a:t>
            </a:r>
            <a:endParaRPr lang="en-SG" dirty="0"/>
          </a:p>
        </p:txBody>
      </p:sp>
      <p:sp>
        <p:nvSpPr>
          <p:cNvPr id="26" name="TextBox 25">
            <a:extLst>
              <a:ext uri="{FF2B5EF4-FFF2-40B4-BE49-F238E27FC236}">
                <a16:creationId xmlns:a16="http://schemas.microsoft.com/office/drawing/2014/main" id="{8718EF31-67F8-4DE0-83A5-CE0CEC813D4C}"/>
              </a:ext>
            </a:extLst>
          </p:cNvPr>
          <p:cNvSpPr txBox="1"/>
          <p:nvPr/>
        </p:nvSpPr>
        <p:spPr>
          <a:xfrm>
            <a:off x="823950" y="1020344"/>
            <a:ext cx="1504950" cy="369332"/>
          </a:xfrm>
          <a:prstGeom prst="rect">
            <a:avLst/>
          </a:prstGeom>
          <a:noFill/>
        </p:spPr>
        <p:txBody>
          <a:bodyPr wrap="square">
            <a:spAutoFit/>
          </a:bodyPr>
          <a:lstStyle/>
          <a:p>
            <a:pPr algn="ctr"/>
            <a:r>
              <a:rPr lang="en-US" dirty="0" err="1">
                <a:solidFill>
                  <a:schemeClr val="tx1"/>
                </a:solidFill>
              </a:rPr>
              <a:t>ViewHolder</a:t>
            </a:r>
            <a:endParaRPr lang="en-SG" dirty="0">
              <a:solidFill>
                <a:schemeClr val="tx1"/>
              </a:solidFill>
            </a:endParaRPr>
          </a:p>
        </p:txBody>
      </p:sp>
      <p:sp>
        <p:nvSpPr>
          <p:cNvPr id="43" name="TextBox 42">
            <a:extLst>
              <a:ext uri="{FF2B5EF4-FFF2-40B4-BE49-F238E27FC236}">
                <a16:creationId xmlns:a16="http://schemas.microsoft.com/office/drawing/2014/main" id="{07BAD4ED-20CA-4075-8A77-37FBD3BBF1BA}"/>
              </a:ext>
            </a:extLst>
          </p:cNvPr>
          <p:cNvSpPr txBox="1"/>
          <p:nvPr/>
        </p:nvSpPr>
        <p:spPr>
          <a:xfrm>
            <a:off x="3980551" y="2605799"/>
            <a:ext cx="4325250" cy="1831271"/>
          </a:xfrm>
          <a:prstGeom prst="rect">
            <a:avLst/>
          </a:prstGeom>
          <a:noFill/>
        </p:spPr>
        <p:txBody>
          <a:bodyPr wrap="square" rtlCol="0">
            <a:spAutoFit/>
          </a:bodyPr>
          <a:lstStyle/>
          <a:p>
            <a:pPr>
              <a:spcAft>
                <a:spcPts val="600"/>
              </a:spcAft>
            </a:pPr>
            <a:r>
              <a:rPr lang="en-US" sz="1400" u="sng" dirty="0">
                <a:latin typeface="Segoe UI" panose="020B0502040204020203" pitchFamily="34" charset="0"/>
                <a:cs typeface="Segoe UI" panose="020B0502040204020203" pitchFamily="34" charset="0"/>
              </a:rPr>
              <a:t>Overriding </a:t>
            </a:r>
            <a:r>
              <a:rPr lang="en-US" sz="1400" u="sng" dirty="0" err="1">
                <a:latin typeface="Segoe UI" panose="020B0502040204020203" pitchFamily="34" charset="0"/>
                <a:cs typeface="Segoe UI" panose="020B0502040204020203" pitchFamily="34" charset="0"/>
              </a:rPr>
              <a:t>RecyclerView.Adapter’s</a:t>
            </a:r>
            <a:r>
              <a:rPr lang="en-US" sz="1400" u="sng" dirty="0">
                <a:latin typeface="Segoe UI" panose="020B0502040204020203" pitchFamily="34" charset="0"/>
                <a:cs typeface="Segoe UI" panose="020B0502040204020203" pitchFamily="34" charset="0"/>
              </a:rPr>
              <a:t> methods</a:t>
            </a:r>
          </a:p>
          <a:p>
            <a:pPr marL="342900" indent="-342900">
              <a:spcAft>
                <a:spcPts val="600"/>
              </a:spcAft>
              <a:buAutoNum type="arabicPeriod"/>
            </a:pPr>
            <a:r>
              <a:rPr lang="en-US" sz="1400" dirty="0" err="1">
                <a:latin typeface="Segoe UI" panose="020B0502040204020203" pitchFamily="34" charset="0"/>
                <a:cs typeface="Segoe UI" panose="020B0502040204020203" pitchFamily="34" charset="0"/>
              </a:rPr>
              <a:t>onCreateViewHolder</a:t>
            </a:r>
            <a:r>
              <a:rPr lang="en-US" sz="1400" dirty="0">
                <a:latin typeface="Segoe UI" panose="020B0502040204020203" pitchFamily="34" charset="0"/>
                <a:cs typeface="Segoe UI" panose="020B0502040204020203" pitchFamily="34" charset="0"/>
              </a:rPr>
              <a:t>() </a:t>
            </a:r>
            <a:r>
              <a:rPr lang="en-US" sz="1400" dirty="0">
                <a:latin typeface="Segoe UI" panose="020B0502040204020203" pitchFamily="34" charset="0"/>
                <a:cs typeface="Segoe UI" panose="020B0502040204020203" pitchFamily="34" charset="0"/>
                <a:sym typeface="Wingdings" panose="05000000000000000000" pitchFamily="2" charset="2"/>
              </a:rPr>
              <a:t> Creates and initializes the </a:t>
            </a:r>
            <a:r>
              <a:rPr lang="en-US" sz="1400" dirty="0" err="1">
                <a:latin typeface="Segoe UI" panose="020B0502040204020203" pitchFamily="34" charset="0"/>
                <a:cs typeface="Segoe UI" panose="020B0502040204020203" pitchFamily="34" charset="0"/>
                <a:sym typeface="Wingdings" panose="05000000000000000000" pitchFamily="2" charset="2"/>
              </a:rPr>
              <a:t>ViewHolder</a:t>
            </a:r>
            <a:r>
              <a:rPr lang="en-US" sz="1400" dirty="0">
                <a:latin typeface="Segoe UI" panose="020B0502040204020203" pitchFamily="34" charset="0"/>
                <a:cs typeface="Segoe UI" panose="020B0502040204020203" pitchFamily="34" charset="0"/>
                <a:sym typeface="Wingdings" panose="05000000000000000000" pitchFamily="2" charset="2"/>
              </a:rPr>
              <a:t> and its associated View.</a:t>
            </a:r>
          </a:p>
          <a:p>
            <a:pPr marL="342900" indent="-342900">
              <a:spcAft>
                <a:spcPts val="600"/>
              </a:spcAft>
              <a:buAutoNum type="arabicPeriod"/>
            </a:pPr>
            <a:r>
              <a:rPr lang="en-US" sz="1400" dirty="0" err="1">
                <a:latin typeface="Segoe UI" panose="020B0502040204020203" pitchFamily="34" charset="0"/>
                <a:cs typeface="Segoe UI" panose="020B0502040204020203" pitchFamily="34" charset="0"/>
                <a:sym typeface="Wingdings" panose="05000000000000000000" pitchFamily="2" charset="2"/>
              </a:rPr>
              <a:t>onBindViewHolder</a:t>
            </a:r>
            <a:r>
              <a:rPr lang="en-US" sz="1400" dirty="0">
                <a:latin typeface="Segoe UI" panose="020B0502040204020203" pitchFamily="34" charset="0"/>
                <a:cs typeface="Segoe UI" panose="020B0502040204020203" pitchFamily="34" charset="0"/>
                <a:sym typeface="Wingdings" panose="05000000000000000000" pitchFamily="2" charset="2"/>
              </a:rPr>
              <a:t>()  Fetches the appropriate data and uses the data to fill in the view holder's layout (i.e. </a:t>
            </a:r>
            <a:r>
              <a:rPr lang="en-US" sz="1400" dirty="0" err="1">
                <a:latin typeface="Segoe UI" panose="020B0502040204020203" pitchFamily="34" charset="0"/>
                <a:cs typeface="Segoe UI" panose="020B0502040204020203" pitchFamily="34" charset="0"/>
                <a:sym typeface="Wingdings" panose="05000000000000000000" pitchFamily="2" charset="2"/>
              </a:rPr>
              <a:t>TextView</a:t>
            </a:r>
            <a:r>
              <a:rPr lang="en-US" sz="1400" dirty="0">
                <a:latin typeface="Segoe UI" panose="020B0502040204020203" pitchFamily="34" charset="0"/>
                <a:cs typeface="Segoe UI" panose="020B0502040204020203" pitchFamily="34" charset="0"/>
                <a:sym typeface="Wingdings" panose="05000000000000000000" pitchFamily="2" charset="2"/>
              </a:rPr>
              <a:t>, </a:t>
            </a:r>
            <a:r>
              <a:rPr lang="en-US" sz="1400" dirty="0" err="1">
                <a:latin typeface="Segoe UI" panose="020B0502040204020203" pitchFamily="34" charset="0"/>
                <a:cs typeface="Segoe UI" panose="020B0502040204020203" pitchFamily="34" charset="0"/>
                <a:sym typeface="Wingdings" panose="05000000000000000000" pitchFamily="2" charset="2"/>
              </a:rPr>
              <a:t>ListView</a:t>
            </a:r>
            <a:r>
              <a:rPr lang="en-US" sz="1400" dirty="0">
                <a:latin typeface="Segoe UI" panose="020B0502040204020203" pitchFamily="34" charset="0"/>
                <a:cs typeface="Segoe UI" panose="020B0502040204020203" pitchFamily="34" charset="0"/>
                <a:sym typeface="Wingdings" panose="05000000000000000000" pitchFamily="2" charset="2"/>
              </a:rPr>
              <a:t>, or </a:t>
            </a:r>
            <a:r>
              <a:rPr lang="en-US" sz="1400" dirty="0" err="1">
                <a:latin typeface="Segoe UI" panose="020B0502040204020203" pitchFamily="34" charset="0"/>
                <a:cs typeface="Segoe UI" panose="020B0502040204020203" pitchFamily="34" charset="0"/>
                <a:sym typeface="Wingdings" panose="05000000000000000000" pitchFamily="2" charset="2"/>
              </a:rPr>
              <a:t>ImageView</a:t>
            </a:r>
            <a:r>
              <a:rPr lang="en-US" sz="1400" dirty="0">
                <a:latin typeface="Segoe UI" panose="020B0502040204020203" pitchFamily="34" charset="0"/>
                <a:cs typeface="Segoe UI" panose="020B0502040204020203" pitchFamily="34" charset="0"/>
                <a:sym typeface="Wingdings" panose="05000000000000000000" pitchFamily="2" charset="2"/>
              </a:rPr>
              <a:t>).</a:t>
            </a:r>
          </a:p>
          <a:p>
            <a:pPr marL="342900" indent="-342900">
              <a:spcAft>
                <a:spcPts val="600"/>
              </a:spcAft>
              <a:buAutoNum type="arabicPeriod"/>
            </a:pPr>
            <a:r>
              <a:rPr lang="en-US" sz="1400" dirty="0" err="1">
                <a:latin typeface="Segoe UI" panose="020B0502040204020203" pitchFamily="34" charset="0"/>
                <a:cs typeface="Segoe UI" panose="020B0502040204020203" pitchFamily="34" charset="0"/>
              </a:rPr>
              <a:t>getItemCount</a:t>
            </a:r>
            <a:r>
              <a:rPr lang="en-US" sz="1400" dirty="0">
                <a:latin typeface="Segoe UI" panose="020B0502040204020203" pitchFamily="34" charset="0"/>
                <a:cs typeface="Segoe UI" panose="020B0502040204020203" pitchFamily="34" charset="0"/>
              </a:rPr>
              <a:t>() </a:t>
            </a:r>
            <a:r>
              <a:rPr lang="en-US" sz="1400" dirty="0">
                <a:latin typeface="Segoe UI" panose="020B0502040204020203" pitchFamily="34" charset="0"/>
                <a:cs typeface="Segoe UI" panose="020B0502040204020203" pitchFamily="34" charset="0"/>
                <a:sym typeface="Wingdings" panose="05000000000000000000" pitchFamily="2" charset="2"/>
              </a:rPr>
              <a:t> </a:t>
            </a:r>
            <a:r>
              <a:rPr lang="en-US" sz="1400" dirty="0">
                <a:latin typeface="Segoe UI" panose="020B0502040204020203" pitchFamily="34" charset="0"/>
                <a:cs typeface="Segoe UI" panose="020B0502040204020203" pitchFamily="34" charset="0"/>
              </a:rPr>
              <a:t>Gets the size of the data set</a:t>
            </a:r>
            <a:endParaRPr lang="en-SG" sz="1400" dirty="0">
              <a:latin typeface="Segoe UI" panose="020B0502040204020203" pitchFamily="34" charset="0"/>
              <a:cs typeface="Segoe UI" panose="020B0502040204020203" pitchFamily="34" charset="0"/>
            </a:endParaRPr>
          </a:p>
        </p:txBody>
      </p:sp>
      <p:sp>
        <p:nvSpPr>
          <p:cNvPr id="23" name="Oval 22"/>
          <p:cNvSpPr/>
          <p:nvPr/>
        </p:nvSpPr>
        <p:spPr>
          <a:xfrm>
            <a:off x="7726852" y="570347"/>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View</a:t>
            </a:r>
          </a:p>
          <a:p>
            <a:pPr algn="ctr"/>
            <a:r>
              <a:rPr lang="en-US" sz="1200" dirty="0"/>
              <a:t>Model</a:t>
            </a:r>
            <a:endParaRPr lang="en-SG" sz="1200" dirty="0"/>
          </a:p>
        </p:txBody>
      </p:sp>
      <p:sp>
        <p:nvSpPr>
          <p:cNvPr id="24" name="Oval 23"/>
          <p:cNvSpPr/>
          <p:nvPr/>
        </p:nvSpPr>
        <p:spPr>
          <a:xfrm>
            <a:off x="355600" y="196281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View</a:t>
            </a:r>
          </a:p>
        </p:txBody>
      </p:sp>
    </p:spTree>
    <p:extLst>
      <p:ext uri="{BB962C8B-B14F-4D97-AF65-F5344CB8AC3E}">
        <p14:creationId xmlns:p14="http://schemas.microsoft.com/office/powerpoint/2010/main" val="393526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vs. </a:t>
            </a:r>
            <a:r>
              <a:rPr lang="en-US" dirty="0" err="1"/>
              <a:t>Datasource</a:t>
            </a:r>
            <a:endParaRPr lang="en-SG" dirty="0"/>
          </a:p>
        </p:txBody>
      </p:sp>
      <p:sp>
        <p:nvSpPr>
          <p:cNvPr id="3" name="Content Placeholder 2"/>
          <p:cNvSpPr>
            <a:spLocks noGrp="1"/>
          </p:cNvSpPr>
          <p:nvPr>
            <p:ph idx="1"/>
          </p:nvPr>
        </p:nvSpPr>
        <p:spPr/>
        <p:txBody>
          <a:bodyPr/>
          <a:lstStyle/>
          <a:p>
            <a:r>
              <a:rPr lang="en-US" dirty="0"/>
              <a:t>Each model represents certain data you want in your app</a:t>
            </a:r>
          </a:p>
          <a:p>
            <a:pPr lvl="1"/>
            <a:r>
              <a:rPr lang="en-US" dirty="0"/>
              <a:t>e.g. Car model, Fruit model, House model</a:t>
            </a:r>
          </a:p>
          <a:p>
            <a:r>
              <a:rPr lang="en-US" dirty="0" err="1"/>
              <a:t>Datasource</a:t>
            </a:r>
            <a:r>
              <a:rPr lang="en-US" dirty="0"/>
              <a:t> is a separate class where you can create functions to handle different types of data models</a:t>
            </a:r>
            <a:endParaRPr lang="en-SG" dirty="0"/>
          </a:p>
        </p:txBody>
      </p:sp>
    </p:spTree>
    <p:extLst>
      <p:ext uri="{BB962C8B-B14F-4D97-AF65-F5344CB8AC3E}">
        <p14:creationId xmlns:p14="http://schemas.microsoft.com/office/powerpoint/2010/main" val="2758969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ADF61-2343-4150-8592-6E0680070EEA}"/>
              </a:ext>
            </a:extLst>
          </p:cNvPr>
          <p:cNvSpPr>
            <a:spLocks noGrp="1"/>
          </p:cNvSpPr>
          <p:nvPr>
            <p:ph type="title"/>
          </p:nvPr>
        </p:nvSpPr>
        <p:spPr/>
        <p:txBody>
          <a:bodyPr/>
          <a:lstStyle/>
          <a:p>
            <a:r>
              <a:rPr lang="en-SG" dirty="0"/>
              <a:t>Coding nuances that nobody really cares</a:t>
            </a:r>
          </a:p>
        </p:txBody>
      </p:sp>
      <p:sp>
        <p:nvSpPr>
          <p:cNvPr id="3" name="Content Placeholder 2">
            <a:extLst>
              <a:ext uri="{FF2B5EF4-FFF2-40B4-BE49-F238E27FC236}">
                <a16:creationId xmlns:a16="http://schemas.microsoft.com/office/drawing/2014/main" id="{A7912FF4-9187-4E0A-824C-E0D930645EAF}"/>
              </a:ext>
            </a:extLst>
          </p:cNvPr>
          <p:cNvSpPr>
            <a:spLocks noGrp="1"/>
          </p:cNvSpPr>
          <p:nvPr>
            <p:ph idx="1"/>
          </p:nvPr>
        </p:nvSpPr>
        <p:spPr/>
        <p:txBody>
          <a:bodyPr>
            <a:normAutofit/>
          </a:bodyPr>
          <a:lstStyle/>
          <a:p>
            <a:r>
              <a:rPr lang="en-SG" sz="2400" dirty="0"/>
              <a:t>Method or Function?</a:t>
            </a:r>
          </a:p>
          <a:p>
            <a:pPr lvl="1"/>
            <a:r>
              <a:rPr lang="en-SG" sz="2000" dirty="0"/>
              <a:t>A method presumes the existence of an object (i.e. defined within a class), while a function is free and independent.</a:t>
            </a:r>
          </a:p>
          <a:p>
            <a:r>
              <a:rPr lang="en-SG" sz="2400" dirty="0"/>
              <a:t>Parameter or Argument?</a:t>
            </a:r>
          </a:p>
          <a:p>
            <a:pPr lvl="1"/>
            <a:r>
              <a:rPr lang="en-US" sz="2000" dirty="0"/>
              <a:t>A parameter is variable declaration in the function/method definition. When the function/method is called, the arguments are the data you pass into its parameters.</a:t>
            </a:r>
            <a:endParaRPr lang="en-SG" sz="2000" dirty="0"/>
          </a:p>
        </p:txBody>
      </p:sp>
    </p:spTree>
    <p:extLst>
      <p:ext uri="{BB962C8B-B14F-4D97-AF65-F5344CB8AC3E}">
        <p14:creationId xmlns:p14="http://schemas.microsoft.com/office/powerpoint/2010/main" val="831621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concepts</a:t>
            </a:r>
            <a:endParaRPr lang="en-SG" dirty="0"/>
          </a:p>
        </p:txBody>
      </p:sp>
      <p:sp>
        <p:nvSpPr>
          <p:cNvPr id="3" name="Content Placeholder 2"/>
          <p:cNvSpPr>
            <a:spLocks noGrp="1"/>
          </p:cNvSpPr>
          <p:nvPr>
            <p:ph idx="1"/>
          </p:nvPr>
        </p:nvSpPr>
        <p:spPr/>
        <p:txBody>
          <a:bodyPr/>
          <a:lstStyle/>
          <a:p>
            <a:r>
              <a:rPr lang="en-US" dirty="0"/>
              <a:t>Clean Architecture</a:t>
            </a:r>
          </a:p>
          <a:p>
            <a:r>
              <a:rPr lang="en-US" dirty="0"/>
              <a:t>MVVM Architecture</a:t>
            </a:r>
          </a:p>
          <a:p>
            <a:pPr lvl="1"/>
            <a:r>
              <a:rPr lang="en-US" dirty="0"/>
              <a:t>Single Source of Truth </a:t>
            </a:r>
            <a:r>
              <a:rPr lang="en-US" dirty="0">
                <a:sym typeface="Wingdings" panose="05000000000000000000" pitchFamily="2" charset="2"/>
              </a:rPr>
              <a:t> to implement the repository pattern</a:t>
            </a:r>
            <a:endParaRPr lang="en-US" dirty="0"/>
          </a:p>
          <a:p>
            <a:r>
              <a:rPr lang="en-US" dirty="0"/>
              <a:t>Dependency Injection</a:t>
            </a:r>
          </a:p>
          <a:p>
            <a:r>
              <a:rPr lang="en-US" dirty="0">
                <a:hlinkClick r:id="rId2"/>
              </a:rPr>
              <a:t>https://developer.android.com/topic/architecture#recommended-app-arch</a:t>
            </a:r>
            <a:endParaRPr lang="en-US" dirty="0"/>
          </a:p>
          <a:p>
            <a:r>
              <a:rPr lang="en-US" dirty="0"/>
              <a:t>Data Access Object (DAO)</a:t>
            </a:r>
          </a:p>
        </p:txBody>
      </p:sp>
    </p:spTree>
    <p:extLst>
      <p:ext uri="{BB962C8B-B14F-4D97-AF65-F5344CB8AC3E}">
        <p14:creationId xmlns:p14="http://schemas.microsoft.com/office/powerpoint/2010/main" val="1846938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E556B-5B6F-4633-A2EB-7FE36D45D86C}"/>
              </a:ext>
            </a:extLst>
          </p:cNvPr>
          <p:cNvSpPr>
            <a:spLocks noGrp="1"/>
          </p:cNvSpPr>
          <p:nvPr>
            <p:ph type="title"/>
          </p:nvPr>
        </p:nvSpPr>
        <p:spPr/>
        <p:txBody>
          <a:bodyPr/>
          <a:lstStyle/>
          <a:p>
            <a:r>
              <a:rPr lang="en-SG" dirty="0"/>
              <a:t>What is it??? Too abstract???</a:t>
            </a:r>
          </a:p>
        </p:txBody>
      </p:sp>
      <p:sp>
        <p:nvSpPr>
          <p:cNvPr id="3" name="Content Placeholder 2">
            <a:extLst>
              <a:ext uri="{FF2B5EF4-FFF2-40B4-BE49-F238E27FC236}">
                <a16:creationId xmlns:a16="http://schemas.microsoft.com/office/drawing/2014/main" id="{3623A9E3-951A-43B9-A39D-3EAC2F574922}"/>
              </a:ext>
            </a:extLst>
          </p:cNvPr>
          <p:cNvSpPr>
            <a:spLocks noGrp="1"/>
          </p:cNvSpPr>
          <p:nvPr>
            <p:ph idx="1"/>
          </p:nvPr>
        </p:nvSpPr>
        <p:spPr/>
        <p:txBody>
          <a:bodyPr/>
          <a:lstStyle/>
          <a:p>
            <a:r>
              <a:rPr lang="en-SG" dirty="0"/>
              <a:t>Releasing mobile apps without the right tooling is a complex process</a:t>
            </a:r>
          </a:p>
          <a:p>
            <a:r>
              <a:rPr lang="en-SG" dirty="0"/>
              <a:t>A mobile-focused CI/CD tool considers the unique challenges of building for mobile and has mobile-first features that help you build, test, and deploy mobile apps faster and more efficiently</a:t>
            </a:r>
          </a:p>
        </p:txBody>
      </p:sp>
      <p:pic>
        <p:nvPicPr>
          <p:cNvPr id="5" name="Picture 4">
            <a:extLst>
              <a:ext uri="{FF2B5EF4-FFF2-40B4-BE49-F238E27FC236}">
                <a16:creationId xmlns:a16="http://schemas.microsoft.com/office/drawing/2014/main" id="{314E9E67-3284-4D9A-BE30-A7E239A8DAB2}"/>
              </a:ext>
            </a:extLst>
          </p:cNvPr>
          <p:cNvPicPr>
            <a:picLocks noChangeAspect="1"/>
          </p:cNvPicPr>
          <p:nvPr/>
        </p:nvPicPr>
        <p:blipFill>
          <a:blip r:embed="rId2"/>
          <a:stretch>
            <a:fillRect/>
          </a:stretch>
        </p:blipFill>
        <p:spPr>
          <a:xfrm>
            <a:off x="2068481" y="3899077"/>
            <a:ext cx="8055038" cy="2133785"/>
          </a:xfrm>
          <a:prstGeom prst="rect">
            <a:avLst/>
          </a:prstGeom>
        </p:spPr>
      </p:pic>
    </p:spTree>
    <p:extLst>
      <p:ext uri="{BB962C8B-B14F-4D97-AF65-F5344CB8AC3E}">
        <p14:creationId xmlns:p14="http://schemas.microsoft.com/office/powerpoint/2010/main" val="2703211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BC8D79-2182-445E-9A49-630601D5D1D1}"/>
              </a:ext>
            </a:extLst>
          </p:cNvPr>
          <p:cNvPicPr>
            <a:picLocks noChangeAspect="1"/>
          </p:cNvPicPr>
          <p:nvPr/>
        </p:nvPicPr>
        <p:blipFill>
          <a:blip r:embed="rId2"/>
          <a:stretch>
            <a:fillRect/>
          </a:stretch>
        </p:blipFill>
        <p:spPr>
          <a:xfrm>
            <a:off x="2182791" y="1192336"/>
            <a:ext cx="7826418" cy="4473328"/>
          </a:xfrm>
          <a:prstGeom prst="rect">
            <a:avLst/>
          </a:prstGeom>
        </p:spPr>
      </p:pic>
    </p:spTree>
    <p:extLst>
      <p:ext uri="{BB962C8B-B14F-4D97-AF65-F5344CB8AC3E}">
        <p14:creationId xmlns:p14="http://schemas.microsoft.com/office/powerpoint/2010/main" val="2121470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8E7847-9FDA-401C-B3F9-95A075E9007B}"/>
              </a:ext>
            </a:extLst>
          </p:cNvPr>
          <p:cNvPicPr>
            <a:picLocks noChangeAspect="1"/>
          </p:cNvPicPr>
          <p:nvPr/>
        </p:nvPicPr>
        <p:blipFill>
          <a:blip r:embed="rId2"/>
          <a:stretch>
            <a:fillRect/>
          </a:stretch>
        </p:blipFill>
        <p:spPr>
          <a:xfrm>
            <a:off x="3142994" y="1874385"/>
            <a:ext cx="5906012" cy="3109229"/>
          </a:xfrm>
          <a:prstGeom prst="rect">
            <a:avLst/>
          </a:prstGeom>
        </p:spPr>
      </p:pic>
    </p:spTree>
    <p:extLst>
      <p:ext uri="{BB962C8B-B14F-4D97-AF65-F5344CB8AC3E}">
        <p14:creationId xmlns:p14="http://schemas.microsoft.com/office/powerpoint/2010/main" val="3053882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8E7847-9FDA-401C-B3F9-95A075E9007B}"/>
              </a:ext>
            </a:extLst>
          </p:cNvPr>
          <p:cNvPicPr>
            <a:picLocks noChangeAspect="1"/>
          </p:cNvPicPr>
          <p:nvPr/>
        </p:nvPicPr>
        <p:blipFill>
          <a:blip r:embed="rId3"/>
          <a:stretch>
            <a:fillRect/>
          </a:stretch>
        </p:blipFill>
        <p:spPr>
          <a:xfrm>
            <a:off x="3142994" y="1874385"/>
            <a:ext cx="5906012" cy="3109229"/>
          </a:xfrm>
          <a:prstGeom prst="rect">
            <a:avLst/>
          </a:prstGeom>
        </p:spPr>
      </p:pic>
    </p:spTree>
    <p:extLst>
      <p:ext uri="{BB962C8B-B14F-4D97-AF65-F5344CB8AC3E}">
        <p14:creationId xmlns:p14="http://schemas.microsoft.com/office/powerpoint/2010/main" val="3984111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573BF-2ADD-4A4B-BC81-0B801B9F4733}"/>
              </a:ext>
            </a:extLst>
          </p:cNvPr>
          <p:cNvSpPr>
            <a:spLocks noGrp="1"/>
          </p:cNvSpPr>
          <p:nvPr>
            <p:ph type="title"/>
          </p:nvPr>
        </p:nvSpPr>
        <p:spPr/>
        <p:txBody>
          <a:bodyPr/>
          <a:lstStyle/>
          <a:p>
            <a:r>
              <a:rPr lang="en-SG" dirty="0"/>
              <a:t>Different CI/CD Approaches???</a:t>
            </a:r>
          </a:p>
        </p:txBody>
      </p:sp>
      <p:sp>
        <p:nvSpPr>
          <p:cNvPr id="3" name="Content Placeholder 2">
            <a:extLst>
              <a:ext uri="{FF2B5EF4-FFF2-40B4-BE49-F238E27FC236}">
                <a16:creationId xmlns:a16="http://schemas.microsoft.com/office/drawing/2014/main" id="{E7493389-75CB-4628-BE01-11A9182F096D}"/>
              </a:ext>
            </a:extLst>
          </p:cNvPr>
          <p:cNvSpPr>
            <a:spLocks noGrp="1"/>
          </p:cNvSpPr>
          <p:nvPr>
            <p:ph idx="1"/>
          </p:nvPr>
        </p:nvSpPr>
        <p:spPr/>
        <p:txBody>
          <a:bodyPr/>
          <a:lstStyle/>
          <a:p>
            <a:r>
              <a:rPr lang="en-SG" dirty="0"/>
              <a:t>Jenkins</a:t>
            </a:r>
          </a:p>
          <a:p>
            <a:r>
              <a:rPr lang="en-SG" dirty="0"/>
              <a:t>GitHub Actions</a:t>
            </a:r>
          </a:p>
          <a:p>
            <a:r>
              <a:rPr lang="en-SG" dirty="0"/>
              <a:t>Fastlane</a:t>
            </a:r>
          </a:p>
          <a:p>
            <a:r>
              <a:rPr lang="en-SG" dirty="0" err="1"/>
              <a:t>CircleCI</a:t>
            </a:r>
            <a:endParaRPr lang="en-SG" dirty="0"/>
          </a:p>
        </p:txBody>
      </p:sp>
    </p:spTree>
    <p:extLst>
      <p:ext uri="{BB962C8B-B14F-4D97-AF65-F5344CB8AC3E}">
        <p14:creationId xmlns:p14="http://schemas.microsoft.com/office/powerpoint/2010/main" val="203811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817</TotalTime>
  <Words>999</Words>
  <Application>Microsoft Office PowerPoint</Application>
  <PresentationFormat>Widescreen</PresentationFormat>
  <Paragraphs>74</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Consolas</vt:lpstr>
      <vt:lpstr>Segoe UI</vt:lpstr>
      <vt:lpstr>Office Theme</vt:lpstr>
      <vt:lpstr>Android Basics in Kotlin</vt:lpstr>
      <vt:lpstr>Vocabulary</vt:lpstr>
      <vt:lpstr>Vocabulary</vt:lpstr>
      <vt:lpstr>Automated Testing</vt:lpstr>
      <vt:lpstr>Testing Pyramid</vt:lpstr>
      <vt:lpstr>Adapter</vt:lpstr>
      <vt:lpstr>PowerPoint Presentation</vt:lpstr>
      <vt:lpstr>Model vs. Datasource</vt:lpstr>
      <vt:lpstr>Coding nuances that nobody really cares</vt:lpstr>
      <vt:lpstr>More concepts</vt:lpstr>
      <vt:lpstr>What is it??? Too abstract???</vt:lpstr>
      <vt:lpstr>PowerPoint Presentation</vt:lpstr>
      <vt:lpstr>PowerPoint Presentation</vt:lpstr>
      <vt:lpstr>PowerPoint Presentation</vt:lpstr>
      <vt:lpstr>Different CI/CD Approaches???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Activity Lifecycle</dc:title>
  <dc:creator>DSTA Devt 01</dc:creator>
  <cp:lastModifiedBy>Corliss Chua</cp:lastModifiedBy>
  <cp:revision>68</cp:revision>
  <dcterms:created xsi:type="dcterms:W3CDTF">2022-05-30T08:41:58Z</dcterms:created>
  <dcterms:modified xsi:type="dcterms:W3CDTF">2022-06-07T15:52:16Z</dcterms:modified>
</cp:coreProperties>
</file>