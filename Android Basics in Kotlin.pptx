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62" r:id="rId3"/>
    <p:sldId id="263" r:id="rId4"/>
    <p:sldId id="272" r:id="rId5"/>
    <p:sldId id="273" r:id="rId6"/>
    <p:sldId id="281" r:id="rId7"/>
    <p:sldId id="275" r:id="rId8"/>
    <p:sldId id="276" r:id="rId9"/>
    <p:sldId id="294" r:id="rId10"/>
    <p:sldId id="295" r:id="rId11"/>
    <p:sldId id="290" r:id="rId12"/>
    <p:sldId id="291" r:id="rId13"/>
    <p:sldId id="274" r:id="rId14"/>
    <p:sldId id="288" r:id="rId15"/>
    <p:sldId id="293" r:id="rId16"/>
    <p:sldId id="278" r:id="rId17"/>
    <p:sldId id="287" r:id="rId18"/>
    <p:sldId id="284" r:id="rId19"/>
    <p:sldId id="264" r:id="rId20"/>
    <p:sldId id="271" r:id="rId21"/>
    <p:sldId id="265" r:id="rId22"/>
    <p:sldId id="289" r:id="rId23"/>
    <p:sldId id="283" r:id="rId24"/>
    <p:sldId id="282" r:id="rId25"/>
    <p:sldId id="285" r:id="rId26"/>
    <p:sldId id="286" r:id="rId27"/>
    <p:sldId id="296" r:id="rId28"/>
    <p:sldId id="297" r:id="rId29"/>
    <p:sldId id="298" r:id="rId30"/>
    <p:sldId id="277" r:id="rId31"/>
    <p:sldId id="280" r:id="rId32"/>
    <p:sldId id="299" r:id="rId33"/>
    <p:sldId id="300" r:id="rId34"/>
    <p:sldId id="301" r:id="rId35"/>
    <p:sldId id="257" r:id="rId36"/>
    <p:sldId id="258" r:id="rId37"/>
    <p:sldId id="292" r:id="rId38"/>
    <p:sldId id="260" r:id="rId39"/>
    <p:sldId id="259" r:id="rId40"/>
    <p:sldId id="279" r:id="rId41"/>
    <p:sldId id="267" r:id="rId42"/>
    <p:sldId id="268" r:id="rId43"/>
    <p:sldId id="269" r:id="rId44"/>
    <p:sldId id="270" r:id="rId45"/>
    <p:sldId id="266" r:id="rId46"/>
    <p:sldId id="26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4"/>
            <p14:sldId id="295"/>
            <p14:sldId id="290"/>
            <p14:sldId id="291"/>
            <p14:sldId id="274"/>
            <p14:sldId id="288"/>
            <p14:sldId id="293"/>
          </p14:sldIdLst>
        </p14:section>
        <p14:section name="Android Studio" id="{A5880AA5-B5CC-4094-8340-7A2E235FF0C1}">
          <p14:sldIdLst>
            <p14:sldId id="278"/>
            <p14:sldId id="287"/>
          </p14:sldIdLst>
        </p14:section>
        <p14:section name="All About Testing and Debugging" id="{1760EBF3-D43D-40CE-8F81-D3B0E7B48B84}">
          <p14:sldIdLst>
            <p14:sldId id="284"/>
            <p14:sldId id="264"/>
            <p14:sldId id="271"/>
            <p14:sldId id="265"/>
            <p14:sldId id="289"/>
            <p14:sldId id="283"/>
            <p14:sldId id="282"/>
            <p14:sldId id="285"/>
            <p14:sldId id="286"/>
          </p14:sldIdLst>
        </p14:section>
        <p14:section name="Resources &gt; Layout &gt; Activity" id="{075AA403-EAF5-4876-A8D8-FA1693109801}">
          <p14:sldIdLst>
            <p14:sldId id="296"/>
            <p14:sldId id="297"/>
            <p14:sldId id="298"/>
            <p14:sldId id="277"/>
            <p14:sldId id="280"/>
            <p14:sldId id="299"/>
            <p14:sldId id="300"/>
            <p14:sldId id="301"/>
          </p14:sldIdLst>
        </p14:section>
        <p14:section name="Adapter &gt; ViewHolder &gt; RecyclerView" id="{ED2873D2-7274-4F37-9EA1-29B6BCF376E0}">
          <p14:sldIdLst>
            <p14:sldId id="257"/>
            <p14:sldId id="258"/>
            <p14:sldId id="292"/>
            <p14:sldId id="260"/>
            <p14:sldId id="259"/>
          </p14:sldIdLst>
        </p14:section>
        <p14:section name="Gradle" id="{8862B42C-AB28-4740-92D7-08BBDECDF7E4}">
          <p14:sldIdLst>
            <p14:sldId id="279"/>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169"/>
    <a:srgbClr val="00FFF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18/6/2022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36</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44</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18/6/2022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18/6/2022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18/6/2022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18/6/2022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18/6/2022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18/6/2022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18/6/2022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p>
          <a:p>
            <a:r>
              <a:rPr lang="en-US" sz="2000" dirty="0"/>
              <a:t>To organize Views, you put them in a container. A </a:t>
            </a:r>
            <a:r>
              <a:rPr lang="en-US" sz="2000" dirty="0" err="1">
                <a:highlight>
                  <a:srgbClr val="FFFF00"/>
                </a:highlight>
              </a:rPr>
              <a:t>ViewGroup</a:t>
            </a:r>
            <a:r>
              <a:rPr lang="en-US" sz="2000" dirty="0"/>
              <a:t> is a container that </a:t>
            </a:r>
            <a:r>
              <a:rPr lang="en-US" sz="2000" dirty="0">
                <a:highlight>
                  <a:srgbClr val="FFFF00"/>
                </a:highlight>
              </a:rPr>
              <a:t>View</a:t>
            </a:r>
            <a:r>
              <a:rPr lang="en-US" sz="2000" dirty="0"/>
              <a:t> objects can sit in, and is responsible for arranging the Views inside it. One kind of </a:t>
            </a:r>
            <a:r>
              <a:rPr lang="en-US" sz="2000" dirty="0" err="1"/>
              <a:t>ViewGroup</a:t>
            </a:r>
            <a:r>
              <a:rPr lang="en-US" sz="2000" dirty="0"/>
              <a:t> is a </a:t>
            </a:r>
            <a:r>
              <a:rPr lang="en-US" sz="2000" dirty="0">
                <a:highlight>
                  <a:srgbClr val="FFFF00"/>
                </a:highlight>
                <a:latin typeface="Consolas" panose="020B0609020204030204" pitchFamily="49" charset="0"/>
              </a:rPr>
              <a:t>ConstraintLayout</a:t>
            </a:r>
            <a:r>
              <a:rPr lang="en-US" sz="2000" dirty="0"/>
              <a:t>, which helps you arrange the Views inside it in a flexible way. </a:t>
            </a:r>
            <a:r>
              <a:rPr lang="en-US" sz="2000" dirty="0">
                <a:highlight>
                  <a:srgbClr val="FFFF00"/>
                </a:highlight>
              </a:rPr>
              <a:t>Views need to be constrained horizontally and vertically within a </a:t>
            </a:r>
            <a:r>
              <a:rPr lang="en-US" sz="2000" dirty="0">
                <a:highlight>
                  <a:srgbClr val="FFFF00"/>
                </a:highlight>
                <a:latin typeface="Consolas" panose="020B0609020204030204" pitchFamily="49" charset="0"/>
              </a:rPr>
              <a:t>ConstraintLayout</a:t>
            </a:r>
            <a:r>
              <a:rPr lang="en-US" sz="2000" dirty="0"/>
              <a:t>.</a:t>
            </a:r>
          </a:p>
          <a:p>
            <a:r>
              <a:rPr lang="en-US" sz="2000" dirty="0" err="1">
                <a:highlight>
                  <a:srgbClr val="FFFF00"/>
                </a:highlight>
              </a:rPr>
              <a:t>dp</a:t>
            </a:r>
            <a:r>
              <a:rPr lang="en-US" sz="2000" dirty="0"/>
              <a:t> is a unit of measure for distances on the screen, </a:t>
            </a:r>
            <a:r>
              <a:rPr lang="en-US" sz="2000" dirty="0" err="1">
                <a:highlight>
                  <a:srgbClr val="FFFF00"/>
                </a:highlight>
              </a:rPr>
              <a:t>sp</a:t>
            </a:r>
            <a:r>
              <a:rPr lang="en-US" sz="2000" dirty="0"/>
              <a:t> is a unit of measure for the font size.</a:t>
            </a:r>
          </a:p>
          <a:p>
            <a:r>
              <a:rPr lang="en-US" sz="2000" dirty="0"/>
              <a:t>In Android, a graphic that can be drawn to the screen is generally referred to as a </a:t>
            </a:r>
            <a:r>
              <a:rPr lang="en-US" sz="2000" dirty="0">
                <a:highlight>
                  <a:srgbClr val="FFFF00"/>
                </a:highlight>
              </a:rPr>
              <a:t>drawable</a:t>
            </a:r>
            <a:r>
              <a:rPr lang="en-US" sz="2000" dirty="0"/>
              <a:t>.</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199" y="1527244"/>
            <a:ext cx="6798013" cy="4965632"/>
          </a:xfrm>
        </p:spPr>
        <p:txBody>
          <a:bodyPr>
            <a:normAutofit fontScale="92500" lnSpcReduction="10000"/>
          </a:bodyPr>
          <a:lstStyle/>
          <a:p>
            <a:pPr marL="0" indent="0">
              <a:buNone/>
            </a:pPr>
            <a:r>
              <a:rPr lang="en-US" sz="1200" dirty="0">
                <a:highlight>
                  <a:srgbClr val="FFFF00"/>
                </a:highlight>
                <a:latin typeface="Lucida Console" panose="020B0609040504020204" pitchFamily="49" charset="0"/>
              </a:rPr>
              <a:t>abstract</a:t>
            </a:r>
            <a:r>
              <a:rPr lang="en-US" sz="1200" dirty="0">
                <a:latin typeface="Lucida Console" panose="020B0609040504020204" pitchFamily="49" charset="0"/>
              </a:rPr>
              <a:t> class Dwelling(private var </a:t>
            </a:r>
            <a:r>
              <a:rPr lang="en-US" sz="1200" dirty="0">
                <a:highlight>
                  <a:srgbClr val="00FF00"/>
                </a:highlight>
                <a:latin typeface="Lucida Console" panose="020B0609040504020204" pitchFamily="49" charset="0"/>
              </a:rPr>
              <a:t>residents</a:t>
            </a:r>
            <a:r>
              <a:rPr lang="en-US" sz="1200" dirty="0">
                <a:latin typeface="Lucida Console" panose="020B0609040504020204" pitchFamily="49" charset="0"/>
              </a:rPr>
              <a:t>: Int)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Int</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Double</a:t>
            </a:r>
          </a:p>
          <a:p>
            <a:pPr marL="0" indent="0">
              <a:buNone/>
            </a:pPr>
            <a:r>
              <a:rPr lang="en-US" sz="1200" dirty="0">
                <a:latin typeface="Lucida Console" panose="020B0609040504020204" pitchFamily="49" charset="0"/>
              </a:rPr>
              <a:t>	fun </a:t>
            </a:r>
            <a:r>
              <a:rPr lang="en-US" sz="1200" dirty="0" err="1">
                <a:latin typeface="Lucida Console" panose="020B0609040504020204" pitchFamily="49" charset="0"/>
              </a:rPr>
              <a:t>hasRoom</a:t>
            </a:r>
            <a:r>
              <a:rPr lang="en-US" sz="1200" dirty="0">
                <a:latin typeface="Lucida Console" panose="020B0609040504020204" pitchFamily="49" charset="0"/>
              </a:rPr>
              <a:t>()</a:t>
            </a:r>
            <a:r>
              <a:rPr lang="en-US" sz="1200" dirty="0">
                <a:highlight>
                  <a:srgbClr val="C0C0C0"/>
                </a:highlight>
                <a:latin typeface="Lucida Console" panose="020B0609040504020204" pitchFamily="49" charset="0"/>
              </a:rPr>
              <a:t>: Boolean</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capacity &lt; residents</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Int, </a:t>
            </a:r>
            <a:r>
              <a:rPr lang="en-US" sz="1200" dirty="0" err="1">
                <a:highlight>
                  <a:srgbClr val="FFF169"/>
                </a:highlight>
                <a:latin typeface="Lucida Console" panose="020B0609040504020204" pitchFamily="49" charset="0"/>
              </a:rPr>
              <a:t>val</a:t>
            </a:r>
            <a:r>
              <a:rPr lang="en-US" sz="1200" dirty="0">
                <a:highlight>
                  <a:srgbClr val="FFF169"/>
                </a:highlight>
                <a:latin typeface="Lucida Console" panose="020B0609040504020204" pitchFamily="49" charset="0"/>
              </a:rPr>
              <a:t> length: Double</a:t>
            </a:r>
            <a:r>
              <a:rPr lang="en-US" sz="1200" dirty="0">
                <a:latin typeface="Lucida Console" panose="020B0609040504020204" pitchFamily="49" charset="0"/>
              </a:rPr>
              <a:t>) : Dwelling(</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a:t>
            </a:r>
            <a:r>
              <a:rPr lang="en-US" sz="1200" dirty="0">
                <a:highlight>
                  <a:srgbClr val="FFF169"/>
                </a:highlight>
                <a:latin typeface="Lucida Console" panose="020B0609040504020204" pitchFamily="49" charset="0"/>
              </a:rPr>
              <a:t>length * length</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 6</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cabin =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3</a:t>
            </a:r>
            <a:r>
              <a:rPr lang="en-US" sz="1200" dirty="0">
                <a:latin typeface="Lucida Console" panose="020B0609040504020204" pitchFamily="49" charset="0"/>
              </a:rPr>
              <a:t>, </a:t>
            </a:r>
            <a:r>
              <a:rPr lang="en-US" sz="1200" dirty="0">
                <a:highlight>
                  <a:srgbClr val="FFF169"/>
                </a:highlight>
                <a:latin typeface="Lucida Console" panose="020B0609040504020204" pitchFamily="49" charset="0"/>
              </a:rPr>
              <a:t>40.0</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println(“${</a:t>
            </a:r>
            <a:r>
              <a:rPr lang="en-US" sz="1200" dirty="0" err="1">
                <a:latin typeface="Lucida Console" panose="020B0609040504020204" pitchFamily="49" charset="0"/>
              </a:rPr>
              <a:t>cabin.hasRoom</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804362" y="1398988"/>
            <a:ext cx="5076218" cy="5016758"/>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US" sz="1600" dirty="0"/>
              <a:t>When extending from a superclass, you must </a:t>
            </a:r>
            <a:r>
              <a:rPr lang="en-US" sz="1600" dirty="0">
                <a:highlight>
                  <a:srgbClr val="00FF00"/>
                </a:highlight>
              </a:rPr>
              <a:t>pass in the required parameters expected by the superclass</a:t>
            </a:r>
            <a:r>
              <a:rPr lang="en-US" sz="1600" dirty="0"/>
              <a:t>.</a:t>
            </a:r>
          </a:p>
          <a:p>
            <a:pPr marL="342900" indent="-342900">
              <a:buAutoNum type="arabicPeriod"/>
            </a:pPr>
            <a:endParaRPr lang="en-US" sz="1600" dirty="0"/>
          </a:p>
          <a:p>
            <a:pPr marL="342900" indent="-342900">
              <a:buAutoNum type="arabicPeriod"/>
            </a:pPr>
            <a:r>
              <a:rPr lang="en-US" sz="1600" dirty="0"/>
              <a:t>If the </a:t>
            </a:r>
            <a:r>
              <a:rPr lang="en-US" sz="1600" dirty="0">
                <a:highlight>
                  <a:srgbClr val="C0C0C0"/>
                </a:highlight>
              </a:rPr>
              <a:t>return type</a:t>
            </a:r>
            <a:r>
              <a:rPr lang="en-US" sz="1600" dirty="0"/>
              <a:t> is not specified when supposed to, it will show an error of ‘</a:t>
            </a:r>
            <a:r>
              <a:rPr lang="en-US" sz="1600" dirty="0">
                <a:latin typeface="Lucida Console" panose="020B0609040504020204" pitchFamily="49" charset="0"/>
              </a:rPr>
              <a:t>Type mismatch: inferred type is &lt;return type&gt; but Unit was expected</a:t>
            </a:r>
            <a:r>
              <a:rPr lang="en-US" sz="1600" dirty="0"/>
              <a:t>’</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subclasses</a:t>
            </a:r>
            <a:r>
              <a:rPr lang="en-US" sz="1600" dirty="0"/>
              <a:t> are allowed.</a:t>
            </a:r>
            <a:endParaRPr lang="en-SG" sz="1600" dirty="0"/>
          </a:p>
        </p:txBody>
      </p:sp>
      <p:cxnSp>
        <p:nvCxnSpPr>
          <p:cNvPr id="8" name="Connector: Elbow 7">
            <a:extLst>
              <a:ext uri="{FF2B5EF4-FFF2-40B4-BE49-F238E27FC236}">
                <a16:creationId xmlns:a16="http://schemas.microsoft.com/office/drawing/2014/main" id="{F1066A3E-545D-43C7-BC7C-A17588248E26}"/>
              </a:ext>
            </a:extLst>
          </p:cNvPr>
          <p:cNvCxnSpPr>
            <a:cxnSpLocks/>
          </p:cNvCxnSpPr>
          <p:nvPr/>
        </p:nvCxnSpPr>
        <p:spPr>
          <a:xfrm rot="5400000" flipH="1" flipV="1">
            <a:off x="4510119" y="1663937"/>
            <a:ext cx="12700" cy="391295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064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526913" y="1770435"/>
            <a:ext cx="7323307" cy="4965632"/>
          </a:xfrm>
        </p:spPr>
        <p:txBody>
          <a:bodyPr>
            <a:normAutofit/>
          </a:bodyPr>
          <a:lstStyle/>
          <a:p>
            <a:pPr marL="0" indent="0">
              <a:buNone/>
            </a:pPr>
            <a:r>
              <a:rPr lang="en-US" sz="1000" dirty="0">
                <a:highlight>
                  <a:srgbClr val="FFFF00"/>
                </a:highlight>
                <a:latin typeface="Lucida Console" panose="020B0609040504020204" pitchFamily="49" charset="0"/>
              </a:rPr>
              <a:t>open</a:t>
            </a:r>
            <a:r>
              <a:rPr lang="en-US" sz="1000" dirty="0">
                <a:latin typeface="Lucida Console" panose="020B0609040504020204" pitchFamily="49" charset="0"/>
              </a:rPr>
              <a:t> class </a:t>
            </a:r>
            <a:r>
              <a:rPr lang="en-US" sz="1000" dirty="0" err="1">
                <a:latin typeface="Lucida Console" panose="020B0609040504020204" pitchFamily="49" charset="0"/>
              </a:rPr>
              <a:t>RoundHut</a:t>
            </a:r>
            <a:r>
              <a:rPr lang="en-US" sz="1000" dirty="0">
                <a:latin typeface="Lucida Console" panose="020B0609040504020204" pitchFamily="49" charset="0"/>
              </a:rPr>
              <a:t>(people: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radius: Double</a:t>
            </a:r>
            <a:r>
              <a:rPr lang="en-US" sz="1000" dirty="0">
                <a:latin typeface="Lucida Console" panose="020B0609040504020204" pitchFamily="49" charset="0"/>
              </a:rPr>
              <a:t>) : Dwelling(residents)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Int = 6</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return PI * radius * radius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	</a:t>
            </a:r>
          </a:p>
          <a:p>
            <a:pPr marL="0" indent="0">
              <a:buNone/>
            </a:pPr>
            <a:r>
              <a:rPr lang="en-US" sz="1000" dirty="0">
                <a:highlight>
                  <a:srgbClr val="FFFF00"/>
                </a:highlight>
                <a:latin typeface="Lucida Console" panose="020B0609040504020204" pitchFamily="49" charset="0"/>
              </a:rPr>
              <a:t>class</a:t>
            </a:r>
            <a:r>
              <a:rPr lang="en-US" sz="1000" dirty="0">
                <a:latin typeface="Lucida Console" panose="020B0609040504020204" pitchFamily="49" charset="0"/>
              </a:rPr>
              <a:t> RoundTower(people: Int, radius: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floors: Int = 2</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(people, radius)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 6</a:t>
            </a:r>
          </a:p>
          <a:p>
            <a:pPr marL="0" indent="0">
              <a:buNone/>
            </a:pPr>
            <a:r>
              <a:rPr lang="en-US" sz="1000" dirty="0">
                <a:latin typeface="Lucida Console" panose="020B0609040504020204" pitchFamily="49" charset="0"/>
              </a:rPr>
              <a:t>	override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PI * radius * radius * floors</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 OR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a:t>
            </a:r>
            <a:r>
              <a:rPr lang="en-US" sz="1000" dirty="0" err="1">
                <a:highlight>
                  <a:srgbClr val="00FF00"/>
                </a:highlight>
                <a:latin typeface="Lucida Console" panose="020B0609040504020204" pitchFamily="49" charset="0"/>
              </a:rPr>
              <a:t>super.floorArea</a:t>
            </a:r>
            <a:r>
              <a:rPr lang="en-US" sz="1000" dirty="0">
                <a:highlight>
                  <a:srgbClr val="00FF00"/>
                </a:highlight>
                <a:latin typeface="Lucida Console" panose="020B0609040504020204" pitchFamily="49" charset="0"/>
              </a:rPr>
              <a:t>() * floors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a:t>
            </a:r>
          </a:p>
          <a:p>
            <a:pPr marL="0" indent="0">
              <a:buNone/>
            </a:pPr>
            <a:endParaRPr lang="en-US" sz="1000" dirty="0">
              <a:latin typeface="Lucida Console" panose="020B0609040504020204" pitchFamily="49" charset="0"/>
            </a:endParaRPr>
          </a:p>
          <a:p>
            <a:pPr marL="0" indent="0">
              <a:buNone/>
            </a:pPr>
            <a:r>
              <a:rPr lang="en-US" sz="1000" dirty="0">
                <a:latin typeface="Lucida Console" panose="020B0609040504020204" pitchFamily="49" charset="0"/>
              </a:rPr>
              <a:t>fun main() {</a:t>
            </a:r>
            <a:br>
              <a:rPr lang="en-US" sz="1000" dirty="0">
                <a:latin typeface="Lucida Console" panose="020B0609040504020204" pitchFamily="49" charset="0"/>
              </a:rPr>
            </a:b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roundHut</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(3, 40.0)</a:t>
            </a:r>
          </a:p>
          <a:p>
            <a:pPr marL="0" indent="0">
              <a:buNone/>
            </a:pP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roundTower</a:t>
            </a:r>
            <a:r>
              <a:rPr lang="en-US" sz="1000" dirty="0">
                <a:latin typeface="Lucida Console" panose="020B0609040504020204" pitchFamily="49" charset="0"/>
              </a:rPr>
              <a:t> = RoundTower(3, 15.5)</a:t>
            </a:r>
          </a:p>
          <a:p>
            <a:pPr marL="0" indent="0">
              <a:buNone/>
            </a:pPr>
            <a:r>
              <a:rPr lang="en-US" sz="1000" dirty="0">
                <a:latin typeface="Lucida Console" panose="020B0609040504020204" pitchFamily="49" charset="0"/>
              </a:rPr>
              <a:t>}</a:t>
            </a:r>
            <a:endParaRPr lang="en-SG" sz="10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765452" y="2117505"/>
            <a:ext cx="5076218" cy="4524315"/>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 (In this case, </a:t>
            </a:r>
            <a:r>
              <a:rPr lang="en-SG" sz="1600" dirty="0" err="1"/>
              <a:t>RoundHut</a:t>
            </a:r>
            <a:r>
              <a:rPr lang="en-SG" sz="1600" dirty="0"/>
              <a:t> uses </a:t>
            </a:r>
            <a:r>
              <a:rPr lang="en-SG" sz="1600" dirty="0">
                <a:highlight>
                  <a:srgbClr val="FFFF00"/>
                </a:highlight>
                <a:latin typeface="Lucida Console" panose="020B0609040504020204" pitchFamily="49" charset="0"/>
              </a:rPr>
              <a:t>open</a:t>
            </a:r>
            <a:r>
              <a:rPr lang="en-SG" sz="1600" dirty="0"/>
              <a:t> because it makes sense that I can instantiate a </a:t>
            </a:r>
            <a:r>
              <a:rPr lang="en-SG" sz="1600" dirty="0" err="1"/>
              <a:t>RoundHut</a:t>
            </a:r>
            <a:r>
              <a:rPr lang="en-SG" sz="1600" dirty="0"/>
              <a:t> object)</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sub-subclasses</a:t>
            </a:r>
            <a:r>
              <a:rPr lang="en-US" sz="1600" dirty="0"/>
              <a:t> are allowed too.</a:t>
            </a:r>
          </a:p>
          <a:p>
            <a:pPr marL="342900" indent="-342900">
              <a:buAutoNum type="arabicPeriod"/>
            </a:pPr>
            <a:endParaRPr lang="en-US" sz="1600" dirty="0"/>
          </a:p>
          <a:p>
            <a:pPr marL="342900" indent="-342900">
              <a:buAutoNum type="arabicPeriod"/>
            </a:pPr>
            <a:r>
              <a:rPr lang="en-US" sz="1600" dirty="0"/>
              <a:t>Can use the </a:t>
            </a:r>
            <a:r>
              <a:rPr lang="en-US" sz="1600" dirty="0">
                <a:highlight>
                  <a:srgbClr val="00FF00"/>
                </a:highlight>
                <a:latin typeface="Lucida Console" panose="020B0609040504020204" pitchFamily="49" charset="0"/>
              </a:rPr>
              <a:t>super</a:t>
            </a:r>
            <a:r>
              <a:rPr lang="en-US" sz="1600" dirty="0"/>
              <a:t> keyword in the subclass for whatever you need from the superclass to avoid repetitive implementation.</a:t>
            </a:r>
            <a:endParaRPr lang="en-SG" sz="1600" dirty="0"/>
          </a:p>
        </p:txBody>
      </p:sp>
    </p:spTree>
    <p:extLst>
      <p:ext uri="{BB962C8B-B14F-4D97-AF65-F5344CB8AC3E}">
        <p14:creationId xmlns:p14="http://schemas.microsoft.com/office/powerpoint/2010/main" val="2253805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 (i.e. must remove the curly brackets).</a:t>
            </a:r>
          </a:p>
          <a:p>
            <a:pPr marL="0" indent="0">
              <a:buNone/>
            </a:pPr>
            <a:endParaRPr lang="en-SG" sz="1800" dirty="0"/>
          </a:p>
          <a:p>
            <a:pPr marL="0" indent="0">
              <a:buNone/>
            </a:pPr>
            <a:r>
              <a:rPr lang="en-SG" sz="1800" dirty="0"/>
              <a:t>Properties/Fields can also be abstract. Properties/Fields in an abstract class must be abstract or initialised.</a:t>
            </a:r>
          </a:p>
        </p:txBody>
      </p:sp>
    </p:spTree>
    <p:extLst>
      <p:ext uri="{BB962C8B-B14F-4D97-AF65-F5344CB8AC3E}">
        <p14:creationId xmlns:p14="http://schemas.microsoft.com/office/powerpoint/2010/main" val="33737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31DA-8E9E-48AA-A0C6-9253AA46BD1D}"/>
              </a:ext>
            </a:extLst>
          </p:cNvPr>
          <p:cNvSpPr>
            <a:spLocks noGrp="1"/>
          </p:cNvSpPr>
          <p:nvPr>
            <p:ph type="title"/>
          </p:nvPr>
        </p:nvSpPr>
        <p:spPr/>
        <p:txBody>
          <a:bodyPr/>
          <a:lstStyle/>
          <a:p>
            <a:r>
              <a:rPr lang="en-SG" dirty="0"/>
              <a:t>With</a:t>
            </a:r>
          </a:p>
        </p:txBody>
      </p:sp>
      <p:sp>
        <p:nvSpPr>
          <p:cNvPr id="5" name="Rectangle 1">
            <a:extLst>
              <a:ext uri="{FF2B5EF4-FFF2-40B4-BE49-F238E27FC236}">
                <a16:creationId xmlns:a16="http://schemas.microsoft.com/office/drawing/2014/main" id="{52979DE2-EB75-4889-827D-1459994C12A1}"/>
              </a:ext>
            </a:extLst>
          </p:cNvPr>
          <p:cNvSpPr txBox="1">
            <a:spLocks noChangeArrowheads="1"/>
          </p:cNvSpPr>
          <p:nvPr/>
        </p:nvSpPr>
        <p:spPr bwMode="auto">
          <a:xfrm>
            <a:off x="6665914" y="3447296"/>
            <a:ext cx="409086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lnSpc>
                <a:spcPct val="100000"/>
              </a:lnSpc>
              <a:spcBef>
                <a:spcPct val="0"/>
              </a:spcBef>
              <a:spcAft>
                <a:spcPct val="0"/>
              </a:spcAft>
              <a:buFontTx/>
              <a:buNone/>
            </a:pPr>
            <a:r>
              <a:rPr lang="en-US" altLang="en-US" sz="1200">
                <a:latin typeface="Lucida Console" panose="020B0609040504020204" pitchFamily="49" charset="0"/>
                <a:ea typeface="var(--devsite-code-font-family)"/>
              </a:rPr>
              <a:t>with(squareCabin) {</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println("\nSquare Cabin\n============")</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println("Capacity: ${capacity}")</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println("Material: ${buildingMaterial}")</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println("Has room? ${hasRoom()}")</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a:t>
            </a:r>
            <a:r>
              <a:rPr lang="en-US" altLang="en-US" sz="1200">
                <a:latin typeface="Lucida Console" panose="020B0609040504020204" pitchFamily="49" charset="0"/>
              </a:rPr>
              <a:t> </a:t>
            </a:r>
            <a:endParaRPr lang="en-US" altLang="en-US" sz="1200" dirty="0">
              <a:latin typeface="Lucida Console" panose="020B0609040504020204" pitchFamily="49" charset="0"/>
            </a:endParaRPr>
          </a:p>
        </p:txBody>
      </p:sp>
      <p:sp>
        <p:nvSpPr>
          <p:cNvPr id="7" name="Rectangle 3">
            <a:extLst>
              <a:ext uri="{FF2B5EF4-FFF2-40B4-BE49-F238E27FC236}">
                <a16:creationId xmlns:a16="http://schemas.microsoft.com/office/drawing/2014/main" id="{FACB5103-476B-470F-9A54-AF8543C6F9C9}"/>
              </a:ext>
            </a:extLst>
          </p:cNvPr>
          <p:cNvSpPr>
            <a:spLocks noGrp="1" noChangeArrowheads="1"/>
          </p:cNvSpPr>
          <p:nvPr>
            <p:ph idx="1"/>
          </p:nvPr>
        </p:nvSpPr>
        <p:spPr bwMode="auto">
          <a:xfrm>
            <a:off x="838200" y="3447296"/>
            <a:ext cx="5257801"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nSquare</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 Cabin\n============")</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println("Capacity: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squareCabin.capacity</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println("Material: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squareCabin.buildingMaterial</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println("Has room?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squareCabin.hasRoom</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r>
              <a:rPr kumimoji="0" lang="en-US" altLang="en-US" sz="1200" b="0" i="0" u="none" strike="noStrike" cap="none" normalizeH="0" baseline="0" dirty="0">
                <a:ln>
                  <a:noFill/>
                </a:ln>
                <a:solidFill>
                  <a:schemeClr val="tx1"/>
                </a:solidFill>
                <a:effectLst/>
                <a:latin typeface="Lucida Console" panose="020B0609040504020204" pitchFamily="49" charset="0"/>
              </a:rPr>
              <a:t> </a:t>
            </a:r>
          </a:p>
        </p:txBody>
      </p:sp>
      <p:sp>
        <p:nvSpPr>
          <p:cNvPr id="8" name="Content Placeholder 2">
            <a:extLst>
              <a:ext uri="{FF2B5EF4-FFF2-40B4-BE49-F238E27FC236}">
                <a16:creationId xmlns:a16="http://schemas.microsoft.com/office/drawing/2014/main" id="{112A39FC-D924-4FDB-95E7-3ED6A92366B3}"/>
              </a:ext>
            </a:extLst>
          </p:cNvPr>
          <p:cNvSpPr txBox="1">
            <a:spLocks/>
          </p:cNvSpPr>
          <p:nvPr/>
        </p:nvSpPr>
        <p:spPr>
          <a:xfrm>
            <a:off x="838200" y="1825625"/>
            <a:ext cx="10515600" cy="460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G" sz="1800" dirty="0"/>
              <a:t>Don’t have to repeat the instance name, especially when it has many methods or attributes.</a:t>
            </a:r>
          </a:p>
        </p:txBody>
      </p:sp>
    </p:spTree>
    <p:extLst>
      <p:ext uri="{BB962C8B-B14F-4D97-AF65-F5344CB8AC3E}">
        <p14:creationId xmlns:p14="http://schemas.microsoft.com/office/powerpoint/2010/main" val="3841037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(JVM),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546126"/>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4046706"/>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892817"/>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580406" y="1974477"/>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490936"/>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337047"/>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3504552903"/>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p:txBody>
          <a:bodyPr>
            <a:normAutofit/>
          </a:bodyPr>
          <a:lstStyle/>
          <a:p>
            <a:r>
              <a:rPr lang="en-US" sz="2000" dirty="0" err="1"/>
              <a:t>eXtensible</a:t>
            </a:r>
            <a:r>
              <a:rPr lang="en-US" sz="2000" dirty="0"/>
              <a:t> Markup Language</a:t>
            </a:r>
          </a:p>
          <a:p>
            <a:r>
              <a:rPr lang="en-US" sz="2000" dirty="0"/>
              <a:t>A way of describing data using a text-based document</a:t>
            </a:r>
          </a:p>
          <a:p>
            <a:r>
              <a:rPr lang="en-US" sz="2000" dirty="0"/>
              <a:t>Because XML is extensible and very flexible, it's used for many different things, including defining the UI layout of Android apps.</a:t>
            </a:r>
            <a:endParaRPr lang="en-SG" sz="2000" dirty="0"/>
          </a:p>
        </p:txBody>
      </p:sp>
      <p:pic>
        <p:nvPicPr>
          <p:cNvPr id="5" name="Picture 4">
            <a:extLst>
              <a:ext uri="{FF2B5EF4-FFF2-40B4-BE49-F238E27FC236}">
                <a16:creationId xmlns:a16="http://schemas.microsoft.com/office/drawing/2014/main" id="{832B2DE8-BEA8-4A9A-BF3C-2CA3384E3F3F}"/>
              </a:ext>
            </a:extLst>
          </p:cNvPr>
          <p:cNvPicPr>
            <a:picLocks noChangeAspect="1"/>
          </p:cNvPicPr>
          <p:nvPr/>
        </p:nvPicPr>
        <p:blipFill>
          <a:blip r:embed="rId2"/>
          <a:stretch>
            <a:fillRect/>
          </a:stretch>
        </p:blipFill>
        <p:spPr>
          <a:xfrm>
            <a:off x="47922" y="3907993"/>
            <a:ext cx="6416596" cy="2789162"/>
          </a:xfrm>
          <a:prstGeom prst="rect">
            <a:avLst/>
          </a:prstGeom>
        </p:spPr>
      </p:pic>
      <p:pic>
        <p:nvPicPr>
          <p:cNvPr id="7" name="Picture 6">
            <a:extLst>
              <a:ext uri="{FF2B5EF4-FFF2-40B4-BE49-F238E27FC236}">
                <a16:creationId xmlns:a16="http://schemas.microsoft.com/office/drawing/2014/main" id="{322736E4-8219-40B7-BEAE-E0B30040CF8E}"/>
              </a:ext>
            </a:extLst>
          </p:cNvPr>
          <p:cNvPicPr>
            <a:picLocks noChangeAspect="1"/>
          </p:cNvPicPr>
          <p:nvPr/>
        </p:nvPicPr>
        <p:blipFill>
          <a:blip r:embed="rId3"/>
          <a:stretch>
            <a:fillRect/>
          </a:stretch>
        </p:blipFill>
        <p:spPr>
          <a:xfrm>
            <a:off x="6464518" y="4379481"/>
            <a:ext cx="5585944" cy="1371719"/>
          </a:xfrm>
          <a:prstGeom prst="rect">
            <a:avLst/>
          </a:prstGeom>
        </p:spPr>
      </p:pic>
    </p:spTree>
    <p:extLst>
      <p:ext uri="{BB962C8B-B14F-4D97-AF65-F5344CB8AC3E}">
        <p14:creationId xmlns:p14="http://schemas.microsoft.com/office/powerpoint/2010/main" val="35991547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a:xfrm>
            <a:off x="838200" y="1645174"/>
            <a:ext cx="10515600" cy="4351338"/>
          </a:xfrm>
        </p:spPr>
        <p:txBody>
          <a:bodyPr>
            <a:normAutofit/>
          </a:bodyPr>
          <a:lstStyle/>
          <a:p>
            <a:r>
              <a:rPr lang="en-US" sz="1600" dirty="0"/>
              <a:t>ConstraintLayout tag: </a:t>
            </a:r>
            <a:r>
              <a:rPr lang="en-US" sz="1600" dirty="0">
                <a:latin typeface="Lucida Console" panose="020B0609040504020204" pitchFamily="49" charset="0"/>
              </a:rPr>
              <a:t>&lt;</a:t>
            </a:r>
            <a:r>
              <a:rPr lang="en-SG" sz="1600" b="0" i="0" dirty="0">
                <a:effectLst/>
                <a:latin typeface="Lucida Console" panose="020B0609040504020204" pitchFamily="49" charset="0"/>
              </a:rPr>
              <a:t>androidx.constraintlayout.widget.ConstraintLayout</a:t>
            </a:r>
            <a:r>
              <a:rPr lang="en-SG" sz="1600" dirty="0">
                <a:latin typeface="Lucida Console" panose="020B0609040504020204" pitchFamily="49" charset="0"/>
              </a:rPr>
              <a:t>&gt;</a:t>
            </a:r>
            <a:endParaRPr lang="en-US" sz="1600" dirty="0">
              <a:latin typeface="Lucida Console" panose="020B0609040504020204" pitchFamily="49" charset="0"/>
            </a:endParaRPr>
          </a:p>
          <a:p>
            <a:r>
              <a:rPr lang="en-US" sz="1600" dirty="0"/>
              <a:t>ConstraintLayout is part of Android Jetpack, which contains libraries of code which offers additional functionality on top of the core Android platform. </a:t>
            </a:r>
          </a:p>
          <a:p>
            <a:r>
              <a:rPr lang="en-US" sz="1600" dirty="0"/>
              <a:t>Jetpack has useful functionality you can take advantage of to make building apps easier. You'll recognize this UI component is part of Jetpack because it starts with "</a:t>
            </a:r>
            <a:r>
              <a:rPr lang="en-US" sz="1600" dirty="0" err="1">
                <a:latin typeface="Lucida Console" panose="020B0609040504020204" pitchFamily="49" charset="0"/>
              </a:rPr>
              <a:t>androidx</a:t>
            </a:r>
            <a:r>
              <a:rPr lang="en-US" sz="1600" dirty="0"/>
              <a:t>".</a:t>
            </a:r>
          </a:p>
          <a:p>
            <a:pPr marL="0" indent="0">
              <a:buNone/>
            </a:pPr>
            <a:endParaRPr lang="en-US" sz="2000" dirty="0"/>
          </a:p>
          <a:p>
            <a:pPr marL="0" indent="0">
              <a:buNone/>
            </a:pPr>
            <a:r>
              <a:rPr lang="en-US" sz="1400" dirty="0">
                <a:highlight>
                  <a:srgbClr val="C0C0C0"/>
                </a:highlight>
                <a:latin typeface="Lucida Console" panose="020B0609040504020204" pitchFamily="49" charset="0"/>
              </a:rPr>
              <a:t>&lt;?xml version="1.0" encoding="utf-8"?&gt;</a:t>
            </a:r>
            <a:r>
              <a:rPr lang="en-US" sz="1400" dirty="0"/>
              <a:t>	</a:t>
            </a:r>
            <a:r>
              <a:rPr lang="en-US" sz="1400" dirty="0">
                <a:sym typeface="Wingdings" panose="05000000000000000000" pitchFamily="2" charset="2"/>
              </a:rPr>
              <a:t> indicates that this is an XML file, but not every XML file will have this</a:t>
            </a:r>
            <a:endParaRPr lang="en-US" sz="1400" dirty="0"/>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a:t>
            </a:r>
            <a:endParaRPr lang="en-SG" sz="1400" dirty="0">
              <a:highlight>
                <a:srgbClr val="FFFF00"/>
              </a:highlight>
              <a:latin typeface="Lucida Console" panose="020B0609040504020204" pitchFamily="49" charset="0"/>
            </a:endParaRPr>
          </a:p>
          <a:p>
            <a:pPr marL="457200" lvl="1" indent="0">
              <a:buNone/>
            </a:pPr>
            <a:r>
              <a:rPr lang="en-SG" sz="1400" dirty="0" err="1">
                <a:highlight>
                  <a:srgbClr val="FFFF00"/>
                </a:highlight>
                <a:latin typeface="Lucida Console" panose="020B0609040504020204" pitchFamily="49" charset="0"/>
              </a:rPr>
              <a:t>xmlns</a:t>
            </a:r>
            <a:r>
              <a:rPr lang="en-SG" sz="1400" dirty="0" err="1">
                <a:latin typeface="Lucida Console" panose="020B0609040504020204" pitchFamily="49" charset="0"/>
              </a:rPr>
              <a:t>:</a:t>
            </a:r>
            <a:r>
              <a:rPr lang="en-SG" sz="1400" dirty="0" err="1">
                <a:highlight>
                  <a:srgbClr val="00FF00"/>
                </a:highlight>
                <a:latin typeface="Lucida Console" panose="020B0609040504020204" pitchFamily="49" charset="0"/>
              </a:rPr>
              <a:t>android</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/res/android"</a:t>
            </a:r>
          </a:p>
          <a:p>
            <a:pPr marL="457200" lvl="1" indent="0">
              <a:buNone/>
            </a:pPr>
            <a:r>
              <a:rPr lang="en-SG" sz="1400" dirty="0" err="1">
                <a:latin typeface="Lucida Console" panose="020B0609040504020204" pitchFamily="49" charset="0"/>
              </a:rPr>
              <a:t>xmlns:app</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/res-auto"</a:t>
            </a:r>
          </a:p>
          <a:p>
            <a:pPr marL="457200" lvl="1" indent="0">
              <a:buNone/>
            </a:pPr>
            <a:r>
              <a:rPr lang="en-SG" sz="1400" dirty="0" err="1">
                <a:latin typeface="Lucida Console" panose="020B0609040504020204" pitchFamily="49" charset="0"/>
              </a:rPr>
              <a:t>xmlns:tools</a:t>
            </a:r>
            <a:r>
              <a:rPr lang="en-SG" sz="1400" dirty="0">
                <a:latin typeface="Lucida Console" panose="020B0609040504020204" pitchFamily="49" charset="0"/>
              </a:rPr>
              <a:t>="http://schemas.android.com/tools"&gt;</a:t>
            </a:r>
          </a:p>
          <a:p>
            <a:pPr marL="457200" lvl="1" indent="0">
              <a:buNone/>
            </a:pPr>
            <a:r>
              <a:rPr lang="en-SG" sz="1400" dirty="0">
                <a:latin typeface="Lucida Console" panose="020B0609040504020204" pitchFamily="49" charset="0"/>
              </a:rPr>
              <a:t>...</a:t>
            </a:r>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androidx.constraintlayout.widget.ConstraintLayout&gt;</a:t>
            </a:r>
            <a:endParaRPr lang="en-SG" sz="1400" dirty="0">
              <a:highlight>
                <a:srgbClr val="FFFF00"/>
              </a:highlight>
              <a:latin typeface="Lucida Console" panose="020B0609040504020204" pitchFamily="49" charset="0"/>
            </a:endParaRPr>
          </a:p>
        </p:txBody>
      </p:sp>
      <p:sp>
        <p:nvSpPr>
          <p:cNvPr id="6" name="TextBox 5">
            <a:extLst>
              <a:ext uri="{FF2B5EF4-FFF2-40B4-BE49-F238E27FC236}">
                <a16:creationId xmlns:a16="http://schemas.microsoft.com/office/drawing/2014/main" id="{94B09F14-FBA2-4CA9-B862-510CBCE82567}"/>
              </a:ext>
            </a:extLst>
          </p:cNvPr>
          <p:cNvSpPr txBox="1"/>
          <p:nvPr/>
        </p:nvSpPr>
        <p:spPr>
          <a:xfrm>
            <a:off x="6648720" y="5084442"/>
            <a:ext cx="5076218" cy="1323439"/>
          </a:xfrm>
          <a:prstGeom prst="rect">
            <a:avLst/>
          </a:prstGeom>
          <a:noFill/>
        </p:spPr>
        <p:txBody>
          <a:bodyPr wrap="square" rtlCol="0">
            <a:spAutoFit/>
          </a:bodyPr>
          <a:lstStyle/>
          <a:p>
            <a:pPr marL="342900" indent="-342900">
              <a:buAutoNum type="arabicPeriod"/>
            </a:pPr>
            <a:r>
              <a:rPr lang="en-SG" sz="1600" dirty="0" err="1">
                <a:highlight>
                  <a:srgbClr val="FFFF00"/>
                </a:highlight>
                <a:latin typeface="Lucida Console" panose="020B0609040504020204" pitchFamily="49" charset="0"/>
              </a:rPr>
              <a:t>xmlns</a:t>
            </a:r>
            <a:r>
              <a:rPr lang="en-SG" sz="1600" dirty="0"/>
              <a:t> stands for XML namespace, and each line defines a schema, or vocab for attributes related to the words.</a:t>
            </a:r>
          </a:p>
          <a:p>
            <a:pPr marL="342900" indent="-342900">
              <a:buAutoNum type="arabicPeriod"/>
            </a:pPr>
            <a:r>
              <a:rPr lang="en-SG" sz="1600" dirty="0">
                <a:highlight>
                  <a:srgbClr val="00FF00"/>
                </a:highlight>
                <a:latin typeface="Lucida Console" panose="020B0609040504020204" pitchFamily="49" charset="0"/>
              </a:rPr>
              <a:t>android</a:t>
            </a:r>
            <a:r>
              <a:rPr lang="en-SG" sz="1600" dirty="0"/>
              <a:t> namespace, for example, marks attributes that are defined by the Android system.</a:t>
            </a:r>
          </a:p>
        </p:txBody>
      </p:sp>
    </p:spTree>
    <p:extLst>
      <p:ext uri="{BB962C8B-B14F-4D97-AF65-F5344CB8AC3E}">
        <p14:creationId xmlns:p14="http://schemas.microsoft.com/office/powerpoint/2010/main" val="14102626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DF46-D35E-4F8A-90BE-6F8FEE73E338}"/>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2AF5FAD8-8FD1-4CFC-A64E-169CEDC5BE34}"/>
              </a:ext>
            </a:extLst>
          </p:cNvPr>
          <p:cNvSpPr>
            <a:spLocks noGrp="1"/>
          </p:cNvSpPr>
          <p:nvPr>
            <p:ph idx="1"/>
          </p:nvPr>
        </p:nvSpPr>
        <p:spPr/>
        <p:txBody>
          <a:bodyPr>
            <a:normAutofit/>
          </a:bodyPr>
          <a:lstStyle/>
          <a:p>
            <a:r>
              <a:rPr lang="en-SG" sz="2000" dirty="0"/>
              <a:t>Padding vs. Margin?</a:t>
            </a:r>
          </a:p>
          <a:p>
            <a:pPr lvl="1"/>
            <a:r>
              <a:rPr lang="en-SG" sz="1800" dirty="0"/>
              <a:t>Padding adds space within the element (e.g. ConstraintLayout), while margin adds space outside the element</a:t>
            </a:r>
          </a:p>
          <a:p>
            <a:r>
              <a:rPr lang="en-US" sz="2000" dirty="0"/>
              <a:t>You cannot use </a:t>
            </a:r>
            <a:r>
              <a:rPr lang="en-US" sz="2000" dirty="0" err="1">
                <a:latin typeface="Lucida Console" panose="020B0609040504020204" pitchFamily="49" charset="0"/>
              </a:rPr>
              <a:t>match_parent</a:t>
            </a:r>
            <a:r>
              <a:rPr lang="en-US" sz="2000" dirty="0"/>
              <a:t> for any view in a ConstraintLayout. Instead use 0dp, which means match constraints.</a:t>
            </a:r>
          </a:p>
          <a:p>
            <a:pPr lvl="1"/>
            <a:endParaRPr lang="en-SG" sz="1800" dirty="0"/>
          </a:p>
        </p:txBody>
      </p:sp>
    </p:spTree>
    <p:extLst>
      <p:ext uri="{BB962C8B-B14F-4D97-AF65-F5344CB8AC3E}">
        <p14:creationId xmlns:p14="http://schemas.microsoft.com/office/powerpoint/2010/main" val="1465490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7268184" y="151101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7268184" y="2247181"/>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613517" y="3344720"/>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7" idx="0"/>
          </p:cNvCxnSpPr>
          <p:nvPr/>
        </p:nvCxnSpPr>
        <p:spPr>
          <a:xfrm flipH="1">
            <a:off x="8704636" y="2041167"/>
            <a:ext cx="805774" cy="13035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879166" y="2095441"/>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Tree>
    <p:extLst>
      <p:ext uri="{BB962C8B-B14F-4D97-AF65-F5344CB8AC3E}">
        <p14:creationId xmlns:p14="http://schemas.microsoft.com/office/powerpoint/2010/main" val="33701740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7157936" cy="4351338"/>
          </a:xfrm>
        </p:spPr>
        <p:txBody>
          <a:bodyPr>
            <a:normAutofit/>
          </a:bodyPr>
          <a:lstStyle/>
          <a:p>
            <a:pPr marL="457200" indent="-457200">
              <a:buAutoNum type="arabicPeriod"/>
            </a:pPr>
            <a:r>
              <a:rPr lang="en-US" sz="2000" dirty="0"/>
              <a:t>Need to enable view binding for your app in Gradle (module </a:t>
            </a:r>
            <a:r>
              <a:rPr lang="en-US" sz="2000" dirty="0" err="1"/>
              <a:t>build.gradle</a:t>
            </a:r>
            <a:r>
              <a:rPr lang="en-US" sz="2000" dirty="0"/>
              <a:t>) and sync.</a:t>
            </a:r>
            <a:endParaRPr lang="en-SG" sz="2000" dirty="0"/>
          </a:p>
          <a:p>
            <a:pPr marL="457200" indent="-457200">
              <a:buAutoNum type="arabicPeriod"/>
            </a:pPr>
            <a:r>
              <a:rPr lang="en-US" sz="2000" dirty="0"/>
              <a:t>Instead of calling </a:t>
            </a:r>
            <a:r>
              <a:rPr lang="en-US" sz="2000" dirty="0" err="1">
                <a:latin typeface="Lucida Console" panose="020B0609040504020204" pitchFamily="49" charset="0"/>
              </a:rPr>
              <a:t>findViewById</a:t>
            </a:r>
            <a:r>
              <a:rPr lang="en-US" sz="2000" dirty="0">
                <a:latin typeface="Lucida Console" panose="020B0609040504020204" pitchFamily="49" charset="0"/>
              </a:rPr>
              <a:t>()</a:t>
            </a:r>
            <a:r>
              <a:rPr lang="en-US" sz="2000" dirty="0"/>
              <a:t> for each </a:t>
            </a:r>
            <a:r>
              <a:rPr lang="en-US" sz="2000" dirty="0">
                <a:latin typeface="Lucida Console" panose="020B0609040504020204" pitchFamily="49" charset="0"/>
              </a:rPr>
              <a:t>View</a:t>
            </a:r>
            <a:r>
              <a:rPr lang="en-US" sz="2000" dirty="0"/>
              <a:t> in your app, you'll create and initialize a binding object once in the</a:t>
            </a:r>
            <a:r>
              <a:rPr lang="en-SG" sz="2000" dirty="0"/>
              <a:t> Activity.</a:t>
            </a:r>
          </a:p>
        </p:txBody>
      </p:sp>
      <p:pic>
        <p:nvPicPr>
          <p:cNvPr id="5" name="Picture 4">
            <a:extLst>
              <a:ext uri="{FF2B5EF4-FFF2-40B4-BE49-F238E27FC236}">
                <a16:creationId xmlns:a16="http://schemas.microsoft.com/office/drawing/2014/main" id="{57580692-2199-4A8E-9C74-43780982E850}"/>
              </a:ext>
            </a:extLst>
          </p:cNvPr>
          <p:cNvPicPr>
            <a:picLocks noChangeAspect="1"/>
          </p:cNvPicPr>
          <p:nvPr/>
        </p:nvPicPr>
        <p:blipFill>
          <a:blip r:embed="rId2"/>
          <a:stretch>
            <a:fillRect/>
          </a:stretch>
        </p:blipFill>
        <p:spPr>
          <a:xfrm>
            <a:off x="8595309" y="365125"/>
            <a:ext cx="3055885" cy="2834886"/>
          </a:xfrm>
          <a:prstGeom prst="rect">
            <a:avLst/>
          </a:prstGeom>
        </p:spPr>
      </p:pic>
      <p:pic>
        <p:nvPicPr>
          <p:cNvPr id="7" name="Picture 6">
            <a:extLst>
              <a:ext uri="{FF2B5EF4-FFF2-40B4-BE49-F238E27FC236}">
                <a16:creationId xmlns:a16="http://schemas.microsoft.com/office/drawing/2014/main" id="{329C64E1-8CBD-45A2-839F-D93F43633F08}"/>
              </a:ext>
            </a:extLst>
          </p:cNvPr>
          <p:cNvPicPr>
            <a:picLocks noChangeAspect="1"/>
          </p:cNvPicPr>
          <p:nvPr/>
        </p:nvPicPr>
        <p:blipFill>
          <a:blip r:embed="rId3"/>
          <a:stretch>
            <a:fillRect/>
          </a:stretch>
        </p:blipFill>
        <p:spPr>
          <a:xfrm>
            <a:off x="3360901" y="3339970"/>
            <a:ext cx="4761694" cy="3392152"/>
          </a:xfrm>
          <a:prstGeom prst="rect">
            <a:avLst/>
          </a:prstGeom>
        </p:spPr>
      </p:pic>
    </p:spTree>
    <p:extLst>
      <p:ext uri="{BB962C8B-B14F-4D97-AF65-F5344CB8AC3E}">
        <p14:creationId xmlns:p14="http://schemas.microsoft.com/office/powerpoint/2010/main" val="3905387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4"/>
            <a:ext cx="10251332" cy="3981789"/>
          </a:xfrm>
        </p:spPr>
        <p:txBody>
          <a:bodyPr>
            <a:normAutofit lnSpcReduction="10000"/>
          </a:bodyPr>
          <a:lstStyle/>
          <a:p>
            <a:pPr marL="0" indent="0">
              <a:buNone/>
            </a:pPr>
            <a:r>
              <a:rPr lang="en-SG" sz="2000" u="sng" dirty="0"/>
              <a:t>Without View Binding</a:t>
            </a:r>
          </a:p>
          <a:p>
            <a:pPr marL="0" indent="0">
              <a:buNone/>
            </a:pPr>
            <a:r>
              <a:rPr lang="en-SG" sz="2000" dirty="0"/>
              <a:t>	</a:t>
            </a:r>
            <a:r>
              <a:rPr lang="en-SG" sz="1800" dirty="0" err="1">
                <a:latin typeface="Lucida Console" panose="020B0609040504020204" pitchFamily="49" charset="0"/>
              </a:rPr>
              <a:t>val</a:t>
            </a:r>
            <a:r>
              <a:rPr lang="en-SG" sz="1800" dirty="0">
                <a:latin typeface="Lucida Console" panose="020B0609040504020204" pitchFamily="49" charset="0"/>
              </a:rPr>
              <a:t> action: Button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00FFFF"/>
                </a:highlight>
                <a:latin typeface="Lucida Console" panose="020B0609040504020204" pitchFamily="49" charset="0"/>
              </a:rPr>
              <a:t>button_action</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action.setOnClickListener</a:t>
            </a:r>
            <a:r>
              <a:rPr lang="en-SG" sz="1800" dirty="0">
                <a:latin typeface="Lucida Console" panose="020B0609040504020204" pitchFamily="49" charset="0"/>
              </a:rPr>
              <a:t>() {…}</a:t>
            </a:r>
          </a:p>
          <a:p>
            <a:pPr marL="0" indent="0">
              <a:buNone/>
            </a:pPr>
            <a:endParaRPr lang="en-SG" sz="1800" dirty="0">
              <a:latin typeface="Lucida Console" panose="020B0609040504020204" pitchFamily="49" charset="0"/>
            </a:endParaRP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val</a:t>
            </a:r>
            <a:r>
              <a:rPr lang="en-SG" sz="1800" dirty="0">
                <a:latin typeface="Lucida Console" panose="020B0609040504020204" pitchFamily="49" charset="0"/>
              </a:rPr>
              <a:t> amount: </a:t>
            </a:r>
            <a:r>
              <a:rPr lang="en-SG" sz="1800" dirty="0" err="1">
                <a:latin typeface="Lucida Console" panose="020B0609040504020204" pitchFamily="49" charset="0"/>
              </a:rPr>
              <a:t>TextView</a:t>
            </a:r>
            <a:r>
              <a:rPr lang="en-SG" sz="1800" dirty="0">
                <a:latin typeface="Lucida Console" panose="020B0609040504020204" pitchFamily="49" charset="0"/>
              </a:rPr>
              <a:t>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FFF169"/>
                </a:highlight>
                <a:latin typeface="Lucida Console" panose="020B0609040504020204" pitchFamily="49" charset="0"/>
              </a:rPr>
              <a:t>tip_result</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amount.text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p>
          <a:p>
            <a:pPr marL="0" indent="0">
              <a:buNone/>
            </a:pPr>
            <a:endParaRPr lang="en-SG" sz="2000" dirty="0"/>
          </a:p>
          <a:p>
            <a:pPr marL="0" indent="0">
              <a:buNone/>
            </a:pPr>
            <a:r>
              <a:rPr lang="en-SG" sz="2000" u="sng" dirty="0"/>
              <a:t>With View Binding</a:t>
            </a:r>
          </a:p>
          <a:p>
            <a:pPr marL="0" indent="0">
              <a:buNone/>
            </a:pPr>
            <a:r>
              <a:rPr lang="en-SG" sz="2000" dirty="0"/>
              <a:t>	</a:t>
            </a:r>
            <a:r>
              <a:rPr lang="en-SG" sz="1800" dirty="0" err="1">
                <a:latin typeface="Lucida Console" panose="020B0609040504020204" pitchFamily="49" charset="0"/>
              </a:rPr>
              <a:t>binding.</a:t>
            </a:r>
            <a:r>
              <a:rPr lang="en-SG" sz="1800" dirty="0" err="1">
                <a:highlight>
                  <a:srgbClr val="00FFFF"/>
                </a:highlight>
                <a:latin typeface="Lucida Console" panose="020B0609040504020204" pitchFamily="49" charset="0"/>
              </a:rPr>
              <a:t>buttonAction</a:t>
            </a:r>
            <a:r>
              <a:rPr lang="en-SG" sz="1800" dirty="0" err="1">
                <a:latin typeface="Lucida Console" panose="020B0609040504020204" pitchFamily="49" charset="0"/>
              </a:rPr>
              <a:t>.setOnClickListener</a:t>
            </a:r>
            <a:r>
              <a:rPr lang="en-SG" sz="1800" dirty="0">
                <a:latin typeface="Lucida Console" panose="020B0609040504020204" pitchFamily="49" charset="0"/>
              </a:rPr>
              <a:t>() {…}</a:t>
            </a:r>
          </a:p>
          <a:p>
            <a:pPr marL="0" indent="0">
              <a:buNone/>
            </a:pPr>
            <a:endParaRPr lang="en-SG" sz="2000" dirty="0"/>
          </a:p>
          <a:p>
            <a:pPr marL="0" indent="0">
              <a:buNone/>
            </a:pPr>
            <a:r>
              <a:rPr lang="en-SG" sz="2000" dirty="0"/>
              <a:t>	</a:t>
            </a:r>
            <a:r>
              <a:rPr lang="en-SG" sz="1800" dirty="0" err="1">
                <a:latin typeface="Lucida Console" panose="020B0609040504020204" pitchFamily="49" charset="0"/>
              </a:rPr>
              <a:t>binding.</a:t>
            </a:r>
            <a:r>
              <a:rPr lang="en-SG" sz="1800" dirty="0" err="1">
                <a:highlight>
                  <a:srgbClr val="FFF169"/>
                </a:highlight>
                <a:latin typeface="Lucida Console" panose="020B0609040504020204" pitchFamily="49" charset="0"/>
              </a:rPr>
              <a:t>tipResult</a:t>
            </a:r>
            <a:r>
              <a:rPr lang="en-SG" sz="1800" dirty="0" err="1">
                <a:latin typeface="Lucida Console" panose="020B0609040504020204" pitchFamily="49" charset="0"/>
              </a:rPr>
              <a: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endParaRPr lang="en-SG" sz="2000" dirty="0">
              <a:latin typeface="Lucida Console" panose="020B0609040504020204" pitchFamily="49" charset="0"/>
            </a:endParaRPr>
          </a:p>
        </p:txBody>
      </p:sp>
    </p:spTree>
    <p:extLst>
      <p:ext uri="{BB962C8B-B14F-4D97-AF65-F5344CB8AC3E}">
        <p14:creationId xmlns:p14="http://schemas.microsoft.com/office/powerpoint/2010/main" val="9687093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10251332" cy="1131584"/>
          </a:xfrm>
        </p:spPr>
        <p:txBody>
          <a:bodyPr>
            <a:normAutofit/>
          </a:bodyPr>
          <a:lstStyle/>
          <a:p>
            <a:pPr marL="457200" indent="-457200">
              <a:buAutoNum type="arabicPeriod"/>
            </a:pPr>
            <a:r>
              <a:rPr lang="en-SG" sz="2000" dirty="0"/>
              <a:t>Before </a:t>
            </a:r>
            <a:r>
              <a:rPr lang="en-SG" sz="2000" dirty="0">
                <a:latin typeface="Lucida Console" panose="020B0609040504020204" pitchFamily="49" charset="0"/>
              </a:rPr>
              <a:t>onCreate()</a:t>
            </a:r>
            <a:r>
              <a:rPr lang="en-SG" sz="2000" dirty="0"/>
              <a:t>, </a:t>
            </a:r>
            <a:r>
              <a:rPr lang="en-SG" sz="2000" dirty="0">
                <a:highlight>
                  <a:srgbClr val="00FF00"/>
                </a:highlight>
              </a:rPr>
              <a:t>create</a:t>
            </a:r>
            <a:r>
              <a:rPr lang="en-SG" sz="2000" dirty="0"/>
              <a:t> a binding object.</a:t>
            </a:r>
          </a:p>
          <a:p>
            <a:pPr marL="457200" indent="-457200">
              <a:buAutoNum type="arabicPeriod"/>
            </a:pPr>
            <a:r>
              <a:rPr lang="en-SG" sz="2000" dirty="0"/>
              <a:t>Within </a:t>
            </a:r>
            <a:r>
              <a:rPr lang="en-SG" sz="2000" dirty="0">
                <a:latin typeface="Lucida Console" panose="020B0609040504020204" pitchFamily="49" charset="0"/>
              </a:rPr>
              <a:t>onCreate()</a:t>
            </a:r>
            <a:r>
              <a:rPr lang="en-SG" sz="2000" dirty="0"/>
              <a:t>, </a:t>
            </a:r>
            <a:r>
              <a:rPr lang="en-SG" sz="2000" dirty="0">
                <a:highlight>
                  <a:srgbClr val="FFFF00"/>
                </a:highlight>
              </a:rPr>
              <a:t>initialise</a:t>
            </a:r>
            <a:r>
              <a:rPr lang="en-SG" sz="2000" dirty="0"/>
              <a:t> the binding object and </a:t>
            </a:r>
            <a:r>
              <a:rPr lang="en-SG" sz="2000" dirty="0">
                <a:highlight>
                  <a:srgbClr val="00FFFF"/>
                </a:highlight>
              </a:rPr>
              <a:t>specify</a:t>
            </a:r>
            <a:r>
              <a:rPr lang="en-SG" sz="2000" dirty="0"/>
              <a:t> the root hierarchy of views in this app, instead of using </a:t>
            </a:r>
            <a:r>
              <a:rPr lang="en-SG" sz="2000" dirty="0">
                <a:latin typeface="Lucida Console" panose="020B0609040504020204" pitchFamily="49" charset="0"/>
              </a:rPr>
              <a:t>R.layout.activity_main</a:t>
            </a:r>
            <a:r>
              <a:rPr lang="en-SG" sz="2000" dirty="0"/>
              <a:t>.</a:t>
            </a:r>
          </a:p>
          <a:p>
            <a:pPr marL="457200" indent="-457200">
              <a:buAutoNum type="arabicPeriod"/>
            </a:pPr>
            <a:endParaRPr lang="en-SG" sz="2000" dirty="0"/>
          </a:p>
          <a:p>
            <a:pPr marL="0" indent="0">
              <a:buNone/>
            </a:pPr>
            <a:endParaRPr lang="en-SG" sz="2000" dirty="0"/>
          </a:p>
        </p:txBody>
      </p:sp>
      <p:pic>
        <p:nvPicPr>
          <p:cNvPr id="6" name="Picture 5">
            <a:extLst>
              <a:ext uri="{FF2B5EF4-FFF2-40B4-BE49-F238E27FC236}">
                <a16:creationId xmlns:a16="http://schemas.microsoft.com/office/drawing/2014/main" id="{4D71B9C9-47C0-43B7-948C-87144FA77A58}"/>
              </a:ext>
            </a:extLst>
          </p:cNvPr>
          <p:cNvPicPr>
            <a:picLocks noChangeAspect="1"/>
          </p:cNvPicPr>
          <p:nvPr/>
        </p:nvPicPr>
        <p:blipFill>
          <a:blip r:embed="rId2"/>
          <a:stretch>
            <a:fillRect/>
          </a:stretch>
        </p:blipFill>
        <p:spPr>
          <a:xfrm>
            <a:off x="838200" y="3408295"/>
            <a:ext cx="10132499" cy="2331024"/>
          </a:xfrm>
          <a:prstGeom prst="rect">
            <a:avLst/>
          </a:prstGeom>
        </p:spPr>
      </p:pic>
      <p:sp>
        <p:nvSpPr>
          <p:cNvPr id="8" name="Rectangle 7">
            <a:extLst>
              <a:ext uri="{FF2B5EF4-FFF2-40B4-BE49-F238E27FC236}">
                <a16:creationId xmlns:a16="http://schemas.microsoft.com/office/drawing/2014/main" id="{B5B4A0C1-9C44-4A4A-9B6E-F33D6A3CAF0E}"/>
              </a:ext>
            </a:extLst>
          </p:cNvPr>
          <p:cNvSpPr/>
          <p:nvPr/>
        </p:nvSpPr>
        <p:spPr>
          <a:xfrm>
            <a:off x="1079770" y="3910520"/>
            <a:ext cx="3998068" cy="243192"/>
          </a:xfrm>
          <a:prstGeom prst="rect">
            <a:avLst/>
          </a:prstGeom>
          <a:solidFill>
            <a:srgbClr val="00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1808D9-586B-46DC-AB70-1F3EC7D7B054}"/>
              </a:ext>
            </a:extLst>
          </p:cNvPr>
          <p:cNvSpPr/>
          <p:nvPr/>
        </p:nvSpPr>
        <p:spPr>
          <a:xfrm>
            <a:off x="1407267" y="4996775"/>
            <a:ext cx="4273685" cy="243192"/>
          </a:xfrm>
          <a:prstGeom prst="rect">
            <a:avLst/>
          </a:prstGeom>
          <a:solidFill>
            <a:srgbClr val="FF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3DE19178-B6A3-4C30-9BDF-88E8B6AD028F}"/>
              </a:ext>
            </a:extLst>
          </p:cNvPr>
          <p:cNvSpPr/>
          <p:nvPr/>
        </p:nvSpPr>
        <p:spPr>
          <a:xfrm>
            <a:off x="1407268" y="5447861"/>
            <a:ext cx="2347610" cy="174726"/>
          </a:xfrm>
          <a:prstGeom prst="rect">
            <a:avLst/>
          </a:prstGeom>
          <a:solidFill>
            <a:srgbClr val="00FFFF">
              <a:alpha val="3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220191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825625"/>
            <a:ext cx="10515600" cy="2422525"/>
          </a:xfrm>
        </p:spPr>
        <p:txBody>
          <a:bodyPr>
            <a:normAutofit/>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endParaRPr lang="en-SG" sz="2400" dirty="0"/>
          </a:p>
        </p:txBody>
      </p:sp>
    </p:spTree>
    <p:extLst>
      <p:ext uri="{BB962C8B-B14F-4D97-AF65-F5344CB8AC3E}">
        <p14:creationId xmlns:p14="http://schemas.microsoft.com/office/powerpoint/2010/main" val="8331642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Data &gt; Adapter &gt; </a:t>
            </a:r>
            <a:r>
              <a:rPr lang="en-SG" dirty="0" err="1"/>
              <a:t>RecyclerView</a:t>
            </a:r>
            <a:r>
              <a:rPr lang="en-SG" dirty="0"/>
              <a:t> &gt; View</a:t>
            </a:r>
          </a:p>
        </p:txBody>
      </p:sp>
    </p:spTree>
    <p:extLst>
      <p:ext uri="{BB962C8B-B14F-4D97-AF65-F5344CB8AC3E}">
        <p14:creationId xmlns:p14="http://schemas.microsoft.com/office/powerpoint/2010/main" val="9175815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functions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normAutofit/>
          </a:bodyPr>
          <a:lstStyle/>
          <a:p>
            <a:r>
              <a:rPr lang="en-US" sz="2400" dirty="0"/>
              <a:t>Automated build system used by Android Studio.</a:t>
            </a:r>
          </a:p>
          <a:p>
            <a:r>
              <a:rPr lang="en-US" sz="2400" dirty="0"/>
              <a:t>Whenever you change code, add a resource, or make other changes to your app, Gradle figures out what has changed and takes the necessary steps to rebuild your app. </a:t>
            </a:r>
          </a:p>
          <a:p>
            <a:r>
              <a:rPr lang="en-US" sz="2400" dirty="0"/>
              <a:t>It also installs your app in the emulator or physical device and controls its execution.</a:t>
            </a:r>
            <a:endParaRPr lang="en-SG" sz="2400" dirty="0"/>
          </a:p>
        </p:txBody>
      </p:sp>
    </p:spTree>
    <p:extLst>
      <p:ext uri="{BB962C8B-B14F-4D97-AF65-F5344CB8AC3E}">
        <p14:creationId xmlns:p14="http://schemas.microsoft.com/office/powerpoint/2010/main" val="1718940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1976</TotalTime>
  <Words>4296</Words>
  <Application>Microsoft Office PowerPoint</Application>
  <PresentationFormat>Widescreen</PresentationFormat>
  <Paragraphs>373</Paragraphs>
  <Slides>46</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Class Hierarchy / Inheritance</vt:lpstr>
      <vt:lpstr>Class Hierarchy / Inheritance</vt:lpstr>
      <vt:lpstr>Abstract? Wtf is that??</vt:lpstr>
      <vt:lpstr>Abstract vs. Open???</vt:lpstr>
      <vt:lpstr>Generics???</vt:lpstr>
      <vt:lpstr>Dynamic String Resources</vt:lpstr>
      <vt:lpstr>With</vt:lpstr>
      <vt:lpstr>Auto Imports</vt:lpstr>
      <vt:lpstr>Lemonade App Flow</vt:lpstr>
      <vt:lpstr>Testing Pyramid</vt:lpstr>
      <vt:lpstr>Automated Testing</vt:lpstr>
      <vt:lpstr>Automated Testing</vt:lpstr>
      <vt:lpstr>Unit Tests</vt:lpstr>
      <vt:lpstr>Instrumentation Tests</vt:lpstr>
      <vt:lpstr>Unit Tests</vt:lpstr>
      <vt:lpstr>Unit Tests</vt:lpstr>
      <vt:lpstr>Debugging</vt:lpstr>
      <vt:lpstr>Log Levels</vt:lpstr>
      <vt:lpstr>XML</vt:lpstr>
      <vt:lpstr>XML</vt:lpstr>
      <vt:lpstr>XML</vt:lpstr>
      <vt:lpstr>Display Flow #1</vt:lpstr>
      <vt:lpstr>Display Flow #1</vt:lpstr>
      <vt:lpstr>Display Flow #2: View Binding</vt:lpstr>
      <vt:lpstr>Display Flow #2: View Binding</vt:lpstr>
      <vt:lpstr>Display Flow #2: View Binding</vt:lpstr>
      <vt:lpstr>Adapter</vt:lpstr>
      <vt:lpstr>PowerPoint Presentation</vt:lpstr>
      <vt:lpstr>Data &gt; Adapter &gt; RecyclerView &gt; View</vt:lpstr>
      <vt:lpstr>Model vs. Datasource</vt:lpstr>
      <vt:lpstr>Coding nuances that nobody really cares</vt:lpstr>
      <vt:lpstr>Gradle</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326</cp:revision>
  <dcterms:created xsi:type="dcterms:W3CDTF">2022-05-30T08:41:58Z</dcterms:created>
  <dcterms:modified xsi:type="dcterms:W3CDTF">2022-06-18T13:52:28Z</dcterms:modified>
</cp:coreProperties>
</file>